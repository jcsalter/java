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95" r:id="rId9"/>
    <p:sldId id="263" r:id="rId10"/>
    <p:sldId id="264" r:id="rId11"/>
    <p:sldId id="265" r:id="rId12"/>
    <p:sldId id="266" r:id="rId13"/>
    <p:sldId id="294" r:id="rId14"/>
    <p:sldId id="267" r:id="rId15"/>
    <p:sldId id="268" r:id="rId16"/>
    <p:sldId id="293" r:id="rId17"/>
    <p:sldId id="269" r:id="rId18"/>
    <p:sldId id="270" r:id="rId19"/>
    <p:sldId id="292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90" r:id="rId35"/>
    <p:sldId id="285" r:id="rId36"/>
    <p:sldId id="286" r:id="rId37"/>
    <p:sldId id="287" r:id="rId38"/>
    <p:sldId id="288" r:id="rId39"/>
    <p:sldId id="291" r:id="rId40"/>
    <p:sldId id="289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1"/>
    <p:restoredTop sz="94610"/>
  </p:normalViewPr>
  <p:slideViewPr>
    <p:cSldViewPr snapToGrid="0" snapToObjects="1">
      <p:cViewPr varScale="1">
        <p:scale>
          <a:sx n="99" d="100"/>
          <a:sy n="99" d="100"/>
        </p:scale>
        <p:origin x="192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7021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326880" y="-2011680"/>
            <a:ext cx="5486400" cy="5486400"/>
          </a:xfrm>
          <a:prstGeom prst="ellipse">
            <a:avLst/>
          </a:prstGeom>
          <a:solidFill>
            <a:srgbClr val="141B4D"/>
          </a:solidFill>
          <a:ln w="12700">
            <a:solidFill>
              <a:srgbClr val="141B4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-2286000" y="4389120"/>
            <a:ext cx="4572000" cy="4572000"/>
          </a:xfrm>
          <a:prstGeom prst="ellipse">
            <a:avLst/>
          </a:prstGeom>
          <a:solidFill>
            <a:srgbClr val="232C6B"/>
          </a:solidFill>
          <a:ln w="12700">
            <a:solidFill>
              <a:srgbClr val="232C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417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CODING COURSE</a:t>
            </a:r>
            <a:endParaRPr lang="en-US" sz="210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9601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Decisions, Loops, and</a:t>
            </a:r>
            <a:endParaRPr lang="en-US" sz="4400"/>
          </a:p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Reusable Method</a:t>
            </a:r>
            <a:endParaRPr lang="en-US" sz="440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day with if/else, switch, three kinds of loops, and the calculator's first method of its own.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19, 2026</a:t>
            </a:r>
            <a:endParaRPr lang="en-US" sz="2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Day 3 at a Glance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TODAY TAKES YOU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Boolean expressions with the relational and logical operators</a:t>
            </a:r>
            <a:endParaRPr lang="en-US" sz="19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if/else statements, else-if chains, and nested conditions</a:t>
            </a:r>
            <a:endParaRPr lang="en-US" sz="19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switch statements, arrow labels, and switch expressions</a:t>
            </a:r>
            <a:endParaRPr lang="en-US" sz="19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while, do-while, and for loops — and pick the right one</a:t>
            </a:r>
            <a:endParaRPr lang="en-US" sz="19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break and continue to control a loop</a:t>
            </a:r>
            <a:endParaRPr lang="en-US" sz="19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and call your own static method</a:t>
            </a:r>
            <a:endParaRPr lang="en-US" sz="190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8164505"/>
              </p:ext>
            </p:extLst>
          </p:nvPr>
        </p:nvGraphicFramePr>
        <p:xfrm>
          <a:off x="6263640" y="1371600"/>
          <a:ext cx="5349240" cy="512064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60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8:45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 — bring forward Day 2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8:55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— Boolean expressions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9:20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— if/else statements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9:50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— switch &amp; expressions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10:20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10:30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— while &amp; do-while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10:55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— for loops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11:20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— break / continue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11:45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 — static methods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12:10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Lunch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12:40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Watch — live VisitLogDemo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1:05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— exercise + checkpoint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1:45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Debug and check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2:10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Kick off the project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2:30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 ends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Boundary — What Day 3 Does Not Include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TODAY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bad input gracefully with try/catch — that's next</a:t>
            </a:r>
            <a:endParaRPr lang="en-US" sz="20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validation methods like getDouble() or getInt()</a:t>
            </a:r>
            <a:endParaRPr lang="en-US" sz="20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and array lists</a:t>
            </a:r>
            <a:endParaRPr lang="en-US" sz="20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objects, and inheritance</a:t>
            </a:r>
            <a:endParaRPr lang="en-US" sz="20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overloading — today's method has one signature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626364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ARE REACHING FOR THESE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6263640" y="1691640"/>
            <a:ext cx="53492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ahead of the lesson, not behind it</a:t>
            </a:r>
            <a:endParaRPr lang="en-US" sz="20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is Boolean expressions, if/else, switch, loops, break/continue, and static methods</a:t>
            </a:r>
            <a:endParaRPr lang="en-US" sz="20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idea down — it has its own lesson coming</a:t>
            </a:r>
            <a:endParaRPr lang="en-US" sz="20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Want more to do? Take a stretch goal, not new syntax</a:t>
            </a:r>
            <a:endParaRPr lang="en-US" sz="2000"/>
          </a:p>
        </p:txBody>
      </p:sp>
      <p:sp>
        <p:nvSpPr>
          <p:cNvPr id="10" name="Shape 8"/>
          <p:cNvSpPr/>
          <p:nvPr/>
        </p:nvSpPr>
        <p:spPr>
          <a:xfrm>
            <a:off x="548640" y="5486400"/>
            <a:ext cx="11064240" cy="91440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55778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note on the textbook: Murach's Java Programming, 6th Ed. opens this chapter saying if/else and while were “covered in chapter 2.” Day 1 and Day 2 intentionally left them out — so today is your first look, not a review.</a:t>
            </a:r>
            <a:endParaRPr lang="en-US" sz="19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Any New Code: Continuing From Day 2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48640" y="1481328"/>
            <a:ext cx="384048" cy="384048"/>
          </a:xfrm>
          <a:prstGeom prst="ellipse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813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1097280" y="14173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folder</a:t>
            </a:r>
            <a:endParaRPr lang="en-US" sz="2100"/>
          </a:p>
        </p:txBody>
      </p:sp>
      <p:sp>
        <p:nvSpPr>
          <p:cNvPr id="9" name="Text 7"/>
          <p:cNvSpPr/>
          <p:nvPr/>
        </p:nvSpPr>
        <p:spPr>
          <a:xfrm>
            <a:off x="612648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C:\JavaBasicsCourse\Day03\learning</a:t>
            </a:r>
            <a:endParaRPr lang="en-US" sz="2000"/>
          </a:p>
        </p:txBody>
      </p:sp>
      <p:sp>
        <p:nvSpPr>
          <p:cNvPr id="10" name="Shape 8"/>
          <p:cNvSpPr/>
          <p:nvPr/>
        </p:nvSpPr>
        <p:spPr>
          <a:xfrm>
            <a:off x="548640" y="2194560"/>
            <a:ext cx="384048" cy="384048"/>
          </a:xfrm>
          <a:prstGeom prst="ellipse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1945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/>
          </a:p>
        </p:txBody>
      </p:sp>
      <p:sp>
        <p:nvSpPr>
          <p:cNvPr id="12" name="Text 10"/>
          <p:cNvSpPr/>
          <p:nvPr/>
        </p:nvSpPr>
        <p:spPr>
          <a:xfrm>
            <a:off x="1097280" y="213055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your Day 2 folder</a:t>
            </a:r>
            <a:endParaRPr lang="en-US" sz="2100"/>
          </a:p>
        </p:txBody>
      </p:sp>
      <p:sp>
        <p:nvSpPr>
          <p:cNvPr id="13" name="Text 11"/>
          <p:cNvSpPr/>
          <p:nvPr/>
        </p:nvSpPr>
        <p:spPr>
          <a:xfrm>
            <a:off x="6126480" y="213055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Explorer window or the VS Code sidebar</a:t>
            </a:r>
            <a:endParaRPr lang="en-US" sz="2000"/>
          </a:p>
        </p:txBody>
      </p:sp>
      <p:sp>
        <p:nvSpPr>
          <p:cNvPr id="14" name="Shape 12"/>
          <p:cNvSpPr/>
          <p:nvPr/>
        </p:nvSpPr>
        <p:spPr>
          <a:xfrm>
            <a:off x="548640" y="2907792"/>
            <a:ext cx="384048" cy="384048"/>
          </a:xfrm>
          <a:prstGeom prst="ellipse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9077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/>
          </a:p>
        </p:txBody>
      </p:sp>
      <p:sp>
        <p:nvSpPr>
          <p:cNvPr id="16" name="Text 14"/>
          <p:cNvSpPr/>
          <p:nvPr/>
        </p:nvSpPr>
        <p:spPr>
          <a:xfrm>
            <a:off x="1097280" y="2843784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MemberBenefitsSummary.java</a:t>
            </a:r>
            <a:endParaRPr lang="en-US" sz="2100"/>
          </a:p>
        </p:txBody>
      </p:sp>
      <p:sp>
        <p:nvSpPr>
          <p:cNvPr id="17" name="Text 15"/>
          <p:cNvSpPr/>
          <p:nvPr/>
        </p:nvSpPr>
        <p:spPr>
          <a:xfrm>
            <a:off x="6126480" y="2843784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Day02\learning into Day03\learning</a:t>
            </a:r>
            <a:endParaRPr lang="en-US" sz="2000"/>
          </a:p>
        </p:txBody>
      </p:sp>
      <p:sp>
        <p:nvSpPr>
          <p:cNvPr id="18" name="Shape 16"/>
          <p:cNvSpPr/>
          <p:nvPr/>
        </p:nvSpPr>
        <p:spPr>
          <a:xfrm>
            <a:off x="548640" y="3621024"/>
            <a:ext cx="384048" cy="384048"/>
          </a:xfrm>
          <a:prstGeom prst="ellipse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6210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/>
          </a:p>
        </p:txBody>
      </p:sp>
      <p:sp>
        <p:nvSpPr>
          <p:cNvPr id="20" name="Text 18"/>
          <p:cNvSpPr/>
          <p:nvPr/>
        </p:nvSpPr>
        <p:spPr>
          <a:xfrm>
            <a:off x="1097280" y="3557016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Day03\learning in VS Code</a:t>
            </a:r>
            <a:endParaRPr lang="en-US" sz="2100"/>
          </a:p>
        </p:txBody>
      </p:sp>
      <p:sp>
        <p:nvSpPr>
          <p:cNvPr id="21" name="Text 19"/>
          <p:cNvSpPr/>
          <p:nvPr/>
        </p:nvSpPr>
        <p:spPr>
          <a:xfrm>
            <a:off x="6126480" y="3557016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&gt; Open Folder</a:t>
            </a:r>
            <a:endParaRPr lang="en-US" sz="2000"/>
          </a:p>
        </p:txBody>
      </p:sp>
      <p:sp>
        <p:nvSpPr>
          <p:cNvPr id="22" name="Shape 20"/>
          <p:cNvSpPr/>
          <p:nvPr/>
        </p:nvSpPr>
        <p:spPr>
          <a:xfrm>
            <a:off x="548640" y="4334256"/>
            <a:ext cx="384048" cy="384048"/>
          </a:xfrm>
          <a:prstGeom prst="ellipse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433425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/>
          </a:p>
        </p:txBody>
      </p:sp>
      <p:sp>
        <p:nvSpPr>
          <p:cNvPr id="24" name="Text 22"/>
          <p:cNvSpPr/>
          <p:nvPr/>
        </p:nvSpPr>
        <p:spPr>
          <a:xfrm>
            <a:off x="1097280" y="427024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tools still work</a:t>
            </a:r>
            <a:endParaRPr lang="en-US" sz="2100"/>
          </a:p>
        </p:txBody>
      </p:sp>
      <p:sp>
        <p:nvSpPr>
          <p:cNvPr id="25" name="Text 23"/>
          <p:cNvSpPr/>
          <p:nvPr/>
        </p:nvSpPr>
        <p:spPr>
          <a:xfrm>
            <a:off x="6126480" y="42702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-version and javac -version</a:t>
            </a:r>
            <a:endParaRPr lang="en-US" sz="2000"/>
          </a:p>
        </p:txBody>
      </p:sp>
      <p:sp>
        <p:nvSpPr>
          <p:cNvPr id="26" name="Shape 24"/>
          <p:cNvSpPr/>
          <p:nvPr/>
        </p:nvSpPr>
        <p:spPr>
          <a:xfrm>
            <a:off x="548640" y="5047488"/>
            <a:ext cx="384048" cy="384048"/>
          </a:xfrm>
          <a:prstGeom prst="ellipse">
            <a:avLst/>
          </a:prstGeom>
          <a:solidFill>
            <a:srgbClr val="3AAFA9"/>
          </a:solidFill>
          <a:ln w="12700">
            <a:solidFill>
              <a:srgbClr val="3AAFA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50474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200"/>
          </a:p>
        </p:txBody>
      </p:sp>
      <p:sp>
        <p:nvSpPr>
          <p:cNvPr id="28" name="Text 26"/>
          <p:cNvSpPr/>
          <p:nvPr/>
        </p:nvSpPr>
        <p:spPr>
          <a:xfrm>
            <a:off x="1097280" y="4983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one file continues</a:t>
            </a:r>
            <a:endParaRPr lang="en-US" sz="2100"/>
          </a:p>
        </p:txBody>
      </p:sp>
      <p:sp>
        <p:nvSpPr>
          <p:cNvPr id="29" name="Text 27"/>
          <p:cNvSpPr/>
          <p:nvPr/>
        </p:nvSpPr>
        <p:spPr>
          <a:xfrm>
            <a:off x="6126480" y="4983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MemberBenefitsSummary.java — the rest were practice files</a:t>
            </a:r>
            <a:endParaRPr lang="en-US" sz="2000"/>
          </a:p>
        </p:txBody>
      </p:sp>
      <p:sp>
        <p:nvSpPr>
          <p:cNvPr id="30" name="Shape 28"/>
          <p:cNvSpPr/>
          <p:nvPr/>
        </p:nvSpPr>
        <p:spPr>
          <a:xfrm>
            <a:off x="548640" y="5806440"/>
            <a:ext cx="11064240" cy="68580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" y="589788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you wrote yesterday is thrown away — today's folder starts by copying it forward.</a:t>
            </a:r>
            <a:endParaRPr lang="en-US" sz="19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Expressions — Relational Operators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7835625"/>
              </p:ext>
            </p:extLst>
          </p:nvPr>
        </p:nvGraphicFramePr>
        <p:xfrm>
          <a:off x="548640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==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Equal to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planCode == 'H'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!=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equal to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visitsUsed != 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than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remainingDeductible &gt; 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than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visitUsagePercent &lt; 0.75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&gt;=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Greater or equal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subtotal &gt;= 100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&lt;=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 or equal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visitsUsed &lt;= VISITS_ALLOWED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371600"/>
            <a:ext cx="5349240" cy="2834640"/>
          </a:xfrm>
          <a:prstGeom prst="roundRect">
            <a:avLst>
              <a:gd name="adj" fmla="val 2581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92240" y="1554480"/>
            <a:ext cx="489204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 visitsUsed = 4;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withinLimit =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visitsUsed &lt;= VISITS_ALLOWED;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 boolean needs no == at all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approved = true;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(approved) { ... }        // preferred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(approved == true) { ... } // works,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       // not idiomatic</a:t>
            </a:r>
            <a:endParaRPr lang="en-US" sz="1900"/>
          </a:p>
        </p:txBody>
      </p:sp>
      <p:sp>
        <p:nvSpPr>
          <p:cNvPr id="9" name="Shape 6"/>
          <p:cNvSpPr/>
          <p:nvPr/>
        </p:nvSpPr>
        <p:spPr>
          <a:xfrm>
            <a:off x="548640" y="4480560"/>
            <a:ext cx="11064240" cy="123444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457200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traps: don't use == to compare double values — use &gt; and &lt; instead, since floating-point numbers aren't always exact. And don't use == to compare String values — use .equals() or .equalsIgnoreCase(). You'll cause both bugs on purpose later today.</a:t>
            </a:r>
            <a:endParaRPr lang="en-US" sz="19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Boolean Expressions — Logical Operators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1070246"/>
              </p:ext>
            </p:extLst>
          </p:nvPr>
        </p:nvGraphicFramePr>
        <p:xfrm>
          <a:off x="548640" y="1371600"/>
          <a:ext cx="5394960" cy="914400"/>
        </p:xfrm>
        <a:graphic>
          <a:graphicData uri="http://schemas.openxmlformats.org/drawingml/2006/table">
            <a:tbl>
              <a:tblPr/>
              <a:tblGrid>
                <a:gridCol w="1005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Operator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Returns true when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&amp;&amp;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AND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 expressions are true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||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either expression is true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!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expression is false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hape 4"/>
          <p:cNvSpPr/>
          <p:nvPr/>
        </p:nvSpPr>
        <p:spPr>
          <a:xfrm>
            <a:off x="6263640" y="1371600"/>
            <a:ext cx="5349240" cy="3017520"/>
          </a:xfrm>
          <a:prstGeom prst="roundRect">
            <a:avLst>
              <a:gd name="adj" fmla="val 2424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6492240" y="1554480"/>
            <a:ext cx="489204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AND -- both must hold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seniorInGV =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age &gt;= 65 &amp;&amp; city.equals("Greenville");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OR -- either is enough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boolean priority =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subtotal &gt;= 500 || status.equals("urgent");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NOT -- often clearer rewritten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&lt; 65   // instead of !(age &gt;= 65)</a:t>
            </a:r>
            <a:endParaRPr lang="en-US" sz="1800"/>
          </a:p>
        </p:txBody>
      </p:sp>
      <p:sp>
        <p:nvSpPr>
          <p:cNvPr id="9" name="Shape 6"/>
          <p:cNvSpPr/>
          <p:nvPr/>
        </p:nvSpPr>
        <p:spPr>
          <a:xfrm>
            <a:off x="548640" y="4663440"/>
            <a:ext cx="11064240" cy="105156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475488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and || are short-circuit operators: Java stops evaluating the moment the answer is certain. If the first half of an &amp;&amp; is false, the second half is never checked — handy later when you check that a value isn't null before checking something about it.</a:t>
            </a:r>
            <a:endParaRPr lang="en-US" sz="19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if/else Statement — the Pattern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2734056"/>
          </a:xfrm>
          <a:prstGeom prst="roundRect">
            <a:avLst>
              <a:gd name="adj" fmla="val 381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1060704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(booleanExpression) {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statements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(booleanExpression) {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statements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statements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if/else statement always has an if clause, and can optionally add else if clauses and a final else</a:t>
            </a:r>
            <a:endParaRPr lang="en-US" sz="20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always contains an if clause; else if and else are optional</a:t>
            </a:r>
            <a:endParaRPr lang="en-US" sz="20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pair of braces defines a block — variables declared inside only exist inside that block (block scope)</a:t>
            </a:r>
            <a:endParaRPr 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if/else Statement — in Practice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064240" cy="2441448"/>
          </a:xfrm>
          <a:prstGeom prst="roundRect">
            <a:avLst>
              <a:gd name="adj" fmla="val 381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1554480"/>
            <a:ext cx="10607040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usageStatus;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(visitUsagePercent &gt;= 1.0) {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usageStatus = "Limit reached";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usageStatus = "On track";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548640" y="406908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if/else statement always has an if clause, and can optionally add else if clauses and a final else</a:t>
            </a:r>
            <a:endParaRPr lang="en-US" sz="20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always contains an if clause; else if and else are optional</a:t>
            </a:r>
            <a:endParaRPr lang="en-US" sz="20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pair of braces defines a block — variables declared inside only exist inside that block (block scope)</a:t>
            </a:r>
            <a:endParaRPr lang="en-US"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Else-If Chains — Order Matters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3026664"/>
          </a:xfrm>
          <a:prstGeom prst="roundRect">
            <a:avLst>
              <a:gd name="adj" fmla="val 3077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10607040" cy="2660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usageStatus;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(visitUsagePercent &gt;= 1.0) {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usageStatus = "Limit reached";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(visitUsagePercent &gt;= 0.75) {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usageStatus = "Approaching your visit limit";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usageStatus = "On track";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10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461772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evaluates an if/else statement from the top down. The moment a clause is true, Java runs its statements and skips the rest — so the order of your conditions matters. This example checks the highest usage first and works its way down. Flip the order, and a loose early condition could swallow the specific cases below it.</a:t>
            </a:r>
            <a:endParaRPr lang="en-US"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Braces, Block Scope, and Nested if/else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39496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pair of braces defines a block. A variable declared inside a block only exists inside it — block scope</a:t>
            </a:r>
            <a:endParaRPr lang="en-US" sz="200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than one statement in a clause? Braces are required</a:t>
            </a:r>
            <a:endParaRPr lang="en-US" sz="200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statement in a clause? Braces are optional, but good practice</a:t>
            </a:r>
            <a:endParaRPr lang="en-US" sz="200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Nesting: one if/else inside another, for a decision that depends on more than one condition</a:t>
            </a:r>
            <a:endParaRPr lang="en-US" sz="200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Indent nested statements so their start and end are easy to see</a:t>
            </a:r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6263640" y="1371600"/>
            <a:ext cx="5349240" cy="2103120"/>
          </a:xfrm>
          <a:prstGeom prst="roundRect">
            <a:avLst>
              <a:gd name="adj" fmla="val 3478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554480"/>
            <a:ext cx="4892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(planType.equals("HMO")) {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(visitUsagePercent &gt;= 1.0) {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referralRequired = true;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referralRequired = false;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switch Statement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Compares one expression against a list of case labels — a good fit when checking a variable against a short list of known values.</a:t>
            </a:r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400800" cy="4206240"/>
          </a:xfrm>
          <a:prstGeom prst="roundRect">
            <a:avLst>
              <a:gd name="adj" fmla="val 1739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11680"/>
            <a:ext cx="594360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planName;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(planCode) {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"H":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planName = "HMO Choice Plan";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"P":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planName = "PPO Choice Plan";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default: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planName = "Unknown plan code";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break;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/>
          </a:p>
        </p:txBody>
      </p:sp>
      <p:sp>
        <p:nvSpPr>
          <p:cNvPr id="9" name="Shape 7"/>
          <p:cNvSpPr/>
          <p:nvPr/>
        </p:nvSpPr>
        <p:spPr>
          <a:xfrm>
            <a:off x="7178040" y="1828800"/>
            <a:ext cx="4434840" cy="420624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06640" y="1920240"/>
            <a:ext cx="3977640" cy="4023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Forgetting break at the end of a case label is a classic beginner mistake — execution falls through to the next label and runs its statements too. Java won't warn you. You'll cause this on purpose in Break It on Purpose.</a:t>
            </a:r>
            <a:endParaRPr lang="en-US" sz="19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Arrow Labels (Java 12+)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ARROW LABELS — NO FALL-THROUGH, NO BREAK NEEDED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3026664"/>
          </a:xfrm>
          <a:prstGeom prst="roundRect">
            <a:avLst>
              <a:gd name="adj" fmla="val 2759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10607040" cy="2660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switch (planCode) {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"H" -&gt; planName = "HMO Choice Plan";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"P" -&gt; planName = "PPO Choice Plan";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"E", "X" -&gt;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planName = "EPO Choice Plan";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-&gt;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planName = "Unknown plan code";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/>
          </a:p>
        </p:txBody>
      </p:sp>
      <p:sp>
        <p:nvSpPr>
          <p:cNvPr id="12" name="Shape 10"/>
          <p:cNvSpPr/>
          <p:nvPr/>
        </p:nvSpPr>
        <p:spPr>
          <a:xfrm>
            <a:off x="548640" y="4892040"/>
            <a:ext cx="11064240" cy="109728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98348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or if/else? Reach for switch when comparing one variable for equality against a short list of values. Reach for if/else for a range of values or a compound Boolean condition — switch has no clean way to express a range.</a:t>
            </a:r>
            <a:endParaRPr lang="en-US" sz="19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Switch Expressions (Java 12+)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EXPRESSIONS — RETURN A VALUE DIRECTLY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548640" y="1645920"/>
            <a:ext cx="11064240" cy="2441448"/>
          </a:xfrm>
          <a:prstGeom prst="roundRect">
            <a:avLst>
              <a:gd name="adj" fmla="val 2759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10607040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planName = switch (planCode) {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"H" -&gt; "HMO Choice Plan";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"P" -&gt; "PPO Choice Plan";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"E", "X" -&gt; "EPO Choice Plan";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-&gt; "Unknown plan code";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1800"/>
          </a:p>
        </p:txBody>
      </p:sp>
      <p:sp>
        <p:nvSpPr>
          <p:cNvPr id="12" name="Shape 10"/>
          <p:cNvSpPr/>
          <p:nvPr/>
        </p:nvSpPr>
        <p:spPr>
          <a:xfrm>
            <a:off x="548640" y="4297680"/>
            <a:ext cx="11064240" cy="109728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38912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switch or if/else? Reach for switch when comparing one variable for equality against a short list of values. Reach for if/else for a range of values or a compound Boolean condition — switch has no clean way to express a range.</a:t>
            </a:r>
            <a:endParaRPr lang="en-US" sz="19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4C6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Code — the Book's Discount Logic, Insurance Style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Murach's Java Programming, 6th Ed., Figure 4-8: a switch expression picks the member-type block, then nested if/else statements pick the subtotal tier.</a:t>
            </a:r>
            <a:endParaRPr lang="en-US" sz="1900"/>
          </a:p>
        </p:txBody>
      </p:sp>
      <p:sp>
        <p:nvSpPr>
          <p:cNvPr id="7" name="Shape 5"/>
          <p:cNvSpPr/>
          <p:nvPr/>
        </p:nvSpPr>
        <p:spPr>
          <a:xfrm>
            <a:off x="548640" y="1874520"/>
            <a:ext cx="11064240" cy="3904488"/>
          </a:xfrm>
          <a:prstGeom prst="roundRect">
            <a:avLst>
              <a:gd name="adj" fmla="val 2286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2057400"/>
            <a:ext cx="10607040" cy="35387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discountPercent = switch (memberType) {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"r", "R" -&gt; {                  // individual plan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(subtotal &gt;= 250)      { yield .2; }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if (subtotal &gt;= 100) { yield .1; }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else                      { yield 0.0; }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"g", "G" -&gt; {                  // group / employer plan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(subtotal &gt;= 250) { yield .3; } else { yield .2; }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-&gt; .1;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2000"/>
          </a:p>
        </p:txBody>
      </p:sp>
      <p:sp>
        <p:nvSpPr>
          <p:cNvPr id="9" name="Shape 7"/>
          <p:cNvSpPr/>
          <p:nvPr/>
        </p:nvSpPr>
        <p:spPr>
          <a:xfrm>
            <a:off x="548640" y="5897880"/>
            <a:ext cx="11064240" cy="96012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5989320"/>
            <a:ext cx="10607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of labor: the switch expression handles “which member type?” (equality against known values); the nested if/else handles “which subtotal range?” (a range check). Each tool where it fits.</a:t>
            </a:r>
            <a:endParaRPr lang="en-US" sz="19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 — the while Loop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500"/>
          </a:p>
        </p:txBody>
      </p:sp>
      <p:sp>
        <p:nvSpPr>
          <p:cNvPr id="6" name="Text 4"/>
          <p:cNvSpPr/>
          <p:nvPr/>
        </p:nvSpPr>
        <p:spPr>
          <a:xfrm>
            <a:off x="548640" y="13258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— CHECKS FIRST</a:t>
            </a:r>
            <a:endParaRPr lang="en-US" sz="1800"/>
          </a:p>
        </p:txBody>
      </p:sp>
      <p:sp>
        <p:nvSpPr>
          <p:cNvPr id="7" name="Shape 5"/>
          <p:cNvSpPr/>
          <p:nvPr/>
        </p:nvSpPr>
        <p:spPr>
          <a:xfrm>
            <a:off x="548640" y="1645920"/>
            <a:ext cx="11064240" cy="2734056"/>
          </a:xfrm>
          <a:prstGeom prst="roundRect">
            <a:avLst>
              <a:gd name="adj" fmla="val 320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1828800"/>
            <a:ext cx="1060704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more = "y";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(more.equalsIgnoreCase("y")) {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visitsUsed++;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System.out.print(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"Log another visit? (y/n): ");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more = sc.nextLine();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1064240" cy="137160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70916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while loop's condition never becomes false, it never ends — an infinite loop. Forgetting to update the value the condition checks is the most common accidental cause. Most IDEs let you stop a runaway program with a Stop button.</a:t>
            </a:r>
            <a:endParaRPr lang="en-US" sz="19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Loops — the do-while Loop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548640" y="1325880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DO-WHILE — CHECKS LAST, RUNS AT LEAST ONCE</a:t>
            </a:r>
            <a:endParaRPr lang="en-US" sz="1800"/>
          </a:p>
        </p:txBody>
      </p:sp>
      <p:sp>
        <p:nvSpPr>
          <p:cNvPr id="10" name="Shape 8"/>
          <p:cNvSpPr/>
          <p:nvPr/>
        </p:nvSpPr>
        <p:spPr>
          <a:xfrm>
            <a:off x="548640" y="1645920"/>
            <a:ext cx="11064240" cy="2734056"/>
          </a:xfrm>
          <a:prstGeom prst="roundRect">
            <a:avLst>
              <a:gd name="adj" fmla="val 320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77240" y="1828800"/>
            <a:ext cx="1060704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more;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{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visitsUsed++;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System.out.print(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"Log another visit? (y/n): ");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more = sc.nextLine();</a:t>
            </a:r>
            <a:endParaRPr lang="en-US" sz="18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while (more.equalsIgnoreCase("y"));</a:t>
            </a:r>
            <a:endParaRPr lang="en-US" sz="1800"/>
          </a:p>
        </p:txBody>
      </p:sp>
      <p:sp>
        <p:nvSpPr>
          <p:cNvPr id="12" name="Shape 10"/>
          <p:cNvSpPr/>
          <p:nvPr/>
        </p:nvSpPr>
        <p:spPr>
          <a:xfrm>
            <a:off x="548640" y="4617720"/>
            <a:ext cx="11064240" cy="137160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77240" y="470916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while loop's condition never becomes false, it never ends — an infinite loop. Forgetting to update the value the condition checks is the most common accidental cause. Most IDEs let you stop a runaway program with a Stop button.</a:t>
            </a:r>
            <a:endParaRPr lang="en-US" sz="19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for Loop, and a Look at Nested Loops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11064240" cy="3026664"/>
          </a:xfrm>
          <a:prstGeom prst="roundRect">
            <a:avLst>
              <a:gd name="adj" fmla="val 3077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45920"/>
            <a:ext cx="10607040" cy="26609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(initExpr; booleanExpr; incrementExpr) {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statements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print a claim record number for 5 visits on file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(int i = 1; i &lt;= 5; i++) {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System.out.println("Visit record " + i);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100"/>
          </a:p>
        </p:txBody>
      </p:sp>
      <p:sp>
        <p:nvSpPr>
          <p:cNvPr id="8" name="Text 6"/>
          <p:cNvSpPr/>
          <p:nvPr/>
        </p:nvSpPr>
        <p:spPr>
          <a:xfrm>
            <a:off x="548640" y="461772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when you already know how many times something repeats, or you're counting on a fixed schedule</a:t>
            </a:r>
            <a:endParaRPr lang="en-US" sz="20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while when repetitions depend on something only known while the program runs — like how long a user keeps answering “y”</a:t>
            </a:r>
            <a:endParaRPr lang="en-US" sz="20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 (one for loop inside another) build tables — you'll recognize the pattern in the book; today's project doesn't need it</a:t>
            </a:r>
            <a:endParaRPr lang="en-US" sz="20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64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break Statement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80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134006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Jumps out of the loop immediately — execution continues right after it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Jumps to the top of the loop — the condition is re-checked and the loop continues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2377440"/>
            <a:ext cx="11064240" cy="2441448"/>
          </a:xfrm>
          <a:prstGeom prst="roundRect">
            <a:avLst>
              <a:gd name="adj" fmla="val 320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10607040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break -- stop when the user types "done"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(true) {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entry = sc.nextLine();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(entry.equalsIgnoreCase("done")) break;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totalCost += Double.parseDouble(entry);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900"/>
          </a:p>
        </p:txBody>
      </p:sp>
      <p:sp>
        <p:nvSpPr>
          <p:cNvPr id="11" name="Shape 8"/>
          <p:cNvSpPr/>
          <p:nvPr/>
        </p:nvSpPr>
        <p:spPr>
          <a:xfrm>
            <a:off x="548640" y="5120640"/>
            <a:ext cx="11064240" cy="105156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521208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 (true) loop with a break inside reads as “keep going until something tells you to stop” — often clearer than cramming the stopping condition into the while clause. You'll use this shape in today's live demo.</a:t>
            </a:r>
            <a:endParaRPr lang="en-US" sz="19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continue Statement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80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134006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Statement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Jumps out of the loop immediately — execution continues right after it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Jumps to the top of the loop — the condition is re-checked and the loop continues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48640" y="2377440"/>
            <a:ext cx="11064240" cy="2441448"/>
          </a:xfrm>
          <a:prstGeom prst="roundRect">
            <a:avLst>
              <a:gd name="adj" fmla="val 320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77240" y="2560320"/>
            <a:ext cx="10607040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continue -- reject a negative amount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cost = Double.parseDouble(sc.nextLine());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(cost &lt; 0) {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System.out.println("Can't be negative.");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continue;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900"/>
          </a:p>
        </p:txBody>
      </p:sp>
      <p:sp>
        <p:nvSpPr>
          <p:cNvPr id="11" name="Shape 8"/>
          <p:cNvSpPr/>
          <p:nvPr/>
        </p:nvSpPr>
        <p:spPr>
          <a:xfrm>
            <a:off x="548640" y="5120640"/>
            <a:ext cx="11064240" cy="105156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77240" y="521208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while (true) loop with a break inside reads as “keep going until something tells you to stop” — often clearer than cramming the stopping condition into the while clause. You'll use this shape in today's live demo.</a:t>
            </a:r>
            <a:endParaRPr lang="en-US" sz="19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Methods — Writing Your Own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3611880"/>
          </a:xfrm>
          <a:prstGeom prst="roundRect">
            <a:avLst>
              <a:gd name="adj" fmla="val 2667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106070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public|private static returnType methodName([parameterList]) {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statements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double calculateCoinsuranceOwed(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remainingDeductible, double rate) {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owed = remainingDeductible * rate;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owed = (double) Math.round(owed * 100) / 100;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owed;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548640" y="507492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/ private controls who can call it; static means it belongs to the class, like Math.round()</a:t>
            </a:r>
            <a:endParaRPr lang="en-US" sz="20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return type is what the method hands back — void if nothing</a:t>
            </a:r>
            <a:endParaRPr lang="en-US" sz="20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 (data type + name) are the values the method needs every time it's called; the body must return a value if the return type isn't void</a:t>
            </a:r>
            <a:endParaRPr lang="en-US" sz="20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Methods — Calling Them, and Why Bother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82296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48640" y="1316736"/>
            <a:ext cx="11064240" cy="1271016"/>
          </a:xfrm>
          <a:prstGeom prst="roundRect">
            <a:avLst>
              <a:gd name="adj" fmla="val 7273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600200"/>
            <a:ext cx="10607040" cy="905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owed = calculateCoinsuranceOwed(</a:t>
            </a:r>
            <a:endParaRPr lang="en-US" sz="22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remainingDeductible, COINSURANCE_RATE);</a:t>
            </a:r>
            <a:endParaRPr lang="en-US" sz="2200"/>
          </a:p>
        </p:txBody>
      </p:sp>
      <p:sp>
        <p:nvSpPr>
          <p:cNvPr id="8" name="Text 6"/>
          <p:cNvSpPr/>
          <p:nvPr/>
        </p:nvSpPr>
        <p:spPr>
          <a:xfrm>
            <a:off x="548640" y="2551176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1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— call it from anywhere in the class instead of retyping the calculation</a:t>
            </a:r>
            <a:endParaRPr lang="en-US" sz="21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1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Readability — a well-named method often replaces a comment explaining what a block does</a:t>
            </a:r>
            <a:endParaRPr lang="en-US" sz="210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21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Easier debugging — a short, single-purpose method is easier to test and reason about</a:t>
            </a:r>
            <a:endParaRPr lang="en-US" sz="2100"/>
          </a:p>
        </p:txBody>
      </p:sp>
      <p:sp>
        <p:nvSpPr>
          <p:cNvPr id="9" name="Shape 7"/>
          <p:cNvSpPr/>
          <p:nvPr/>
        </p:nvSpPr>
        <p:spPr>
          <a:xfrm>
            <a:off x="548640" y="4654296"/>
            <a:ext cx="11064240" cy="137160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4745736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method's name plus its parameter list form its signature; every method in a class needs a unique one. Today's method has exactly one signature — the book's overloaded getDouble() methods are Day 4 material, once exceptions give you a reason to write them.</a:t>
            </a:r>
            <a:endParaRPr lang="en-US" sz="19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C77D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Demo — We Build VisitLogDemo Together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48640" y="1435608"/>
            <a:ext cx="365760" cy="36576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4356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/>
          </a:p>
        </p:txBody>
      </p:sp>
      <p:sp>
        <p:nvSpPr>
          <p:cNvPr id="8" name="Text 6"/>
          <p:cNvSpPr/>
          <p:nvPr/>
        </p:nvSpPr>
        <p:spPr>
          <a:xfrm>
            <a:off x="1051560" y="138074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file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5532120" y="1380744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VisitLogDemo.java, class name spelled the same way</a:t>
            </a:r>
            <a:endParaRPr lang="en-US" sz="190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365760" cy="36576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/>
          </a:p>
        </p:txBody>
      </p:sp>
      <p:sp>
        <p:nvSpPr>
          <p:cNvPr id="12" name="Text 10"/>
          <p:cNvSpPr/>
          <p:nvPr/>
        </p:nvSpPr>
        <p:spPr>
          <a:xfrm>
            <a:off x="1051560" y="2002536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Scanner</a:t>
            </a:r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5532120" y="2002536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it, construct once at the top of main</a:t>
            </a:r>
            <a:endParaRPr lang="en-US" sz="1900"/>
          </a:p>
        </p:txBody>
      </p:sp>
      <p:sp>
        <p:nvSpPr>
          <p:cNvPr id="14" name="Shape 12"/>
          <p:cNvSpPr/>
          <p:nvPr/>
        </p:nvSpPr>
        <p:spPr>
          <a:xfrm>
            <a:off x="548640" y="2679192"/>
            <a:ext cx="365760" cy="36576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48640" y="267919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00"/>
          </a:p>
        </p:txBody>
      </p:sp>
      <p:sp>
        <p:nvSpPr>
          <p:cNvPr id="16" name="Text 14"/>
          <p:cNvSpPr/>
          <p:nvPr/>
        </p:nvSpPr>
        <p:spPr>
          <a:xfrm>
            <a:off x="1051560" y="2624328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loop</a:t>
            </a:r>
            <a:endParaRPr lang="en-US" sz="2000"/>
          </a:p>
        </p:txBody>
      </p:sp>
      <p:sp>
        <p:nvSpPr>
          <p:cNvPr id="17" name="Text 15"/>
          <p:cNvSpPr/>
          <p:nvPr/>
        </p:nvSpPr>
        <p:spPr>
          <a:xfrm>
            <a:off x="5532120" y="2624328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(true) around the whole logging block</a:t>
            </a:r>
            <a:endParaRPr lang="en-US" sz="1900"/>
          </a:p>
        </p:txBody>
      </p:sp>
      <p:sp>
        <p:nvSpPr>
          <p:cNvPr id="18" name="Shape 16"/>
          <p:cNvSpPr/>
          <p:nvPr/>
        </p:nvSpPr>
        <p:spPr>
          <a:xfrm>
            <a:off x="548640" y="3300984"/>
            <a:ext cx="365760" cy="36576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3009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/>
          </a:p>
        </p:txBody>
      </p:sp>
      <p:sp>
        <p:nvSpPr>
          <p:cNvPr id="20" name="Text 18"/>
          <p:cNvSpPr/>
          <p:nvPr/>
        </p:nvSpPr>
        <p:spPr>
          <a:xfrm>
            <a:off x="1051560" y="32461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a cost or "done"</a:t>
            </a:r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5532120" y="3246120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line; if it's "done" (any case), break</a:t>
            </a:r>
            <a:endParaRPr lang="en-US" sz="1900"/>
          </a:p>
        </p:txBody>
      </p:sp>
      <p:sp>
        <p:nvSpPr>
          <p:cNvPr id="22" name="Shape 20"/>
          <p:cNvSpPr/>
          <p:nvPr/>
        </p:nvSpPr>
        <p:spPr>
          <a:xfrm>
            <a:off x="548640" y="3922776"/>
            <a:ext cx="365760" cy="36576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548640" y="392277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/>
          </a:p>
        </p:txBody>
      </p:sp>
      <p:sp>
        <p:nvSpPr>
          <p:cNvPr id="24" name="Text 22"/>
          <p:cNvSpPr/>
          <p:nvPr/>
        </p:nvSpPr>
        <p:spPr>
          <a:xfrm>
            <a:off x="1051560" y="386791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and accumulate</a:t>
            </a:r>
            <a:endParaRPr lang="en-US" sz="2000"/>
          </a:p>
        </p:txBody>
      </p:sp>
      <p:sp>
        <p:nvSpPr>
          <p:cNvPr id="25" name="Text 23"/>
          <p:cNvSpPr/>
          <p:nvPr/>
        </p:nvSpPr>
        <p:spPr>
          <a:xfrm>
            <a:off x="5532120" y="3867912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to a double, add to a running total, increment a counter</a:t>
            </a:r>
            <a:endParaRPr lang="en-US" sz="1900"/>
          </a:p>
        </p:txBody>
      </p:sp>
      <p:sp>
        <p:nvSpPr>
          <p:cNvPr id="26" name="Shape 24"/>
          <p:cNvSpPr/>
          <p:nvPr/>
        </p:nvSpPr>
        <p:spPr>
          <a:xfrm>
            <a:off x="548640" y="4544568"/>
            <a:ext cx="365760" cy="365760"/>
          </a:xfrm>
          <a:prstGeom prst="ellipse">
            <a:avLst/>
          </a:prstGeom>
          <a:solidFill>
            <a:srgbClr val="C77DFF"/>
          </a:solidFill>
          <a:ln w="12700">
            <a:solidFill>
              <a:srgbClr val="C77D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48640" y="454456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100"/>
          </a:p>
        </p:txBody>
      </p:sp>
      <p:sp>
        <p:nvSpPr>
          <p:cNvPr id="28" name="Text 26"/>
          <p:cNvSpPr/>
          <p:nvPr/>
        </p:nvSpPr>
        <p:spPr>
          <a:xfrm>
            <a:off x="1051560" y="4489704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the result</a:t>
            </a:r>
            <a:endParaRPr lang="en-US" sz="2000"/>
          </a:p>
        </p:txBody>
      </p:sp>
      <p:sp>
        <p:nvSpPr>
          <p:cNvPr id="29" name="Text 27"/>
          <p:cNvSpPr/>
          <p:nvPr/>
        </p:nvSpPr>
        <p:spPr>
          <a:xfrm>
            <a:off x="5532120" y="4489704"/>
            <a:ext cx="6080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loop, if/else if/else sets a usage status</a:t>
            </a:r>
            <a:endParaRPr lang="en-US" sz="1900"/>
          </a:p>
        </p:txBody>
      </p:sp>
      <p:sp>
        <p:nvSpPr>
          <p:cNvPr id="30" name="Shape 28"/>
          <p:cNvSpPr/>
          <p:nvPr/>
        </p:nvSpPr>
        <p:spPr>
          <a:xfrm>
            <a:off x="548640" y="5285232"/>
            <a:ext cx="11064240" cy="64008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77240" y="537667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run after every checkpoint. Small steps make the error message point at the line you just typed.</a:t>
            </a:r>
            <a:endParaRPr lang="en-US" sz="19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on Purpose — Six Planned Errors (1 of 2)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80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890043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change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Java says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 = instead of == : if (visitsUsed = 12)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incompatible types: int → boolean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break from a switch case label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(compiles — falls through silently)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Comment out visitsUsed++; in the demo loop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(compiles — count stays 0)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3749040"/>
            <a:ext cx="11064240" cy="91440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three crash the program. They just produce a wrong answer that looks like a right one — the most dangerous kind of bug in this whole chapter.</a:t>
            </a:r>
            <a:endParaRPr lang="en-US" sz="19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It on Purpose — Six Planned Errors (2 of 2)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80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81365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to change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Java says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a for loop's i &lt; 5 to i &lt;= 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(compiles — one extra iteration)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 the two arguments to calculateCoinsuranceOwed()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(compiles — nonsense dollar amount)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Strings with == instead of .equals()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(compiles — true or false, unpredictably)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374904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stage: compile error, runtime crash, or just a wrong number?</a:t>
            </a:r>
            <a:endParaRPr lang="en-US" sz="20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first message only, or re-read your own logic line by line</a:t>
            </a:r>
            <a:endParaRPr lang="en-US" sz="200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one thing, save, and run the same commands again</a:t>
            </a:r>
            <a:endParaRPr lang="en-US" sz="20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Exercise — VisitStatusEstimate, From a Blank File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1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an empty VisitStatusEstimate.java</a:t>
            </a:r>
            <a:endParaRPr lang="en-US" sz="21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1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 a final int VISITS_ALLOWED = 12</a:t>
            </a:r>
            <a:endParaRPr lang="en-US" sz="21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1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and read visitsUsed (int) with Integer.parseInt()</a:t>
            </a:r>
            <a:endParaRPr lang="en-US" sz="21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1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visitUsagePercent — cast visitsUsed to double first</a:t>
            </a:r>
            <a:endParaRPr lang="en-US" sz="21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1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if/else if/else for a usageStatus: “Limit reached” at 100%+, “Approaching your visit limit” at 75%+, else “On track”</a:t>
            </a:r>
            <a:endParaRPr lang="en-US" sz="21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1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the percent (NumberFormat) and the status</a:t>
            </a:r>
            <a:endParaRPr lang="en-US" sz="2100"/>
          </a:p>
        </p:txBody>
      </p:sp>
      <p:sp>
        <p:nvSpPr>
          <p:cNvPr id="7" name="Shape 5"/>
          <p:cNvSpPr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77240" y="502920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done when: it compiles and runs clean; 9 of 12 visits prints “Approaching your visit limit”; 12 of 12 prints “Limit reached”; and you can explain why the else-if conditions run from highest to lowest.</a:t>
            </a:r>
            <a:endParaRPr lang="en-US" sz="19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— PlanTypeLookup (No Starter, No Answer Key)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394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1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PlanTypeLookup.java from a blank file</a:t>
            </a:r>
            <a:endParaRPr lang="en-US" sz="21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1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for and read a one-letter plan code (String)</a:t>
            </a:r>
            <a:endParaRPr lang="en-US" sz="21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1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switch expression to map it to a full plan name</a:t>
            </a:r>
            <a:endParaRPr lang="en-US" sz="21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1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one sentence combining the code and the name</a:t>
            </a:r>
            <a:endParaRPr lang="en-US" sz="21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1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Diagnose any error yourself first</a:t>
            </a:r>
            <a:endParaRPr lang="en-US" sz="2100"/>
          </a:p>
        </p:txBody>
      </p:sp>
      <p:sp>
        <p:nvSpPr>
          <p:cNvPr id="7" name="Shape 5"/>
          <p:cNvSpPr/>
          <p:nvPr/>
        </p:nvSpPr>
        <p:spPr>
          <a:xfrm>
            <a:off x="6263640" y="1417320"/>
            <a:ext cx="5349240" cy="2743200"/>
          </a:xfrm>
          <a:prstGeom prst="roundRect">
            <a:avLst>
              <a:gd name="adj" fmla="val 2667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92240" y="1600200"/>
            <a:ext cx="48920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 → HMO Choice Plan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 → PPO Choice Plan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or X → EPO Choice Plan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anything else → Unknown plan code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output: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4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code H is HMO Choice Plan.</a:t>
            </a:r>
            <a:endParaRPr lang="en-US" sz="2000"/>
          </a:p>
        </p:txBody>
      </p:sp>
      <p:sp>
        <p:nvSpPr>
          <p:cNvPr id="9" name="Shape 7"/>
          <p:cNvSpPr/>
          <p:nvPr/>
        </p:nvSpPr>
        <p:spPr>
          <a:xfrm>
            <a:off x="548640" y="4937760"/>
            <a:ext cx="11064240" cy="109728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77240" y="50292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ungraded — it shows whether switch expressions are sticking. Stuck for more than five minutes? Raise your hand. Finished early? Handle a lowercase plan code too.</a:t>
            </a:r>
            <a:endParaRPr lang="en-US" sz="19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Afternoon Project (After Class) — Evolve MemberBenefitsSummary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ARE BUILDING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39496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file evolved since Day 1, copied forward this morning</a:t>
            </a:r>
            <a:endParaRPr lang="en-US" sz="20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every calculation from Day 2 unchanged</a:t>
            </a:r>
            <a:endParaRPr lang="en-US" sz="20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lets the member log additional visits, decides a usage status, and calculates coinsurance through a method you write yourself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626364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6263640" y="1691640"/>
            <a:ext cx="534924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today has to work together, unprompted</a:t>
            </a:r>
            <a:endParaRPr lang="en-US" sz="20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Day 1 and Day 2 line still has to appear</a:t>
            </a:r>
            <a:endParaRPr lang="en-US" sz="20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this program stops crashing on bad input</a:t>
            </a:r>
            <a:endParaRPr lang="en-US" sz="20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file — Day 4 opens it again</a:t>
            </a:r>
            <a:endParaRPr lang="en-US" sz="20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Specification — Requirements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2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every declaration and calculation from the end of Day 2</a:t>
            </a:r>
            <a:endParaRPr lang="en-US" sz="220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2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while loop: “Log another visit? (y/n)” — while “y”/“Y”, increment visitsUsed</a:t>
            </a:r>
            <a:endParaRPr lang="en-US" sz="220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2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Recalculate visitUsagePercent after the loop, with a cast</a:t>
            </a:r>
            <a:endParaRPr lang="en-US" sz="220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2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if/else if/else for a usageStatus message</a:t>
            </a:r>
            <a:endParaRPr lang="en-US" sz="220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2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calculateCoinsuranceOwed(double remainingDeductible, double rate) — a static method that returns the rounded amount</a:t>
            </a:r>
            <a:endParaRPr lang="en-US" sz="220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22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the new method from main() in place of the old inline calculation</a:t>
            </a:r>
            <a:endParaRPr lang="en-US" sz="22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Spend the Time — Milestones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80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8852304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766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Elapsed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done by then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0:00 – 0:20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Bring it forward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Today's file compiles and runs unchanged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0:20 – 0:55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the loop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Visit-logging while loop updates visitsUsed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0:55 – 1:25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the decision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visitUsagePercent recalculated; usageStatus set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1:25 – 1:50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 the method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calculateCoinsuranceOwed() written and called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1:50 – 2:15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 and save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>
                          <a:solidFill>
                            <a:srgbClr val="22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 clean with sample data; save for Day 4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709160"/>
            <a:ext cx="11064240" cy="137160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777240" y="480060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data: Deductible $1,500, paid $375.50 → remaining $1,124.50. Start at 4 visits, log 5 more (answer “y” five times) → 9 of 12 → 75% → “Approaching your visit limit.” Coinsurance owed: $224.90.</a:t>
            </a:r>
            <a:endParaRPr lang="en-US" sz="19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Call It Done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CHECK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39496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and class name still match: MemberBenefitsSummary</a:t>
            </a:r>
            <a:endParaRPr lang="en-US" sz="190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Compiles with no errors</a:t>
            </a:r>
            <a:endParaRPr lang="en-US" sz="190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visit-logging loop actually changes visitsUsed</a:t>
            </a:r>
            <a:endParaRPr lang="en-US" sz="190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usageStatus set by if/else if/else, highest to lowest</a:t>
            </a:r>
            <a:endParaRPr lang="en-US" sz="190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calculateCoinsuranceOwed() is static, two double parameters, called from main()</a:t>
            </a:r>
            <a:endParaRPr lang="en-US" sz="1900"/>
          </a:p>
        </p:txBody>
      </p:sp>
      <p:sp>
        <p:nvSpPr>
          <p:cNvPr id="8" name="Text 6"/>
          <p:cNvSpPr/>
          <p:nvPr/>
        </p:nvSpPr>
        <p:spPr>
          <a:xfrm>
            <a:off x="626364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FINISHED EARLY? STRETCH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6263640" y="1691640"/>
            <a:ext cx="53492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the visit-logging loop as a do-while loop</a:t>
            </a:r>
            <a:endParaRPr lang="en-US" sz="190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continue that rejects a negative visit cost</a:t>
            </a:r>
            <a:endParaRPr lang="en-US" sz="190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9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switch expression to turn planName into a short planTier label, and print it</a:t>
            </a:r>
            <a:endParaRPr lang="en-US" sz="19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E859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 and Close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LEAVE</a:t>
            </a:r>
            <a:endParaRPr lang="en-US" sz="1800"/>
          </a:p>
        </p:txBody>
      </p:sp>
      <p:sp>
        <p:nvSpPr>
          <p:cNvPr id="7" name="Text 5"/>
          <p:cNvSpPr/>
          <p:nvPr/>
        </p:nvSpPr>
        <p:spPr>
          <a:xfrm>
            <a:off x="548640" y="169164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Day 3 folder holds four clean, compiling files</a:t>
            </a:r>
            <a:endParaRPr lang="en-US" sz="20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MemberBenefitsSummary logs visits, decides a status, and calls a method you wrote</a:t>
            </a:r>
            <a:endParaRPr lang="en-US" sz="20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 explain while vs. do-while, why else-if order matters, switch vs. if/else, and why a method needs a return type</a:t>
            </a:r>
            <a:endParaRPr lang="en-US" sz="2000"/>
          </a:p>
        </p:txBody>
      </p:sp>
      <p:sp>
        <p:nvSpPr>
          <p:cNvPr id="8" name="Text 6"/>
          <p:cNvSpPr/>
          <p:nvPr/>
        </p:nvSpPr>
        <p:spPr>
          <a:xfrm>
            <a:off x="6263640" y="13716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kern="0" spc="1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— DAY 4: THE CRASH FINALLY GETS FIXED</a:t>
            </a:r>
            <a:endParaRPr lang="en-US" sz="1800"/>
          </a:p>
        </p:txBody>
      </p:sp>
      <p:sp>
        <p:nvSpPr>
          <p:cNvPr id="9" name="Text 7"/>
          <p:cNvSpPr/>
          <p:nvPr/>
        </p:nvSpPr>
        <p:spPr>
          <a:xfrm>
            <a:off x="6263640" y="1874520"/>
            <a:ext cx="53492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program since Day 2 still crashes on bad input — you've seen it on purpose several times</a:t>
            </a:r>
            <a:endParaRPr lang="en-US" sz="20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try/catch lets the program catch that crash and ask again</a:t>
            </a:r>
            <a:endParaRPr lang="en-US" sz="2000"/>
          </a:p>
          <a:p>
            <a:pPr marL="228600" indent="-228600">
              <a:spcAft>
                <a:spcPts val="1300"/>
              </a:spcAft>
              <a:buSzPct val="100000"/>
              <a:buChar char="•"/>
            </a:pPr>
            <a:r>
              <a:rPr lang="en-US" sz="2000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write reusable validation methods that combine today's loops and methods with exception handling</a:t>
            </a:r>
            <a:endParaRPr lang="en-US" sz="20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743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kern="0" spc="200">
                <a:solidFill>
                  <a:srgbClr val="3AAF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 REFERENCE — NOT FOR DISTRIBUTION</a:t>
            </a:r>
            <a:endParaRPr lang="en-US" sz="220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Keys</a:t>
            </a:r>
            <a:endParaRPr lang="en-US" sz="3600"/>
          </a:p>
        </p:txBody>
      </p:sp>
      <p:sp>
        <p:nvSpPr>
          <p:cNvPr id="5" name="Text 3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Known-good versions of every Day 3 exercise and the afternoon project. Keep hidden until students have tried.</a:t>
            </a:r>
            <a:endParaRPr lang="en-US" sz="21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VisitLogDemo.java (1 of 3)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3611880"/>
          </a:xfrm>
          <a:prstGeom prst="roundRect">
            <a:avLst>
              <a:gd name="adj" fmla="val 1509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10607040" cy="3246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java.util.Scanner;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java.text.NumberFormat;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VisitLogDemo {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public static void main(String[] args) {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Scanner sc = new Scanner(System.in);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NumberFormat currency = NumberFormat.getCurrencyInstance();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 visitsUsed = 0;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totalCost = 0.0;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endParaRPr lang="en-US" sz="21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VisitLogDemo.java (2 of 3)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2734056"/>
          </a:xfrm>
          <a:prstGeom prst="roundRect">
            <a:avLst>
              <a:gd name="adj" fmla="val 1509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1060704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(true) {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System.out.print("Enter a visit cost (or 'done'): ");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String entry = sc.nextLine();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if (entry.equalsIgnoreCase("done")) break;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totalCost += Double.parseDouble(entry);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visitsUsed++;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2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VisitLogDemo.java (3 of 3)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4782312"/>
          </a:xfrm>
          <a:prstGeom prst="roundRect">
            <a:avLst>
              <a:gd name="adj" fmla="val 1509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10607040" cy="441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 usageStatus;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(visitsUsed &gt;= 12) {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usageStatus = "Limit reached";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if (visitsUsed &gt;= 9) {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usageStatus = "Approaching your visit limit";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 else {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usageStatus = "On track";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System.out.println("Visits logged: " + visitsUsed);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System.out.println("Total cost: " + currency.format(totalCost));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System.out.println("Status: " + usageStatus);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21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10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Exercise and Checkpoint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2441448"/>
          </a:xfrm>
          <a:prstGeom prst="roundRect">
            <a:avLst>
              <a:gd name="adj" fmla="val 3478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10607040" cy="2075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VisitStatusEstimate.java -- key lines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visitUsagePercent = (double) visitsUsed / VISITS_ALLOWED;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usageStatus;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(visitUsagePercent &gt;= 1.0) usageStatus = "Limit reached";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if (visitUsagePercent &gt;= 0.75) usageStatus = "Approaching your visit limit";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 usageStatus = "On track";</a:t>
            </a:r>
            <a:endParaRPr lang="en-US" sz="2000"/>
          </a:p>
        </p:txBody>
      </p:sp>
      <p:sp>
        <p:nvSpPr>
          <p:cNvPr id="8" name="Shape 6"/>
          <p:cNvSpPr/>
          <p:nvPr/>
        </p:nvSpPr>
        <p:spPr>
          <a:xfrm>
            <a:off x="548640" y="3977640"/>
            <a:ext cx="11064240" cy="2770632"/>
          </a:xfrm>
          <a:prstGeom prst="roundRect">
            <a:avLst>
              <a:gd name="adj" fmla="val 3333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4160520"/>
            <a:ext cx="1060704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PlanTypeLookup.java -- key lines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planName = switch (planCode) {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"H" -&gt; "HMO Choice Plan";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"P" -&gt; "PPO Choice Plan";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case "E", "X" -&gt; "EPO Choice Plan";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default -&gt; "Unknown plan code";</a:t>
            </a:r>
            <a:endParaRPr lang="en-US" sz="20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};</a:t>
            </a:r>
            <a:endParaRPr lang="en-US" sz="20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Project, Part 1 of 3: the New Method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2770632"/>
          </a:xfrm>
          <a:prstGeom prst="roundRect">
            <a:avLst>
              <a:gd name="adj" fmla="val 3200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10607040" cy="2404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 for Day 3 -- extracted from Day 2's inline calculation</a:t>
            </a:r>
            <a:endParaRPr lang="en-US" sz="22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double calculateCoinsuranceOwed(</a:t>
            </a:r>
            <a:endParaRPr lang="en-US" sz="22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double remainingDeductible, double rate) {</a:t>
            </a:r>
            <a:endParaRPr lang="en-US" sz="22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owed = remainingDeductible * rate;</a:t>
            </a:r>
            <a:endParaRPr lang="en-US" sz="22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owed = (double) Math.round(owed * 100) / 100;</a:t>
            </a:r>
            <a:endParaRPr lang="en-US" sz="22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owed;</a:t>
            </a:r>
            <a:endParaRPr lang="en-US" sz="22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20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11064240" cy="82296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46177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from Day 2's setup — the Scanner, the NumberFormat objects, the member and plan declarations — stays exactly as it was.</a:t>
            </a:r>
            <a:endParaRPr lang="en-US" sz="190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Project, Part 2 of 3: the Loop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3319272"/>
          </a:xfrm>
          <a:prstGeom prst="roundRect">
            <a:avLst>
              <a:gd name="adj" fmla="val 1509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1060704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New for Day 3 -- log additional visits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System.out.print("Log another visit? (y/n): ");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more = sc.nextLine();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while (more.equalsIgnoreCase("y")) {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visitsUsed++;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System.out.print("Log another visit? (y/n): ");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more = sc.nextLine();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90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Project, Part 2 of 3: the Decision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64240" cy="3319272"/>
          </a:xfrm>
          <a:prstGeom prst="roundRect">
            <a:avLst>
              <a:gd name="adj" fmla="val 1509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10607040" cy="2953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visitUsagePercent = (double) visitsUsed / VISITS_ALLOWED;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String usageStatus;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(visitUsagePercent &gt;= 1.0) {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usageStatus = "Limit reached -- additional visits may not be covered";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if (visitUsagePercent &gt;= 0.75) {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usageStatus = "Approaching your visit limit";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else {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usageStatus = "On track";</a:t>
            </a:r>
            <a:endParaRPr lang="en-US" sz="19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90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200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 Key — Project, Part 3 of 3: Calling the Method and Output</a:t>
            </a:r>
            <a:endParaRPr lang="en-US" sz="2400"/>
          </a:p>
        </p:txBody>
      </p:sp>
      <p:sp>
        <p:nvSpPr>
          <p:cNvPr id="4" name="Shape 2"/>
          <p:cNvSpPr/>
          <p:nvPr/>
        </p:nvSpPr>
        <p:spPr>
          <a:xfrm>
            <a:off x="548640" y="1170432"/>
            <a:ext cx="11064240" cy="18288"/>
          </a:xfrm>
          <a:prstGeom prst="rect">
            <a:avLst/>
          </a:prstGeom>
          <a:solidFill>
            <a:srgbClr val="E4E7F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47572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80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11064240" cy="2770632"/>
          </a:xfrm>
          <a:prstGeom prst="roundRect">
            <a:avLst>
              <a:gd name="adj" fmla="val 3077"/>
            </a:avLst>
          </a:prstGeom>
          <a:solidFill>
            <a:srgbClr val="1B2340"/>
          </a:solidFill>
          <a:ln w="12700">
            <a:solidFill>
              <a:srgbClr val="1B23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737360"/>
            <a:ext cx="10607040" cy="24048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 estimatedCoinsuranceOwed =</a:t>
            </a:r>
            <a:endParaRPr lang="en-US" sz="22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calculateCoinsuranceOwed(remainingDeductible, COINSURANCE_RATE);</a:t>
            </a:r>
            <a:endParaRPr lang="en-US" sz="2200"/>
          </a:p>
          <a:p>
            <a:pPr marL="0" indent="0">
              <a:spcAft>
                <a:spcPts val="200"/>
              </a:spcAft>
              <a:buNone/>
            </a:pPr>
            <a:endParaRPr lang="en-US" sz="22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System.out.println("Estimated coinsurance owed: "</a:t>
            </a:r>
            <a:endParaRPr lang="en-US" sz="22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+ currency.format(estimatedCoinsuranceOwed));</a:t>
            </a:r>
            <a:endParaRPr lang="en-US" sz="22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System.out.println("Visit usage: " + percent.format(visitUsagePercent));</a:t>
            </a:r>
            <a:endParaRPr lang="en-US" sz="2200"/>
          </a:p>
          <a:p>
            <a:pPr marL="0" indent="0">
              <a:spcAft>
                <a:spcPts val="200"/>
              </a:spcAft>
              <a:buNone/>
            </a:pPr>
            <a:r>
              <a:rPr lang="en-US" sz="1800">
                <a:solidFill>
                  <a:srgbClr val="E8EC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System.out.println("Status: " + usageStatus);</a:t>
            </a:r>
            <a:endParaRPr lang="en-US" sz="2200"/>
          </a:p>
        </p:txBody>
      </p:sp>
      <p:sp>
        <p:nvSpPr>
          <p:cNvPr id="8" name="Shape 6"/>
          <p:cNvSpPr/>
          <p:nvPr/>
        </p:nvSpPr>
        <p:spPr>
          <a:xfrm>
            <a:off x="548640" y="4526280"/>
            <a:ext cx="11064240" cy="822960"/>
          </a:xfrm>
          <a:prstGeom prst="rect">
            <a:avLst/>
          </a:prstGeom>
          <a:solidFill>
            <a:srgbClr val="FFF3D6"/>
          </a:solidFill>
          <a:ln w="12700">
            <a:solidFill>
              <a:srgbClr val="E3B9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77240" y="461772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i="1">
                <a:solidFill>
                  <a:srgbClr val="22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output with the suggested sample data: Remaining $1,124.50 · Coinsurance owed $224.90 · Visit usage 75% · Status: Approaching your visit limit.</a:t>
            </a:r>
            <a:endParaRPr lang="en-US" sz="1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4473</Words>
  <Application>Microsoft Macintosh PowerPoint</Application>
  <PresentationFormat>Widescreen</PresentationFormat>
  <Paragraphs>630</Paragraphs>
  <Slides>40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Jeff Salter</cp:lastModifiedBy>
  <cp:revision>2</cp:revision>
  <dcterms:created xsi:type="dcterms:W3CDTF">2026-08-18T19:09:05Z</dcterms:created>
  <dcterms:modified xsi:type="dcterms:W3CDTF">2026-08-18T21:20:13Z</dcterms:modified>
</cp:coreProperties>
</file>