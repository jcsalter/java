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4" r:id="rId33"/>
    <p:sldId id="287" r:id="rId34"/>
    <p:sldId id="288" r:id="rId35"/>
    <p:sldId id="293" r:id="rId36"/>
    <p:sldId id="289" r:id="rId37"/>
    <p:sldId id="292" r:id="rId38"/>
    <p:sldId id="290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1" d="100"/>
          <a:sy n="51" d="100"/>
        </p:scale>
        <p:origin x="-36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27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dge Accent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gradFill>
            <a:gsLst>
              <a:gs pos="0">
                <a:srgbClr val="1E2761"/>
              </a:gs>
              <a:gs pos="100000">
                <a:srgbClr val="0F9ED5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dge Accent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 COURSE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Calculations, and</a:t>
            </a:r>
            <a:endParaRPr lang="en-US" sz="360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Real Numbers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day with Scanner, decimal money, Java's full family of number types, and the calculator's first real calculations.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18, 2026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meline Rail"/>
          <p:cNvSpPr/>
          <p:nvPr/>
        </p:nvSpPr>
        <p:spPr>
          <a:xfrm>
            <a:off x="6610240" y="1837360"/>
            <a:ext cx="22860" cy="3250692"/>
          </a:xfrm>
          <a:prstGeom prst="rect">
            <a:avLst/>
          </a:prstGeom>
          <a:solidFill>
            <a:srgbClr val="D8DC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Stage Dot 1"/>
          <p:cNvSpPr/>
          <p:nvPr/>
        </p:nvSpPr>
        <p:spPr>
          <a:xfrm>
            <a:off x="6553090" y="1788780"/>
            <a:ext cx="137160" cy="137160"/>
          </a:xfrm>
          <a:prstGeom prst="ellipse">
            <a:avLst/>
          </a:prstGeom>
          <a:solidFill>
            <a:srgbClr val="8B949E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Stage Dot 2"/>
          <p:cNvSpPr/>
          <p:nvPr/>
        </p:nvSpPr>
        <p:spPr>
          <a:xfrm>
            <a:off x="6553090" y="2149968"/>
            <a:ext cx="137160" cy="137160"/>
          </a:xfrm>
          <a:prstGeom prst="ellipse">
            <a:avLst/>
          </a:prstGeom>
          <a:solidFill>
            <a:srgbClr val="0F9ED5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Stage Dot 3"/>
          <p:cNvSpPr/>
          <p:nvPr/>
        </p:nvSpPr>
        <p:spPr>
          <a:xfrm>
            <a:off x="6553090" y="2511156"/>
            <a:ext cx="137160" cy="137160"/>
          </a:xfrm>
          <a:prstGeom prst="ellipse">
            <a:avLst/>
          </a:prstGeom>
          <a:solidFill>
            <a:srgbClr val="0F9ED5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Stage Dot 4"/>
          <p:cNvSpPr/>
          <p:nvPr/>
        </p:nvSpPr>
        <p:spPr>
          <a:xfrm>
            <a:off x="6553090" y="2872344"/>
            <a:ext cx="137160" cy="137160"/>
          </a:xfrm>
          <a:prstGeom prst="ellipse">
            <a:avLst/>
          </a:prstGeom>
          <a:solidFill>
            <a:srgbClr val="0F9ED5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tage Dot 5"/>
          <p:cNvSpPr/>
          <p:nvPr/>
        </p:nvSpPr>
        <p:spPr>
          <a:xfrm>
            <a:off x="6553090" y="3233532"/>
            <a:ext cx="137160" cy="137160"/>
          </a:xfrm>
          <a:prstGeom prst="ellipse">
            <a:avLst/>
          </a:prstGeom>
          <a:solidFill>
            <a:srgbClr val="0F9ED5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Stage Dot 6"/>
          <p:cNvSpPr/>
          <p:nvPr/>
        </p:nvSpPr>
        <p:spPr>
          <a:xfrm>
            <a:off x="6553090" y="3594720"/>
            <a:ext cx="137160" cy="137160"/>
          </a:xfrm>
          <a:prstGeom prst="ellipse">
            <a:avLst/>
          </a:prstGeom>
          <a:solidFill>
            <a:srgbClr val="A02B93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Stage Dot 7"/>
          <p:cNvSpPr/>
          <p:nvPr/>
        </p:nvSpPr>
        <p:spPr>
          <a:xfrm>
            <a:off x="6553090" y="3955908"/>
            <a:ext cx="137160" cy="137160"/>
          </a:xfrm>
          <a:prstGeom prst="ellipse">
            <a:avLst/>
          </a:prstGeom>
          <a:solidFill>
            <a:srgbClr val="E97132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Stage Dot 8"/>
          <p:cNvSpPr/>
          <p:nvPr/>
        </p:nvSpPr>
        <p:spPr>
          <a:xfrm>
            <a:off x="6553090" y="4317096"/>
            <a:ext cx="137160" cy="137160"/>
          </a:xfrm>
          <a:prstGeom prst="ellipse">
            <a:avLst/>
          </a:prstGeom>
          <a:solidFill>
            <a:srgbClr val="196B24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Stage Dot 9"/>
          <p:cNvSpPr/>
          <p:nvPr/>
        </p:nvSpPr>
        <p:spPr>
          <a:xfrm>
            <a:off x="6553090" y="4678284"/>
            <a:ext cx="137160" cy="1371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Stage Dot 10"/>
          <p:cNvSpPr/>
          <p:nvPr/>
        </p:nvSpPr>
        <p:spPr>
          <a:xfrm>
            <a:off x="6553090" y="5039472"/>
            <a:ext cx="137160" cy="137160"/>
          </a:xfrm>
          <a:prstGeom prst="ellipse">
            <a:avLst/>
          </a:prstGeom>
          <a:solidFill>
            <a:srgbClr val="4EA72E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AT A GLANCE</a:t>
            </a:r>
            <a:endParaRPr lang="en-US" sz="18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 takes you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text and numbers the user types, using Scanner</a:t>
            </a:r>
            <a:endParaRPr lang="en-US" sz="18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double for money, and place it among Java's eight primitive types</a:t>
            </a:r>
            <a:endParaRPr lang="en-US" sz="18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business rule once with a final constant</a:t>
            </a:r>
            <a:endParaRPr lang="en-US" sz="18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binary, compound, and unary operators, and predict precedence</a:t>
            </a:r>
            <a:endParaRPr lang="en-US" sz="18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between int and double, and avoid the silent integer-division bug</a:t>
            </a:r>
            <a:endParaRPr lang="en-US" sz="18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Math.round to round money correctly, and format it with NumberFormat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6492240" y="1417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DAY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6903720" y="1737360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— bring forward Day 1 folder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903720" y="2098548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— Scanner and keyboard input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903720" y="2459736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— double, money, and the primitive family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6903720" y="2820924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— constants, operators, precedence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6903720" y="3182112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— casting and the Math class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6903720" y="3543300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02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code — NumberFormat and a rounding bug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6903720" y="3904488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— live VisitCostDemo build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6903720" y="4265676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VisitCostEstimate + CopayLookup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6903720" y="4626864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and check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6903720" y="4988052"/>
            <a:ext cx="52120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  </a:t>
            </a:r>
            <a:r>
              <a:rPr lang="en-US" sz="18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evolve MemberBenefitsSummary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692480" y="274320"/>
            <a:ext cx="1042320" cy="411480"/>
          </a:xfrm>
          <a:prstGeom prst="roundRect">
            <a:avLst>
              <a:gd name="adj" fmla="val 50000"/>
            </a:avLst>
          </a:prstGeom>
          <a:solidFill>
            <a:srgbClr val="5A6B7B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AGENDA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BOUNDARY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Day 2 does not include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TODAY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669280" cy="437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statements and decisions — that's next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and repetition (though you'll meet ++ and += as operators)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bad input gracefully — today's programs trust the user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other than main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and inheritance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methods beyond round() — pow, sqrt, max, min, random exist, but today's project doesn't need them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492240" y="14630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REACHING FOR THESE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492240" y="178308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ahead of the lesson, not behind it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Scanner, double, constants, operators, casting, Math, and NumberFormat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idea down — it has its own lesson coming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more to do? Take a stretch goal, not new syntax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5A6B7B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SCOPE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NEW CODE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from Day 1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wrote yesterday is thrown away. Today's folder starts by copying it forward.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96640" cy="1417320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594360" y="235915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folder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3322320" cy="358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C:\JavaBasicsCourse\Day02\learning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282440" y="1920240"/>
            <a:ext cx="3596640" cy="1465072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19600" y="201168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4419600" y="235915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Day 1 folder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419600" y="2633472"/>
            <a:ext cx="3322320" cy="66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Explorer window or the VS Code sidebar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8107680" y="1920240"/>
            <a:ext cx="3596640" cy="1465072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44840" y="201168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8244840" y="235915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MemberBenefitsSummary.java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244840" y="2633472"/>
            <a:ext cx="3322320" cy="66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Day01\learning into Day02\learning</a:t>
            </a:r>
            <a:endParaRPr lang="en-US" sz="150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596640" cy="1417320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594360" y="400507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Day02\learning in VS Code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594360" y="4279392"/>
            <a:ext cx="3322320" cy="447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Open Folder</a:t>
            </a:r>
            <a:endParaRPr lang="en-US" sz="2000"/>
          </a:p>
        </p:txBody>
      </p:sp>
      <p:sp>
        <p:nvSpPr>
          <p:cNvPr id="21" name="Shape 19"/>
          <p:cNvSpPr/>
          <p:nvPr/>
        </p:nvSpPr>
        <p:spPr>
          <a:xfrm>
            <a:off x="4282440" y="3566160"/>
            <a:ext cx="3596640" cy="1417320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19600" y="365760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4419600" y="400507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tools still work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4419600" y="427939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-version and javac -version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8107680" y="3566160"/>
            <a:ext cx="3596640" cy="1465072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44840" y="365760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8244840" y="400507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file continues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8244840" y="4279392"/>
            <a:ext cx="3322320" cy="66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MemberBenefitsSummary.java — the rest were practice files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436480" y="274320"/>
            <a:ext cx="1298320" cy="411480"/>
          </a:xfrm>
          <a:prstGeom prst="roundRect">
            <a:avLst>
              <a:gd name="adj" fmla="val 50000"/>
            </a:avLst>
          </a:prstGeom>
          <a:solidFill>
            <a:srgbClr val="5A6B7B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CONTINUE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6000"/>
            </a:srgbClr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B6E96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23" name="Rule"/>
          <p:cNvSpPr/>
          <p:nvPr/>
        </p:nvSpPr>
        <p:spPr>
          <a:xfrm>
            <a:off x="457200" y="1417320"/>
            <a:ext cx="640080" cy="457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INPUT MATTERS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hard-coded to real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120640" cy="4451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in yesterday's programs was typed directly into the source code</a:t>
            </a:r>
            <a:endParaRPr lang="en-US" sz="19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program isn't recompiled every time a number changes</a:t>
            </a:r>
            <a:endParaRPr lang="en-US" sz="19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program asks, and the person running it answers</a:t>
            </a:r>
            <a:endParaRPr lang="en-US" sz="19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endParaRPr lang="en-US" sz="19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9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OBJECT</a:t>
            </a:r>
            <a:endParaRPr lang="en-US" sz="19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java.util.Scanner; above the class</a:t>
            </a:r>
            <a:endParaRPr lang="en-US" sz="19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Scanner near the top of main</a:t>
            </a:r>
            <a:endParaRPr lang="en-US" sz="19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Scanner for every prompt</a:t>
            </a:r>
            <a:endParaRPr lang="en-US" sz="1900"/>
          </a:p>
        </p:txBody>
      </p:sp>
      <p:sp>
        <p:nvSpPr>
          <p:cNvPr id="5" name="Shape 3"/>
          <p:cNvSpPr/>
          <p:nvPr/>
        </p:nvSpPr>
        <p:spPr>
          <a:xfrm>
            <a:off x="5852160" y="1554480"/>
            <a:ext cx="5882640" cy="4642429"/>
          </a:xfrm>
          <a:prstGeom prst="roundRect">
            <a:avLst>
              <a:gd name="adj" fmla="val 122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File Tab"/>
          <p:cNvSpPr/>
          <p:nvPr/>
        </p:nvSpPr>
        <p:spPr>
          <a:xfrm>
            <a:off x="5852160" y="1554480"/>
            <a:ext cx="5882640" cy="475488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InputDemo.java</a:t>
            </a:r>
            <a:endParaRPr lang="en-US" sz="1800"/>
          </a:p>
        </p:txBody>
      </p:sp>
      <p:sp>
        <p:nvSpPr>
          <p:cNvPr id="21" name="Panel Accent"/>
          <p:cNvSpPr/>
          <p:nvPr/>
        </p:nvSpPr>
        <p:spPr>
          <a:xfrm>
            <a:off x="5852160" y="1554480"/>
            <a:ext cx="68580" cy="4642429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0" y="2103120"/>
            <a:ext cx="5471160" cy="3956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InputDemo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your name: "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"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</a:t>
            </a:r>
            <a:r>
              <a:rPr lang="en-US" sz="16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MECHANICS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 to number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120640" cy="2775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sc.nextLine() always returns a String, even for a typed number</a:t>
            </a:r>
            <a:endParaRPr lang="en-US" sz="17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doesn't know "84.50" is a number until you convert it</a:t>
            </a:r>
            <a:endParaRPr lang="en-US" sz="17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Double.parseDouble(someString) reads a String and returns a double</a:t>
            </a:r>
            <a:endParaRPr lang="en-US" sz="17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two calls together for a one-line prompt-and-convert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5852160" y="1554480"/>
            <a:ext cx="5882640" cy="2601285"/>
          </a:xfrm>
          <a:prstGeom prst="roundRect">
            <a:avLst>
              <a:gd name="adj" fmla="val 2609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80760" y="1920240"/>
            <a:ext cx="5516880" cy="2098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visit cost: "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copay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25.0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amountOwed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copay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457200" y="4480560"/>
            <a:ext cx="11247120" cy="1280160"/>
          </a:xfrm>
          <a:prstGeom prst="roundRect">
            <a:avLst>
              <a:gd name="adj" fmla="val 3571"/>
            </a:avLst>
          </a:prstGeom>
          <a:solidFill>
            <a:srgbClr val="FCF6F5"/>
          </a:solidFill>
          <a:ln w="15875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4572000"/>
            <a:ext cx="1078992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warning
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text isn't a valid number, Double.parseDouble() throws a NumberFormatException and the program crashes. We aren't catching that yet — Day 3 pokes at this on purpose, and Day 4 fixes it for good.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5852160" y="1554480"/>
            <a:ext cx="588264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5852160" y="1554480"/>
            <a:ext cx="68580" cy="2601285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 TYPE AND MONEY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int can't say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holds whole numbers only — no cents, no partial dollars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deductible of $1,500.00 or a copay of $27.50 needs a decimal point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holds decimal numbers — our type for money in this course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isn't perfectly exact for money in large financial systems, but for this course — with NumberFormat cleaning up the display — it's the right tool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6126480" y="1737360"/>
            <a:ext cx="5608320" cy="1597822"/>
          </a:xfrm>
          <a:prstGeom prst="roundRect">
            <a:avLst>
              <a:gd name="adj" fmla="val 3750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55080" y="2103120"/>
            <a:ext cx="5242560" cy="1094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copay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25.0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84.50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amountOwed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copay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6126480" y="1737360"/>
            <a:ext cx="560832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6126480" y="1737360"/>
            <a:ext cx="68580" cy="1597822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Java's eight primitive types</a:t>
            </a:r>
            <a:endParaRPr lang="en-US" sz="34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53898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this course?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 / short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 ranges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— too small for real values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±2.1 billion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IDs, counts, years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whole numbers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Occasionally — literal needs an L suffix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significant digits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this course uses double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 significant digits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every dollar amount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character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quotes, e.g. 'A'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or false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or false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— Day 3 uses it in if statements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literal with a decimal point (14.95) is a double by default. Without one (14), it's an int. String — used since Day 1 — is a class, not a primitive type.</a:t>
            </a:r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BUSINESS RULES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with final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coinsurance percentage or a visit limit belongs to the plan, not to one member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locks the value in — Java won't let it change later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in ALL CAPS with underscores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it once, instead of retyping 0.20 or 12 everywhere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unexplained number buried in a formula is a “magic number” — a constant names it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6035040" y="1920240"/>
            <a:ext cx="5699760" cy="2266797"/>
          </a:xfrm>
          <a:prstGeom prst="roundRect">
            <a:avLst>
              <a:gd name="adj" fmla="val 285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63640" y="2286000"/>
            <a:ext cx="5334000" cy="1763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COINSURANCE_RATE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member's estimated 20% share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VISITS_ALLOWED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visits covered per plan year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6035040" y="1920240"/>
            <a:ext cx="569976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6035040" y="1920240"/>
            <a:ext cx="68580" cy="2266797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operators</a:t>
            </a:r>
            <a:endParaRPr lang="en-US" sz="34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486400" cy="219760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+ charge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deductibleDollars - amountPaidThisYear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remainingDeductible * COINSURANCE_RATE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visitsUsed / VISITS_ALLOWED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 (remainder)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wholeVisits % groupSize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554480"/>
            <a:ext cx="5608320" cy="2880360"/>
          </a:xfrm>
          <a:prstGeom prst="roundRect">
            <a:avLst>
              <a:gd name="adj" fmla="val 1935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55080" y="1920240"/>
            <a:ext cx="5242560" cy="2432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wholeVisits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groupSize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perGroup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wholeVisits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groupSize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3 -- integer division drops remainder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leftover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wholeVisits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groupSize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2 -- what's left over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17.0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3.4 -- a decimal operand forces it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6126480" y="4526280"/>
            <a:ext cx="5577840" cy="1341120"/>
          </a:xfrm>
          <a:prstGeom prst="roundRect">
            <a:avLst>
              <a:gd name="adj" fmla="val 3704"/>
            </a:avLst>
          </a:prstGeom>
          <a:solidFill>
            <a:srgbClr val="FCF6F5"/>
          </a:solidFill>
          <a:ln w="15875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4617720"/>
            <a:ext cx="512064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you run it
</a:t>
            </a:r>
            <a:endParaRPr lang="en-US" sz="1500"/>
          </a:p>
          <a:p>
            <a:pPr marL="0" indent="0">
              <a:buNone/>
            </a:pPr>
            <a:r>
              <a:rPr lang="en-US" sz="15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result = 17 / 5; prints 3 — not 3.4, not 4. Integer / integer performs integer division and drops the fraction. It does not round.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6126480" y="1554480"/>
            <a:ext cx="560832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6126480" y="1554480"/>
            <a:ext cx="68580" cy="2880360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and unary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ASSIGNMENT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715000" cy="1486326"/>
          </a:xfrm>
          <a:prstGeom prst="roundRect">
            <a:avLst>
              <a:gd name="adj" fmla="val 3529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5349240" cy="983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6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-&gt;  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r>
              <a:rPr lang="en-US" sz="16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6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-&gt;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-= </a:t>
            </a:r>
            <a:r>
              <a:rPr lang="en-US" sz="16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6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-&gt; </a:t>
            </a:r>
            <a:r>
              <a:rPr lang="en-US" sz="16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*= </a:t>
            </a:r>
            <a:r>
              <a:rPr lang="en-US" sz="16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r>
              <a:rPr lang="en-US" sz="16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63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lean on += constantly starting tomorrow, once loops repeat code many times.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425440" cy="3604747"/>
          </a:xfrm>
          <a:prstGeom prst="roundRect">
            <a:avLst>
              <a:gd name="adj" fmla="val 171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2103120"/>
            <a:ext cx="5059680" cy="3101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++;   </a:t>
            </a: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visits becomes 5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++;  </a:t>
            </a: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y=4, then x becomes 5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++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 becomes 5 first, q=5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5715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visits++; behaves the same either way. The prefix/postfix difference only matters inside a larger expression — you'll see ++ again tomorrow, counting a loop.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1737360"/>
            <a:ext cx="571500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1737360"/>
            <a:ext cx="68580" cy="1486326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File Tab"/>
          <p:cNvSpPr/>
          <p:nvPr/>
        </p:nvSpPr>
        <p:spPr>
          <a:xfrm>
            <a:off x="6309360" y="1737360"/>
            <a:ext cx="542544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3" name="Panel Accent"/>
          <p:cNvSpPr/>
          <p:nvPr/>
        </p:nvSpPr>
        <p:spPr>
          <a:xfrm>
            <a:off x="6309360" y="1737360"/>
            <a:ext cx="68580" cy="3604747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PRECEDENCE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parentheses matter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Increment and decrement   2. Positive and negative   3. Multiplication, division, modulus   4. Addition and subtraction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7543800" cy="4217974"/>
          </a:xfrm>
          <a:prstGeom prst="roundRect">
            <a:avLst>
              <a:gd name="adj" fmla="val 136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7178040" cy="3715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allowedAmount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842.75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parentheses -- * happens before -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memberShareWrong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allowedAmount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5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COINSURANCE_RATE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842.75 * 1 = 842.75, then - 0.20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= 842.55  (wrong)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parentheses -- intended order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memberShareRight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allowedAmount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(</a:t>
            </a:r>
            <a:r>
              <a:rPr lang="en-US" sz="15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COINSURANCE_RATE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(1 - 0.20) = 0.80, then * 842.75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= 674.20  (right)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138160" y="219456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order multiplies first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compiles, runs, and is simply wrong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force the intended order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add them — they never hurt, and they document intent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2011680"/>
            <a:ext cx="754380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2011680"/>
            <a:ext cx="68580" cy="4217974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automatically, narrow explicitly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(WIDENING) — AUTOMATIC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32120" cy="1080455"/>
          </a:xfrm>
          <a:prstGeom prst="roundRect">
            <a:avLst>
              <a:gd name="adj" fmla="val 521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5166360" cy="7604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int 93 auto-widens to 93.0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(NARROWING) — YOU MUST ASK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5532120" cy="1080455"/>
          </a:xfrm>
          <a:prstGeom prst="roundRect">
            <a:avLst>
              <a:gd name="adj" fmla="val 521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5166360" cy="7604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93.75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93 -- truncated, not rounded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6126480" y="178308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Widening: less precise → more precise, automatic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Narrowing: more precise → less precise, needs (type) in front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can lose information, so Java won't do it silently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/>
          </a:p>
        </p:txBody>
      </p:sp>
      <p:sp>
        <p:nvSpPr>
          <p:cNvPr id="200" name="Panel Accent"/>
          <p:cNvSpPr/>
          <p:nvPr/>
        </p:nvSpPr>
        <p:spPr>
          <a:xfrm>
            <a:off x="457200" y="1783080"/>
            <a:ext cx="68580" cy="1080455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Panel Accent"/>
          <p:cNvSpPr/>
          <p:nvPr/>
        </p:nvSpPr>
        <p:spPr>
          <a:xfrm>
            <a:off x="457200" y="3337560"/>
            <a:ext cx="68580" cy="1080455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bug: dividing two ints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903720" cy="3939235"/>
          </a:xfrm>
          <a:prstGeom prst="roundRect">
            <a:avLst>
              <a:gd name="adj" fmla="val 130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6537960" cy="3436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visitsUsedCount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visitsUsed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VISITS_ALLOWED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</a:t>
            </a: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wrongPercent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visitsUsedCount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0.0 -- integer division happens FIRST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rightPercent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visitsUsedCount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0.333... -- the cast forces it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7498080" y="182880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 sits on one operand, before the division happens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the final result is too late — the decimal is already gone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today's project pattern for visit usage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1600200"/>
            <a:ext cx="690372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1600200"/>
            <a:ext cx="68580" cy="3939235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CLASS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java.lang.Math — no import needed</a:t>
            </a:r>
            <a:endParaRPr lang="en-US" sz="34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195376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Math.round(number)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whole 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Math.pow(number, power)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raised to a power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Math.sqrt(number)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root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Math.max(a, b) / Math.min(a, 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larger / smaller of two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Math.random()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random double, 0.0 ≤ x &lt; 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project only needs round() — the rest are here so this slide matches the textbook's table. They'll resurface naturally later in the course.</a:t>
            </a:r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CLASS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a dollar amount to two decimals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903720" cy="1932310"/>
          </a:xfrm>
          <a:prstGeom prst="roundRect">
            <a:avLst>
              <a:gd name="adj" fmla="val 3333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537960" cy="1429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10.315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10.32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7498080" y="1828800"/>
            <a:ext cx="4206240" cy="3032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100 to shift two decimal places into whole-number range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Math.round() rounds to the nearest whole number (returned as a long)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back to double and divide by 100 to shift back down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1645920"/>
            <a:ext cx="690372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1645920"/>
            <a:ext cx="68580" cy="1932310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MONEY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NumberFormat.getCurrencyInstance()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java.text.NumberFormat; at the top of the file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formatter once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currency.format(someDouble) for a display string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amount from here forward goes through NumberFormat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5943600" y="1600200"/>
            <a:ext cx="5791200" cy="3604747"/>
          </a:xfrm>
          <a:prstGeom prst="roundRect">
            <a:avLst>
              <a:gd name="adj" fmla="val 166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72200" y="1965960"/>
            <a:ext cx="5425440" cy="3101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getCurrencyInstance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deductible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"Deductible: "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deductible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typed 1500: Deductible: $1,500.00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5943600" y="1600200"/>
            <a:ext cx="579120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5943600" y="1600200"/>
            <a:ext cx="68580" cy="3604747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PERCENTAGES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NumberFormat.getPercentInstance()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6995160" cy="2935772"/>
          </a:xfrm>
          <a:prstGeom prst="roundRect">
            <a:avLst>
              <a:gd name="adj" fmla="val 2500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6629400" cy="2432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getPercentInstance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COINSURANCE_RATE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20%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0.3333333</a:t>
            </a:r>
            <a:r>
              <a:rPr lang="en-US" sz="18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800"/>
          </a:p>
          <a:p>
            <a:pPr marL="0" indent="0">
              <a:lnSpc>
                <a:spcPct val="118000"/>
              </a:lnSpc>
              <a:buNone/>
            </a:pPr>
            <a:r>
              <a:rPr lang="en-US" sz="18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33%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7589520" y="1920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Expects a decimal ratio (0.20), not 20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format() rounds automatically (half-even) for display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changes the number stored in the variable — only what's shown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1737360"/>
            <a:ext cx="699516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1737360"/>
            <a:ext cx="68580" cy="2935772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0F9ED5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0F9ED5"/>
                </a:solidFill>
                <a:latin typeface="Calibri" pitchFamily="34" charset="0"/>
                <a:cs typeface="Calibri" pitchFamily="34" charset="-120"/>
              </a:rPr>
              <a:t>LEARN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CODE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rounded numbers don't always add up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Murach's Java Programming, 6th Ed., Ch. 3 — a $1,500.50 claim subtotal with a 5% adjustment: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77600" cy="2168514"/>
          </a:xfrm>
          <a:prstGeom prst="roundRect">
            <a:avLst>
              <a:gd name="adj" fmla="val 2609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0911840" cy="16655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1500.50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DISCOUNT_PCT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.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discountAmount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DISCOUNT_PCT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75.025 -- exactly halfway between two cents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discountAmount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1425.475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11247120" cy="1341120"/>
          </a:xfrm>
          <a:prstGeom prst="roundRect">
            <a:avLst>
              <a:gd name="adj" fmla="val 3571"/>
            </a:avLst>
          </a:prstGeom>
          <a:solidFill>
            <a:srgbClr val="FCF6F5"/>
          </a:solidFill>
          <a:ln w="15875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4297680"/>
            <a:ext cx="1078992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mismatch
</a:t>
            </a:r>
            <a:endParaRPr lang="en-US" sz="2000"/>
          </a:p>
          <a:p>
            <a:pPr marL="0" indent="0">
              <a:buNone/>
            </a:pPr>
            <a:r>
              <a:rPr lang="en-US" sz="20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separately: discountAmount rounds to $75.03 and total rounds to $1,425.48. But 1,500.50 − 75.03 is actually 1,425.47 — the printed report is a penny off.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1920240"/>
            <a:ext cx="1127760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1920240"/>
            <a:ext cx="68580" cy="2168514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308480" y="274320"/>
            <a:ext cx="1426320" cy="411480"/>
          </a:xfrm>
          <a:prstGeom prst="roundRect">
            <a:avLst>
              <a:gd name="adj" fmla="val 50000"/>
            </a:avLst>
          </a:prstGeom>
          <a:solidFill>
            <a:srgbClr val="A02B93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A02B93"/>
                </a:solidFill>
                <a:latin typeface="Calibri" pitchFamily="34" charset="0"/>
                <a:cs typeface="Calibri" pitchFamily="34" charset="-120"/>
              </a:rPr>
              <a:t>READ CODE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CODE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round early, round once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77600" cy="2266797"/>
          </a:xfrm>
          <a:prstGeom prst="roundRect">
            <a:avLst>
              <a:gd name="adj" fmla="val 2500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911840" cy="1763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discountAmount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DISCOUNT_PCT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discountAmount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r>
              <a:rPr lang="en-US" sz="15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5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discountAmount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5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</a:t>
            </a:r>
            <a:r>
              <a:rPr lang="en-US" sz="15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75.03 -- stored, not just displayed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5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discountAmount</a:t>
            </a:r>
            <a:r>
              <a:rPr lang="en-US" sz="15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/>
          </a:p>
          <a:p>
            <a:pPr marL="0" indent="0">
              <a:lnSpc>
                <a:spcPct val="118000"/>
              </a:lnSpc>
              <a:buNone/>
            </a:pPr>
            <a:r>
              <a:rPr lang="en-US" sz="15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1425.47 -- now it matches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11247120" cy="1483360"/>
          </a:xfrm>
          <a:prstGeom prst="roundRect">
            <a:avLst>
              <a:gd name="adj" fmla="val 3333"/>
            </a:avLst>
          </a:prstGeom>
          <a:solidFill>
            <a:srgbClr val="F4F5F9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4297680"/>
            <a:ext cx="10789920" cy="130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for the rest of this course
</a:t>
            </a:r>
            <a:endParaRPr lang="en-US" sz="1700"/>
          </a:p>
          <a:p>
            <a:pPr marL="0" indent="0">
              <a:buNone/>
            </a:pPr>
            <a:r>
              <a:rPr lang="en-US" sz="17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the value you store, not just the value you print. Apply it to estimatedCoinsuranceOwed in today's project — even though the sample numbers happen to divide evenly, it's a habit worth having before they don't.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1737360"/>
            <a:ext cx="1127760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1737360"/>
            <a:ext cx="68580" cy="2266797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308480" y="274320"/>
            <a:ext cx="1426320" cy="411480"/>
          </a:xfrm>
          <a:prstGeom prst="roundRect">
            <a:avLst>
              <a:gd name="adj" fmla="val 50000"/>
            </a:avLst>
          </a:prstGeom>
          <a:solidFill>
            <a:srgbClr val="A02B93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A02B93"/>
                </a:solidFill>
                <a:latin typeface="Calibri" pitchFamily="34" charset="0"/>
                <a:cs typeface="Calibri" pitchFamily="34" charset="-120"/>
              </a:rPr>
              <a:t>READ CODE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FOLLOW ALONG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VisitCostDemo together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96640" cy="1465072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594360" y="208483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file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94360" y="2359152"/>
            <a:ext cx="3322320" cy="66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VisitCostDemo.java, class name spelled the same way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4282440" y="1645920"/>
            <a:ext cx="3596640" cy="1465072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19600" y="173736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419600" y="208483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Scanner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419600" y="2359152"/>
            <a:ext cx="3322320" cy="66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it, construct once at the top of main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8107680" y="1645920"/>
            <a:ext cx="3596640" cy="1465072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44840" y="173736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8244840" y="208483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the name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244840" y="2359152"/>
            <a:ext cx="3322320" cy="66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sc.nextLine(), store in a String, print it back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596640" cy="1465072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594360" y="373075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the cost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594360" y="4005072"/>
            <a:ext cx="3322320" cy="66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sc.nextLine(), then Double.parseDouble()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4282440" y="3291840"/>
            <a:ext cx="3596640" cy="1465072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19600" y="338328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4419600" y="373075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the cost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419600" y="4005072"/>
            <a:ext cx="3322320" cy="66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NumberFormat, call .format(), print it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8107680" y="3291840"/>
            <a:ext cx="3596640" cy="1465072"/>
          </a:xfrm>
          <a:prstGeom prst="roundRect">
            <a:avLst>
              <a:gd name="adj" fmla="val 3871"/>
            </a:avLst>
          </a:prstGeom>
          <a:solidFill>
            <a:srgbClr val="F4F5F9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44840" y="3383280"/>
            <a:ext cx="457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8244840" y="3730752"/>
            <a:ext cx="3322320" cy="37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it, fix it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8244840" y="4005072"/>
            <a:ext cx="3322320" cy="66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letters instead of a number, read the crash, restore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after every single checkpoint. Small steps make the error message point at the line you just typed.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E97132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E97132"/>
                </a:solidFill>
                <a:latin typeface="Calibri" pitchFamily="34" charset="0"/>
                <a:cs typeface="Calibri" pitchFamily="34" charset="-120"/>
              </a:rPr>
              <a:t>WATCH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planned errors</a:t>
            </a:r>
            <a:endParaRPr lang="en-US" sz="340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190804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change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Java says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the Scanner import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find symbol: class Scanner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Double.parseDouble()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incompatible types: String → double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letters at the cost prompt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NumberFormatException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two ints into a double, no cast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error — silently 0.0)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Reassign a final constant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assign a value to final variable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 is the dangerous one: no crash, no warning — just a wrong number. The five-step loop: read the message → find the line → change one thing → compile again.</a:t>
            </a:r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E97132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E97132"/>
                </a:solidFill>
                <a:latin typeface="Calibri" pitchFamily="34" charset="0"/>
                <a:cs typeface="Calibri" pitchFamily="34" charset="-120"/>
              </a:rPr>
              <a:t>WATCH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— BUILD IT YOURSELF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VisitCostEstimate, from a blank file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 empty VisitCostEstimate.java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Scanner and NumberFormat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planName (String) with sc.nextLine()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visitCost (double) with sc.nextLine() + Double.parseDouble()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labeled line for each, cost formatted as currency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6309360" y="160020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DONE WHEN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309360" y="192024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and runs with no file-extension errors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name prints exactly as typed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 cost shows $, comma if needed, two decimals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what Double.parseDouble() is doing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196B24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196B24"/>
                </a:solidFill>
                <a:latin typeface="Calibri" pitchFamily="34" charset="0"/>
                <a:cs typeface="Calibri" pitchFamily="34" charset="-120"/>
              </a:rPr>
              <a:t>BUILD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— NO STARTER, NO ANSWER KEY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CopayLookup, on your own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CopayLookup.java from a blank file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a plan name (String)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a copay amount (double)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one sentence combining both, copay as currency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any error yourself first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457200" y="4572000"/>
            <a:ext cx="5852160" cy="100584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4663440"/>
            <a:ext cx="53949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
</a:t>
            </a:r>
            <a:endParaRPr lang="en-US" sz="1700"/>
          </a:p>
          <a:p>
            <a:pPr marL="0" indent="0">
              <a:buNone/>
            </a:pPr>
            <a:r>
              <a:rPr lang="en-US" sz="17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copay for Blue Choice Training Plan is $25.00.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6583680" y="17830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ungraded — it shows whether the pattern is sticking. Stuck for more than five minutes? Raise your hand. Finished early? Look up a second plan and print both.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DC2626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DC2626"/>
                </a:solidFill>
                <a:latin typeface="Calibri" pitchFamily="34" charset="0"/>
                <a:cs typeface="Calibri" pitchFamily="34" charset="-120"/>
              </a:rPr>
              <a:t>CHECK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PROJECT — 2:40 TO 5:00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MemberBenefitsSummary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BUILDING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 evolved since Day 1, copied forward this morning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asks for the deductible and amount paid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also estimates coinsurance owed and reports visit usage as a percent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309360" y="15544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309360" y="187452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today has to work together, unprompted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1 and this morning's line still has to appear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this program starts making decisions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file — Day 3 opens it again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196B24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196B24"/>
                </a:solidFill>
                <a:latin typeface="Calibri" pitchFamily="34" charset="0"/>
                <a:cs typeface="Calibri" pitchFamily="34" charset="-120"/>
              </a:rPr>
              <a:t>BUILD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SPECIFICATION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sample data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Day 1 / morning declaration and calculation exactly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final double COINSURANCE_RATE = 0.20; and final int VISITS_ALLOWED = 12;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estimatedCoinsuranceOwed = remainingDeductible * COINSURANCE_RATE, then round it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visitUsagePercent = (double) visitsUsed / VISITS_ALLOWED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coinsurance owed as currency, visit usage as a percent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7315200" y="1737360"/>
            <a:ext cx="4389120" cy="2763520"/>
          </a:xfrm>
          <a:prstGeom prst="roundRect">
            <a:avLst>
              <a:gd name="adj" fmla="val 1786"/>
            </a:avLst>
          </a:prstGeom>
          <a:solidFill>
            <a:srgbClr val="F4F5F9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43800" y="1828800"/>
            <a:ext cx="3931920" cy="258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sample data
</a:t>
            </a:r>
            <a:endParaRPr lang="en-US" sz="2000"/>
          </a:p>
          <a:p>
            <a:pPr marL="0" indent="0">
              <a:buNone/>
            </a:pPr>
            <a:r>
              <a:rPr lang="en-US" sz="20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Deductible: 1500   Paid so far: 375.50 → Remaining: $1,124.50</a:t>
            </a:r>
            <a:endParaRPr lang="en-US" sz="2000"/>
          </a:p>
          <a:p>
            <a:pPr marL="0" indent="0">
              <a:buNone/>
            </a:pPr>
            <a:r>
              <a:rPr lang="en-US" sz="20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Coinsurance owed (20% of remaining): $224.90</a:t>
            </a:r>
            <a:endParaRPr lang="en-US" sz="2000"/>
          </a:p>
          <a:p>
            <a:pPr marL="0" indent="0">
              <a:buNone/>
            </a:pPr>
            <a:r>
              <a:rPr lang="en-US" sz="20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used: 4 of 12 allowed → 33%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196B24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196B24"/>
                </a:solidFill>
                <a:latin typeface="Calibri" pitchFamily="34" charset="0"/>
                <a:cs typeface="Calibri" pitchFamily="34" charset="-120"/>
              </a:rPr>
              <a:t>BUILD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SPEND THE TIME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340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done by then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2:40 – 3:10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it forward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compiles and runs unchanged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3:10 – 3:50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constants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COINSURANCE_RATE and VISITS_ALLOWED declared final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3:50 – 4:20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Coinsurance owed rounded; visit percent cast correctly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4:20 – 4:45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and print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Coinsurance as currency; usage as a percent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4:45 – 5:00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and save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clean, save for Day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at your own pace, but check yourself against these marks. I circulate the whole time.</a:t>
            </a:r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196B24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196B24"/>
                </a:solidFill>
                <a:latin typeface="Calibri" pitchFamily="34" charset="0"/>
                <a:cs typeface="Calibri" pitchFamily="34" charset="-120"/>
              </a:rPr>
              <a:t>BUILD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CALL IT DONE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check and stretch goals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CHECK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and class name still match: MemberBenefitsSummary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with no errors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declared final and never reassigned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Coinsurance owed rounded before it's printed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usage uses an explicit cast and prints with a % sign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309360" y="15544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STRETCH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309360" y="187452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one row with printf: "%-22s%,12.2f%n"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monthly premium, formatted as currency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Math.max to compare remaining deductible vs. coinsurance owed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196B24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196B24"/>
                </a:solidFill>
                <a:latin typeface="Calibri" pitchFamily="34" charset="0"/>
                <a:cs typeface="Calibri" pitchFamily="34" charset="-120"/>
              </a:rPr>
              <a:t>BUILD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AND CLOSE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are, and where we go next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 2 folder holds four clean, compiling files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 calculates remaining deductible, coinsurance owed, and visit usage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casting, rounding, and why order matters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309360" y="1554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3: DECISIONS AND REPETITION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6309360" y="205740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calculator starts deciding with if / else if / else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lets it repeat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still crashes on bad input — Day 4 fixes that</a:t>
            </a:r>
            <a:endParaRPr lang="en-US" sz="200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file — MemberBenefitsSummary keeps growing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DC2626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DC2626"/>
                </a:solidFill>
                <a:latin typeface="Calibri" pitchFamily="34" charset="0"/>
                <a:cs typeface="Calibri" pitchFamily="34" charset="-120"/>
              </a:rPr>
              <a:t>CHECK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REFERENCE — NOT FOR DISTRIBUTION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Keys</a:t>
            </a:r>
            <a:endParaRPr lang="en-US" sz="380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Known-good versions of every Day 2 exercise and the afternoon project. Keep hidden until students have tried.</a:t>
            </a:r>
            <a:endParaRPr lang="en-US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LIVE DEMO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VisitCostDemo.java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1737360" y="1554480"/>
            <a:ext cx="9997440" cy="2618273"/>
          </a:xfrm>
          <a:prstGeom prst="roundRect">
            <a:avLst>
              <a:gd name="adj" fmla="val 115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965960" y="1920240"/>
            <a:ext cx="9631680" cy="21153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VisitCostDemo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getCurrencyInstance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1737360" y="1554480"/>
            <a:ext cx="999744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VisitCostDemo.java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1737360" y="1554480"/>
            <a:ext cx="68580" cy="2618273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E97132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E97132"/>
                </a:solidFill>
                <a:latin typeface="Calibri" pitchFamily="34" charset="0"/>
                <a:cs typeface="Calibri" pitchFamily="34" charset="-120"/>
              </a:rPr>
              <a:t>WATCH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LIVE DEMO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VisitCostDemo.java (continued)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1737360" y="1554480"/>
            <a:ext cx="9997440" cy="3068031"/>
          </a:xfrm>
          <a:prstGeom prst="roundRect">
            <a:avLst>
              <a:gd name="adj" fmla="val 115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965960" y="1920240"/>
            <a:ext cx="9631680" cy="2565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member name: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memberName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visit cost: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"Member: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memberName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"Visit cost: "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1737360" y="1554480"/>
            <a:ext cx="999744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VisitCostDemo.java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1737360" y="1554480"/>
            <a:ext cx="68580" cy="3068031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E97132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E97132"/>
                </a:solidFill>
                <a:latin typeface="Calibri" pitchFamily="34" charset="0"/>
                <a:cs typeface="Calibri" pitchFamily="34" charset="-120"/>
              </a:rPr>
              <a:t>WATCH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EXERCISE &amp; CHECKPOINT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VisitCostEstimate.java + CopayLookup.java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7600" cy="2103120"/>
          </a:xfrm>
          <a:prstGeom prst="roundRect">
            <a:avLst>
              <a:gd name="adj" fmla="val 272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911840" cy="16655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VisitCostEstimate.java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plan name: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planName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visit cost: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"Plan: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planName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01999"/>
              </a:lnSpc>
              <a:buNone/>
            </a:pP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"Visit cost: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11277600" cy="2505833"/>
          </a:xfrm>
          <a:prstGeom prst="roundRect">
            <a:avLst>
              <a:gd name="adj" fmla="val 272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10911840" cy="2002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1999"/>
              </a:lnSpc>
              <a:buNone/>
            </a:pPr>
            <a:r>
              <a:rPr lang="en-US" sz="17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CopayLookup.java  --&gt;  output: The copay for Blue Choice Training Plan is $25.00.</a:t>
            </a:r>
            <a:endParaRPr lang="en-US" sz="1700"/>
          </a:p>
          <a:p>
            <a:pPr marL="0" indent="0">
              <a:lnSpc>
                <a:spcPct val="101999"/>
              </a:lnSpc>
              <a:buNone/>
            </a:pPr>
            <a:r>
              <a:rPr lang="en-US" sz="17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plan name: "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700"/>
          </a:p>
          <a:p>
            <a:pPr marL="0" indent="0">
              <a:lnSpc>
                <a:spcPct val="101999"/>
              </a:lnSpc>
              <a:buNone/>
            </a:pPr>
            <a:r>
              <a:rPr lang="en-US" sz="17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planName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700"/>
          </a:p>
          <a:p>
            <a:pPr marL="0" indent="0">
              <a:lnSpc>
                <a:spcPct val="101999"/>
              </a:lnSpc>
              <a:buNone/>
            </a:pPr>
            <a:r>
              <a:rPr lang="en-US" sz="17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copay amount: "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700"/>
          </a:p>
          <a:p>
            <a:pPr marL="0" indent="0">
              <a:lnSpc>
                <a:spcPct val="101999"/>
              </a:lnSpc>
              <a:buNone/>
            </a:pPr>
            <a:r>
              <a:rPr lang="en-US" sz="17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copayAmount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7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700"/>
          </a:p>
          <a:p>
            <a:pPr marL="0" indent="0">
              <a:lnSpc>
                <a:spcPct val="101999"/>
              </a:lnSpc>
              <a:buNone/>
            </a:pPr>
            <a:r>
              <a:rPr lang="en-US" sz="17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copay for "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planName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7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is "</a:t>
            </a:r>
            <a:endParaRPr lang="en-US" sz="1700"/>
          </a:p>
          <a:p>
            <a:pPr marL="0" indent="0">
              <a:lnSpc>
                <a:spcPct val="101999"/>
              </a:lnSpc>
              <a:buNone/>
            </a:pP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copayAmount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</a:t>
            </a:r>
            <a:r>
              <a:rPr lang="en-US" sz="17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"."</a:t>
            </a:r>
            <a:r>
              <a:rPr lang="en-US" sz="17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1600200"/>
            <a:ext cx="1127760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1600200"/>
            <a:ext cx="68580" cy="2103120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File Tab"/>
          <p:cNvSpPr/>
          <p:nvPr/>
        </p:nvSpPr>
        <p:spPr>
          <a:xfrm>
            <a:off x="457200" y="3794760"/>
            <a:ext cx="1127760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3" name="Panel Accent"/>
          <p:cNvSpPr/>
          <p:nvPr/>
        </p:nvSpPr>
        <p:spPr>
          <a:xfrm>
            <a:off x="457200" y="3794760"/>
            <a:ext cx="68580" cy="2505833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820480" y="274320"/>
            <a:ext cx="914320" cy="411480"/>
          </a:xfrm>
          <a:prstGeom prst="roundRect">
            <a:avLst>
              <a:gd name="adj" fmla="val 50000"/>
            </a:avLst>
          </a:prstGeom>
          <a:solidFill>
            <a:srgbClr val="196B24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196B24"/>
                </a:solidFill>
                <a:latin typeface="Calibri" pitchFamily="34" charset="0"/>
                <a:cs typeface="Calibri" pitchFamily="34" charset="-120"/>
              </a:rPr>
              <a:t>BUILD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PROJECT, PART 1 OF 3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MemberBenefitsSummary.java — setup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86160" cy="2856382"/>
          </a:xfrm>
          <a:prstGeom prst="roundRect">
            <a:avLst>
              <a:gd name="adj" fmla="val 1132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820400" cy="2353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MemberBenefitsSummary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getCurrencyInstance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getPercentInstance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548640" y="1508760"/>
            <a:ext cx="1118616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MemberBenefitsSummary.java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548640" y="1508760"/>
            <a:ext cx="68580" cy="2856382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308480" y="274320"/>
            <a:ext cx="1426320" cy="411480"/>
          </a:xfrm>
          <a:prstGeom prst="roundRect">
            <a:avLst>
              <a:gd name="adj" fmla="val 50000"/>
            </a:avLst>
          </a:prstGeom>
          <a:solidFill>
            <a:srgbClr val="5A6B7B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REFERENCE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PROJECT, PART 1 OF 3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MemberBenefitsSummary.java — setup (continued)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86160" cy="2856382"/>
          </a:xfrm>
          <a:prstGeom prst="roundRect">
            <a:avLst>
              <a:gd name="adj" fmla="val 1132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820400" cy="2353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New for Day 2: business-rule constants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COINSURANCE_RATE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VISITS_ALLOWED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Member identity (unchanged from Day 1)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memberName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"Avery Chen"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"MBR-TRAIN-88214"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planName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"Blue Choice Training Plan"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effectiveDate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"January 1, 2026"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548640" y="1508760"/>
            <a:ext cx="1118616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MemberBenefitsSummary.java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548640" y="1508760"/>
            <a:ext cx="68580" cy="2856382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308480" y="274320"/>
            <a:ext cx="1426320" cy="411480"/>
          </a:xfrm>
          <a:prstGeom prst="roundRect">
            <a:avLst>
              <a:gd name="adj" fmla="val 50000"/>
            </a:avLst>
          </a:prstGeom>
          <a:solidFill>
            <a:srgbClr val="5A6B7B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REFERENCE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PROJECT, PART 2 OF 3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MemberBenefitsSummary.java — input and calculation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7600" cy="3610390"/>
          </a:xfrm>
          <a:prstGeom prst="roundRect">
            <a:avLst>
              <a:gd name="adj" fmla="val 1132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0911840" cy="3107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Plan facts (unchanged from Day 1)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groupNumber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41027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planYear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visitsUsed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Money the program asks for (unchanged from this morning)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the plan deductible: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deductibleDollars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amount paid toward the deductible: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amountPaidThisYear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remainingDeductible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deductibleDollars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amountPaidThisYear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1508760"/>
            <a:ext cx="1127760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1508760"/>
            <a:ext cx="68580" cy="3610390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308480" y="274320"/>
            <a:ext cx="1426320" cy="411480"/>
          </a:xfrm>
          <a:prstGeom prst="roundRect">
            <a:avLst>
              <a:gd name="adj" fmla="val 50000"/>
            </a:avLst>
          </a:prstGeom>
          <a:solidFill>
            <a:srgbClr val="5A6B7B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REFERENCE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PROJECT, PART 2 OF 3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MemberBenefitsSummary.java — input and calculation (continued)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7600" cy="2353711"/>
          </a:xfrm>
          <a:prstGeom prst="roundRect">
            <a:avLst>
              <a:gd name="adj" fmla="val 1132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0911840" cy="1850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New for Day 2: coinsurance estimate, rounded immediately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estimatedCoinsuranceOwed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remainingDeductible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COINSURANCE_RATE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estimatedCoinsuranceOwed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estimatedCoinsuranceOwed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</a:t>
            </a:r>
            <a:r>
              <a:rPr lang="en-US" sz="140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7C8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New for Day 2: visit usage, cast before dividing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visitUsagePercent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r>
              <a:rPr lang="en-US" sz="140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visitsUsed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VISITS_ALLOWED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457200" y="1508760"/>
            <a:ext cx="1127760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457200" y="1508760"/>
            <a:ext cx="68580" cy="2353711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308480" y="274320"/>
            <a:ext cx="1426320" cy="411480"/>
          </a:xfrm>
          <a:prstGeom prst="roundRect">
            <a:avLst>
              <a:gd name="adj" fmla="val 50000"/>
            </a:avLst>
          </a:prstGeom>
          <a:solidFill>
            <a:srgbClr val="5A6B7B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REFERENCE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PROJECT, PART 3 OF 3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MemberBenefitsSummary.java — output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86160" cy="3359054"/>
          </a:xfrm>
          <a:prstGeom prst="roundRect">
            <a:avLst>
              <a:gd name="adj" fmla="val 166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820400" cy="2856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"MEMBER BENEFITS SUMMARY"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"-----------------------"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"Deductible: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deductibleDollars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"Paid so far: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amountPaidThisYear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"Remaining: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remainingDeductible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"Estimated coinsurance owed: "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estimatedCoinsuranceOwed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"Visit usage: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visitUsagePercent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memberName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is enrolled for 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planYear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"."</a:t>
            </a: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/>
          </a:p>
          <a:p>
            <a:pPr marL="0" indent="0">
              <a:lnSpc>
                <a:spcPct val="113999"/>
              </a:lnSpc>
              <a:buNone/>
            </a:pPr>
            <a:r>
              <a:rPr lang="en-US" sz="140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5212080"/>
            <a:ext cx="11064240" cy="98552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5303520"/>
            <a:ext cx="10607040" cy="802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with the suggested sample data
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Remaining: $1,124.50   Estimated coinsurance owed: $224.90   Visit usage: 33%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/>
          </a:p>
        </p:txBody>
      </p:sp>
      <p:sp>
        <p:nvSpPr>
          <p:cNvPr id="200" name="File Tab"/>
          <p:cNvSpPr/>
          <p:nvPr/>
        </p:nvSpPr>
        <p:spPr>
          <a:xfrm>
            <a:off x="548640" y="1737360"/>
            <a:ext cx="11186160" cy="381000"/>
          </a:xfrm>
          <a:prstGeom prst="rect">
            <a:avLst/>
          </a:prstGeom>
          <a:solidFill>
            <a:srgbClr val="1C2740"/>
          </a:solidFill>
          <a:ln>
            <a:noFill/>
          </a:ln>
        </p:spPr>
        <p:txBody>
          <a:bodyPr wrap="square" lIns="228600" rtlCol="0" anchor="ctr"/>
          <a:lstStyle/>
          <a:p>
            <a:pPr marL="0" indent="0">
              <a:buNone/>
            </a:pPr>
            <a:r>
              <a:rPr lang="en-US" sz="1800" b="1" spc="100">
                <a:solidFill>
                  <a:srgbClr val="9FB3C8"/>
                </a:solidFill>
                <a:latin typeface="Consolas" pitchFamily="34" charset="0"/>
                <a:cs typeface="Consolas" pitchFamily="34" charset="-120"/>
              </a:rPr>
              <a:t>Java</a:t>
            </a:r>
            <a:endParaRPr lang="en-US" sz="1800"/>
          </a:p>
        </p:txBody>
      </p:sp>
      <p:sp>
        <p:nvSpPr>
          <p:cNvPr id="201" name="Panel Accent"/>
          <p:cNvSpPr/>
          <p:nvPr/>
        </p:nvSpPr>
        <p:spPr>
          <a:xfrm>
            <a:off x="548640" y="1737360"/>
            <a:ext cx="68580" cy="3359054"/>
          </a:xfrm>
          <a:prstGeom prst="rect">
            <a:avLst/>
          </a:prstGeom>
          <a:gradFill>
            <a:gsLst>
              <a:gs pos="0">
                <a:srgbClr val="0F9ED5"/>
              </a:gs>
              <a:gs pos="100000">
                <a:srgbClr val="A02B9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Activity Badge"/>
          <p:cNvSpPr/>
          <p:nvPr/>
        </p:nvSpPr>
        <p:spPr>
          <a:xfrm>
            <a:off x="10308480" y="274320"/>
            <a:ext cx="1426320" cy="411480"/>
          </a:xfrm>
          <a:prstGeom prst="roundRect">
            <a:avLst>
              <a:gd name="adj" fmla="val 50000"/>
            </a:avLst>
          </a:prstGeom>
          <a:solidFill>
            <a:srgbClr val="5A6B7B">
              <a:alpha val="15000"/>
            </a:srgbClr>
          </a:solidFill>
          <a:ln>
            <a:noFill/>
          </a:ln>
        </p:spPr>
        <p:txBody>
          <a:bodyPr wrap="square" lIns="45720" rIns="45720" rtlCol="0" anchor="ctr"/>
          <a:lstStyle/>
          <a:p>
            <a:pPr marL="0" indent="0" algn="ctr">
              <a:buNone/>
            </a:pPr>
            <a:r>
              <a:rPr lang="en-US" sz="1200" b="1" spc="150">
                <a:solidFill>
                  <a:srgbClr val="5A6B7B"/>
                </a:solidFill>
                <a:latin typeface="Calibri" pitchFamily="34" charset="0"/>
                <a:cs typeface="Calibri" pitchFamily="34" charset="-120"/>
              </a:rPr>
              <a:t>REFERENCE</a:t>
            </a:r>
            <a:endParaRPr lang="en-US" sz="1200"/>
          </a:p>
        </p:txBody>
      </p:sp>
      <p:sp>
        <p:nvSpPr>
          <p:cNvPr id="191" name="Heading Rule"/>
          <p:cNvSpPr/>
          <p:nvPr/>
        </p:nvSpPr>
        <p:spPr>
          <a:xfrm>
            <a:off x="457200" y="1371600"/>
            <a:ext cx="640080" cy="36576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4149</Words>
  <Application>Microsoft Office PowerPoint</Application>
  <PresentationFormat>Widescreen</PresentationFormat>
  <Paragraphs>682</Paragraphs>
  <Slides>38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Jeff Salter</cp:lastModifiedBy>
  <cp:revision>2</cp:revision>
  <dcterms:created xsi:type="dcterms:W3CDTF">2026-08-17T22:04:47Z</dcterms:created>
  <dcterms:modified xsi:type="dcterms:W3CDTF">2026-08-18T01:53:00Z</dcterms:modified>
</cp:coreProperties>
</file>