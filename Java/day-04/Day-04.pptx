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89" r:id="rId4"/>
    <p:sldId id="258" r:id="rId5"/>
    <p:sldId id="259" r:id="rId6"/>
    <p:sldId id="260" r:id="rId7"/>
    <p:sldId id="261" r:id="rId8"/>
    <p:sldId id="294" r:id="rId9"/>
    <p:sldId id="262" r:id="rId10"/>
    <p:sldId id="263" r:id="rId11"/>
    <p:sldId id="264" r:id="rId12"/>
    <p:sldId id="293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92" r:id="rId34"/>
    <p:sldId id="285" r:id="rId35"/>
    <p:sldId id="291" r:id="rId36"/>
    <p:sldId id="286" r:id="rId37"/>
    <p:sldId id="287" r:id="rId38"/>
    <p:sldId id="290" r:id="rId39"/>
    <p:sldId id="288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2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339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232C6B"/>
          </a:solidFill>
          <a:ln w="12700">
            <a:solidFill>
              <a:srgbClr val="232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CODING COURSE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784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Exceptions, Debugging, and a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That Finally Doesn't Crash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fourth day with try/catch, reusable validation methods, and the VS Code debugger.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 at a Glance</a:t>
            </a: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Morning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 TAKES YOU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syntax, runtime, and logic errors</a:t>
            </a:r>
            <a:endParaRPr lang="en-US" sz="17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try/catch so bad input no longer crashes the program</a:t>
            </a:r>
            <a:endParaRPr lang="en-US" sz="17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when to prevent an exception vs. catch one</a:t>
            </a:r>
            <a:endParaRPr lang="en-US" sz="17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reusable overloaded getDouble() validation methods</a:t>
            </a:r>
            <a:endParaRPr lang="en-US" sz="17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breakpoint, step through code, and inspect variables in VS Code</a:t>
            </a:r>
            <a:endParaRPr lang="en-US" sz="17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701220"/>
              </p:ext>
            </p:extLst>
          </p:nvPr>
        </p:nvGraphicFramePr>
        <p:xfrm>
          <a:off x="6263640" y="1371600"/>
          <a:ext cx="5349240" cy="9144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8:45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— bring forward Day 3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8:55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— how exceptions work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9:15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— try/catch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9:40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— prevent vs. catch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10:00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10:10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— validating a single entry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— reusable getDouble()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code — validated Future Value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11:20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— error types &amp; common errors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11:45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 at a Glance — Afternoon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337323"/>
              </p:ext>
            </p:extLst>
          </p:nvPr>
        </p:nvGraphicFramePr>
        <p:xfrm>
          <a:off x="548640" y="1371600"/>
          <a:ext cx="11064240" cy="28092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12:15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— VS Code debugger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12:55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— live validate + debug demo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1:20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— exercise + checkpoint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1:55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and check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2:10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 off the project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2:30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ends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Boundary — What Day 4 Does Not Include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303520" cy="38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10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TODAY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548640" y="1923512"/>
            <a:ext cx="5394960" cy="2777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and array lists — Day 6</a:t>
            </a:r>
            <a:endParaRPr lang="en-US" sz="18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and objects — all of Day 5</a:t>
            </a:r>
            <a:endParaRPr lang="en-US" sz="18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files — Day 6</a:t>
            </a:r>
            <a:endParaRPr lang="en-US" sz="18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and interfaces — Day 7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6263640" y="1371600"/>
            <a:ext cx="5303520" cy="38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REACHING FOR THESE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6263640" y="1923512"/>
            <a:ext cx="5349240" cy="2777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ahead of the lesson, not behind it</a:t>
            </a:r>
            <a:endParaRPr lang="en-US" sz="18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exceptions, validation, and debugging — nothing else</a:t>
            </a:r>
            <a:endParaRPr lang="en-US" sz="18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idea down — it has its own lesson coming</a:t>
            </a:r>
            <a:endParaRPr lang="en-US" sz="18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more to do? Take a stretch goal, not new syntax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548640" y="4894773"/>
            <a:ext cx="11064240" cy="1142238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986213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the textbook: Murach's 6th Ed. teaches debugging with NetBeans or Eclipse. This classroom uses VS Code, so every breakpoint, button, and shortcut today is VS Code's — the underlying ideas are identical.</a:t>
            </a:r>
            <a:endParaRPr lang="en-US" sz="1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Any New Code: Continuing From Day 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172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84048" cy="384048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5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folder</a:t>
            </a:r>
            <a:endParaRPr lang="en-US" sz="1750"/>
          </a:p>
        </p:txBody>
      </p:sp>
      <p:sp>
        <p:nvSpPr>
          <p:cNvPr id="9" name="Text 7"/>
          <p:cNvSpPr/>
          <p:nvPr/>
        </p:nvSpPr>
        <p:spPr>
          <a:xfrm>
            <a:off x="61264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C:\JavaBasicsCourse\Day04\learning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48640" y="2129105"/>
            <a:ext cx="384048" cy="384048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12910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50"/>
          </a:p>
        </p:txBody>
      </p:sp>
      <p:sp>
        <p:nvSpPr>
          <p:cNvPr id="12" name="Text 10"/>
          <p:cNvSpPr/>
          <p:nvPr/>
        </p:nvSpPr>
        <p:spPr>
          <a:xfrm>
            <a:off x="1097280" y="2065097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Day 3 folder</a:t>
            </a:r>
            <a:endParaRPr lang="en-US" sz="1750"/>
          </a:p>
        </p:txBody>
      </p:sp>
      <p:sp>
        <p:nvSpPr>
          <p:cNvPr id="13" name="Text 11"/>
          <p:cNvSpPr/>
          <p:nvPr/>
        </p:nvSpPr>
        <p:spPr>
          <a:xfrm>
            <a:off x="6126480" y="206509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Explorer window or the VS Code sidebar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548640" y="2776882"/>
            <a:ext cx="384048" cy="384048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77688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50"/>
          </a:p>
        </p:txBody>
      </p:sp>
      <p:sp>
        <p:nvSpPr>
          <p:cNvPr id="16" name="Text 14"/>
          <p:cNvSpPr/>
          <p:nvPr/>
        </p:nvSpPr>
        <p:spPr>
          <a:xfrm>
            <a:off x="1097280" y="271287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MemberBenefitsSummary.java</a:t>
            </a:r>
            <a:endParaRPr lang="en-US" sz="1750"/>
          </a:p>
        </p:txBody>
      </p:sp>
      <p:sp>
        <p:nvSpPr>
          <p:cNvPr id="17" name="Text 15"/>
          <p:cNvSpPr/>
          <p:nvPr/>
        </p:nvSpPr>
        <p:spPr>
          <a:xfrm>
            <a:off x="6126480" y="271287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Day03\learning into Day04\learning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548640" y="3424660"/>
            <a:ext cx="384048" cy="384048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4246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50"/>
          </a:p>
        </p:txBody>
      </p:sp>
      <p:sp>
        <p:nvSpPr>
          <p:cNvPr id="20" name="Text 18"/>
          <p:cNvSpPr/>
          <p:nvPr/>
        </p:nvSpPr>
        <p:spPr>
          <a:xfrm>
            <a:off x="1097280" y="33606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Day04\learning in VS Code</a:t>
            </a:r>
            <a:endParaRPr lang="en-US" sz="1750"/>
          </a:p>
        </p:txBody>
      </p:sp>
      <p:sp>
        <p:nvSpPr>
          <p:cNvPr id="21" name="Text 19"/>
          <p:cNvSpPr/>
          <p:nvPr/>
        </p:nvSpPr>
        <p:spPr>
          <a:xfrm>
            <a:off x="6126480" y="33606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Open Folder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548640" y="4072437"/>
            <a:ext cx="384048" cy="384048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07243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50"/>
          </a:p>
        </p:txBody>
      </p:sp>
      <p:sp>
        <p:nvSpPr>
          <p:cNvPr id="24" name="Text 22"/>
          <p:cNvSpPr/>
          <p:nvPr/>
        </p:nvSpPr>
        <p:spPr>
          <a:xfrm>
            <a:off x="1097280" y="4008429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tools still work</a:t>
            </a:r>
            <a:endParaRPr lang="en-US" sz="1750"/>
          </a:p>
        </p:txBody>
      </p:sp>
      <p:sp>
        <p:nvSpPr>
          <p:cNvPr id="25" name="Text 23"/>
          <p:cNvSpPr/>
          <p:nvPr/>
        </p:nvSpPr>
        <p:spPr>
          <a:xfrm>
            <a:off x="6126480" y="4008429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-version and javac -version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548640" y="4720214"/>
            <a:ext cx="384048" cy="384048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72021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50"/>
          </a:p>
        </p:txBody>
      </p:sp>
      <p:sp>
        <p:nvSpPr>
          <p:cNvPr id="28" name="Text 26"/>
          <p:cNvSpPr/>
          <p:nvPr/>
        </p:nvSpPr>
        <p:spPr>
          <a:xfrm>
            <a:off x="1097280" y="465620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file continues</a:t>
            </a:r>
            <a:endParaRPr lang="en-US" sz="1750"/>
          </a:p>
        </p:txBody>
      </p:sp>
      <p:sp>
        <p:nvSpPr>
          <p:cNvPr id="29" name="Text 27"/>
          <p:cNvSpPr/>
          <p:nvPr/>
        </p:nvSpPr>
        <p:spPr>
          <a:xfrm>
            <a:off x="6126480" y="465620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MemberBenefitsSummary.java — the rest were practice files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you wrote yesterday is thrown away — today's folder starts by copying it forward.</a:t>
            </a:r>
            <a:endParaRPr lang="en-US" sz="15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Exceptions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394960" cy="379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EXCEPTION HIERARCHY</a:t>
            </a:r>
            <a:endParaRPr lang="en-US" sz="1650"/>
          </a:p>
        </p:txBody>
      </p:sp>
      <p:sp>
        <p:nvSpPr>
          <p:cNvPr id="7" name="Shape 5"/>
          <p:cNvSpPr/>
          <p:nvPr/>
        </p:nvSpPr>
        <p:spPr>
          <a:xfrm>
            <a:off x="548640" y="1869735"/>
            <a:ext cx="5394960" cy="2892247"/>
          </a:xfrm>
          <a:prstGeom prst="roundRect">
            <a:avLst>
              <a:gd name="adj" fmla="val 2667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52615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RuntimeException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NoSuchElementException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InputMismatchException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IllegalArgumentException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NumberFormatException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ArithmeticException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NullPointerException</a:t>
            </a:r>
            <a:endParaRPr lang="en-US" sz="1900"/>
          </a:p>
        </p:txBody>
      </p:sp>
      <p:sp>
        <p:nvSpPr>
          <p:cNvPr id="9" name="Text 7"/>
          <p:cNvSpPr/>
          <p:nvPr/>
        </p:nvSpPr>
        <p:spPr>
          <a:xfrm>
            <a:off x="6263640" y="1325880"/>
            <a:ext cx="5394960" cy="379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TRACE, BOTTOM TO TOP</a:t>
            </a:r>
            <a:endParaRPr lang="en-US" sz="1650"/>
          </a:p>
        </p:txBody>
      </p:sp>
      <p:sp>
        <p:nvSpPr>
          <p:cNvPr id="10" name="Shape 8"/>
          <p:cNvSpPr/>
          <p:nvPr/>
        </p:nvSpPr>
        <p:spPr>
          <a:xfrm>
            <a:off x="6263640" y="1869735"/>
            <a:ext cx="5349240" cy="2892247"/>
          </a:xfrm>
          <a:prstGeom prst="roundRect">
            <a:avLst>
              <a:gd name="adj" fmla="val 2667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2052615"/>
            <a:ext cx="4892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in thread "main"</a:t>
            </a:r>
            <a:endParaRPr lang="en-US" sz="1750"/>
          </a:p>
          <a:p>
            <a:pPr marL="0" indent="0">
              <a:buNone/>
            </a:pPr>
            <a:r>
              <a:rPr lang="en-US" sz="17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java.lang.NumberFormatException:</a:t>
            </a:r>
            <a:endParaRPr lang="en-US" sz="1750"/>
          </a:p>
          <a:p>
            <a:pPr marL="0" indent="0">
              <a:buNone/>
            </a:pPr>
            <a:r>
              <a:rPr lang="en-US" sz="17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input string: "$1500"</a:t>
            </a:r>
            <a:endParaRPr lang="en-US" sz="1750"/>
          </a:p>
          <a:p>
            <a:pPr marL="0" indent="0">
              <a:buNone/>
            </a:pPr>
            <a:r>
              <a:rPr lang="en-US" sz="17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 ...FloatingDecimal...(...)</a:t>
            </a:r>
            <a:endParaRPr lang="en-US" sz="1750"/>
          </a:p>
          <a:p>
            <a:pPr marL="0" indent="0">
              <a:buNone/>
            </a:pPr>
            <a:r>
              <a:rPr lang="en-US" sz="17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 java.lang.Double.parseDouble(...)</a:t>
            </a:r>
            <a:endParaRPr lang="en-US" sz="1750"/>
          </a:p>
          <a:p>
            <a:pPr marL="0" indent="0">
              <a:buNone/>
            </a:pPr>
            <a:r>
              <a:rPr lang="en-US" sz="17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 MemberBenefitsSummary.main(</a:t>
            </a:r>
            <a:endParaRPr lang="en-US" sz="1750"/>
          </a:p>
          <a:p>
            <a:pPr marL="0" indent="0">
              <a:buNone/>
            </a:pPr>
            <a:r>
              <a:rPr lang="en-US" sz="17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MemberBenefitsSummary.java:24)</a:t>
            </a:r>
            <a:endParaRPr lang="en-US" sz="1750"/>
          </a:p>
        </p:txBody>
      </p:sp>
      <p:sp>
        <p:nvSpPr>
          <p:cNvPr id="12" name="Shape 10"/>
          <p:cNvSpPr/>
          <p:nvPr/>
        </p:nvSpPr>
        <p:spPr>
          <a:xfrm>
            <a:off x="548640" y="4926574"/>
            <a:ext cx="11064240" cy="100584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5018014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stack trace from the bottom entry in your own code upward — that's the line you wrote that caused the crash. The frames above it are Java's own library code.</a:t>
            </a:r>
            <a:endParaRPr 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Exceptions — </a:t>
            </a: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try/catch</a:t>
            </a: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Syntax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590292"/>
            <a:ext cx="11064240" cy="2500376"/>
          </a:xfrm>
          <a:prstGeom prst="roundRect">
            <a:avLst>
              <a:gd name="adj" fmla="val 500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809748"/>
            <a:ext cx="10607040" cy="20614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2600"/>
          </a:p>
          <a:p>
            <a:pPr marL="0" indent="0">
              <a:buNone/>
            </a:pPr>
            <a:r>
              <a:rPr lang="en-US" sz="2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statements</a:t>
            </a:r>
            <a:endParaRPr lang="en-US" sz="2600"/>
          </a:p>
          <a:p>
            <a:pPr marL="0" indent="0">
              <a:buNone/>
            </a:pPr>
            <a:r>
              <a:rPr lang="en-US" sz="2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(ExceptionClass exceptionName) {</a:t>
            </a:r>
            <a:endParaRPr lang="en-US" sz="2600"/>
          </a:p>
          <a:p>
            <a:pPr marL="0" indent="0">
              <a:buNone/>
            </a:pPr>
            <a:r>
              <a:rPr lang="en-US" sz="2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statements</a:t>
            </a:r>
            <a:endParaRPr lang="en-US" sz="2600"/>
          </a:p>
          <a:p>
            <a:pPr marL="0" indent="0">
              <a:buNone/>
            </a:pPr>
            <a:r>
              <a:rPr lang="en-US" sz="2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Exceptions — a Worked Example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64240" cy="2544572"/>
          </a:xfrm>
          <a:prstGeom prst="roundRect">
            <a:avLst>
              <a:gd name="adj" fmla="val 400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591056"/>
            <a:ext cx="10607040" cy="2105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deductibleDollars = 0.0;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System.out.print("Enter the plan deductible: ");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deductibleDollars = Double.parseDouble(sc.nextLine());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(NumberFormatException e) {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System.out.println("Error! Invalid decimal value.");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900"/>
          </a:p>
        </p:txBody>
      </p:sp>
      <p:sp>
        <p:nvSpPr>
          <p:cNvPr id="10" name="Shape 8"/>
          <p:cNvSpPr/>
          <p:nvPr/>
        </p:nvSpPr>
        <p:spPr>
          <a:xfrm>
            <a:off x="548640" y="4473955"/>
            <a:ext cx="11064240" cy="1050036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693411"/>
            <a:ext cx="10607040" cy="611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an exception is thrown, execution jumps straight to the catch block. Any variable used in both blocks must be declared before both — that's why deductibleDollars starts with a default value.</a:t>
            </a:r>
            <a:endParaRPr lang="en-US"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Preventing Exceptions vs. Catching Them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2338323"/>
          </a:xfrm>
          <a:prstGeom prst="roundRect">
            <a:avLst>
              <a:gd name="adj" fmla="val 3333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91056"/>
            <a:ext cx="10607040" cy="1899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Prevent: check before you act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discountPercent = 0.0;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(planCode != null) {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(planCode.equals("H")) {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discountPercent = .1;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/>
          </a:p>
        </p:txBody>
      </p:sp>
      <p:sp>
        <p:nvSpPr>
          <p:cNvPr id="8" name="Shape 6"/>
          <p:cNvSpPr/>
          <p:nvPr/>
        </p:nvSpPr>
        <p:spPr>
          <a:xfrm>
            <a:off x="548640" y="3959606"/>
            <a:ext cx="11064240" cy="1050036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4179062"/>
            <a:ext cx="10607040" cy="611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an easy if-check avoids the problem entirely (a null check, a range check), prevent it. If there's no easy way to prevent it — like asking parseDouble() to convert text a user just typed — catch it instead.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548640" y="5259324"/>
            <a:ext cx="11064240" cy="1050036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5478780"/>
            <a:ext cx="10607040" cy="611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.equals() on a null String throws a NullPointerException. The null check above prevents that outright — there's nothing to catch because the risky call never happens.</a:t>
            </a:r>
            <a:endParaRPr lang="en-US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a Single Entry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3977639"/>
          </a:xfrm>
          <a:prstGeom prst="roundRect">
            <a:avLst>
              <a:gd name="adj" fmla="val 2222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106070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deductibleDollars = 0.0;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(true) {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System.out.print("Enter the plan deductible: ");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deductibleDollars = Double.parseDouble(sc.nextLine());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(NumberFormatException e) {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System.out.println("Error! Invalid decimal value.");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continue;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(deductibleDollars &gt; 0 &amp;&amp; deductibleDollars &lt; 100_000) {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System.out.println("Error! Must be 0 to 100,000.");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562356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parsing throws, the catch block prints an error and continue skips the range check entirely. If it parses cleanly, if/else checks the range — valid breaks out, invalid loops again.</a:t>
            </a:r>
            <a:endParaRPr lang="en-US"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Validation — </a:t>
            </a: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Two-Parameter</a:t>
            </a: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getDouble()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00321"/>
            <a:ext cx="11064240" cy="4120895"/>
          </a:xfrm>
          <a:prstGeom prst="roundRect">
            <a:avLst>
              <a:gd name="adj" fmla="val 3077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819777"/>
            <a:ext cx="10607040" cy="36819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double getDouble(Scanner sc, String prompt) {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(true) {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System.out.print(prompt);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 {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Double.parseDouble(sc.nextLine());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catch (NumberFormatException e) {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System.out.println("Invalid number. Try again.");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Validation — the Range-Checked getDouble()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847819"/>
            <a:ext cx="11064240" cy="3236975"/>
          </a:xfrm>
          <a:prstGeom prst="roundRect">
            <a:avLst>
              <a:gd name="adj" fmla="val 3077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67275"/>
            <a:ext cx="10607040" cy="2798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double getDouble(Scanner sc, String prompt,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min, double max) {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(true) {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value = getDouble(sc, prompt);   // reuse it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(value &gt; min &amp;&amp; value &lt; max) return value;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System.out.println("Must be " + min + " to " + max + ".");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2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Calling It, and Why Two Methods Can Share a Name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704848"/>
          </a:xfrm>
          <a:prstGeom prst="roundRect">
            <a:avLst>
              <a:gd name="adj" fmla="val 4706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deductibleDollars =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getDouble(sc, "Enter the plan deductible: ", 0, 100_000);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amountPaidThisYear =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getDouble(sc, "Enter amount paid toward the deductible: ");</a:t>
            </a:r>
            <a:endParaRPr lang="en-US" sz="2000"/>
          </a:p>
        </p:txBody>
      </p:sp>
      <p:sp>
        <p:nvSpPr>
          <p:cNvPr id="8" name="Shape 6"/>
          <p:cNvSpPr/>
          <p:nvPr/>
        </p:nvSpPr>
        <p:spPr>
          <a:xfrm>
            <a:off x="548640" y="3332480"/>
            <a:ext cx="11064240" cy="146304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42392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are named getDouble(). That's legal because a method's name plus its parameter list form its signature, and Java only requires each signature to be unique — this is method overloading. The four-parameter version calls the two-parameter version to do the parsing, then layers a range check on top.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548640" y="4963756"/>
            <a:ext cx="11064240" cy="100584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5055196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no try/catch anywhere in main() anymore. All of that machinery lives inside getDouble(), called once per entry.</a:t>
            </a:r>
            <a:endParaRPr 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0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Code — the Book's Validated Future Value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611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Murach's Java Programming, 6th Ed., Figure 5-8: every entry goes through getDouble()/getInt() instead of a bare parseDouble()/parseInt() call.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548640" y="2164842"/>
            <a:ext cx="11064240" cy="2839212"/>
          </a:xfrm>
          <a:prstGeom prst="roundRect">
            <a:avLst>
              <a:gd name="adj" fmla="val 250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384298"/>
            <a:ext cx="106070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System.out.println("DATA ENTRY");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deductibleDollars =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getDouble(sc, "Enter the plan deductible: ", 0, 100_000);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amountPaidThisYear = getDouble(sc,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"Enter amount paid toward the deductible: ", 0, deductibleDollars);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visitsUsed = getInt(sc, "Enter visits used: ", 0, 100);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System.out.println();</a:t>
            </a:r>
            <a:endParaRPr lang="en-US" sz="1700"/>
          </a:p>
          <a:p>
            <a:pPr marL="0" indent="0">
              <a:spcAft>
                <a:spcPts val="200"/>
              </a:spcAft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value below is now guaranteed valid</a:t>
            </a:r>
            <a:endParaRPr lang="en-US" sz="1700"/>
          </a:p>
        </p:txBody>
      </p:sp>
      <p:sp>
        <p:nvSpPr>
          <p:cNvPr id="9" name="Shape 7"/>
          <p:cNvSpPr/>
          <p:nvPr/>
        </p:nvSpPr>
        <p:spPr>
          <a:xfrm>
            <a:off x="548640" y="5259324"/>
            <a:ext cx="11064240" cy="1050036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5478780"/>
            <a:ext cx="10607040" cy="611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now reads like a checklist of what to collect, not a maze of error handling — that's the payoff of writing the validation once.</a:t>
            </a:r>
            <a:endParaRPr lang="en-US"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Types of Errors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511715"/>
              </p:ext>
            </p:extLst>
          </p:nvPr>
        </p:nvGraphicFramePr>
        <p:xfrm>
          <a:off x="548640" y="1463040"/>
          <a:ext cx="11064240" cy="211658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 called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looks like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2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 error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Compile-time error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Won't compile. VS Code underlines it red before you run javac.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2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error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Compiles fine, throws an exception, crashes while running.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error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Compiles and runs with no crash — but the wrong answer.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744214"/>
            <a:ext cx="11064240" cy="118872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3835654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errors are the hardest, precisely because nothing tells you they happened. Day 3's swapped-argument bug just quietly handed back a wrong dollar amount that looked perfectly normal — that's exactly what today's debugger is for.</a:t>
            </a:r>
            <a:endParaRPr 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Java Errors to Watch For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999479"/>
              </p:ext>
            </p:extLst>
          </p:nvPr>
        </p:nvGraphicFramePr>
        <p:xfrm>
          <a:off x="548640" y="1463040"/>
          <a:ext cx="11064240" cy="30911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 for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2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Misspelled keywords; a missing data type on a variable; an unmatched (, {, or "; a missing semicolon.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2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names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Misspelling or miscapitalizing a name; using a reserved word (like class) as a variable name.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2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checking a value's type before you process it; a single = instead of == in a condition; == instead of .equals() for Strings.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2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Floating-point math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d = 0.2 + 0.7; gives 0.8999999999999999, not 0.9 — round before you display or compare.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718812"/>
            <a:ext cx="11064240" cy="1166409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810252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new — every row is a Break It on Purpose bug from Days 2 through 4. That repetition is the point: these are the errors that actually show up, over and over, in real code.</a:t>
            </a:r>
            <a:endParaRPr 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Way to Trace Execution — println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3099084"/>
          </a:xfrm>
          <a:prstGeom prst="roundRect">
            <a:avLst>
              <a:gd name="adj" fmla="val 2581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10607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double calculateCoinsuranceOwed(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remainingDeductible, double rate) {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System.out.println("remainingDeductible: " + remainingDeductible);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System.out.println("rate: " + rate);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owed = remainingDeductible * rate;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owed = (double) Math.round(owed * 100) / 100;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System.out.println("owed: " + owed);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owed;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548640" y="4746630"/>
            <a:ext cx="11064240" cy="12521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print statement. Add more only if that doesn't tell you enough</a:t>
            </a:r>
            <a:endParaRPr lang="en-US" sz="170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useful inside a loop, where it shows how a value changes on every pass</a:t>
            </a:r>
            <a:endParaRPr lang="en-US" sz="170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Downsides: takes time to add and remove, easy to forget one and ship it, clutters code</a:t>
            </a:r>
            <a:endParaRPr lang="en-US"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in VS Code — Breakpoints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303520" cy="38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BREAKPOINT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548640" y="1923512"/>
            <a:ext cx="5394960" cy="2777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 the gutter — the thin strip left of the line number — on the line to pause before</a:t>
            </a:r>
            <a:endParaRPr lang="en-US" sz="18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red dot appears — that line now has a breakpoint</a:t>
            </a:r>
            <a:endParaRPr lang="en-US" sz="18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red dot again to remove it</a:t>
            </a:r>
            <a:endParaRPr lang="en-US" sz="18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breakpoint stays set even after closing VS Code — remove it yourself when done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6263640" y="1371600"/>
            <a:ext cx="5303520" cy="38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THE DEBUGGER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6263640" y="1923512"/>
            <a:ext cx="5349240" cy="2777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public static void main, click Debug instead of Run</a:t>
            </a:r>
            <a:endParaRPr lang="en-US" sz="18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open Run and Debug from the Activity Bar (play button with a bug) and click the green arrow</a:t>
            </a:r>
            <a:endParaRPr lang="en-US" sz="18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just press F5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548640" y="4876432"/>
            <a:ext cx="11064240" cy="1142238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967872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breakpoint before the line that's misbehaving, not on it — you want to see the state of things right before the suspicious statement runs. A stack trace from a crash often tells you exactly which line to target.</a:t>
            </a:r>
            <a:endParaRPr lang="en-US" sz="17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Stepping Through Code and Inspecting Variables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661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execution hits a breakpoint, VS Code highlights the next line to run and opens the Run and Debug sidebar, including a Variables panel showing every variable currently in scope.</a:t>
            </a:r>
            <a:endParaRPr lang="en-US" sz="17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975896"/>
              </p:ext>
            </p:extLst>
          </p:nvPr>
        </p:nvGraphicFramePr>
        <p:xfrm>
          <a:off x="548640" y="2124293"/>
          <a:ext cx="11064240" cy="239242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8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Shortcut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Resumes normal execution until the next breakpoint (or the program ends).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8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Over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F10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next statement, without stepping into any method it calls.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8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Into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F11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next statement, and follows execution inside a called method.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8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Out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Shift+F11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Finishes the current method and returns to wherever it was called from.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8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Shift+F5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Ends the debugging session entirely.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715359"/>
            <a:ext cx="11064240" cy="128016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4806799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Step Over when you trust the method being called. Use Step Into when the bug might be inside it — like stepping into calculateCoinsuranceOwed() to watch it calculate. Watch the Variables panel after every step.</a:t>
            </a:r>
            <a:endParaRPr lang="en-US" sz="1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Call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10076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paused at a breakpoint, the Run and Debug sidebar also shows a Call Stack panel — the same “who called whom” list you've read at the bottom of a crash, except now you can browse it live.</a:t>
            </a:r>
            <a:endParaRPr lang="en-US" sz="1850"/>
          </a:p>
        </p:txBody>
      </p:sp>
      <p:sp>
        <p:nvSpPr>
          <p:cNvPr id="7" name="Text 5"/>
          <p:cNvSpPr/>
          <p:nvPr/>
        </p:nvSpPr>
        <p:spPr>
          <a:xfrm>
            <a:off x="548640" y="2543891"/>
            <a:ext cx="11064240" cy="2119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5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frame is where execution is paused right now — for example, inside calculateCoinsuranceOwed()</a:t>
            </a:r>
            <a:endParaRPr lang="en-US" sz="185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5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 below it is whoever called that method — main(), showing the exact line of the call</a:t>
            </a:r>
            <a:endParaRPr lang="en-US" sz="185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5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frame in the Call Stack panel to jump the editor to that exact line, without leaving the session</a:t>
            </a:r>
            <a:endParaRPr lang="en-US" sz="1850"/>
          </a:p>
        </p:txBody>
      </p:sp>
      <p:sp>
        <p:nvSpPr>
          <p:cNvPr id="8" name="Shape 6"/>
          <p:cNvSpPr/>
          <p:nvPr/>
        </p:nvSpPr>
        <p:spPr>
          <a:xfrm>
            <a:off x="548640" y="4830264"/>
            <a:ext cx="11064240" cy="118872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4921704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live version of reading a stack trace from Section 4 — except instead of a wall of text after a crash, you can click through the frames while the program is still paused, inspecting variables at every level.</a:t>
            </a:r>
            <a:endParaRPr lang="en-US" sz="16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Validate It, Then Debug It on Purpose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35608"/>
            <a:ext cx="365760" cy="36576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35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807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32120" y="1380744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VisitCostTotalDemo.java, class name spelled the same way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02536"/>
            <a:ext cx="365760" cy="36576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002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947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Scanner and formatter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947672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both, construct once at the top of main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69464"/>
            <a:ext cx="365760" cy="36576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569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514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visitCount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32120" y="251460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 — how many visit costs to total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36392"/>
            <a:ext cx="365760" cy="36576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136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0815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for loop — with a bug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32120" y="30815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 &lt; visitCount instead of i &lt;= visitCount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6484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 visitCount =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32120" y="364845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it only asks twice, not three times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270248"/>
            <a:ext cx="365760" cy="36576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270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2153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breakpoint, run with Debug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4215384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for loop's first line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837176"/>
            <a:ext cx="365760" cy="36576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4837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1560" y="47823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Over and watch Variables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4782312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it's clear exactly why the loop quits one pass early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522976"/>
            <a:ext cx="11064240" cy="68580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7240" y="561441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boundary, remove the breakpoint, and confirm it now asks the right number of times — this is the debugger doing what println used to do, only faster.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on Purpose — Six Planned Errors (1 of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914529"/>
              </p:ext>
            </p:extLst>
          </p:nvPr>
        </p:nvGraphicFramePr>
        <p:xfrm>
          <a:off x="548640" y="1417320"/>
          <a:ext cx="11064240" cy="2434209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change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3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catch (NumberFormatException e) to catch (ArithmeticException e) around a parseDouble() call.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crashes — wrong handler type.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the continue; from a validation loop's catch block.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 into the range check using a stale value.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a for loop's i &lt;= visitCount to i &lt; visitCount.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 one fewer time — the live demo's bug.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016121"/>
            <a:ext cx="11064240" cy="1166409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107561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three crash in a way that names the real problem — A crashes with the wrong exception type still uncaught, and B and C just quietly do the wrong thing. That's exactly what a breakpoint is for.</a:t>
            </a:r>
            <a:endParaRPr lang="en-US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on Purpose — Six Planned Errors (2 of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70254"/>
              </p:ext>
            </p:extLst>
          </p:nvPr>
        </p:nvGraphicFramePr>
        <p:xfrm>
          <a:off x="548640" y="1417320"/>
          <a:ext cx="11064240" cy="217855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change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the else block's return statement in a two-branch method.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return statement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the null check before calling .equals() on a value that could be null.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Uncaught NullPointerException the first time it's actually null.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ex instead of e inside a catch (NumberFormatException e) block.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find symbol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6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760470"/>
            <a:ext cx="11064240" cy="14281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type: syntax, runtime, or logic?</a:t>
            </a:r>
            <a:endParaRPr lang="en-US" sz="19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or runtime — read the message and the line number it names</a:t>
            </a:r>
            <a:endParaRPr lang="en-US" sz="19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— set a breakpoint before the suspicious code and step through it</a:t>
            </a:r>
            <a:endParaRPr lang="en-US" sz="1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— Overloaded getInt() Validation Methods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29055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an empty ValidatedInputPractice.java</a:t>
            </a:r>
            <a:endParaRPr lang="en-US" sz="20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getInt(sc, prompt) — prompts, tries Integer.parseInt(), catches NumberFormatException, loops until valid</a:t>
            </a:r>
            <a:endParaRPr lang="en-US" sz="20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overloaded getInt(sc, prompt, min, max) — calls the first, then range-checks</a:t>
            </a:r>
            <a:endParaRPr lang="en-US" sz="20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main(), call the range-checked version to ask for visitsUsed, 0 to 100</a:t>
            </a:r>
            <a:endParaRPr lang="en-US" sz="20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value you got back</a:t>
            </a:r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548640" y="4667880"/>
            <a:ext cx="11064240" cy="118872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47593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done when: a letter prints an error and asks again; a number outside 0–100 prints a different error and asks again; a valid number is accepted and printed; and you can explain why the two getInt() methods can share a name.</a:t>
            </a:r>
            <a:endParaRPr lang="en-US"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— Debug CopayCalcChallenge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64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syntax here — this checkpoint is purely about using the debugger. Type the code exactly as shown, including the bug.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548640" y="2498344"/>
            <a:ext cx="5394960" cy="1984756"/>
          </a:xfrm>
          <a:prstGeom prst="roundRect">
            <a:avLst>
              <a:gd name="adj" fmla="val 3478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717800"/>
            <a:ext cx="4937760" cy="15458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totalCopay = 0.0;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0;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(i &lt; visits) {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totalCopay = totalCopay + copay;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900"/>
          </a:p>
        </p:txBody>
      </p:sp>
      <p:sp>
        <p:nvSpPr>
          <p:cNvPr id="9" name="Text 7"/>
          <p:cNvSpPr/>
          <p:nvPr/>
        </p:nvSpPr>
        <p:spPr>
          <a:xfrm>
            <a:off x="6263640" y="2498344"/>
            <a:ext cx="5349240" cy="1984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visits = 3, copay = 25 — it never finishes</a:t>
            </a:r>
            <a:endParaRPr lang="en-US" sz="160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Stop to end it</a:t>
            </a:r>
            <a:endParaRPr lang="en-US" sz="160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breakpoint on the totalCopay line, run with Debug</a:t>
            </a:r>
            <a:endParaRPr lang="en-US" sz="160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Over and watch the Variables panel — i never changes</a:t>
            </a:r>
            <a:endParaRPr lang="en-US" sz="160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bug, remove the breakpoint, confirm it finishes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48640" y="5040884"/>
            <a:ext cx="11064240" cy="1081024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5260340"/>
            <a:ext cx="10607040" cy="64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infinite loop, not a crash — nothing prints an error, so Section 10's error-type instincts won't help. The debugger is the only tool that shows you why i is stuck.</a:t>
            </a:r>
            <a:endParaRPr lang="en-US"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Afternoon Project (After Class) — Evolve MemberBenefitsSummary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303520" cy="39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BUILDING</a:t>
            </a:r>
            <a:endParaRPr lang="en-US" sz="1750"/>
          </a:p>
        </p:txBody>
      </p:sp>
      <p:sp>
        <p:nvSpPr>
          <p:cNvPr id="7" name="Text 5"/>
          <p:cNvSpPr/>
          <p:nvPr/>
        </p:nvSpPr>
        <p:spPr>
          <a:xfrm>
            <a:off x="548640" y="1931568"/>
            <a:ext cx="5394960" cy="30777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file evolved since Day 1, copied forward this morning</a:t>
            </a:r>
            <a:endParaRPr lang="en-US" sz="19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everything from Day 3 — the visit-logging loop, the usage-status decision, calculateCoinsuranceOwed()</a:t>
            </a:r>
            <a:endParaRPr lang="en-US" sz="19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it adds two overloaded getDouble() methods, and every Scanner read that used to crash goes through one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263640" y="1371600"/>
            <a:ext cx="5303520" cy="39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PAYOFF</a:t>
            </a:r>
            <a:endParaRPr lang="en-US" sz="1750"/>
          </a:p>
        </p:txBody>
      </p:sp>
      <p:sp>
        <p:nvSpPr>
          <p:cNvPr id="9" name="Text 7"/>
          <p:cNvSpPr/>
          <p:nvPr/>
        </p:nvSpPr>
        <p:spPr>
          <a:xfrm>
            <a:off x="6263640" y="1931568"/>
            <a:ext cx="5349240" cy="30777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Day 2, this program has crashed on a dollar sign, a letter, or anything but a clean number</a:t>
            </a:r>
            <a:endParaRPr lang="en-US" sz="19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that stops for good</a:t>
            </a:r>
            <a:endParaRPr lang="en-US" sz="19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1 through Day 3 line still has to appear, unchanged</a:t>
            </a:r>
            <a:endParaRPr lang="en-US" sz="19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file — Day 5 opens it again</a:t>
            </a:r>
            <a:endParaRPr lang="en-US" sz="1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Specification — Requirements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132606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38923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declaration, loop, decision, and method exactly as it was at the end of Day 3</a:t>
            </a:r>
            <a:endParaRPr lang="en-US" sz="195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getDouble(sc, prompt) — the try/catch validation loop from Section 8</a:t>
            </a:r>
            <a:endParaRPr lang="en-US" sz="195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overloaded getDouble(sc, prompt, min, max) — calls the first, then range-checks</a:t>
            </a:r>
            <a:endParaRPr lang="en-US" sz="195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deductibleDollars read with getDouble(sc, "Enter the plan deductible: ", 0, 100_000)</a:t>
            </a:r>
            <a:endParaRPr lang="en-US" sz="195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amountPaidThisYear read with getDouble(sc, "...", 0, deductibleDollars) — the upper bound is the deductible itself</a:t>
            </a:r>
            <a:endParaRPr lang="en-US" sz="195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visit-logging loop, the usage-status if/else, calculateCoinsuranceOwed(), and every println untouched</a:t>
            </a:r>
            <a:endParaRPr lang="en-US" sz="195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Spend the Time — Milestones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488764"/>
              </p:ext>
            </p:extLst>
          </p:nvPr>
        </p:nvGraphicFramePr>
        <p:xfrm>
          <a:off x="548640" y="1417320"/>
          <a:ext cx="11064240" cy="277977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Elapsed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done by then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 – 0:20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 it forward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file compiles and runs unchanged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0:20 – 0:55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both getDouble() methods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Two-param version tries/catches; four-param range-checks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0:55 – 1:25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deductibleDollars read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getDouble() with a 0 to 100,000 range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1:25 – 1:50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amountPaidThisYear read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getDouble() bounded by deductibleDollars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1:50 – 2:15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and save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Deliberately test bad input at both prompts; save for Day 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54046"/>
            <a:ext cx="11064240" cy="137160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645486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bad input first: "$1500" at the deductible prompt (rejected), then 1500 (accepted). -50 at amount-paid (rejected), then 2000 (rejected — bigger than the deductible), then 375.50 (accepted).</a:t>
            </a:r>
            <a:endParaRPr lang="en-US" sz="1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Call It Done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303520" cy="39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CHECK</a:t>
            </a:r>
            <a:endParaRPr lang="en-US" sz="1750"/>
          </a:p>
        </p:txBody>
      </p:sp>
      <p:sp>
        <p:nvSpPr>
          <p:cNvPr id="7" name="Text 5"/>
          <p:cNvSpPr/>
          <p:nvPr/>
        </p:nvSpPr>
        <p:spPr>
          <a:xfrm>
            <a:off x="548640" y="1931568"/>
            <a:ext cx="5394960" cy="4030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and class name still match: MemberBenefitsSummary</a:t>
            </a:r>
            <a:endParaRPr lang="en-US" sz="180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with no errors</a:t>
            </a:r>
            <a:endParaRPr lang="en-US" sz="180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non-numeric deductible or amount-paid value no longer crashes — it prints an error and asks again</a:t>
            </a:r>
            <a:endParaRPr lang="en-US" sz="180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amount paid greater than the deductible is rejected, not silently accepted</a:t>
            </a:r>
            <a:endParaRPr lang="en-US" sz="180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getDouble() methods are static; the four-parameter version calls the two-parameter version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6263640" y="1371600"/>
            <a:ext cx="5303520" cy="39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EARLY? STRETCH</a:t>
            </a:r>
            <a:endParaRPr lang="en-US" sz="1750"/>
          </a:p>
        </p:txBody>
      </p:sp>
      <p:sp>
        <p:nvSpPr>
          <p:cNvPr id="9" name="Text 7"/>
          <p:cNvSpPr/>
          <p:nvPr/>
        </p:nvSpPr>
        <p:spPr>
          <a:xfrm>
            <a:off x="6263640" y="1931568"/>
            <a:ext cx="5349240" cy="4030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breakpoint inside getDouble()'s catch block and watch it trigger live on bad input</a:t>
            </a:r>
            <a:endParaRPr lang="en-US" sz="180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overloaded getInt() pair and use it to validate visitsUsed as an entry</a:t>
            </a:r>
            <a:endParaRPr lang="en-US" sz="180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getDouble() call with no range check somewhere a value doesn't need bounds</a:t>
            </a:r>
            <a:endParaRPr lang="en-US"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and Close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175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94960" cy="3690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 4 folder holds three clean, compiling practice files — plus MemberBenefitsSummary, which no longer crashes on bad input</a:t>
            </a:r>
            <a:endParaRPr lang="en-US" sz="19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set a breakpoint, step over and into code, read the Variables panel and the Call Stack panel</a:t>
            </a:r>
            <a:endParaRPr lang="en-US" sz="19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syntax vs. runtime vs. logic errors, and which of VS Code's tools helps with each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263640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5: CLASSES, THE BIGGEST JUMP</a:t>
            </a:r>
            <a:endParaRPr lang="en-US" sz="1750"/>
          </a:p>
        </p:txBody>
      </p:sp>
      <p:sp>
        <p:nvSpPr>
          <p:cNvPr id="9" name="Text 7"/>
          <p:cNvSpPr/>
          <p:nvPr/>
        </p:nvSpPr>
        <p:spPr>
          <a:xfrm>
            <a:off x="6263640" y="1874520"/>
            <a:ext cx="5349240" cy="3507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so far lives entirely inside one main() method — tomorrow that changes for good</a:t>
            </a:r>
            <a:endParaRPr lang="en-US" sz="19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write your first class — fields, a constructor, instance methods — and create real objects from it</a:t>
            </a:r>
            <a:endParaRPr lang="en-US" sz="19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day with no second topic paired alongside it, because it's the hardest conceptual jump in the course</a:t>
            </a:r>
            <a:endParaRPr lang="en-US" sz="1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REFERENCE — NOT FOR DISTRIBUTION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058400" cy="8014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349293"/>
            <a:ext cx="8686800" cy="757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Known-good versions of every Day 4 exercise and the afternoon project. Keep hidden until students have tried.</a:t>
            </a:r>
            <a:endParaRPr lang="en-US"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getDouble</a:t>
            </a: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(), Part 1 of 2: Two Parameters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00321"/>
            <a:ext cx="11064240" cy="4120895"/>
          </a:xfrm>
          <a:prstGeom prst="roundRect">
            <a:avLst>
              <a:gd name="adj" fmla="val 1509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819777"/>
            <a:ext cx="10607040" cy="36819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double getDouble(Scanner sc, String prompt) {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(true) {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System.out.print(prompt);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 {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Double.parseDouble(sc.nextLine());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catch (NumberFormatException e) {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System.out.println("Invalid number. Try again.");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getDouble(), Part 2 of 2: With a Range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847819"/>
            <a:ext cx="11064240" cy="3236975"/>
          </a:xfrm>
          <a:prstGeom prst="roundRect">
            <a:avLst>
              <a:gd name="adj" fmla="val 1509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67275"/>
            <a:ext cx="10607040" cy="2798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double getDouble(Scanner sc, String prompt,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min, double max) {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(true) {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value = getDouble(sc, prompt);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(value &gt; min &amp;&amp; value &lt; max) return value;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System.out.println("Must be " + min + " to " + max + ".");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25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getInt</a:t>
            </a: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(), Part 1 of 2: Two Parameters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03445"/>
            <a:ext cx="11064240" cy="3752596"/>
          </a:xfrm>
          <a:prstGeom prst="roundRect">
            <a:avLst>
              <a:gd name="adj" fmla="val 1509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22901"/>
            <a:ext cx="10607040" cy="33136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int getInt(Scanner sc, String prompt) {</a:t>
            </a:r>
            <a:endParaRPr lang="en-US" sz="2150"/>
          </a:p>
          <a:p>
            <a:pPr marL="0" indent="0">
              <a:buNone/>
            </a:pPr>
            <a:r>
              <a:rPr lang="en-US" sz="21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(true) {</a:t>
            </a:r>
            <a:endParaRPr lang="en-US" sz="2150"/>
          </a:p>
          <a:p>
            <a:pPr marL="0" indent="0">
              <a:buNone/>
            </a:pPr>
            <a:r>
              <a:rPr lang="en-US" sz="21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System.out.print(prompt);</a:t>
            </a:r>
            <a:endParaRPr lang="en-US" sz="2150"/>
          </a:p>
          <a:p>
            <a:pPr marL="0" indent="0">
              <a:buNone/>
            </a:pPr>
            <a:r>
              <a:rPr lang="en-US" sz="21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 {</a:t>
            </a:r>
            <a:endParaRPr lang="en-US" sz="2150"/>
          </a:p>
          <a:p>
            <a:pPr marL="0" indent="0">
              <a:buNone/>
            </a:pPr>
            <a:r>
              <a:rPr lang="en-US" sz="21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Integer.parseInt(sc.nextLine());</a:t>
            </a:r>
            <a:endParaRPr lang="en-US" sz="2150"/>
          </a:p>
          <a:p>
            <a:pPr marL="0" indent="0">
              <a:buNone/>
            </a:pPr>
            <a:r>
              <a:rPr lang="en-US" sz="21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catch (NumberFormatException e) {</a:t>
            </a:r>
            <a:endParaRPr lang="en-US" sz="2150"/>
          </a:p>
          <a:p>
            <a:pPr marL="0" indent="0">
              <a:buNone/>
            </a:pPr>
            <a:r>
              <a:rPr lang="en-US" sz="21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System.out.println("Invalid integer. Please try again.");</a:t>
            </a:r>
            <a:endParaRPr lang="en-US" sz="2150"/>
          </a:p>
          <a:p>
            <a:pPr marL="0" indent="0">
              <a:buNone/>
            </a:pPr>
            <a:r>
              <a:rPr lang="en-US" sz="21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2150"/>
          </a:p>
          <a:p>
            <a:pPr marL="0" indent="0">
              <a:buNone/>
            </a:pPr>
            <a:r>
              <a:rPr lang="en-US" sz="21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2150"/>
          </a:p>
          <a:p>
            <a:pPr marL="0" indent="0">
              <a:buNone/>
            </a:pPr>
            <a:r>
              <a:rPr lang="en-US" sz="21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1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getInt(), Part 2 of 2: With a Range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897319"/>
            <a:ext cx="11064240" cy="3060192"/>
          </a:xfrm>
          <a:prstGeom prst="roundRect">
            <a:avLst>
              <a:gd name="adj" fmla="val 1509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116775"/>
            <a:ext cx="10607040" cy="2621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int getInt(Scanner sc, String prompt, int min, int max) {</a:t>
            </a:r>
            <a:endParaRPr lang="en-US" sz="2100"/>
          </a:p>
          <a:p>
            <a:pPr marL="0" indent="0">
              <a:buNone/>
            </a:pPr>
            <a:r>
              <a:rPr lang="en-US" sz="21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(true) {</a:t>
            </a:r>
            <a:endParaRPr lang="en-US" sz="2100"/>
          </a:p>
          <a:p>
            <a:pPr marL="0" indent="0">
              <a:buNone/>
            </a:pPr>
            <a:r>
              <a:rPr lang="en-US" sz="21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value = getInt(sc, prompt);</a:t>
            </a:r>
            <a:endParaRPr lang="en-US" sz="2100"/>
          </a:p>
          <a:p>
            <a:pPr marL="0" indent="0">
              <a:buNone/>
            </a:pPr>
            <a:r>
              <a:rPr lang="en-US" sz="21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(value &gt;= min &amp;&amp; value &lt;= max) return value;</a:t>
            </a:r>
            <a:endParaRPr lang="en-US" sz="2100"/>
          </a:p>
          <a:p>
            <a:pPr marL="0" indent="0">
              <a:buNone/>
            </a:pPr>
            <a:r>
              <a:rPr lang="en-US" sz="21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System.out.println("Error! Number must be " + min</a:t>
            </a:r>
            <a:endParaRPr lang="en-US" sz="2100"/>
          </a:p>
          <a:p>
            <a:pPr marL="0" indent="0">
              <a:buNone/>
            </a:pPr>
            <a:r>
              <a:rPr lang="en-US" sz="21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+ " through " + max + ".");</a:t>
            </a:r>
            <a:endParaRPr lang="en-US" sz="2100"/>
          </a:p>
          <a:p>
            <a:pPr marL="0" indent="0">
              <a:buNone/>
            </a:pPr>
            <a:r>
              <a:rPr lang="en-US" sz="21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2100"/>
          </a:p>
          <a:p>
            <a:pPr marL="0" indent="0">
              <a:buNone/>
            </a:pPr>
            <a:r>
              <a:rPr lang="en-US" sz="21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CopayCalcChallenge, Fixed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2317699"/>
          </a:xfrm>
          <a:prstGeom prst="roundRect">
            <a:avLst>
              <a:gd name="adj" fmla="val 3333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totalCopay = 0.0;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0;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(i &lt; visits) {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totalCopay = totalCopay + copay;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i++;                          // fixed -- was missing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/>
          </a:p>
        </p:txBody>
      </p:sp>
      <p:sp>
        <p:nvSpPr>
          <p:cNvPr id="8" name="Shape 6"/>
          <p:cNvSpPr/>
          <p:nvPr/>
        </p:nvSpPr>
        <p:spPr>
          <a:xfrm>
            <a:off x="548640" y="4036771"/>
            <a:ext cx="11064240" cy="118872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4128211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i++, i never changes, the while condition is always true, and the loop never ends. The Variables panel makes this obvious in seconds — println would need a statement added inside the loop just to show the same thing.</a:t>
            </a:r>
            <a:endParaRPr lang="en-US"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Project, Part 1 of </a:t>
            </a: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getDouble()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1322"/>
            <a:ext cx="11064240" cy="4474463"/>
          </a:xfrm>
          <a:prstGeom prst="roundRect">
            <a:avLst>
              <a:gd name="adj" fmla="val 1509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20778"/>
            <a:ext cx="10607040" cy="4035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 for Day 4 -- added to MemberBenefitsSummary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double getDouble(Scanner sc, String prompt) {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(true) {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System.out.print(prompt);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 {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Double.parseDouble(sc.nextLine());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catch (NumberFormatException e) {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System.out.println("Invalid number. Try again.");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Project, Part 2 of 3: the Range-Checked Version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1847819"/>
            <a:ext cx="11064240" cy="3236975"/>
          </a:xfrm>
          <a:prstGeom prst="roundRect">
            <a:avLst>
              <a:gd name="adj" fmla="val 1509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67275"/>
            <a:ext cx="10607040" cy="2798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double getDouble(Scanner sc, String prompt,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min, double max) {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(true) {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value = getDouble(sc, prompt);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(value &gt; min &amp;&amp; value &lt; max) return value;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System.out.println("Must be " + min + " to " + max + ".");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2250"/>
          </a:p>
          <a:p>
            <a:pPr marL="0" indent="0">
              <a:buNone/>
            </a:pPr>
            <a:r>
              <a:rPr lang="en-US" sz="225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25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Project, Part </a:t>
            </a: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</a:t>
            </a: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</a:t>
            </a: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Calling Them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201603"/>
            <a:ext cx="548640" cy="29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3A4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2972816"/>
          </a:xfrm>
          <a:prstGeom prst="roundRect">
            <a:avLst>
              <a:gd name="adj" fmla="val 2667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10607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Replaces the Day 1-2 Scanner reads for these two values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deductibleDollars =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getDouble(sc, "Enter the plan deductible: ", 0, 100_000);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amountPaidThisYear = getDouble(sc,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"Enter amount paid toward the deductible: ", 0, deductibleDollars);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visitsUsed, the visit-logging loop, the usage-status if/else,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and calculateCoinsuranceOwed() are all unchanged from Day 3</a:t>
            </a:r>
            <a:endParaRPr lang="en-US" sz="2000"/>
          </a:p>
        </p:txBody>
      </p:sp>
      <p:sp>
        <p:nvSpPr>
          <p:cNvPr id="8" name="Shape 6"/>
          <p:cNvSpPr/>
          <p:nvPr/>
        </p:nvSpPr>
        <p:spPr>
          <a:xfrm>
            <a:off x="548640" y="4691888"/>
            <a:ext cx="11064240" cy="1166409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478332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this point in main() — the visit-logging loop, the usage-status decision, the call to calculateCoinsuranceOwed(), every println — is untouched. Only the two data-entry lines changed.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4320</Words>
  <Application>Microsoft Macintosh PowerPoint</Application>
  <PresentationFormat>Widescreen</PresentationFormat>
  <Paragraphs>585</Paragraphs>
  <Slides>39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Jeff Salter</cp:lastModifiedBy>
  <cp:revision>2</cp:revision>
  <dcterms:created xsi:type="dcterms:W3CDTF">2026-08-18T20:38:17Z</dcterms:created>
  <dcterms:modified xsi:type="dcterms:W3CDTF">2026-08-20T00:38:30Z</dcterms:modified>
</cp:coreProperties>
</file>