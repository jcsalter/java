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3"/>
  </p:notesMasterIdLst>
  <p:sldIdLst>
    <p:sldId id="256" r:id="rId2"/>
    <p:sldId id="261" r:id="rId3"/>
    <p:sldId id="335" r:id="rId4"/>
    <p:sldId id="319" r:id="rId5"/>
    <p:sldId id="272" r:id="rId6"/>
    <p:sldId id="279" r:id="rId7"/>
    <p:sldId id="276" r:id="rId8"/>
    <p:sldId id="262" r:id="rId9"/>
    <p:sldId id="263" r:id="rId10"/>
    <p:sldId id="336" r:id="rId11"/>
    <p:sldId id="258" r:id="rId12"/>
    <p:sldId id="259" r:id="rId13"/>
    <p:sldId id="264" r:id="rId14"/>
    <p:sldId id="260" r:id="rId15"/>
    <p:sldId id="337" r:id="rId16"/>
    <p:sldId id="291" r:id="rId17"/>
    <p:sldId id="334" r:id="rId18"/>
    <p:sldId id="266" r:id="rId19"/>
    <p:sldId id="292" r:id="rId20"/>
    <p:sldId id="333" r:id="rId21"/>
    <p:sldId id="267" r:id="rId22"/>
    <p:sldId id="268" r:id="rId23"/>
    <p:sldId id="293" r:id="rId24"/>
    <p:sldId id="332" r:id="rId25"/>
    <p:sldId id="320" r:id="rId26"/>
    <p:sldId id="328" r:id="rId27"/>
    <p:sldId id="321" r:id="rId28"/>
    <p:sldId id="327" r:id="rId29"/>
    <p:sldId id="265" r:id="rId30"/>
    <p:sldId id="326" r:id="rId31"/>
    <p:sldId id="294" r:id="rId32"/>
    <p:sldId id="325" r:id="rId33"/>
    <p:sldId id="295" r:id="rId34"/>
    <p:sldId id="331" r:id="rId35"/>
    <p:sldId id="296" r:id="rId36"/>
    <p:sldId id="297" r:id="rId37"/>
    <p:sldId id="324" r:id="rId38"/>
    <p:sldId id="298" r:id="rId39"/>
    <p:sldId id="330" r:id="rId40"/>
    <p:sldId id="299" r:id="rId41"/>
    <p:sldId id="300" r:id="rId42"/>
    <p:sldId id="323" r:id="rId43"/>
    <p:sldId id="322" r:id="rId44"/>
    <p:sldId id="329" r:id="rId45"/>
    <p:sldId id="315" r:id="rId46"/>
    <p:sldId id="309" r:id="rId47"/>
    <p:sldId id="310" r:id="rId48"/>
    <p:sldId id="311" r:id="rId49"/>
    <p:sldId id="312" r:id="rId50"/>
    <p:sldId id="313" r:id="rId51"/>
    <p:sldId id="314" r:id="rId5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883"/>
    <p:restoredTop sz="94675"/>
  </p:normalViewPr>
  <p:slideViewPr>
    <p:cSldViewPr snapToGrid="0">
      <p:cViewPr varScale="1">
        <p:scale>
          <a:sx n="72" d="100"/>
          <a:sy n="72" d="100"/>
        </p:scale>
        <p:origin x="68" y="3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8/16/2026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typing every character rather than pasting — the muscle memory and the typo recovery are the point of this exercise. Capitalisation of the file name matters because the public class name must match it exactly. The save step catches out almost everyone at least once: javac reads the file on disk, so an unsaved buffer compiles the previous version. Point out that java takes the class name with no .java extension, unlike javac. Doing it once more with the Run button shows the two routes are equivalent.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for what success looks like before they compile, so silence does not read as failure. javac printing nothing and returning to the prompt is the successful case; the visible evidence is a new .class file in the folder. When they run it, the greeting should appear exactly as typed, including spacing inside the quotes. If output differs from what they expected, have them compare the printed text to their source character by character rather than rewriting the line.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predict-then-run rhythm is what makes this drill work — do not let students run first and rationalise afterwards. Two print calls put both pieces on one line; swapping one for println ends the line and shows the difference immediately. Adding a comment above each block trains the habit of explaining intent before they need it on the project. Declaring a String and an int together sets up the concatenation question that follows.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out the takeaways rather than reading them. print stays on the current line, println terminates it — that single distinction explains most confusing output all day. Comments are stripped by the compiler, so they cost nothing at runtime and exist purely for the reader. The + sign is context sensitive: numbers add, but as soon as a String enters the expression everything becomes text. Have students state which behaviour they saw and why.</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Breaking working code on purpose is the fastest route to reading errors calmly. The missing semicolon produces a clear ';' expected message with a line number. Lowercasing System gives cannot find symbol, which is the message that most often panics beginners — name it now so it is familiar later. Renaming the class without renaming the file reproduces the file-name rule as a compiler error. Insist they restore one change at a time and recompile after each, so every message maps to exactly one cause.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loop is the transferable skill of the whole day. First name the stage: did it fail to compile, or did it compile and fail at runtime? Then read the first useful message, not the last line of the stack. Go to the line number the compiler names and change exactly one thing. Recompile and see whether the message changed — a different error is progress. Encourage students to say the loop aloud while they work until it becomes automatic.</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these one at a time and let students ask before you answer. Quotes: stress that a String literal is text the compiler copies verbatim, while an unquoted 45 is a number it can do arithmetic on. Capital String vs lowercase int: String is a class supplied by the library, int is a built-in keyword — that is why the capitalisation differs. The + operator: if every operand is numeric it adds, but the moment a String joins the expression everything becomes text, which is the single most common surprise in this session. File name and public class name must match exactly, including case.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 questions come up every session. Silence after javac is success — send students to look for the .class file rather than waiting for a message. Saving matters because javac reads the file on disk, not the editor buffer; the dot on the VS Code tab is the tell. The Run button simply does compile and run in one step, so it is not magic, just both commands. Remember the asymmetry: javac takes the file name with .java, java takes the class name with no extension. One file may hold several classes but only one public class, and it must match the file name.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read the error aloud before touching the keyboard — the message almost always names the fix. 'javac is not recognized' means the terminal was opened before the JDK was on the PATH, so a fresh terminal usually clears it. 'cannot find symbol' is nearly always a typo or a missing declaration on the line the compiler names. 'class X is public, should be declared in a file named X.java' is the file-name rule again. Encourage fixing exactly one line, then recompiling, so cause and effect stay visible.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self-help checklist before a hand goes up. Did you save? Are you in the folder that holds the .java file? Did you type the class name without .java when running? Did you recompile after the last edit? Ask students to state which of these they checked when they do call you over — it teaches a debugging habit and cuts your queue dramatically. If all four pass and it still fails, that is a genuine question worth the whole room hearing.</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levels so nobody is idle and nobody is stranded. Everyone must finish Level 1 — that is the assessable piece. Level 2 is for students who finish early and want more practice with variables and concatenation. Level 3 is a genuine stretch; treat it as optional and do not let it become a measure of success. Circulate rather than sitting at the front, and look for students stuck on the same error twice — that is your cue to stop the room and explain it once for everyone.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students at this checklist before they ask for help. The file-name rule and the semicolon are the two most common failures. 'javac finishes with no message' trips up beginners who expect confirmation. Reading the output line by line against what they intended catches logic slips that compile fine. If they are stuck, the discipline is: read the error, find the line number, fix that one line, recompile — resist the urge to change several things at once.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starting from a blank file is muscle memory — closing the demo code is not optional. Watch for students who copy the class declaration from memory but forget it must match the file name. The six checkpoints are deliberately small so that each compile is a quick win. Compiling from the terminal first and then from VS Code shows them the two routes are equivalent, which removes a lot of later confusion.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definition of done so students stop asking whether they are finished. A clean javac run plus a .class file on disk means the code compiles; the printed output matching what they intended means it works. Ask them to compare their output to the brief line by line rather than glancing at it. Anyone who reaches all of these before time is up should move to the stretch task rather than sitting idle.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Requirements are deliberately specific so students can self-check without you. The file and public class names must match. Two Strings and two ints force them to choose types deliberately rather than by habit. The labeled lines are about readable output, not clever code. The closing sentence joining a String and an int is where concatenation shows up again. Say plainly that only fictional data is acceptable — never a real member, plan, or claim.</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definition of done so nobody has to ask. Five printed lines: four labeled values plus the sentence. Numbers should appear without quotation marks, which is the quick visual check that they used int and not String. If a number is quoted, the value is text and arithmetic on it would fail later. Anyone finishing early should tidy their labels and add comments rather than starting something new.</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afternoon's integrating task — everything from the morning has to work together without prompting. Set expectations that a console program printing a clean, readable summary is the whole goal; there is no GUI and no file I/O. Encourage them to sketch the output on paper first, then write the code that produces it. Remind them that the fictional data is provided so nobody loses time inventing content.</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plainly why this matters: up to now every exercise has told them what to type next, and this one does not. Employers care about whether someone can hold a small problem in their head and finish it. It also surfaces gaps honestly — a student who can do each step but cannot sequence them needs different help than one who has forgotten syntax. Frame struggle here as expected and useful, not as failure.</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specification once, then let them work. The naming rule appears again here on purpose. Four Strings and four ints is the largest set they have handled, so encourage declaring them in one block near the top. The header and divider lines are about presentation — a report a person would actually read. Comments naming each section matter because this is the first program long enough to lose your place in.</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is supplied so nobody spends the afternoon inventing content, and so every student's output is comparable when you review. Stress again that it is fictional — this is a training environment and real member, plan, or claim data must never appear in an exercise file. Have students copy the values exactly; differences in spelling or spacing make it harder for them to compare their output to a neighbour's.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acceptance check as a checklist, not a conversation — either the file name matches the public class or it does not. Ask students to run through it themselves before showing you, and to fix anything that fails before they call it done. Compiling and running one final time from a clean state catches the case where an earlier .class file is masking a broken source file.</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work for anyone who finishes early. Printing a second member without deleting the first pushes them toward reusing code rather than editing constants. Adding a total, a divider line, or an author comment are all small, safe extensions that do not risk breaking the accepted version. Tell them to save a working copy before they start extending, so there is always something to hand in.</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concrete inventory rather than a feel-good summary. Ask students to open their folder and confirm each file is there and compiles clean. Anyone missing a file should know now, not next session. The point to land: they started from an empty folder this morning and now they can write, compile, run, and debug a Java program without a starter file.</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naming what changes and what does not. The write-compile-run-read-the-error loop is the same loop professional developers use, whatever the size of the program — that is the transferable part. Preview what the next session adds so they leave with a hook. Remind them the learning folder and these slides are theirs to keep, and that the answer keys at the end are for checking work, not for shortcutting it.</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7849320"/>
      </p:ext>
    </p:extLst>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EFE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EFE2"/>
          </a:solidFill>
          <a:ln w="3175">
            <a:solidFill>
              <a:srgbClr val="F5EFE2"/>
            </a:solidFill>
            <a:prstDash val="solid"/>
          </a:ln>
        </p:spPr>
        <p:txBody>
          <a:bodyPr/>
          <a:lstStyle/>
          <a:p>
            <a:endParaRPr lang="en-US"/>
          </a:p>
        </p:txBody>
      </p:sp>
      <p:pic>
        <p:nvPicPr>
          <p:cNvPr id="3" name="Image 0"/>
          <p:cNvPicPr>
            <a:picLocks noChangeAspect="1"/>
          </p:cNvPicPr>
          <p:nvPr/>
        </p:nvPicPr>
        <p:blipFill>
          <a:blip r:embed="rId3"/>
          <a:srcRect t="1299" b="1299"/>
          <a:stretch/>
        </p:blipFill>
        <p:spPr>
          <a:xfrm>
            <a:off x="5623560" y="0"/>
            <a:ext cx="3520440" cy="5143500"/>
          </a:xfrm>
          <a:prstGeom prst="rect">
            <a:avLst/>
          </a:prstGeom>
        </p:spPr>
      </p:pic>
      <p:sp>
        <p:nvSpPr>
          <p:cNvPr id="4" name="Shape 1"/>
          <p:cNvSpPr/>
          <p:nvPr/>
        </p:nvSpPr>
        <p:spPr>
          <a:xfrm>
            <a:off x="5623560" y="0"/>
            <a:ext cx="18288" cy="5143500"/>
          </a:xfrm>
          <a:prstGeom prst="rect">
            <a:avLst/>
          </a:prstGeom>
          <a:solidFill>
            <a:srgbClr val="1F3557"/>
          </a:solidFill>
          <a:ln/>
        </p:spPr>
        <p:txBody>
          <a:bodyPr/>
          <a:lstStyle/>
          <a:p>
            <a:endParaRPr lang="en-US"/>
          </a:p>
        </p:txBody>
      </p:sp>
      <p:sp>
        <p:nvSpPr>
          <p:cNvPr id="5" name="Text 2"/>
          <p:cNvSpPr/>
          <p:nvPr/>
        </p:nvSpPr>
        <p:spPr>
          <a:xfrm>
            <a:off x="685800" y="685800"/>
            <a:ext cx="4663440" cy="274320"/>
          </a:xfrm>
          <a:prstGeom prst="rect">
            <a:avLst/>
          </a:prstGeom>
          <a:noFill/>
          <a:ln/>
        </p:spPr>
        <p:txBody>
          <a:bodyPr wrap="square" lIns="0" tIns="0" rIns="0" bIns="0" rtlCol="0" anchor="ctr"/>
          <a:lstStyle/>
          <a:p>
            <a:pPr marL="0" indent="0">
              <a:buNone/>
            </a:pPr>
            <a:r>
              <a:rPr lang="en-US" sz="1350" b="1" kern="0" spc="300">
                <a:solidFill>
                  <a:srgbClr val="A9552F"/>
                </a:solidFill>
                <a:latin typeface="Segoe UI" pitchFamily="34" charset="0"/>
                <a:ea typeface="Segoe UI" pitchFamily="34" charset="-122"/>
                <a:cs typeface="Segoe UI" pitchFamily="34" charset="-120"/>
              </a:rPr>
              <a:t>HANDS-ON CODING COURSE</a:t>
            </a:r>
            <a:endParaRPr lang="en-US" sz="1350"/>
          </a:p>
        </p:txBody>
      </p:sp>
      <p:sp>
        <p:nvSpPr>
          <p:cNvPr id="6" name="Text 3"/>
          <p:cNvSpPr/>
          <p:nvPr/>
        </p:nvSpPr>
        <p:spPr>
          <a:xfrm>
            <a:off x="658368" y="1097280"/>
            <a:ext cx="4754880" cy="1737360"/>
          </a:xfrm>
          <a:prstGeom prst="rect">
            <a:avLst/>
          </a:prstGeom>
          <a:noFill/>
          <a:ln/>
        </p:spPr>
        <p:txBody>
          <a:bodyPr wrap="square" lIns="0" tIns="0" rIns="0" bIns="0" rtlCol="0" anchor="ctr"/>
          <a:lstStyle/>
          <a:p>
            <a:pPr marL="0" indent="0">
              <a:lnSpc>
                <a:spcPts val="5000"/>
              </a:lnSpc>
              <a:buNone/>
            </a:pPr>
            <a:r>
              <a:rPr lang="en-US" sz="4600" b="1" dirty="0">
                <a:solidFill>
                  <a:srgbClr val="1F3557"/>
                </a:solidFill>
                <a:latin typeface="Georgia" pitchFamily="34" charset="0"/>
                <a:ea typeface="Georgia" pitchFamily="34" charset="-122"/>
                <a:cs typeface="Georgia" pitchFamily="34" charset="-120"/>
              </a:rPr>
              <a:t>Introduction</a:t>
            </a:r>
            <a:endParaRPr lang="en-US" sz="4600" dirty="0"/>
          </a:p>
          <a:p>
            <a:pPr marL="0" indent="0">
              <a:lnSpc>
                <a:spcPts val="5000"/>
              </a:lnSpc>
              <a:buNone/>
            </a:pPr>
            <a:r>
              <a:rPr lang="en-US" sz="4600" b="1" dirty="0">
                <a:solidFill>
                  <a:srgbClr val="1F3557"/>
                </a:solidFill>
                <a:latin typeface="Georgia" pitchFamily="34" charset="0"/>
                <a:ea typeface="Georgia" pitchFamily="34" charset="-122"/>
                <a:cs typeface="Georgia" pitchFamily="34" charset="-120"/>
              </a:rPr>
              <a:t>to Java</a:t>
            </a:r>
            <a:endParaRPr lang="en-US" sz="4600" dirty="0"/>
          </a:p>
        </p:txBody>
      </p:sp>
      <p:sp>
        <p:nvSpPr>
          <p:cNvPr id="7" name="Shape 4"/>
          <p:cNvSpPr/>
          <p:nvPr/>
        </p:nvSpPr>
        <p:spPr>
          <a:xfrm>
            <a:off x="685800" y="2971800"/>
            <a:ext cx="1463040" cy="0"/>
          </a:xfrm>
          <a:prstGeom prst="line">
            <a:avLst/>
          </a:prstGeom>
          <a:noFill/>
          <a:ln w="28575">
            <a:solidFill>
              <a:srgbClr val="A9552F"/>
            </a:solidFill>
            <a:prstDash val="solid"/>
          </a:ln>
        </p:spPr>
        <p:txBody>
          <a:bodyPr/>
          <a:lstStyle/>
          <a:p>
            <a:endParaRPr lang="en-US"/>
          </a:p>
        </p:txBody>
      </p:sp>
      <p:sp>
        <p:nvSpPr>
          <p:cNvPr id="8" name="Text 5"/>
          <p:cNvSpPr/>
          <p:nvPr/>
        </p:nvSpPr>
        <p:spPr>
          <a:xfrm>
            <a:off x="658368" y="3246120"/>
            <a:ext cx="4572000" cy="960120"/>
          </a:xfrm>
          <a:prstGeom prst="rect">
            <a:avLst/>
          </a:prstGeom>
          <a:noFill/>
          <a:ln/>
        </p:spPr>
        <p:txBody>
          <a:bodyPr wrap="square" lIns="0" tIns="0" rIns="0" bIns="0" rtlCol="0" anchor="t"/>
          <a:lstStyle/>
          <a:p>
            <a:pPr marL="0" indent="0">
              <a:lnSpc>
                <a:spcPts val="2350"/>
              </a:lnSpc>
              <a:buNone/>
            </a:pPr>
            <a:r>
              <a:rPr lang="en-US" sz="1500">
                <a:solidFill>
                  <a:srgbClr val="6B6255"/>
                </a:solidFill>
                <a:latin typeface="Segoe UI" pitchFamily="34" charset="0"/>
                <a:ea typeface="Segoe UI" pitchFamily="34" charset="-122"/>
                <a:cs typeface="Segoe UI" pitchFamily="34" charset="-120"/>
              </a:rPr>
              <a:t>A beginner-friendly path through the language: syntax, objects, and building your first working programs.</a:t>
            </a:r>
            <a:endParaRPr lang="en-US" sz="1500"/>
          </a:p>
        </p:txBody>
      </p:sp>
      <p:sp>
        <p:nvSpPr>
          <p:cNvPr id="9" name="Shape 6"/>
          <p:cNvSpPr/>
          <p:nvPr/>
        </p:nvSpPr>
        <p:spPr>
          <a:xfrm>
            <a:off x="685800" y="4279392"/>
            <a:ext cx="3977640" cy="548640"/>
          </a:xfrm>
          <a:prstGeom prst="roundRect">
            <a:avLst>
              <a:gd name="adj" fmla="val 23333"/>
            </a:avLst>
          </a:prstGeom>
          <a:solidFill>
            <a:srgbClr val="F5EFE2"/>
          </a:solidFill>
          <a:ln w="12700">
            <a:solidFill>
              <a:srgbClr val="1F3557"/>
            </a:solidFill>
            <a:prstDash val="solid"/>
          </a:ln>
        </p:spPr>
        <p:txBody>
          <a:bodyPr/>
          <a:lstStyle/>
          <a:p>
            <a:endParaRPr lang="en-US"/>
          </a:p>
        </p:txBody>
      </p:sp>
      <p:sp>
        <p:nvSpPr>
          <p:cNvPr id="10" name="Text 7"/>
          <p:cNvSpPr/>
          <p:nvPr/>
        </p:nvSpPr>
        <p:spPr>
          <a:xfrm>
            <a:off x="685800" y="4279392"/>
            <a:ext cx="3977640" cy="548640"/>
          </a:xfrm>
          <a:prstGeom prst="rect">
            <a:avLst/>
          </a:prstGeom>
          <a:noFill/>
          <a:ln/>
        </p:spPr>
        <p:txBody>
          <a:bodyPr wrap="square" lIns="0" tIns="0" rIns="0" bIns="0" rtlCol="0" anchor="ctr"/>
          <a:lstStyle/>
          <a:p>
            <a:pPr marL="0" indent="0" algn="ctr">
              <a:buNone/>
            </a:pPr>
            <a:r>
              <a:rPr lang="en-US" sz="1500" b="1">
                <a:solidFill>
                  <a:srgbClr val="1F3557"/>
                </a:solidFill>
                <a:latin typeface="Segoe UI" pitchFamily="34" charset="0"/>
                <a:ea typeface="Segoe UI" pitchFamily="34" charset="-122"/>
                <a:cs typeface="Segoe UI" pitchFamily="34" charset="-120"/>
              </a:rPr>
              <a:t>August 17, 2026  —  August 28, 2026</a:t>
            </a:r>
            <a:endParaRPr lang="en-US" sz="15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Day 1 roadmap">
    <p:bg>
      <p:bgPr>
        <a:solidFill>
          <a:srgbClr val="F5EFE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EFE2"/>
          </a:solidFill>
          <a:ln w="3175">
            <a:solidFill>
              <a:srgbClr val="F5EFE2"/>
            </a:solidFill>
            <a:prstDash val="solid"/>
          </a:ln>
        </p:spPr>
        <p:txBody>
          <a:bodyPr/>
          <a:lstStyle/>
          <a:p>
            <a:endParaRPr lang="en-US"/>
          </a:p>
        </p:txBody>
      </p:sp>
      <p:sp>
        <p:nvSpPr>
          <p:cNvPr id="3" name="Text 1"/>
          <p:cNvSpPr/>
          <p:nvPr/>
        </p:nvSpPr>
        <p:spPr>
          <a:xfrm>
            <a:off x="548640" y="384048"/>
            <a:ext cx="5943600" cy="274320"/>
          </a:xfrm>
          <a:prstGeom prst="rect">
            <a:avLst/>
          </a:prstGeom>
          <a:noFill/>
          <a:ln/>
        </p:spPr>
        <p:txBody>
          <a:bodyPr wrap="square" lIns="0" tIns="0" rIns="0" bIns="0" rtlCol="0" anchor="ctr"/>
          <a:lstStyle/>
          <a:p>
            <a:pPr marL="0" indent="0">
              <a:buNone/>
            </a:pPr>
            <a:r>
              <a:rPr lang="en-US" sz="1300" b="1" kern="0" spc="300">
                <a:solidFill>
                  <a:srgbClr val="A9552F"/>
                </a:solidFill>
                <a:latin typeface="Segoe UI" pitchFamily="34" charset="0"/>
                <a:ea typeface="Segoe UI" pitchFamily="34" charset="-122"/>
                <a:cs typeface="Segoe UI" pitchFamily="34" charset="-120"/>
              </a:rPr>
              <a:t>DAY 1 AT A GLANCE</a:t>
            </a:r>
            <a:endParaRPr lang="en-US" sz="1300"/>
          </a:p>
        </p:txBody>
      </p:sp>
      <p:sp>
        <p:nvSpPr>
          <p:cNvPr id="4" name="Text 2"/>
          <p:cNvSpPr/>
          <p:nvPr/>
        </p:nvSpPr>
        <p:spPr>
          <a:xfrm>
            <a:off x="530352" y="676656"/>
            <a:ext cx="7200000" cy="548640"/>
          </a:xfrm>
          <a:prstGeom prst="rect">
            <a:avLst/>
          </a:prstGeom>
          <a:noFill/>
          <a:ln/>
        </p:spPr>
        <p:txBody>
          <a:bodyPr wrap="square" lIns="0" tIns="0" rIns="0" bIns="0" rtlCol="0" anchor="ctr"/>
          <a:lstStyle/>
          <a:p>
            <a:pPr marL="0" indent="0">
              <a:buNone/>
            </a:pPr>
            <a:r>
              <a:rPr lang="en-US" sz="2600" b="1">
                <a:solidFill>
                  <a:srgbClr val="1F3557"/>
                </a:solidFill>
                <a:latin typeface="Georgia" pitchFamily="34" charset="0"/>
                <a:ea typeface="Georgia" pitchFamily="34" charset="-122"/>
                <a:cs typeface="Georgia" pitchFamily="34" charset="-120"/>
              </a:rPr>
              <a:t>Where today takes you</a:t>
            </a:r>
            <a:endParaRPr lang="en-US" sz="3200"/>
          </a:p>
        </p:txBody>
      </p:sp>
      <p:sp>
        <p:nvSpPr>
          <p:cNvPr id="5" name="Shape 3"/>
          <p:cNvSpPr/>
          <p:nvPr/>
        </p:nvSpPr>
        <p:spPr>
          <a:xfrm>
            <a:off x="548640" y="1316736"/>
            <a:ext cx="1280160" cy="0"/>
          </a:xfrm>
          <a:prstGeom prst="line">
            <a:avLst/>
          </a:prstGeom>
          <a:noFill/>
          <a:ln w="28575">
            <a:solidFill>
              <a:srgbClr val="A9552F"/>
            </a:solidFill>
            <a:prstDash val="solid"/>
          </a:ln>
        </p:spPr>
        <p:txBody>
          <a:bodyPr/>
          <a:lstStyle/>
          <a:p>
            <a:endParaRPr lang="en-US"/>
          </a:p>
        </p:txBody>
      </p:sp>
      <p:sp>
        <p:nvSpPr>
          <p:cNvPr id="6" name="Outcomes head"/>
          <p:cNvSpPr/>
          <p:nvPr/>
        </p:nvSpPr>
        <p:spPr>
          <a:xfrm>
            <a:off x="548640" y="1600200"/>
            <a:ext cx="3931920" cy="260000"/>
          </a:xfrm>
          <a:prstGeom prst="rect">
            <a:avLst/>
          </a:prstGeom>
          <a:noFill/>
          <a:ln/>
        </p:spPr>
        <p:txBody>
          <a:bodyPr wrap="square" lIns="0" tIns="0" rIns="0" bIns="0" rtlCol="0" anchor="ctr"/>
          <a:lstStyle/>
          <a:p>
            <a:pPr marL="0" indent="0">
              <a:lnSpc>
                <a:spcPts val="1300"/>
              </a:lnSpc>
              <a:buNone/>
            </a:pPr>
            <a:r>
              <a:rPr lang="en-US" sz="1250" b="1" spc="200">
                <a:solidFill>
                  <a:srgbClr val="A9552F"/>
                </a:solidFill>
                <a:latin typeface="Segoe UI" pitchFamily="34" charset="0"/>
                <a:ea typeface="Segoe UI" pitchFamily="34" charset="-122"/>
                <a:cs typeface="Segoe UI" pitchFamily="34" charset="-120"/>
              </a:rPr>
              <a:t>BY THE END OF TODAY YOU CAN</a:t>
            </a:r>
          </a:p>
        </p:txBody>
      </p:sp>
      <p:sp>
        <p:nvSpPr>
          <p:cNvPr id="7" name="Chk 1"/>
          <p:cNvSpPr/>
          <p:nvPr/>
        </p:nvSpPr>
        <p:spPr>
          <a:xfrm>
            <a:off x="548640" y="1970205"/>
            <a:ext cx="91440" cy="91440"/>
          </a:xfrm>
          <a:prstGeom prst="rect">
            <a:avLst/>
          </a:prstGeom>
          <a:solidFill>
            <a:srgbClr val="A9552F"/>
          </a:solidFill>
          <a:ln/>
        </p:spPr>
        <p:txBody>
          <a:bodyPr/>
          <a:lstStyle/>
          <a:p>
            <a:endParaRPr lang="en-US"/>
          </a:p>
        </p:txBody>
      </p:sp>
      <p:sp>
        <p:nvSpPr>
          <p:cNvPr id="8" name="Out 1"/>
          <p:cNvSpPr/>
          <p:nvPr/>
        </p:nvSpPr>
        <p:spPr>
          <a:xfrm>
            <a:off x="777240" y="1930200"/>
            <a:ext cx="3703320" cy="440000"/>
          </a:xfrm>
          <a:prstGeom prst="rect">
            <a:avLst/>
          </a:prstGeom>
          <a:noFill/>
          <a:ln/>
        </p:spPr>
        <p:txBody>
          <a:bodyPr wrap="square" lIns="0" tIns="0" rIns="0" bIns="0" rtlCol="0" anchor="t"/>
          <a:lstStyle/>
          <a:p>
            <a:pPr marL="0" indent="0">
              <a:lnSpc>
                <a:spcPts val="1350"/>
              </a:lnSpc>
              <a:buNone/>
            </a:pPr>
            <a:r>
              <a:rPr lang="en-US" sz="1350">
                <a:solidFill>
                  <a:srgbClr val="1F3557"/>
                </a:solidFill>
                <a:latin typeface="Segoe UI" pitchFamily="34" charset="0"/>
                <a:ea typeface="Segoe UI" pitchFamily="34" charset="-122"/>
                <a:cs typeface="Segoe UI" pitchFamily="34" charset="-120"/>
              </a:rPr>
              <a:t>Set up and verify your Java tools</a:t>
            </a:r>
          </a:p>
        </p:txBody>
      </p:sp>
      <p:sp>
        <p:nvSpPr>
          <p:cNvPr id="9" name="Chk 2"/>
          <p:cNvSpPr/>
          <p:nvPr/>
        </p:nvSpPr>
        <p:spPr>
          <a:xfrm>
            <a:off x="548640" y="2474205"/>
            <a:ext cx="91440" cy="91440"/>
          </a:xfrm>
          <a:prstGeom prst="rect">
            <a:avLst/>
          </a:prstGeom>
          <a:solidFill>
            <a:srgbClr val="A9552F"/>
          </a:solidFill>
          <a:ln/>
        </p:spPr>
        <p:txBody>
          <a:bodyPr/>
          <a:lstStyle/>
          <a:p>
            <a:endParaRPr lang="en-US"/>
          </a:p>
        </p:txBody>
      </p:sp>
      <p:sp>
        <p:nvSpPr>
          <p:cNvPr id="10" name="Out 2"/>
          <p:cNvSpPr/>
          <p:nvPr/>
        </p:nvSpPr>
        <p:spPr>
          <a:xfrm>
            <a:off x="777240" y="2434200"/>
            <a:ext cx="3703320" cy="440000"/>
          </a:xfrm>
          <a:prstGeom prst="rect">
            <a:avLst/>
          </a:prstGeom>
          <a:noFill/>
          <a:ln/>
        </p:spPr>
        <p:txBody>
          <a:bodyPr wrap="square" lIns="0" tIns="0" rIns="0" bIns="0" rtlCol="0" anchor="t"/>
          <a:lstStyle/>
          <a:p>
            <a:pPr marL="0" indent="0">
              <a:lnSpc>
                <a:spcPts val="1350"/>
              </a:lnSpc>
              <a:buNone/>
            </a:pPr>
            <a:r>
              <a:rPr lang="en-US" sz="1350">
                <a:solidFill>
                  <a:srgbClr val="1F3557"/>
                </a:solidFill>
                <a:latin typeface="Segoe UI" pitchFamily="34" charset="0"/>
                <a:ea typeface="Segoe UI" pitchFamily="34" charset="-122"/>
                <a:cs typeface="Segoe UI" pitchFamily="34" charset="-120"/>
              </a:rPr>
              <a:t>Explain bytecode, the JVM, and why Java is portable</a:t>
            </a:r>
          </a:p>
        </p:txBody>
      </p:sp>
      <p:sp>
        <p:nvSpPr>
          <p:cNvPr id="11" name="Chk 3"/>
          <p:cNvSpPr/>
          <p:nvPr/>
        </p:nvSpPr>
        <p:spPr>
          <a:xfrm>
            <a:off x="548640" y="2978205"/>
            <a:ext cx="91440" cy="91440"/>
          </a:xfrm>
          <a:prstGeom prst="rect">
            <a:avLst/>
          </a:prstGeom>
          <a:solidFill>
            <a:srgbClr val="A9552F"/>
          </a:solidFill>
          <a:ln/>
        </p:spPr>
        <p:txBody>
          <a:bodyPr/>
          <a:lstStyle/>
          <a:p>
            <a:endParaRPr lang="en-US"/>
          </a:p>
        </p:txBody>
      </p:sp>
      <p:sp>
        <p:nvSpPr>
          <p:cNvPr id="12" name="Out 3"/>
          <p:cNvSpPr/>
          <p:nvPr/>
        </p:nvSpPr>
        <p:spPr>
          <a:xfrm>
            <a:off x="777240" y="2938200"/>
            <a:ext cx="3703320" cy="440000"/>
          </a:xfrm>
          <a:prstGeom prst="rect">
            <a:avLst/>
          </a:prstGeom>
          <a:noFill/>
          <a:ln/>
        </p:spPr>
        <p:txBody>
          <a:bodyPr wrap="square" lIns="0" tIns="0" rIns="0" bIns="0" rtlCol="0" anchor="t"/>
          <a:lstStyle/>
          <a:p>
            <a:pPr marL="0" indent="0">
              <a:lnSpc>
                <a:spcPts val="1350"/>
              </a:lnSpc>
              <a:buNone/>
            </a:pPr>
            <a:r>
              <a:rPr lang="en-US" sz="1350">
                <a:solidFill>
                  <a:srgbClr val="1F3557"/>
                </a:solidFill>
                <a:latin typeface="Segoe UI" pitchFamily="34" charset="0"/>
                <a:ea typeface="Segoe UI" pitchFamily="34" charset="-122"/>
                <a:cs typeface="Segoe UI" pitchFamily="34" charset="-120"/>
              </a:rPr>
              <a:t>Write, compile, and run a program from a blank file</a:t>
            </a:r>
          </a:p>
        </p:txBody>
      </p:sp>
      <p:sp>
        <p:nvSpPr>
          <p:cNvPr id="13" name="Chk 4"/>
          <p:cNvSpPr/>
          <p:nvPr/>
        </p:nvSpPr>
        <p:spPr>
          <a:xfrm>
            <a:off x="548640" y="3482205"/>
            <a:ext cx="91440" cy="91440"/>
          </a:xfrm>
          <a:prstGeom prst="rect">
            <a:avLst/>
          </a:prstGeom>
          <a:solidFill>
            <a:srgbClr val="A9552F"/>
          </a:solidFill>
          <a:ln/>
        </p:spPr>
        <p:txBody>
          <a:bodyPr/>
          <a:lstStyle/>
          <a:p>
            <a:endParaRPr lang="en-US"/>
          </a:p>
        </p:txBody>
      </p:sp>
      <p:sp>
        <p:nvSpPr>
          <p:cNvPr id="14" name="Out 4"/>
          <p:cNvSpPr/>
          <p:nvPr/>
        </p:nvSpPr>
        <p:spPr>
          <a:xfrm>
            <a:off x="777240" y="3442200"/>
            <a:ext cx="3703320" cy="440000"/>
          </a:xfrm>
          <a:prstGeom prst="rect">
            <a:avLst/>
          </a:prstGeom>
          <a:noFill/>
          <a:ln/>
        </p:spPr>
        <p:txBody>
          <a:bodyPr wrap="square" lIns="0" tIns="0" rIns="0" bIns="0" rtlCol="0" anchor="t"/>
          <a:lstStyle/>
          <a:p>
            <a:pPr marL="0" indent="0">
              <a:lnSpc>
                <a:spcPts val="1350"/>
              </a:lnSpc>
              <a:buNone/>
            </a:pPr>
            <a:r>
              <a:rPr lang="en-US" sz="1350">
                <a:solidFill>
                  <a:srgbClr val="1F3557"/>
                </a:solidFill>
                <a:latin typeface="Segoe UI" pitchFamily="34" charset="0"/>
                <a:ea typeface="Segoe UI" pitchFamily="34" charset="-122"/>
                <a:cs typeface="Segoe UI" pitchFamily="34" charset="-120"/>
              </a:rPr>
              <a:t>Print labeled output using variables and text</a:t>
            </a:r>
          </a:p>
        </p:txBody>
      </p:sp>
      <p:sp>
        <p:nvSpPr>
          <p:cNvPr id="15" name="Chk 5"/>
          <p:cNvSpPr/>
          <p:nvPr/>
        </p:nvSpPr>
        <p:spPr>
          <a:xfrm>
            <a:off x="548640" y="3986205"/>
            <a:ext cx="91440" cy="91440"/>
          </a:xfrm>
          <a:prstGeom prst="rect">
            <a:avLst/>
          </a:prstGeom>
          <a:solidFill>
            <a:srgbClr val="A9552F"/>
          </a:solidFill>
          <a:ln/>
        </p:spPr>
        <p:txBody>
          <a:bodyPr/>
          <a:lstStyle/>
          <a:p>
            <a:endParaRPr lang="en-US"/>
          </a:p>
        </p:txBody>
      </p:sp>
      <p:sp>
        <p:nvSpPr>
          <p:cNvPr id="16" name="Out 5"/>
          <p:cNvSpPr/>
          <p:nvPr/>
        </p:nvSpPr>
        <p:spPr>
          <a:xfrm>
            <a:off x="777240" y="3946200"/>
            <a:ext cx="3703320" cy="440000"/>
          </a:xfrm>
          <a:prstGeom prst="rect">
            <a:avLst/>
          </a:prstGeom>
          <a:noFill/>
          <a:ln/>
        </p:spPr>
        <p:txBody>
          <a:bodyPr wrap="square" lIns="0" tIns="0" rIns="0" bIns="0" rtlCol="0" anchor="t"/>
          <a:lstStyle/>
          <a:p>
            <a:pPr marL="0" indent="0">
              <a:lnSpc>
                <a:spcPts val="1350"/>
              </a:lnSpc>
              <a:buNone/>
            </a:pPr>
            <a:r>
              <a:rPr lang="en-US" sz="1350">
                <a:solidFill>
                  <a:srgbClr val="1F3557"/>
                </a:solidFill>
                <a:latin typeface="Segoe UI" pitchFamily="34" charset="0"/>
                <a:ea typeface="Segoe UI" pitchFamily="34" charset="-122"/>
                <a:cs typeface="Segoe UI" pitchFamily="34" charset="-120"/>
              </a:rPr>
              <a:t>Read a compiler error and fix it calmly</a:t>
            </a:r>
          </a:p>
        </p:txBody>
      </p:sp>
      <p:sp>
        <p:nvSpPr>
          <p:cNvPr id="17" name="Rhythm head"/>
          <p:cNvSpPr/>
          <p:nvPr/>
        </p:nvSpPr>
        <p:spPr>
          <a:xfrm>
            <a:off x="4983480" y="1600200"/>
            <a:ext cx="3611880" cy="260000"/>
          </a:xfrm>
          <a:prstGeom prst="rect">
            <a:avLst/>
          </a:prstGeom>
          <a:noFill/>
          <a:ln/>
        </p:spPr>
        <p:txBody>
          <a:bodyPr wrap="square" lIns="0" tIns="0" rIns="0" bIns="0" rtlCol="0" anchor="ctr"/>
          <a:lstStyle/>
          <a:p>
            <a:pPr marL="0" indent="0">
              <a:lnSpc>
                <a:spcPts val="1300"/>
              </a:lnSpc>
              <a:buNone/>
            </a:pPr>
            <a:r>
              <a:rPr lang="en-US" sz="1250" b="1" spc="200">
                <a:solidFill>
                  <a:srgbClr val="A9552F"/>
                </a:solidFill>
                <a:latin typeface="Segoe UI" pitchFamily="34" charset="0"/>
                <a:ea typeface="Segoe UI" pitchFamily="34" charset="-122"/>
                <a:cs typeface="Segoe UI" pitchFamily="34" charset="-120"/>
              </a:rPr>
              <a:t>THE SHAPE OF THE DAY</a:t>
            </a:r>
          </a:p>
        </p:txBody>
      </p:sp>
      <p:sp>
        <p:nvSpPr>
          <p:cNvPr id="18" name="Bar 1"/>
          <p:cNvSpPr/>
          <p:nvPr/>
        </p:nvSpPr>
        <p:spPr>
          <a:xfrm>
            <a:off x="4983480" y="1930200"/>
            <a:ext cx="30480" cy="350000"/>
          </a:xfrm>
          <a:prstGeom prst="rect">
            <a:avLst/>
          </a:prstGeom>
          <a:solidFill>
            <a:srgbClr val="1F3557"/>
          </a:solidFill>
          <a:ln/>
        </p:spPr>
        <p:txBody>
          <a:bodyPr/>
          <a:lstStyle/>
          <a:p>
            <a:endParaRPr lang="en-US"/>
          </a:p>
        </p:txBody>
      </p:sp>
      <p:sp>
        <p:nvSpPr>
          <p:cNvPr id="19" name="Time 1"/>
          <p:cNvSpPr/>
          <p:nvPr/>
        </p:nvSpPr>
        <p:spPr>
          <a:xfrm>
            <a:off x="5120640" y="1930200"/>
            <a:ext cx="640080" cy="350000"/>
          </a:xfrm>
          <a:prstGeom prst="rect">
            <a:avLst/>
          </a:prstGeom>
          <a:noFill/>
          <a:ln/>
        </p:spPr>
        <p:txBody>
          <a:bodyPr wrap="square" lIns="0" tIns="0" rIns="0" bIns="0" rtlCol="0" anchor="t"/>
          <a:lstStyle/>
          <a:p>
            <a:pPr marL="0" indent="0">
              <a:lnSpc>
                <a:spcPts val="1300"/>
              </a:lnSpc>
              <a:buNone/>
            </a:pPr>
            <a:r>
              <a:rPr lang="en-US" sz="1300" b="1">
                <a:solidFill>
                  <a:srgbClr val="A9552F"/>
                </a:solidFill>
                <a:latin typeface="Segoe UI" pitchFamily="34" charset="0"/>
                <a:ea typeface="Segoe UI" pitchFamily="34" charset="-122"/>
                <a:cs typeface="Segoe UI" pitchFamily="34" charset="-120"/>
              </a:rPr>
              <a:t>8:30</a:t>
            </a:r>
          </a:p>
        </p:txBody>
      </p:sp>
      <p:sp>
        <p:nvSpPr>
          <p:cNvPr id="20" name="Row 1"/>
          <p:cNvSpPr/>
          <p:nvPr/>
        </p:nvSpPr>
        <p:spPr>
          <a:xfrm>
            <a:off x="5760720" y="1930200"/>
            <a:ext cx="2834640" cy="350000"/>
          </a:xfrm>
          <a:prstGeom prst="rect">
            <a:avLst/>
          </a:prstGeom>
          <a:noFill/>
          <a:ln/>
        </p:spPr>
        <p:txBody>
          <a:bodyPr wrap="square" lIns="0" tIns="0" rIns="0" bIns="0" rtlCol="0" anchor="t"/>
          <a:lstStyle/>
          <a:p>
            <a:pPr marL="0" indent="0">
              <a:lnSpc>
                <a:spcPts val="1300"/>
              </a:lnSpc>
              <a:buNone/>
            </a:pPr>
            <a:r>
              <a:rPr lang="en-US" sz="1300" b="1">
                <a:solidFill>
                  <a:srgbClr val="1F3557"/>
                </a:solidFill>
                <a:latin typeface="Segoe UI" pitchFamily="34" charset="0"/>
                <a:ea typeface="Segoe UI" pitchFamily="34" charset="-122"/>
                <a:cs typeface="Segoe UI" pitchFamily="34" charset="-120"/>
              </a:rPr>
              <a:t>Set up — </a:t>
            </a:r>
            <a:r>
              <a:rPr lang="en-US" sz="1300">
                <a:solidFill>
                  <a:srgbClr val="6B6255"/>
                </a:solidFill>
                <a:latin typeface="Segoe UI" pitchFamily="34" charset="0"/>
                <a:ea typeface="Segoe UI" pitchFamily="34" charset="-122"/>
                <a:cs typeface="Segoe UI" pitchFamily="34" charset="-120"/>
              </a:rPr>
              <a:t>orientation, folder, Java tools, VS Code</a:t>
            </a:r>
          </a:p>
        </p:txBody>
      </p:sp>
      <p:sp>
        <p:nvSpPr>
          <p:cNvPr id="21" name="Bar 2"/>
          <p:cNvSpPr/>
          <p:nvPr/>
        </p:nvSpPr>
        <p:spPr>
          <a:xfrm>
            <a:off x="4983480" y="2320200"/>
            <a:ext cx="30480" cy="350000"/>
          </a:xfrm>
          <a:prstGeom prst="rect">
            <a:avLst/>
          </a:prstGeom>
          <a:solidFill>
            <a:srgbClr val="1F3557"/>
          </a:solidFill>
          <a:ln/>
        </p:spPr>
        <p:txBody>
          <a:bodyPr/>
          <a:lstStyle/>
          <a:p>
            <a:endParaRPr lang="en-US"/>
          </a:p>
        </p:txBody>
      </p:sp>
      <p:sp>
        <p:nvSpPr>
          <p:cNvPr id="22" name="Time 2"/>
          <p:cNvSpPr/>
          <p:nvPr/>
        </p:nvSpPr>
        <p:spPr>
          <a:xfrm>
            <a:off x="5120640" y="2320200"/>
            <a:ext cx="640080" cy="350000"/>
          </a:xfrm>
          <a:prstGeom prst="rect">
            <a:avLst/>
          </a:prstGeom>
          <a:noFill/>
          <a:ln/>
        </p:spPr>
        <p:txBody>
          <a:bodyPr wrap="square" lIns="0" tIns="0" rIns="0" bIns="0" rtlCol="0" anchor="t"/>
          <a:lstStyle/>
          <a:p>
            <a:pPr marL="0" indent="0">
              <a:lnSpc>
                <a:spcPts val="1300"/>
              </a:lnSpc>
              <a:buNone/>
            </a:pPr>
            <a:r>
              <a:rPr lang="en-US" sz="1300" b="1">
                <a:solidFill>
                  <a:srgbClr val="A9552F"/>
                </a:solidFill>
                <a:latin typeface="Segoe UI" pitchFamily="34" charset="0"/>
                <a:ea typeface="Segoe UI" pitchFamily="34" charset="-122"/>
                <a:cs typeface="Segoe UI" pitchFamily="34" charset="-120"/>
              </a:rPr>
              <a:t>9:05</a:t>
            </a:r>
          </a:p>
        </p:txBody>
      </p:sp>
      <p:sp>
        <p:nvSpPr>
          <p:cNvPr id="23" name="Row 2"/>
          <p:cNvSpPr/>
          <p:nvPr/>
        </p:nvSpPr>
        <p:spPr>
          <a:xfrm>
            <a:off x="5760720" y="2320200"/>
            <a:ext cx="2834640" cy="350000"/>
          </a:xfrm>
          <a:prstGeom prst="rect">
            <a:avLst/>
          </a:prstGeom>
          <a:noFill/>
          <a:ln/>
        </p:spPr>
        <p:txBody>
          <a:bodyPr wrap="square" lIns="0" tIns="0" rIns="0" bIns="0" rtlCol="0" anchor="t"/>
          <a:lstStyle/>
          <a:p>
            <a:pPr marL="0" indent="0">
              <a:lnSpc>
                <a:spcPts val="1300"/>
              </a:lnSpc>
              <a:buNone/>
            </a:pPr>
            <a:r>
              <a:rPr lang="en-US" sz="1300" b="1">
                <a:solidFill>
                  <a:srgbClr val="1F3557"/>
                </a:solidFill>
                <a:latin typeface="Segoe UI" pitchFamily="34" charset="0"/>
                <a:ea typeface="Segoe UI" pitchFamily="34" charset="-122"/>
                <a:cs typeface="Segoe UI" pitchFamily="34" charset="-120"/>
              </a:rPr>
              <a:t>Learn — </a:t>
            </a:r>
            <a:r>
              <a:rPr lang="en-US" sz="1300">
                <a:solidFill>
                  <a:srgbClr val="6B6255"/>
                </a:solidFill>
                <a:latin typeface="Segoe UI" pitchFamily="34" charset="0"/>
                <a:ea typeface="Segoe UI" pitchFamily="34" charset="-122"/>
                <a:cs typeface="Segoe UI" pitchFamily="34" charset="-120"/>
              </a:rPr>
              <a:t>Java, compilation, bytecode, the JVM</a:t>
            </a:r>
          </a:p>
        </p:txBody>
      </p:sp>
      <p:sp>
        <p:nvSpPr>
          <p:cNvPr id="24" name="Bar 3"/>
          <p:cNvSpPr/>
          <p:nvPr/>
        </p:nvSpPr>
        <p:spPr>
          <a:xfrm>
            <a:off x="4983480" y="2710200"/>
            <a:ext cx="30480" cy="350000"/>
          </a:xfrm>
          <a:prstGeom prst="rect">
            <a:avLst/>
          </a:prstGeom>
          <a:solidFill>
            <a:srgbClr val="1F3557"/>
          </a:solidFill>
          <a:ln/>
        </p:spPr>
        <p:txBody>
          <a:bodyPr/>
          <a:lstStyle/>
          <a:p>
            <a:endParaRPr lang="en-US"/>
          </a:p>
        </p:txBody>
      </p:sp>
      <p:sp>
        <p:nvSpPr>
          <p:cNvPr id="25" name="Time 3"/>
          <p:cNvSpPr/>
          <p:nvPr/>
        </p:nvSpPr>
        <p:spPr>
          <a:xfrm>
            <a:off x="5120640" y="2710200"/>
            <a:ext cx="640080" cy="350000"/>
          </a:xfrm>
          <a:prstGeom prst="rect">
            <a:avLst/>
          </a:prstGeom>
          <a:noFill/>
          <a:ln/>
        </p:spPr>
        <p:txBody>
          <a:bodyPr wrap="square" lIns="0" tIns="0" rIns="0" bIns="0" rtlCol="0" anchor="t"/>
          <a:lstStyle/>
          <a:p>
            <a:pPr marL="0" indent="0">
              <a:lnSpc>
                <a:spcPts val="1300"/>
              </a:lnSpc>
              <a:buNone/>
            </a:pPr>
            <a:r>
              <a:rPr lang="en-US" sz="1300" b="1">
                <a:solidFill>
                  <a:srgbClr val="A9552F"/>
                </a:solidFill>
                <a:latin typeface="Segoe UI" pitchFamily="34" charset="0"/>
                <a:ea typeface="Segoe UI" pitchFamily="34" charset="-122"/>
                <a:cs typeface="Segoe UI" pitchFamily="34" charset="-120"/>
              </a:rPr>
              <a:t>10:05</a:t>
            </a:r>
          </a:p>
        </p:txBody>
      </p:sp>
      <p:sp>
        <p:nvSpPr>
          <p:cNvPr id="26" name="Row 3"/>
          <p:cNvSpPr/>
          <p:nvPr/>
        </p:nvSpPr>
        <p:spPr>
          <a:xfrm>
            <a:off x="5760720" y="2710200"/>
            <a:ext cx="2834640" cy="350000"/>
          </a:xfrm>
          <a:prstGeom prst="rect">
            <a:avLst/>
          </a:prstGeom>
          <a:noFill/>
          <a:ln/>
        </p:spPr>
        <p:txBody>
          <a:bodyPr wrap="square" lIns="0" tIns="0" rIns="0" bIns="0" rtlCol="0" anchor="t"/>
          <a:lstStyle/>
          <a:p>
            <a:pPr marL="0" indent="0">
              <a:lnSpc>
                <a:spcPts val="1300"/>
              </a:lnSpc>
              <a:buNone/>
            </a:pPr>
            <a:r>
              <a:rPr lang="en-US" sz="1300" b="1">
                <a:solidFill>
                  <a:srgbClr val="1F3557"/>
                </a:solidFill>
                <a:latin typeface="Segoe UI" pitchFamily="34" charset="0"/>
                <a:ea typeface="Segoe UI" pitchFamily="34" charset="-122"/>
                <a:cs typeface="Segoe UI" pitchFamily="34" charset="-120"/>
              </a:rPr>
              <a:t>Read code — </a:t>
            </a:r>
            <a:r>
              <a:rPr lang="en-US" sz="1300">
                <a:solidFill>
                  <a:srgbClr val="6B6255"/>
                </a:solidFill>
                <a:latin typeface="Segoe UI" pitchFamily="34" charset="0"/>
                <a:ea typeface="Segoe UI" pitchFamily="34" charset="-122"/>
                <a:cs typeface="Segoe UI" pitchFamily="34" charset="-120"/>
              </a:rPr>
              <a:t>class shell, main, output, variables</a:t>
            </a:r>
          </a:p>
        </p:txBody>
      </p:sp>
      <p:sp>
        <p:nvSpPr>
          <p:cNvPr id="27" name="Bar 4"/>
          <p:cNvSpPr/>
          <p:nvPr/>
        </p:nvSpPr>
        <p:spPr>
          <a:xfrm>
            <a:off x="4983480" y="3100200"/>
            <a:ext cx="30480" cy="350000"/>
          </a:xfrm>
          <a:prstGeom prst="rect">
            <a:avLst/>
          </a:prstGeom>
          <a:solidFill>
            <a:srgbClr val="1F3557"/>
          </a:solidFill>
          <a:ln/>
        </p:spPr>
        <p:txBody>
          <a:bodyPr/>
          <a:lstStyle/>
          <a:p>
            <a:endParaRPr lang="en-US"/>
          </a:p>
        </p:txBody>
      </p:sp>
      <p:sp>
        <p:nvSpPr>
          <p:cNvPr id="28" name="Time 4"/>
          <p:cNvSpPr/>
          <p:nvPr/>
        </p:nvSpPr>
        <p:spPr>
          <a:xfrm>
            <a:off x="5120640" y="3100200"/>
            <a:ext cx="640080" cy="350000"/>
          </a:xfrm>
          <a:prstGeom prst="rect">
            <a:avLst/>
          </a:prstGeom>
          <a:noFill/>
          <a:ln/>
        </p:spPr>
        <p:txBody>
          <a:bodyPr wrap="square" lIns="0" tIns="0" rIns="0" bIns="0" rtlCol="0" anchor="t"/>
          <a:lstStyle/>
          <a:p>
            <a:pPr marL="0" indent="0">
              <a:lnSpc>
                <a:spcPts val="1300"/>
              </a:lnSpc>
              <a:buNone/>
            </a:pPr>
            <a:r>
              <a:rPr lang="en-US" sz="1300" b="1">
                <a:solidFill>
                  <a:srgbClr val="A9552F"/>
                </a:solidFill>
                <a:latin typeface="Segoe UI" pitchFamily="34" charset="0"/>
                <a:ea typeface="Segoe UI" pitchFamily="34" charset="-122"/>
                <a:cs typeface="Segoe UI" pitchFamily="34" charset="-120"/>
              </a:rPr>
              <a:t>11:05</a:t>
            </a:r>
          </a:p>
        </p:txBody>
      </p:sp>
      <p:sp>
        <p:nvSpPr>
          <p:cNvPr id="29" name="Row 4"/>
          <p:cNvSpPr/>
          <p:nvPr/>
        </p:nvSpPr>
        <p:spPr>
          <a:xfrm>
            <a:off x="5760720" y="3100200"/>
            <a:ext cx="2834640" cy="350000"/>
          </a:xfrm>
          <a:prstGeom prst="rect">
            <a:avLst/>
          </a:prstGeom>
          <a:noFill/>
          <a:ln/>
        </p:spPr>
        <p:txBody>
          <a:bodyPr wrap="square" lIns="0" tIns="0" rIns="0" bIns="0" rtlCol="0" anchor="t"/>
          <a:lstStyle/>
          <a:p>
            <a:pPr marL="0" indent="0">
              <a:lnSpc>
                <a:spcPts val="1300"/>
              </a:lnSpc>
              <a:buNone/>
            </a:pPr>
            <a:r>
              <a:rPr lang="en-US" sz="1300" b="1">
                <a:solidFill>
                  <a:srgbClr val="1F3557"/>
                </a:solidFill>
                <a:latin typeface="Segoe UI" pitchFamily="34" charset="0"/>
                <a:ea typeface="Segoe UI" pitchFamily="34" charset="-122"/>
                <a:cs typeface="Segoe UI" pitchFamily="34" charset="-120"/>
              </a:rPr>
              <a:t>Watch — </a:t>
            </a:r>
            <a:r>
              <a:rPr lang="en-US" sz="1300">
                <a:solidFill>
                  <a:srgbClr val="6B6255"/>
                </a:solidFill>
                <a:latin typeface="Segoe UI" pitchFamily="34" charset="0"/>
                <a:ea typeface="Segoe UI" pitchFamily="34" charset="-122"/>
                <a:cs typeface="Segoe UI" pitchFamily="34" charset="-120"/>
              </a:rPr>
              <a:t>live WelcomeReport demonstration</a:t>
            </a:r>
          </a:p>
        </p:txBody>
      </p:sp>
      <p:sp>
        <p:nvSpPr>
          <p:cNvPr id="30" name="Bar 5"/>
          <p:cNvSpPr/>
          <p:nvPr/>
        </p:nvSpPr>
        <p:spPr>
          <a:xfrm>
            <a:off x="4983480" y="3490200"/>
            <a:ext cx="30480" cy="350000"/>
          </a:xfrm>
          <a:prstGeom prst="rect">
            <a:avLst/>
          </a:prstGeom>
          <a:solidFill>
            <a:srgbClr val="1F3557"/>
          </a:solidFill>
          <a:ln/>
        </p:spPr>
        <p:txBody>
          <a:bodyPr/>
          <a:lstStyle/>
          <a:p>
            <a:endParaRPr lang="en-US"/>
          </a:p>
        </p:txBody>
      </p:sp>
      <p:sp>
        <p:nvSpPr>
          <p:cNvPr id="31" name="Time 5"/>
          <p:cNvSpPr/>
          <p:nvPr/>
        </p:nvSpPr>
        <p:spPr>
          <a:xfrm>
            <a:off x="5120640" y="3490200"/>
            <a:ext cx="640080" cy="350000"/>
          </a:xfrm>
          <a:prstGeom prst="rect">
            <a:avLst/>
          </a:prstGeom>
          <a:noFill/>
          <a:ln/>
        </p:spPr>
        <p:txBody>
          <a:bodyPr wrap="square" lIns="0" tIns="0" rIns="0" bIns="0" rtlCol="0" anchor="t"/>
          <a:lstStyle/>
          <a:p>
            <a:pPr marL="0" indent="0">
              <a:lnSpc>
                <a:spcPts val="1300"/>
              </a:lnSpc>
              <a:buNone/>
            </a:pPr>
            <a:r>
              <a:rPr lang="en-US" sz="1300" b="1">
                <a:solidFill>
                  <a:srgbClr val="A9552F"/>
                </a:solidFill>
                <a:latin typeface="Segoe UI" pitchFamily="34" charset="0"/>
                <a:ea typeface="Segoe UI" pitchFamily="34" charset="-122"/>
                <a:cs typeface="Segoe UI" pitchFamily="34" charset="-120"/>
              </a:rPr>
              <a:t>12:30</a:t>
            </a:r>
          </a:p>
        </p:txBody>
      </p:sp>
      <p:sp>
        <p:nvSpPr>
          <p:cNvPr id="32" name="Row 5"/>
          <p:cNvSpPr/>
          <p:nvPr/>
        </p:nvSpPr>
        <p:spPr>
          <a:xfrm>
            <a:off x="5760720" y="3490200"/>
            <a:ext cx="2834640" cy="350000"/>
          </a:xfrm>
          <a:prstGeom prst="rect">
            <a:avLst/>
          </a:prstGeom>
          <a:noFill/>
          <a:ln/>
        </p:spPr>
        <p:txBody>
          <a:bodyPr wrap="square" lIns="0" tIns="0" rIns="0" bIns="0" rtlCol="0" anchor="t"/>
          <a:lstStyle/>
          <a:p>
            <a:pPr marL="0" indent="0">
              <a:lnSpc>
                <a:spcPts val="1300"/>
              </a:lnSpc>
              <a:buNone/>
            </a:pPr>
            <a:r>
              <a:rPr lang="en-US" sz="1300" b="1">
                <a:solidFill>
                  <a:srgbClr val="1F3557"/>
                </a:solidFill>
                <a:latin typeface="Segoe UI" pitchFamily="34" charset="0"/>
                <a:ea typeface="Segoe UI" pitchFamily="34" charset="-122"/>
                <a:cs typeface="Segoe UI" pitchFamily="34" charset="-120"/>
              </a:rPr>
              <a:t>Build — </a:t>
            </a:r>
            <a:r>
              <a:rPr lang="en-US" sz="1300">
                <a:solidFill>
                  <a:srgbClr val="6B6255"/>
                </a:solidFill>
                <a:latin typeface="Segoe UI" pitchFamily="34" charset="0"/>
                <a:ea typeface="Segoe UI" pitchFamily="34" charset="-122"/>
                <a:cs typeface="Segoe UI" pitchFamily="34" charset="-120"/>
              </a:rPr>
              <a:t>WelcomeReport and MemberWelcomeReport</a:t>
            </a:r>
          </a:p>
        </p:txBody>
      </p:sp>
      <p:sp>
        <p:nvSpPr>
          <p:cNvPr id="33" name="Bar 6"/>
          <p:cNvSpPr/>
          <p:nvPr/>
        </p:nvSpPr>
        <p:spPr>
          <a:xfrm>
            <a:off x="4983480" y="3880200"/>
            <a:ext cx="30480" cy="350000"/>
          </a:xfrm>
          <a:prstGeom prst="rect">
            <a:avLst/>
          </a:prstGeom>
          <a:solidFill>
            <a:srgbClr val="1F3557"/>
          </a:solidFill>
          <a:ln/>
        </p:spPr>
        <p:txBody>
          <a:bodyPr/>
          <a:lstStyle/>
          <a:p>
            <a:endParaRPr lang="en-US"/>
          </a:p>
        </p:txBody>
      </p:sp>
      <p:sp>
        <p:nvSpPr>
          <p:cNvPr id="34" name="Time 6"/>
          <p:cNvSpPr/>
          <p:nvPr/>
        </p:nvSpPr>
        <p:spPr>
          <a:xfrm>
            <a:off x="5120640" y="3880200"/>
            <a:ext cx="640080" cy="350000"/>
          </a:xfrm>
          <a:prstGeom prst="rect">
            <a:avLst/>
          </a:prstGeom>
          <a:noFill/>
          <a:ln/>
        </p:spPr>
        <p:txBody>
          <a:bodyPr wrap="square" lIns="0" tIns="0" rIns="0" bIns="0" rtlCol="0" anchor="t"/>
          <a:lstStyle/>
          <a:p>
            <a:pPr marL="0" indent="0">
              <a:lnSpc>
                <a:spcPts val="1300"/>
              </a:lnSpc>
              <a:buNone/>
            </a:pPr>
            <a:r>
              <a:rPr lang="en-US" sz="1300" b="1">
                <a:solidFill>
                  <a:srgbClr val="A9552F"/>
                </a:solidFill>
                <a:latin typeface="Segoe UI" pitchFamily="34" charset="0"/>
                <a:ea typeface="Segoe UI" pitchFamily="34" charset="-122"/>
                <a:cs typeface="Segoe UI" pitchFamily="34" charset="-120"/>
              </a:rPr>
              <a:t>2:00</a:t>
            </a:r>
          </a:p>
        </p:txBody>
      </p:sp>
      <p:sp>
        <p:nvSpPr>
          <p:cNvPr id="35" name="Row 6"/>
          <p:cNvSpPr/>
          <p:nvPr/>
        </p:nvSpPr>
        <p:spPr>
          <a:xfrm>
            <a:off x="5760720" y="3880200"/>
            <a:ext cx="2834640" cy="350000"/>
          </a:xfrm>
          <a:prstGeom prst="rect">
            <a:avLst/>
          </a:prstGeom>
          <a:noFill/>
          <a:ln/>
        </p:spPr>
        <p:txBody>
          <a:bodyPr wrap="square" lIns="0" tIns="0" rIns="0" bIns="0" rtlCol="0" anchor="t"/>
          <a:lstStyle/>
          <a:p>
            <a:pPr marL="0" indent="0">
              <a:lnSpc>
                <a:spcPts val="1300"/>
              </a:lnSpc>
              <a:buNone/>
            </a:pPr>
            <a:r>
              <a:rPr lang="en-US" sz="1300" b="1">
                <a:solidFill>
                  <a:srgbClr val="1F3557"/>
                </a:solidFill>
                <a:latin typeface="Segoe UI" pitchFamily="34" charset="0"/>
                <a:ea typeface="Segoe UI" pitchFamily="34" charset="-122"/>
                <a:cs typeface="Segoe UI" pitchFamily="34" charset="-120"/>
              </a:rPr>
              <a:t>Debug and check — </a:t>
            </a:r>
            <a:r>
              <a:rPr lang="en-US" sz="1300">
                <a:solidFill>
                  <a:srgbClr val="6B6255"/>
                </a:solidFill>
                <a:latin typeface="Segoe UI" pitchFamily="34" charset="0"/>
                <a:ea typeface="Segoe UI" pitchFamily="34" charset="-122"/>
                <a:cs typeface="Segoe UI" pitchFamily="34" charset="-120"/>
              </a:rPr>
              <a:t>compiler errors and the blank-file checkpoint</a:t>
            </a:r>
          </a:p>
        </p:txBody>
      </p:sp>
      <p:sp>
        <p:nvSpPr>
          <p:cNvPr id="36" name="Bar 7"/>
          <p:cNvSpPr/>
          <p:nvPr/>
        </p:nvSpPr>
        <p:spPr>
          <a:xfrm>
            <a:off x="4983480" y="4270200"/>
            <a:ext cx="30480" cy="350000"/>
          </a:xfrm>
          <a:prstGeom prst="rect">
            <a:avLst/>
          </a:prstGeom>
          <a:solidFill>
            <a:srgbClr val="A9552F"/>
          </a:solidFill>
          <a:ln/>
        </p:spPr>
        <p:txBody>
          <a:bodyPr/>
          <a:lstStyle/>
          <a:p>
            <a:endParaRPr lang="en-US"/>
          </a:p>
        </p:txBody>
      </p:sp>
      <p:sp>
        <p:nvSpPr>
          <p:cNvPr id="37" name="Time 7"/>
          <p:cNvSpPr/>
          <p:nvPr/>
        </p:nvSpPr>
        <p:spPr>
          <a:xfrm>
            <a:off x="5120640" y="4270200"/>
            <a:ext cx="640080" cy="350000"/>
          </a:xfrm>
          <a:prstGeom prst="rect">
            <a:avLst/>
          </a:prstGeom>
          <a:noFill/>
          <a:ln/>
        </p:spPr>
        <p:txBody>
          <a:bodyPr wrap="square" lIns="0" tIns="0" rIns="0" bIns="0" rtlCol="0" anchor="t"/>
          <a:lstStyle/>
          <a:p>
            <a:pPr marL="0" indent="0">
              <a:lnSpc>
                <a:spcPts val="1300"/>
              </a:lnSpc>
              <a:buNone/>
            </a:pPr>
            <a:r>
              <a:rPr lang="en-US" sz="1300" b="1">
                <a:solidFill>
                  <a:srgbClr val="A9552F"/>
                </a:solidFill>
                <a:latin typeface="Segoe UI" pitchFamily="34" charset="0"/>
                <a:ea typeface="Segoe UI" pitchFamily="34" charset="-122"/>
                <a:cs typeface="Segoe UI" pitchFamily="34" charset="-120"/>
              </a:rPr>
              <a:t>2:40</a:t>
            </a:r>
          </a:p>
        </p:txBody>
      </p:sp>
      <p:sp>
        <p:nvSpPr>
          <p:cNvPr id="38" name="Row 7"/>
          <p:cNvSpPr/>
          <p:nvPr/>
        </p:nvSpPr>
        <p:spPr>
          <a:xfrm>
            <a:off x="5760720" y="4270200"/>
            <a:ext cx="2834640" cy="350000"/>
          </a:xfrm>
          <a:prstGeom prst="rect">
            <a:avLst/>
          </a:prstGeom>
          <a:noFill/>
          <a:ln/>
        </p:spPr>
        <p:txBody>
          <a:bodyPr wrap="square" lIns="0" tIns="0" rIns="0" bIns="0" rtlCol="0" anchor="t"/>
          <a:lstStyle/>
          <a:p>
            <a:pPr marL="0" indent="0">
              <a:lnSpc>
                <a:spcPts val="1300"/>
              </a:lnSpc>
              <a:buNone/>
            </a:pPr>
            <a:r>
              <a:rPr lang="en-US" sz="1300" b="1">
                <a:solidFill>
                  <a:srgbClr val="1F3557"/>
                </a:solidFill>
                <a:latin typeface="Segoe UI" pitchFamily="34" charset="0"/>
                <a:ea typeface="Segoe UI" pitchFamily="34" charset="-122"/>
                <a:cs typeface="Segoe UI" pitchFamily="34" charset="-120"/>
              </a:rPr>
              <a:t>Practice on your own — </a:t>
            </a:r>
            <a:r>
              <a:rPr lang="en-US" sz="1300">
                <a:solidFill>
                  <a:srgbClr val="6B6255"/>
                </a:solidFill>
                <a:latin typeface="Segoe UI" pitchFamily="34" charset="0"/>
                <a:ea typeface="Segoe UI" pitchFamily="34" charset="-122"/>
                <a:cs typeface="Segoe UI" pitchFamily="34" charset="-120"/>
              </a:rPr>
              <a:t>guided exercise to work through until 5:00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5EFE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EFE2"/>
          </a:solidFill>
          <a:ln w="3175">
            <a:solidFill>
              <a:srgbClr val="F5EFE2"/>
            </a:solidFill>
            <a:prstDash val="solid"/>
          </a:ln>
        </p:spPr>
        <p:txBody>
          <a:bodyPr/>
          <a:lstStyle/>
          <a:p>
            <a:endParaRPr lang="en-US"/>
          </a:p>
        </p:txBody>
      </p:sp>
      <p:sp>
        <p:nvSpPr>
          <p:cNvPr id="3" name="Text 1"/>
          <p:cNvSpPr/>
          <p:nvPr/>
        </p:nvSpPr>
        <p:spPr>
          <a:xfrm>
            <a:off x="548640" y="384048"/>
            <a:ext cx="5943600" cy="274320"/>
          </a:xfrm>
          <a:prstGeom prst="rect">
            <a:avLst/>
          </a:prstGeom>
          <a:noFill/>
          <a:ln/>
        </p:spPr>
        <p:txBody>
          <a:bodyPr wrap="square" lIns="0" tIns="0" rIns="0" bIns="0" rtlCol="0" anchor="ctr"/>
          <a:lstStyle/>
          <a:p>
            <a:pPr marL="0" indent="0">
              <a:buNone/>
            </a:pPr>
            <a:r>
              <a:rPr lang="en-US" sz="1300" b="1" kern="0" spc="300">
                <a:solidFill>
                  <a:srgbClr val="A9552F"/>
                </a:solidFill>
                <a:latin typeface="Segoe UI" pitchFamily="34" charset="0"/>
                <a:ea typeface="Segoe UI" pitchFamily="34" charset="-122"/>
                <a:cs typeface="Segoe UI" pitchFamily="34" charset="-120"/>
              </a:rPr>
              <a:t>HOW TODAY WORKS</a:t>
            </a:r>
            <a:endParaRPr lang="en-US" sz="1300"/>
          </a:p>
        </p:txBody>
      </p:sp>
      <p:sp>
        <p:nvSpPr>
          <p:cNvPr id="4" name="Text 2"/>
          <p:cNvSpPr/>
          <p:nvPr/>
        </p:nvSpPr>
        <p:spPr>
          <a:xfrm>
            <a:off x="530352" y="676656"/>
            <a:ext cx="7200900" cy="548640"/>
          </a:xfrm>
          <a:prstGeom prst="rect">
            <a:avLst/>
          </a:prstGeom>
          <a:noFill/>
          <a:ln/>
        </p:spPr>
        <p:txBody>
          <a:bodyPr wrap="square" lIns="0" tIns="0" rIns="0" bIns="0" rtlCol="0" anchor="ctr"/>
          <a:lstStyle/>
          <a:p>
            <a:pPr marL="0" indent="0">
              <a:buNone/>
            </a:pPr>
            <a:r>
              <a:rPr lang="en-US" sz="2600" b="1">
                <a:solidFill>
                  <a:srgbClr val="1F3557"/>
                </a:solidFill>
                <a:latin typeface="Georgia" pitchFamily="34" charset="0"/>
                <a:ea typeface="Georgia" pitchFamily="34" charset="-122"/>
                <a:cs typeface="Georgia" pitchFamily="34" charset="-120"/>
              </a:rPr>
              <a:t>The learning loop</a:t>
            </a:r>
            <a:endParaRPr lang="en-US" sz="3200"/>
          </a:p>
        </p:txBody>
      </p:sp>
      <p:sp>
        <p:nvSpPr>
          <p:cNvPr id="5" name="Shape 3"/>
          <p:cNvSpPr/>
          <p:nvPr/>
        </p:nvSpPr>
        <p:spPr>
          <a:xfrm>
            <a:off x="548640" y="1316736"/>
            <a:ext cx="1280160" cy="0"/>
          </a:xfrm>
          <a:prstGeom prst="line">
            <a:avLst/>
          </a:prstGeom>
          <a:noFill/>
          <a:ln w="28575">
            <a:solidFill>
              <a:srgbClr val="A9552F"/>
            </a:solidFill>
            <a:prstDash val="solid"/>
          </a:ln>
        </p:spPr>
        <p:txBody>
          <a:bodyPr/>
          <a:lstStyle/>
          <a:p>
            <a:endParaRPr lang="en-US"/>
          </a:p>
        </p:txBody>
      </p:sp>
      <p:sp>
        <p:nvSpPr>
          <p:cNvPr id="9" name="Shape 7"/>
          <p:cNvSpPr/>
          <p:nvPr/>
        </p:nvSpPr>
        <p:spPr>
          <a:xfrm>
            <a:off x="548640" y="1600200"/>
            <a:ext cx="8046720" cy="3063240"/>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10" name="Text 8"/>
          <p:cNvSpPr/>
          <p:nvPr/>
        </p:nvSpPr>
        <p:spPr>
          <a:xfrm>
            <a:off x="1028246" y="1847088"/>
            <a:ext cx="7087508" cy="365760"/>
          </a:xfrm>
          <a:prstGeom prst="rect">
            <a:avLst/>
          </a:prstGeom>
          <a:noFill/>
          <a:ln/>
        </p:spPr>
        <p:txBody>
          <a:bodyPr wrap="square" lIns="0" tIns="0" rIns="0" bIns="0" rtlCol="0" anchor="ctr"/>
          <a:lstStyle/>
          <a:p>
            <a:pPr marL="0" indent="0">
              <a:buNone/>
            </a:pPr>
            <a:r>
              <a:rPr lang="en-US" sz="2000" b="1">
                <a:solidFill>
                  <a:srgbClr val="1F3557"/>
                </a:solidFill>
                <a:latin typeface="Georgia" pitchFamily="34" charset="0"/>
                <a:ea typeface="Georgia" pitchFamily="34" charset="-122"/>
                <a:cs typeface="Georgia" pitchFamily="34" charset="-120"/>
              </a:rPr>
              <a:t>Seven steps, all day</a:t>
            </a:r>
            <a:endParaRPr lang="en-US" sz="2000"/>
          </a:p>
        </p:txBody>
      </p:sp>
      <p:sp>
        <p:nvSpPr>
          <p:cNvPr id="11" name="Text 9"/>
          <p:cNvSpPr/>
          <p:nvPr/>
        </p:nvSpPr>
        <p:spPr>
          <a:xfrm>
            <a:off x="1028246" y="2395728"/>
            <a:ext cx="7087508" cy="2011680"/>
          </a:xfrm>
          <a:prstGeom prst="rect">
            <a:avLst/>
          </a:prstGeom>
          <a:noFill/>
          <a:ln/>
        </p:spPr>
        <p:txBody>
          <a:bodyPr wrap="square" lIns="0" tIns="0" rIns="0" bIns="0" rtlCol="0" anchor="t"/>
          <a:lstStyle/>
          <a:p>
            <a:pPr marL="171450" indent="-171450">
              <a:lnSpc>
                <a:spcPts val="2200"/>
              </a:lnSpc>
              <a:buSzPct val="100000"/>
              <a:buChar char="•"/>
            </a:pPr>
            <a:r>
              <a:rPr lang="en-US" sz="1750">
                <a:solidFill>
                  <a:srgbClr val="6B6255"/>
                </a:solidFill>
                <a:latin typeface="Segoe UI" pitchFamily="34" charset="0"/>
                <a:ea typeface="Segoe UI" pitchFamily="34" charset="-122"/>
                <a:cs typeface="Segoe UI" pitchFamily="34" charset="-120"/>
              </a:rPr>
              <a:t>Explain — I show the idea and why it exists.</a:t>
            </a:r>
          </a:p>
          <a:p>
            <a:pPr marL="171450" indent="-171450">
              <a:lnSpc>
                <a:spcPts val="2200"/>
              </a:lnSpc>
              <a:buSzPct val="100000"/>
              <a:buChar char="•"/>
            </a:pPr>
            <a:r>
              <a:rPr lang="en-US" sz="1750">
                <a:solidFill>
                  <a:srgbClr val="6B6255"/>
                </a:solidFill>
                <a:latin typeface="Segoe UI" pitchFamily="34" charset="0"/>
                <a:ea typeface="Segoe UI" pitchFamily="34" charset="-122"/>
                <a:cs typeface="Segoe UI" pitchFamily="34" charset="-120"/>
              </a:rPr>
              <a:t>Type — you write the code yourself, no pasting.</a:t>
            </a:r>
          </a:p>
          <a:p>
            <a:pPr marL="171450" indent="-171450">
              <a:lnSpc>
                <a:spcPts val="2200"/>
              </a:lnSpc>
              <a:buSzPct val="100000"/>
              <a:buChar char="•"/>
            </a:pPr>
            <a:r>
              <a:rPr lang="en-US" sz="1750">
                <a:solidFill>
                  <a:srgbClr val="6B6255"/>
                </a:solidFill>
                <a:latin typeface="Segoe UI" pitchFamily="34" charset="0"/>
                <a:ea typeface="Segoe UI" pitchFamily="34" charset="-122"/>
                <a:cs typeface="Segoe UI" pitchFamily="34" charset="-120"/>
              </a:rPr>
              <a:t>Run — compile it and run it before moving on.</a:t>
            </a:r>
          </a:p>
          <a:p>
            <a:pPr marL="171450" indent="-171450">
              <a:lnSpc>
                <a:spcPts val="2200"/>
              </a:lnSpc>
              <a:buSzPct val="100000"/>
              <a:buChar char="•"/>
            </a:pPr>
            <a:r>
              <a:rPr lang="en-US" sz="1750">
                <a:solidFill>
                  <a:srgbClr val="6B6255"/>
                </a:solidFill>
                <a:latin typeface="Segoe UI" pitchFamily="34" charset="0"/>
                <a:ea typeface="Segoe UI" pitchFamily="34" charset="-122"/>
                <a:cs typeface="Segoe UI" pitchFamily="34" charset="-120"/>
              </a:rPr>
              <a:t>Observe — read the output and say what it proves.</a:t>
            </a:r>
          </a:p>
          <a:p>
            <a:pPr marL="171450" indent="-171450">
              <a:lnSpc>
                <a:spcPts val="2200"/>
              </a:lnSpc>
              <a:buSzPct val="100000"/>
              <a:buChar char="•"/>
            </a:pPr>
            <a:r>
              <a:rPr lang="en-US" sz="1750">
                <a:solidFill>
                  <a:srgbClr val="6B6255"/>
                </a:solidFill>
                <a:latin typeface="Segoe UI" pitchFamily="34" charset="0"/>
                <a:ea typeface="Segoe UI" pitchFamily="34" charset="-122"/>
                <a:cs typeface="Segoe UI" pitchFamily="34" charset="-120"/>
              </a:rPr>
              <a:t>Break — change one thing on purpose to see the error.</a:t>
            </a:r>
          </a:p>
          <a:p>
            <a:pPr marL="171450" indent="-171450">
              <a:lnSpc>
                <a:spcPts val="2200"/>
              </a:lnSpc>
              <a:buSzPct val="100000"/>
              <a:buChar char="•"/>
            </a:pPr>
            <a:r>
              <a:rPr lang="en-US" sz="1750">
                <a:solidFill>
                  <a:srgbClr val="6B6255"/>
                </a:solidFill>
                <a:latin typeface="Segoe UI" pitchFamily="34" charset="0"/>
                <a:ea typeface="Segoe UI" pitchFamily="34" charset="-122"/>
                <a:cs typeface="Segoe UI" pitchFamily="34" charset="-120"/>
              </a:rPr>
              <a:t>Fix — repair that one thing and compile clean.</a:t>
            </a:r>
          </a:p>
          <a:p>
            <a:pPr marL="171450" indent="-171450">
              <a:lnSpc>
                <a:spcPts val="2200"/>
              </a:lnSpc>
              <a:buSzPct val="100000"/>
              <a:buChar char="•"/>
            </a:pPr>
            <a:r>
              <a:rPr lang="en-US" sz="1750">
                <a:solidFill>
                  <a:srgbClr val="6B6255"/>
                </a:solidFill>
                <a:latin typeface="Segoe UI" pitchFamily="34" charset="0"/>
                <a:ea typeface="Segoe UI" pitchFamily="34" charset="-122"/>
                <a:cs typeface="Segoe UI" pitchFamily="34" charset="-120"/>
              </a:rPr>
              <a:t>Practice — repeat the pattern on your own file.</a:t>
            </a:r>
            <a:endParaRPr lang="en-US" sz="1750"/>
          </a:p>
        </p:txBody>
      </p:sp>
    </p:spTree>
    <p:extLst>
      <p:ext uri="{BB962C8B-B14F-4D97-AF65-F5344CB8AC3E}">
        <p14:creationId xmlns:p14="http://schemas.microsoft.com/office/powerpoint/2010/main" val="27972237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5EFE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EFE2"/>
          </a:solidFill>
          <a:ln w="3175">
            <a:solidFill>
              <a:srgbClr val="F5EFE2"/>
            </a:solidFill>
            <a:prstDash val="solid"/>
          </a:ln>
        </p:spPr>
        <p:txBody>
          <a:bodyPr/>
          <a:lstStyle/>
          <a:p>
            <a:endParaRPr lang="en-US"/>
          </a:p>
        </p:txBody>
      </p:sp>
      <p:sp>
        <p:nvSpPr>
          <p:cNvPr id="3" name="Text 1"/>
          <p:cNvSpPr/>
          <p:nvPr/>
        </p:nvSpPr>
        <p:spPr>
          <a:xfrm>
            <a:off x="548640" y="384048"/>
            <a:ext cx="5943600" cy="274320"/>
          </a:xfrm>
          <a:prstGeom prst="rect">
            <a:avLst/>
          </a:prstGeom>
          <a:noFill/>
          <a:ln/>
        </p:spPr>
        <p:txBody>
          <a:bodyPr wrap="square" lIns="0" tIns="0" rIns="0" bIns="0" rtlCol="0" anchor="ctr"/>
          <a:lstStyle/>
          <a:p>
            <a:pPr marL="0" indent="0">
              <a:buNone/>
            </a:pPr>
            <a:r>
              <a:rPr lang="en-US" sz="1300" b="1" kern="0" spc="300">
                <a:solidFill>
                  <a:srgbClr val="A9552F"/>
                </a:solidFill>
                <a:latin typeface="Segoe UI" pitchFamily="34" charset="0"/>
                <a:ea typeface="Segoe UI" pitchFamily="34" charset="-122"/>
                <a:cs typeface="Segoe UI" pitchFamily="34" charset="-120"/>
              </a:rPr>
              <a:t>TODAY'S BOUNDARY</a:t>
            </a:r>
            <a:endParaRPr lang="en-US" sz="1300"/>
          </a:p>
        </p:txBody>
      </p:sp>
      <p:sp>
        <p:nvSpPr>
          <p:cNvPr id="4" name="Text 2"/>
          <p:cNvSpPr/>
          <p:nvPr/>
        </p:nvSpPr>
        <p:spPr>
          <a:xfrm>
            <a:off x="530352" y="676656"/>
            <a:ext cx="7200900" cy="548640"/>
          </a:xfrm>
          <a:prstGeom prst="rect">
            <a:avLst/>
          </a:prstGeom>
          <a:noFill/>
          <a:ln/>
        </p:spPr>
        <p:txBody>
          <a:bodyPr wrap="square" lIns="0" tIns="0" rIns="0" bIns="0" rtlCol="0" anchor="ctr"/>
          <a:lstStyle/>
          <a:p>
            <a:pPr marL="0" indent="0">
              <a:buNone/>
            </a:pPr>
            <a:r>
              <a:rPr lang="en-US" sz="2600" b="1" dirty="0">
                <a:solidFill>
                  <a:srgbClr val="1F3557"/>
                </a:solidFill>
                <a:latin typeface="Georgia" pitchFamily="34" charset="0"/>
                <a:ea typeface="Georgia" pitchFamily="34" charset="-122"/>
                <a:cs typeface="Georgia" pitchFamily="34" charset="-120"/>
              </a:rPr>
              <a:t>What Day 1 does not include</a:t>
            </a:r>
            <a:endParaRPr lang="en-US" sz="3200" dirty="0"/>
          </a:p>
        </p:txBody>
      </p:sp>
      <p:sp>
        <p:nvSpPr>
          <p:cNvPr id="5" name="Shape 3"/>
          <p:cNvSpPr/>
          <p:nvPr/>
        </p:nvSpPr>
        <p:spPr>
          <a:xfrm>
            <a:off x="548640" y="1316736"/>
            <a:ext cx="1280160" cy="0"/>
          </a:xfrm>
          <a:prstGeom prst="line">
            <a:avLst/>
          </a:prstGeom>
          <a:noFill/>
          <a:ln w="28575">
            <a:solidFill>
              <a:srgbClr val="A9552F"/>
            </a:solidFill>
            <a:prstDash val="solid"/>
          </a:ln>
        </p:spPr>
        <p:txBody>
          <a:bodyPr/>
          <a:lstStyle/>
          <a:p>
            <a:endParaRPr lang="en-US"/>
          </a:p>
        </p:txBody>
      </p:sp>
      <p:sp>
        <p:nvSpPr>
          <p:cNvPr id="6" name="Shape 4"/>
          <p:cNvSpPr/>
          <p:nvPr/>
        </p:nvSpPr>
        <p:spPr>
          <a:xfrm>
            <a:off x="546100" y="1651000"/>
            <a:ext cx="3835400" cy="2819400"/>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7" name="Text 5"/>
          <p:cNvSpPr/>
          <p:nvPr/>
        </p:nvSpPr>
        <p:spPr>
          <a:xfrm>
            <a:off x="774700" y="1866900"/>
            <a:ext cx="3378200" cy="279400"/>
          </a:xfrm>
          <a:prstGeom prst="rect">
            <a:avLst/>
          </a:prstGeom>
          <a:noFill/>
          <a:ln/>
        </p:spPr>
        <p:txBody>
          <a:bodyPr wrap="square" lIns="0" tIns="0" rIns="0" bIns="0" rtlCol="0" anchor="ctr"/>
          <a:lstStyle/>
          <a:p>
            <a:pPr marL="0" indent="0">
              <a:buNone/>
            </a:pPr>
            <a:r>
              <a:rPr lang="en-US" sz="1650" b="1">
                <a:solidFill>
                  <a:srgbClr val="1F3557"/>
                </a:solidFill>
                <a:latin typeface="Georgia" pitchFamily="34" charset="0"/>
                <a:ea typeface="Georgia" pitchFamily="34" charset="-122"/>
                <a:cs typeface="Georgia" pitchFamily="34" charset="-120"/>
              </a:rPr>
              <a:t>Not today</a:t>
            </a:r>
            <a:endParaRPr lang="en-US" sz="1650"/>
          </a:p>
        </p:txBody>
      </p:sp>
      <p:sp>
        <p:nvSpPr>
          <p:cNvPr id="8" name="Text 6"/>
          <p:cNvSpPr/>
          <p:nvPr/>
        </p:nvSpPr>
        <p:spPr>
          <a:xfrm>
            <a:off x="774700" y="2235200"/>
            <a:ext cx="3378200" cy="2159000"/>
          </a:xfrm>
          <a:prstGeom prst="rect">
            <a:avLst/>
          </a:prstGeom>
          <a:noFill/>
          <a:ln/>
        </p:spPr>
        <p:txBody>
          <a:bodyPr wrap="square" lIns="0" tIns="0" rIns="0" bIns="0" rtlCol="0" anchor="t"/>
          <a:lstStyle/>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Keyboard input with Scanner — that starts tomorrow.</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Decimal numbers and money arithmetic.</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if statements and decisions.</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Loops and repetition.</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Methods other than main.</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Classes, objects, and inheritance.</a:t>
            </a:r>
            <a:endParaRPr lang="en-US" sz="1350"/>
          </a:p>
        </p:txBody>
      </p:sp>
      <p:sp>
        <p:nvSpPr>
          <p:cNvPr id="9" name="Shape 7"/>
          <p:cNvSpPr/>
          <p:nvPr/>
        </p:nvSpPr>
        <p:spPr>
          <a:xfrm>
            <a:off x="4762500" y="1651000"/>
            <a:ext cx="3835400" cy="2819400"/>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10" name="Text 8"/>
          <p:cNvSpPr/>
          <p:nvPr/>
        </p:nvSpPr>
        <p:spPr>
          <a:xfrm>
            <a:off x="4991100" y="1866900"/>
            <a:ext cx="3378200" cy="279400"/>
          </a:xfrm>
          <a:prstGeom prst="rect">
            <a:avLst/>
          </a:prstGeom>
          <a:noFill/>
          <a:ln/>
        </p:spPr>
        <p:txBody>
          <a:bodyPr wrap="square" lIns="0" tIns="0" rIns="0" bIns="0" rtlCol="0" anchor="ctr"/>
          <a:lstStyle/>
          <a:p>
            <a:pPr marL="0" indent="0">
              <a:buNone/>
            </a:pPr>
            <a:r>
              <a:rPr lang="en-US" sz="1650" b="1">
                <a:solidFill>
                  <a:srgbClr val="1F3557"/>
                </a:solidFill>
                <a:latin typeface="Georgia" pitchFamily="34" charset="0"/>
                <a:ea typeface="Georgia" pitchFamily="34" charset="-122"/>
                <a:cs typeface="Georgia" pitchFamily="34" charset="-120"/>
              </a:rPr>
              <a:t>If you are reaching for these</a:t>
            </a:r>
            <a:endParaRPr lang="en-US" sz="1650"/>
          </a:p>
        </p:txBody>
      </p:sp>
      <p:sp>
        <p:nvSpPr>
          <p:cNvPr id="11" name="Text 9"/>
          <p:cNvSpPr/>
          <p:nvPr/>
        </p:nvSpPr>
        <p:spPr>
          <a:xfrm>
            <a:off x="4991100" y="2235200"/>
            <a:ext cx="3378200" cy="2159000"/>
          </a:xfrm>
          <a:prstGeom prst="rect">
            <a:avLst/>
          </a:prstGeom>
          <a:noFill/>
          <a:ln/>
        </p:spPr>
        <p:txBody>
          <a:bodyPr wrap="square" lIns="0" tIns="0" rIns="0" bIns="0" rtlCol="0" anchor="t"/>
          <a:lstStyle/>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You are ahead of the lesson, not behind it.</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Everything today is String, int, println, and the + sign.</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The list is deliberately narrow so the pattern sticks.</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Write the idea down — every item above has its own lesson.</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Want more to do? Take a stretch goal, not new syntax.</a:t>
            </a:r>
            <a:endParaRPr lang="en-US" sz="1350"/>
          </a:p>
        </p:txBody>
      </p:sp>
    </p:spTree>
    <p:extLst>
      <p:ext uri="{BB962C8B-B14F-4D97-AF65-F5344CB8AC3E}">
        <p14:creationId xmlns:p14="http://schemas.microsoft.com/office/powerpoint/2010/main" val="26788454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Course application">
    <p:bg>
      <p:bgPr>
        <a:solidFill>
          <a:srgbClr val="F5EFE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EFE2"/>
          </a:solidFill>
          <a:ln w="3175">
            <a:solidFill>
              <a:srgbClr val="F5EFE2"/>
            </a:solidFill>
            <a:prstDash val="solid"/>
          </a:ln>
        </p:spPr>
        <p:txBody>
          <a:bodyPr/>
          <a:lstStyle/>
          <a:p>
            <a:endParaRPr lang="en-US"/>
          </a:p>
        </p:txBody>
      </p:sp>
      <p:sp>
        <p:nvSpPr>
          <p:cNvPr id="3" name="Text 1"/>
          <p:cNvSpPr/>
          <p:nvPr/>
        </p:nvSpPr>
        <p:spPr>
          <a:xfrm>
            <a:off x="548640" y="384048"/>
            <a:ext cx="5943600" cy="274320"/>
          </a:xfrm>
          <a:prstGeom prst="rect">
            <a:avLst/>
          </a:prstGeom>
          <a:noFill/>
          <a:ln/>
        </p:spPr>
        <p:txBody>
          <a:bodyPr wrap="square" lIns="0" tIns="0" rIns="0" bIns="0" rtlCol="0" anchor="ctr"/>
          <a:lstStyle/>
          <a:p>
            <a:pPr marL="0" indent="0">
              <a:buNone/>
            </a:pPr>
            <a:r>
              <a:rPr lang="en-US" sz="1300" b="1" kern="0" spc="300">
                <a:solidFill>
                  <a:srgbClr val="A9552F"/>
                </a:solidFill>
                <a:latin typeface="Segoe UI" pitchFamily="34" charset="0"/>
                <a:ea typeface="Segoe UI" pitchFamily="34" charset="-122"/>
                <a:cs typeface="Segoe UI" pitchFamily="34" charset="-120"/>
              </a:rPr>
              <a:t>COURSE MATERIALS</a:t>
            </a:r>
            <a:endParaRPr lang="en-US" sz="1300"/>
          </a:p>
        </p:txBody>
      </p:sp>
      <p:sp>
        <p:nvSpPr>
          <p:cNvPr id="4" name="Text 2"/>
          <p:cNvSpPr/>
          <p:nvPr/>
        </p:nvSpPr>
        <p:spPr>
          <a:xfrm>
            <a:off x="530352" y="676656"/>
            <a:ext cx="7200000" cy="548640"/>
          </a:xfrm>
          <a:prstGeom prst="rect">
            <a:avLst/>
          </a:prstGeom>
          <a:noFill/>
          <a:ln/>
        </p:spPr>
        <p:txBody>
          <a:bodyPr wrap="square" lIns="0" tIns="0" rIns="0" bIns="0" rtlCol="0" anchor="ctr"/>
          <a:lstStyle/>
          <a:p>
            <a:pPr marL="0" indent="0">
              <a:buNone/>
            </a:pPr>
            <a:r>
              <a:rPr lang="en-US" sz="2600" b="1">
                <a:solidFill>
                  <a:srgbClr val="1F3557"/>
                </a:solidFill>
                <a:latin typeface="Georgia" pitchFamily="34" charset="0"/>
                <a:ea typeface="Georgia" pitchFamily="34" charset="-122"/>
                <a:cs typeface="Georgia" pitchFamily="34" charset="-120"/>
              </a:rPr>
              <a:t>Textbook &amp; Course Materials</a:t>
            </a:r>
            <a:endParaRPr lang="en-US" sz="3200"/>
          </a:p>
        </p:txBody>
      </p:sp>
      <p:sp>
        <p:nvSpPr>
          <p:cNvPr id="5" name="Shape 3"/>
          <p:cNvSpPr/>
          <p:nvPr/>
        </p:nvSpPr>
        <p:spPr>
          <a:xfrm>
            <a:off x="548640" y="1316736"/>
            <a:ext cx="1280160" cy="0"/>
          </a:xfrm>
          <a:prstGeom prst="line">
            <a:avLst/>
          </a:prstGeom>
          <a:noFill/>
          <a:ln w="28575">
            <a:solidFill>
              <a:srgbClr val="A9552F"/>
            </a:solidFill>
            <a:prstDash val="solid"/>
          </a:ln>
        </p:spPr>
        <p:txBody>
          <a:bodyPr/>
          <a:lstStyle/>
          <a:p>
            <a:endParaRPr lang="en-US"/>
          </a:p>
        </p:txBody>
      </p:sp>
      <p:sp>
        <p:nvSpPr>
          <p:cNvPr id="6" name="Lede"/>
          <p:cNvSpPr/>
          <p:nvPr/>
        </p:nvSpPr>
        <p:spPr>
          <a:xfrm>
            <a:off x="548640" y="1600200"/>
            <a:ext cx="8046720" cy="554126"/>
          </a:xfrm>
          <a:prstGeom prst="rect">
            <a:avLst/>
          </a:prstGeom>
          <a:noFill/>
          <a:ln/>
        </p:spPr>
        <p:txBody>
          <a:bodyPr wrap="square" lIns="0" tIns="0" rIns="0" bIns="0" rtlCol="0" anchor="ctr"/>
          <a:lstStyle/>
          <a:p>
            <a:pPr marL="0" indent="0">
              <a:lnSpc>
                <a:spcPts val="1500"/>
              </a:lnSpc>
              <a:buNone/>
            </a:pPr>
            <a:r>
              <a:rPr lang="en-US" sz="1400">
                <a:solidFill>
                  <a:srgbClr val="6B6255"/>
                </a:solidFill>
                <a:latin typeface="Segoe UI" pitchFamily="34" charset="0"/>
                <a:ea typeface="Segoe UI" pitchFamily="34" charset="-122"/>
                <a:cs typeface="Segoe UI" pitchFamily="34" charset="-120"/>
              </a:rPr>
              <a:t>Murach’s Java Programming, 6th Edition is our textbook — but we use it primarily as a reference. All code and exercises are provided by the instructor.</a:t>
            </a:r>
          </a:p>
        </p:txBody>
      </p:sp>
      <p:sp>
        <p:nvSpPr>
          <p:cNvPr id="7" name="Card 1"/>
          <p:cNvSpPr/>
          <p:nvPr/>
        </p:nvSpPr>
        <p:spPr>
          <a:xfrm>
            <a:off x="548640" y="2200000"/>
            <a:ext cx="1897380" cy="2314346"/>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8" name="Cap 1"/>
          <p:cNvSpPr/>
          <p:nvPr/>
        </p:nvSpPr>
        <p:spPr>
          <a:xfrm>
            <a:off x="548640" y="2200000"/>
            <a:ext cx="1897380" cy="160020"/>
          </a:xfrm>
          <a:prstGeom prst="rect">
            <a:avLst/>
          </a:prstGeom>
          <a:solidFill>
            <a:srgbClr val="A9552F"/>
          </a:solidFill>
          <a:ln/>
        </p:spPr>
        <p:txBody>
          <a:bodyPr/>
          <a:lstStyle/>
          <a:p>
            <a:endParaRPr lang="en-US"/>
          </a:p>
        </p:txBody>
      </p:sp>
      <p:sp>
        <p:nvSpPr>
          <p:cNvPr id="9" name="Stage 1"/>
          <p:cNvSpPr/>
          <p:nvPr/>
        </p:nvSpPr>
        <p:spPr>
          <a:xfrm>
            <a:off x="754380" y="2405740"/>
            <a:ext cx="1485900" cy="240000"/>
          </a:xfrm>
          <a:prstGeom prst="rect">
            <a:avLst/>
          </a:prstGeom>
          <a:noFill/>
          <a:ln/>
        </p:spPr>
        <p:txBody>
          <a:bodyPr wrap="square" lIns="0" tIns="0" rIns="0" bIns="0" rtlCol="0" anchor="ctr"/>
          <a:lstStyle/>
          <a:p>
            <a:pPr marL="0" indent="0">
              <a:lnSpc>
                <a:spcPts val="1200"/>
              </a:lnSpc>
              <a:buNone/>
            </a:pPr>
            <a:r>
              <a:rPr lang="en-US" sz="1200" b="1" spc="200">
                <a:solidFill>
                  <a:srgbClr val="A9552F"/>
                </a:solidFill>
                <a:latin typeface="Segoe UI" pitchFamily="34" charset="0"/>
                <a:ea typeface="Segoe UI" pitchFamily="34" charset="-122"/>
                <a:cs typeface="Segoe UI" pitchFamily="34" charset="-120"/>
              </a:rPr>
              <a:t>TEXTBOOK</a:t>
            </a:r>
          </a:p>
        </p:txBody>
      </p:sp>
      <p:sp>
        <p:nvSpPr>
          <p:cNvPr id="10" name="Head 1"/>
          <p:cNvSpPr/>
          <p:nvPr/>
        </p:nvSpPr>
        <p:spPr>
          <a:xfrm>
            <a:off x="754380" y="2680060"/>
            <a:ext cx="1485900" cy="560000"/>
          </a:xfrm>
          <a:prstGeom prst="rect">
            <a:avLst/>
          </a:prstGeom>
          <a:noFill/>
          <a:ln/>
        </p:spPr>
        <p:txBody>
          <a:bodyPr wrap="square" lIns="0" tIns="0" rIns="0" bIns="0" rtlCol="0" anchor="t"/>
          <a:lstStyle/>
          <a:p>
            <a:pPr marL="0" indent="0">
              <a:lnSpc>
                <a:spcPts val="1550"/>
              </a:lnSpc>
              <a:buNone/>
            </a:pPr>
            <a:r>
              <a:rPr lang="en-US" sz="1500" b="1">
                <a:solidFill>
                  <a:srgbClr val="1F3557"/>
                </a:solidFill>
                <a:latin typeface="Georgia" pitchFamily="34" charset="0"/>
                <a:ea typeface="Georgia" pitchFamily="34" charset="-122"/>
                <a:cs typeface="Georgia" pitchFamily="34" charset="-120"/>
              </a:rPr>
              <a:t>Murach’s Java, 6th Ed.</a:t>
            </a:r>
          </a:p>
        </p:txBody>
      </p:sp>
      <p:sp>
        <p:nvSpPr>
          <p:cNvPr id="11" name="Desc 1"/>
          <p:cNvSpPr/>
          <p:nvPr/>
        </p:nvSpPr>
        <p:spPr>
          <a:xfrm>
            <a:off x="754380" y="3260000"/>
            <a:ext cx="1485900" cy="1254557"/>
          </a:xfrm>
          <a:prstGeom prst="rect">
            <a:avLst/>
          </a:prstGeom>
          <a:noFill/>
          <a:ln/>
        </p:spPr>
        <p:txBody>
          <a:bodyPr wrap="square" lIns="0" tIns="0" rIns="0" bIns="0" rtlCol="0" anchor="t"/>
          <a:lstStyle/>
          <a:p>
            <a:pPr marL="0" indent="0">
              <a:lnSpc>
                <a:spcPts val="1300"/>
              </a:lnSpc>
              <a:buNone/>
            </a:pPr>
            <a:r>
              <a:rPr lang="en-US" sz="1250">
                <a:solidFill>
                  <a:srgbClr val="6B6255"/>
                </a:solidFill>
                <a:latin typeface="Segoe UI" pitchFamily="34" charset="0"/>
                <a:ea typeface="Segoe UI" pitchFamily="34" charset="-122"/>
                <a:cs typeface="Segoe UI" pitchFamily="34" charset="-120"/>
              </a:rPr>
              <a:t>The assigned text for this course. Keep it available during class.</a:t>
            </a:r>
          </a:p>
        </p:txBody>
      </p:sp>
      <p:sp>
        <p:nvSpPr>
          <p:cNvPr id="12" name="Card 2"/>
          <p:cNvSpPr/>
          <p:nvPr/>
        </p:nvSpPr>
        <p:spPr>
          <a:xfrm>
            <a:off x="2598420" y="2200000"/>
            <a:ext cx="1897380" cy="2314346"/>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13" name="Cap 2"/>
          <p:cNvSpPr/>
          <p:nvPr/>
        </p:nvSpPr>
        <p:spPr>
          <a:xfrm>
            <a:off x="2598420" y="2200000"/>
            <a:ext cx="1897380" cy="160020"/>
          </a:xfrm>
          <a:prstGeom prst="rect">
            <a:avLst/>
          </a:prstGeom>
          <a:solidFill>
            <a:srgbClr val="1F3557"/>
          </a:solidFill>
          <a:ln/>
        </p:spPr>
        <p:txBody>
          <a:bodyPr/>
          <a:lstStyle/>
          <a:p>
            <a:endParaRPr lang="en-US"/>
          </a:p>
        </p:txBody>
      </p:sp>
      <p:sp>
        <p:nvSpPr>
          <p:cNvPr id="14" name="Stage 2"/>
          <p:cNvSpPr/>
          <p:nvPr/>
        </p:nvSpPr>
        <p:spPr>
          <a:xfrm>
            <a:off x="2804160" y="2405740"/>
            <a:ext cx="1485900" cy="240000"/>
          </a:xfrm>
          <a:prstGeom prst="rect">
            <a:avLst/>
          </a:prstGeom>
          <a:noFill/>
          <a:ln/>
        </p:spPr>
        <p:txBody>
          <a:bodyPr wrap="square" lIns="0" tIns="0" rIns="0" bIns="0" rtlCol="0" anchor="ctr"/>
          <a:lstStyle/>
          <a:p>
            <a:pPr marL="0" indent="0">
              <a:lnSpc>
                <a:spcPts val="1200"/>
              </a:lnSpc>
              <a:buNone/>
            </a:pPr>
            <a:r>
              <a:rPr lang="en-US" sz="1200" b="1" spc="200">
                <a:solidFill>
                  <a:srgbClr val="1F3557"/>
                </a:solidFill>
                <a:latin typeface="Segoe UI" pitchFamily="34" charset="0"/>
                <a:ea typeface="Segoe UI" pitchFamily="34" charset="-122"/>
                <a:cs typeface="Segoe UI" pitchFamily="34" charset="-120"/>
              </a:rPr>
              <a:t>HOW WE USE IT</a:t>
            </a:r>
          </a:p>
        </p:txBody>
      </p:sp>
      <p:sp>
        <p:nvSpPr>
          <p:cNvPr id="15" name="Head 2"/>
          <p:cNvSpPr/>
          <p:nvPr/>
        </p:nvSpPr>
        <p:spPr>
          <a:xfrm>
            <a:off x="2804160" y="2680060"/>
            <a:ext cx="1485900" cy="560000"/>
          </a:xfrm>
          <a:prstGeom prst="rect">
            <a:avLst/>
          </a:prstGeom>
          <a:noFill/>
          <a:ln/>
        </p:spPr>
        <p:txBody>
          <a:bodyPr wrap="square" lIns="0" tIns="0" rIns="0" bIns="0" rtlCol="0" anchor="t"/>
          <a:lstStyle/>
          <a:p>
            <a:pPr marL="0" indent="0">
              <a:lnSpc>
                <a:spcPts val="1550"/>
              </a:lnSpc>
              <a:buNone/>
            </a:pPr>
            <a:r>
              <a:rPr lang="en-US" sz="1500" b="1">
                <a:solidFill>
                  <a:srgbClr val="1F3557"/>
                </a:solidFill>
                <a:latin typeface="Georgia" pitchFamily="34" charset="0"/>
                <a:ea typeface="Georgia" pitchFamily="34" charset="-122"/>
                <a:cs typeface="Georgia" pitchFamily="34" charset="-120"/>
              </a:rPr>
              <a:t>Primarily a reference</a:t>
            </a:r>
          </a:p>
        </p:txBody>
      </p:sp>
      <p:sp>
        <p:nvSpPr>
          <p:cNvPr id="16" name="Desc 2"/>
          <p:cNvSpPr/>
          <p:nvPr/>
        </p:nvSpPr>
        <p:spPr>
          <a:xfrm>
            <a:off x="2804160" y="3260000"/>
            <a:ext cx="1485900" cy="1254557"/>
          </a:xfrm>
          <a:prstGeom prst="rect">
            <a:avLst/>
          </a:prstGeom>
          <a:noFill/>
          <a:ln/>
        </p:spPr>
        <p:txBody>
          <a:bodyPr wrap="square" lIns="0" tIns="0" rIns="0" bIns="0" rtlCol="0" anchor="t"/>
          <a:lstStyle/>
          <a:p>
            <a:pPr marL="0" indent="0">
              <a:lnSpc>
                <a:spcPts val="1300"/>
              </a:lnSpc>
              <a:buNone/>
            </a:pPr>
            <a:r>
              <a:rPr lang="en-US" sz="1250">
                <a:solidFill>
                  <a:srgbClr val="6B6255"/>
                </a:solidFill>
                <a:latin typeface="Segoe UI" pitchFamily="34" charset="0"/>
                <a:ea typeface="Segoe UI" pitchFamily="34" charset="-122"/>
                <a:cs typeface="Segoe UI" pitchFamily="34" charset="-120"/>
              </a:rPr>
              <a:t>We won’t work through it chapter by chapter — use it to look things up.</a:t>
            </a:r>
          </a:p>
        </p:txBody>
      </p:sp>
      <p:sp>
        <p:nvSpPr>
          <p:cNvPr id="17" name="Card 3"/>
          <p:cNvSpPr/>
          <p:nvPr/>
        </p:nvSpPr>
        <p:spPr>
          <a:xfrm>
            <a:off x="4648200" y="2200000"/>
            <a:ext cx="1897380" cy="2314346"/>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18" name="Cap 3"/>
          <p:cNvSpPr/>
          <p:nvPr/>
        </p:nvSpPr>
        <p:spPr>
          <a:xfrm>
            <a:off x="4648200" y="2200000"/>
            <a:ext cx="1897380" cy="160020"/>
          </a:xfrm>
          <a:prstGeom prst="rect">
            <a:avLst/>
          </a:prstGeom>
          <a:solidFill>
            <a:srgbClr val="1F3557"/>
          </a:solidFill>
          <a:ln/>
        </p:spPr>
        <p:txBody>
          <a:bodyPr/>
          <a:lstStyle/>
          <a:p>
            <a:endParaRPr lang="en-US"/>
          </a:p>
        </p:txBody>
      </p:sp>
      <p:sp>
        <p:nvSpPr>
          <p:cNvPr id="19" name="Stage 3"/>
          <p:cNvSpPr/>
          <p:nvPr/>
        </p:nvSpPr>
        <p:spPr>
          <a:xfrm>
            <a:off x="4853940" y="2405740"/>
            <a:ext cx="1485900" cy="240000"/>
          </a:xfrm>
          <a:prstGeom prst="rect">
            <a:avLst/>
          </a:prstGeom>
          <a:noFill/>
          <a:ln/>
        </p:spPr>
        <p:txBody>
          <a:bodyPr wrap="square" lIns="0" tIns="0" rIns="0" bIns="0" rtlCol="0" anchor="ctr"/>
          <a:lstStyle/>
          <a:p>
            <a:pPr marL="0" indent="0">
              <a:lnSpc>
                <a:spcPts val="1200"/>
              </a:lnSpc>
              <a:buNone/>
            </a:pPr>
            <a:r>
              <a:rPr lang="en-US" sz="1200" b="1" spc="200">
                <a:solidFill>
                  <a:srgbClr val="1F3557"/>
                </a:solidFill>
                <a:latin typeface="Segoe UI" pitchFamily="34" charset="0"/>
                <a:ea typeface="Segoe UI" pitchFamily="34" charset="-122"/>
                <a:cs typeface="Segoe UI" pitchFamily="34" charset="-120"/>
              </a:rPr>
              <a:t>CODE</a:t>
            </a:r>
          </a:p>
        </p:txBody>
      </p:sp>
      <p:sp>
        <p:nvSpPr>
          <p:cNvPr id="20" name="Head 3"/>
          <p:cNvSpPr/>
          <p:nvPr/>
        </p:nvSpPr>
        <p:spPr>
          <a:xfrm>
            <a:off x="4853940" y="2680060"/>
            <a:ext cx="1485900" cy="560000"/>
          </a:xfrm>
          <a:prstGeom prst="rect">
            <a:avLst/>
          </a:prstGeom>
          <a:noFill/>
          <a:ln/>
        </p:spPr>
        <p:txBody>
          <a:bodyPr wrap="square" lIns="0" tIns="0" rIns="0" bIns="0" rtlCol="0" anchor="t"/>
          <a:lstStyle/>
          <a:p>
            <a:pPr marL="0" indent="0">
              <a:lnSpc>
                <a:spcPts val="1550"/>
              </a:lnSpc>
              <a:buNone/>
            </a:pPr>
            <a:r>
              <a:rPr lang="en-US" sz="1500" b="1">
                <a:solidFill>
                  <a:srgbClr val="1F3557"/>
                </a:solidFill>
                <a:latin typeface="Georgia" pitchFamily="34" charset="0"/>
                <a:ea typeface="Georgia" pitchFamily="34" charset="-122"/>
                <a:cs typeface="Georgia" pitchFamily="34" charset="-120"/>
              </a:rPr>
              <a:t>Provided by the instructor</a:t>
            </a:r>
          </a:p>
        </p:txBody>
      </p:sp>
      <p:sp>
        <p:nvSpPr>
          <p:cNvPr id="21" name="Desc 3"/>
          <p:cNvSpPr/>
          <p:nvPr/>
        </p:nvSpPr>
        <p:spPr>
          <a:xfrm>
            <a:off x="4853940" y="3260000"/>
            <a:ext cx="1485900" cy="1254557"/>
          </a:xfrm>
          <a:prstGeom prst="rect">
            <a:avLst/>
          </a:prstGeom>
          <a:noFill/>
          <a:ln/>
        </p:spPr>
        <p:txBody>
          <a:bodyPr wrap="square" lIns="0" tIns="0" rIns="0" bIns="0" rtlCol="0" anchor="t"/>
          <a:lstStyle/>
          <a:p>
            <a:pPr marL="0" indent="0">
              <a:lnSpc>
                <a:spcPts val="1300"/>
              </a:lnSpc>
              <a:buNone/>
            </a:pPr>
            <a:r>
              <a:rPr lang="en-US" sz="1250">
                <a:solidFill>
                  <a:srgbClr val="6B6255"/>
                </a:solidFill>
                <a:latin typeface="Segoe UI" pitchFamily="34" charset="0"/>
                <a:ea typeface="Segoe UI" pitchFamily="34" charset="-122"/>
                <a:cs typeface="Segoe UI" pitchFamily="34" charset="-120"/>
              </a:rPr>
              <a:t>All examples and starter files come from me, not the book’s downloads.</a:t>
            </a:r>
          </a:p>
        </p:txBody>
      </p:sp>
      <p:sp>
        <p:nvSpPr>
          <p:cNvPr id="22" name="Card 4"/>
          <p:cNvSpPr/>
          <p:nvPr/>
        </p:nvSpPr>
        <p:spPr>
          <a:xfrm>
            <a:off x="6697980" y="2200000"/>
            <a:ext cx="1897380" cy="2314346"/>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23" name="Cap 4"/>
          <p:cNvSpPr/>
          <p:nvPr/>
        </p:nvSpPr>
        <p:spPr>
          <a:xfrm>
            <a:off x="6697980" y="2200000"/>
            <a:ext cx="1897380" cy="160020"/>
          </a:xfrm>
          <a:prstGeom prst="rect">
            <a:avLst/>
          </a:prstGeom>
          <a:solidFill>
            <a:srgbClr val="1F3557"/>
          </a:solidFill>
          <a:ln/>
        </p:spPr>
        <p:txBody>
          <a:bodyPr/>
          <a:lstStyle/>
          <a:p>
            <a:endParaRPr lang="en-US"/>
          </a:p>
        </p:txBody>
      </p:sp>
      <p:sp>
        <p:nvSpPr>
          <p:cNvPr id="24" name="Stage 4"/>
          <p:cNvSpPr/>
          <p:nvPr/>
        </p:nvSpPr>
        <p:spPr>
          <a:xfrm>
            <a:off x="6903720" y="2405740"/>
            <a:ext cx="1485900" cy="240000"/>
          </a:xfrm>
          <a:prstGeom prst="rect">
            <a:avLst/>
          </a:prstGeom>
          <a:noFill/>
          <a:ln/>
        </p:spPr>
        <p:txBody>
          <a:bodyPr wrap="square" lIns="0" tIns="0" rIns="0" bIns="0" rtlCol="0" anchor="ctr"/>
          <a:lstStyle/>
          <a:p>
            <a:pPr marL="0" indent="0">
              <a:lnSpc>
                <a:spcPts val="1200"/>
              </a:lnSpc>
              <a:buNone/>
            </a:pPr>
            <a:r>
              <a:rPr lang="en-US" sz="1200" b="1" spc="200">
                <a:solidFill>
                  <a:srgbClr val="1F3557"/>
                </a:solidFill>
                <a:latin typeface="Segoe UI" pitchFamily="34" charset="0"/>
                <a:ea typeface="Segoe UI" pitchFamily="34" charset="-122"/>
                <a:cs typeface="Segoe UI" pitchFamily="34" charset="-120"/>
              </a:rPr>
              <a:t>EXERCISES</a:t>
            </a:r>
          </a:p>
        </p:txBody>
      </p:sp>
      <p:sp>
        <p:nvSpPr>
          <p:cNvPr id="25" name="Head 4"/>
          <p:cNvSpPr/>
          <p:nvPr/>
        </p:nvSpPr>
        <p:spPr>
          <a:xfrm>
            <a:off x="6903720" y="2680060"/>
            <a:ext cx="1485900" cy="560000"/>
          </a:xfrm>
          <a:prstGeom prst="rect">
            <a:avLst/>
          </a:prstGeom>
          <a:noFill/>
          <a:ln/>
        </p:spPr>
        <p:txBody>
          <a:bodyPr wrap="square" lIns="0" tIns="0" rIns="0" bIns="0" rtlCol="0" anchor="t"/>
          <a:lstStyle/>
          <a:p>
            <a:pPr marL="0" indent="0">
              <a:lnSpc>
                <a:spcPts val="1550"/>
              </a:lnSpc>
              <a:buNone/>
            </a:pPr>
            <a:r>
              <a:rPr lang="en-US" sz="1500" b="1">
                <a:solidFill>
                  <a:srgbClr val="1F3557"/>
                </a:solidFill>
                <a:latin typeface="Georgia" pitchFamily="34" charset="0"/>
                <a:ea typeface="Georgia" pitchFamily="34" charset="-122"/>
                <a:cs typeface="Georgia" pitchFamily="34" charset="-120"/>
              </a:rPr>
              <a:t>Also from the instructor</a:t>
            </a:r>
          </a:p>
        </p:txBody>
      </p:sp>
      <p:sp>
        <p:nvSpPr>
          <p:cNvPr id="26" name="Desc 4"/>
          <p:cNvSpPr/>
          <p:nvPr/>
        </p:nvSpPr>
        <p:spPr>
          <a:xfrm>
            <a:off x="6903720" y="3260000"/>
            <a:ext cx="1485900" cy="1254557"/>
          </a:xfrm>
          <a:prstGeom prst="rect">
            <a:avLst/>
          </a:prstGeom>
          <a:noFill/>
          <a:ln/>
        </p:spPr>
        <p:txBody>
          <a:bodyPr wrap="square" lIns="0" tIns="0" rIns="0" bIns="0" rtlCol="0" anchor="t"/>
          <a:lstStyle/>
          <a:p>
            <a:pPr marL="0" indent="0">
              <a:lnSpc>
                <a:spcPts val="1300"/>
              </a:lnSpc>
              <a:buNone/>
            </a:pPr>
            <a:r>
              <a:rPr lang="en-US" sz="1250">
                <a:solidFill>
                  <a:srgbClr val="6B6255"/>
                </a:solidFill>
                <a:latin typeface="Segoe UI" pitchFamily="34" charset="0"/>
                <a:ea typeface="Segoe UI" pitchFamily="34" charset="-122"/>
                <a:cs typeface="Segoe UI" pitchFamily="34" charset="-120"/>
              </a:rPr>
              <a:t>Labs and assignments are instructor-written and graded on class standards.</a:t>
            </a:r>
          </a:p>
        </p:txBody>
      </p:sp>
      <p:sp>
        <p:nvSpPr>
          <p:cNvPr id="27" name="Footer"/>
          <p:cNvSpPr/>
          <p:nvPr/>
        </p:nvSpPr>
        <p:spPr>
          <a:xfrm>
            <a:off x="548640" y="4560000"/>
            <a:ext cx="8046720" cy="320000"/>
          </a:xfrm>
          <a:prstGeom prst="rect">
            <a:avLst/>
          </a:prstGeom>
          <a:noFill/>
          <a:ln/>
        </p:spPr>
        <p:txBody>
          <a:bodyPr wrap="square" lIns="0" tIns="0" rIns="0" bIns="0" rtlCol="0" anchor="ctr"/>
          <a:lstStyle/>
          <a:p>
            <a:pPr marL="0" indent="0">
              <a:lnSpc>
                <a:spcPts val="1300"/>
              </a:lnSpc>
              <a:buNone/>
            </a:pPr>
            <a:r>
              <a:rPr lang="en-US" sz="1250" i="1">
                <a:solidFill>
                  <a:srgbClr val="1F3557"/>
                </a:solidFill>
                <a:latin typeface="Segoe UI" pitchFamily="34" charset="0"/>
                <a:ea typeface="Segoe UI" pitchFamily="34" charset="-122"/>
                <a:cs typeface="Segoe UI" pitchFamily="34" charset="-120"/>
              </a:rPr>
              <a:t>Bring the book (print or digital) to class for quick reference.</a:t>
            </a:r>
          </a:p>
        </p:txBody>
      </p:sp>
    </p:spTree>
    <p:extLst>
      <p:ext uri="{BB962C8B-B14F-4D97-AF65-F5344CB8AC3E}">
        <p14:creationId xmlns:p14="http://schemas.microsoft.com/office/powerpoint/2010/main" val="3960861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bg>
      <p:bgPr>
        <a:solidFill>
          <a:srgbClr val="F5EFE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EFE2"/>
          </a:solidFill>
          <a:ln w="3175">
            <a:solidFill>
              <a:srgbClr val="F5EFE2"/>
            </a:solidFill>
            <a:prstDash val="solid"/>
          </a:ln>
        </p:spPr>
        <p:txBody>
          <a:bodyPr/>
          <a:lstStyle/>
          <a:p>
            <a:endParaRPr lang="en-US"/>
          </a:p>
        </p:txBody>
      </p:sp>
      <p:sp>
        <p:nvSpPr>
          <p:cNvPr id="3" name="Text 1"/>
          <p:cNvSpPr/>
          <p:nvPr/>
        </p:nvSpPr>
        <p:spPr>
          <a:xfrm>
            <a:off x="548640" y="384048"/>
            <a:ext cx="5943600" cy="274320"/>
          </a:xfrm>
          <a:prstGeom prst="rect">
            <a:avLst/>
          </a:prstGeom>
          <a:noFill/>
          <a:ln/>
        </p:spPr>
        <p:txBody>
          <a:bodyPr wrap="square" lIns="0" tIns="0" rIns="0" bIns="0" rtlCol="0" anchor="ctr"/>
          <a:lstStyle/>
          <a:p>
            <a:pPr marL="0" indent="0">
              <a:buNone/>
            </a:pPr>
            <a:r>
              <a:rPr lang="en-US" sz="1300" b="1" kern="0" spc="300">
                <a:solidFill>
                  <a:srgbClr val="A9552F"/>
                </a:solidFill>
                <a:latin typeface="Segoe UI" pitchFamily="34" charset="0"/>
                <a:ea typeface="Segoe UI" pitchFamily="34" charset="-122"/>
                <a:cs typeface="Segoe UI" pitchFamily="34" charset="-120"/>
              </a:rPr>
              <a:t>UNDERSTAND WHY JAVA EXISTS</a:t>
            </a:r>
            <a:endParaRPr lang="en-US" sz="1300"/>
          </a:p>
        </p:txBody>
      </p:sp>
      <p:sp>
        <p:nvSpPr>
          <p:cNvPr id="4" name="Text 2"/>
          <p:cNvSpPr/>
          <p:nvPr/>
        </p:nvSpPr>
        <p:spPr>
          <a:xfrm>
            <a:off x="530352" y="676656"/>
            <a:ext cx="6035040" cy="548640"/>
          </a:xfrm>
          <a:prstGeom prst="rect">
            <a:avLst/>
          </a:prstGeom>
          <a:noFill/>
          <a:ln/>
        </p:spPr>
        <p:txBody>
          <a:bodyPr wrap="square" lIns="0" tIns="0" rIns="0" bIns="0" rtlCol="0" anchor="ctr"/>
          <a:lstStyle/>
          <a:p>
            <a:pPr marL="0" indent="0">
              <a:buNone/>
            </a:pPr>
            <a:r>
              <a:rPr lang="en-US" sz="2600" b="1" dirty="0">
                <a:solidFill>
                  <a:srgbClr val="1F3557"/>
                </a:solidFill>
                <a:latin typeface="Georgia" pitchFamily="34" charset="0"/>
                <a:ea typeface="Georgia" pitchFamily="34" charset="-122"/>
                <a:cs typeface="Georgia" pitchFamily="34" charset="-120"/>
              </a:rPr>
              <a:t>The problem Java set out to solve</a:t>
            </a:r>
            <a:endParaRPr lang="en-US" sz="3200" dirty="0"/>
          </a:p>
        </p:txBody>
      </p:sp>
      <p:sp>
        <p:nvSpPr>
          <p:cNvPr id="5" name="Shape 3"/>
          <p:cNvSpPr/>
          <p:nvPr/>
        </p:nvSpPr>
        <p:spPr>
          <a:xfrm>
            <a:off x="548640" y="1316736"/>
            <a:ext cx="1280160" cy="0"/>
          </a:xfrm>
          <a:prstGeom prst="line">
            <a:avLst/>
          </a:prstGeom>
          <a:noFill/>
          <a:ln w="28575">
            <a:solidFill>
              <a:srgbClr val="A9552F"/>
            </a:solidFill>
            <a:prstDash val="solid"/>
          </a:ln>
        </p:spPr>
        <p:txBody>
          <a:bodyPr/>
          <a:lstStyle/>
          <a:p>
            <a:endParaRPr lang="en-US"/>
          </a:p>
        </p:txBody>
      </p:sp>
      <p:sp>
        <p:nvSpPr>
          <p:cNvPr id="6" name="Shape 4"/>
          <p:cNvSpPr/>
          <p:nvPr/>
        </p:nvSpPr>
        <p:spPr>
          <a:xfrm>
            <a:off x="546100" y="1841500"/>
            <a:ext cx="3835400" cy="2540000"/>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7" name="Text 5"/>
          <p:cNvSpPr/>
          <p:nvPr/>
        </p:nvSpPr>
        <p:spPr>
          <a:xfrm>
            <a:off x="774700" y="2082800"/>
            <a:ext cx="3378200" cy="320040"/>
          </a:xfrm>
          <a:prstGeom prst="rect">
            <a:avLst/>
          </a:prstGeom>
          <a:noFill/>
          <a:ln/>
        </p:spPr>
        <p:txBody>
          <a:bodyPr wrap="square" lIns="0" tIns="0" rIns="0" bIns="0" rtlCol="0" anchor="ctr"/>
          <a:lstStyle/>
          <a:p>
            <a:pPr marL="0" indent="0">
              <a:buNone/>
            </a:pPr>
            <a:r>
              <a:rPr lang="en-US" sz="1650" b="1">
                <a:solidFill>
                  <a:srgbClr val="1F3557"/>
                </a:solidFill>
                <a:latin typeface="Georgia" pitchFamily="34" charset="0"/>
                <a:ea typeface="Georgia" pitchFamily="34" charset="-122"/>
                <a:cs typeface="Georgia" pitchFamily="34" charset="-120"/>
              </a:rPr>
              <a:t>Tied to the machine</a:t>
            </a:r>
            <a:endParaRPr lang="en-US" sz="1650"/>
          </a:p>
        </p:txBody>
      </p:sp>
      <p:sp>
        <p:nvSpPr>
          <p:cNvPr id="8" name="Text 6"/>
          <p:cNvSpPr/>
          <p:nvPr/>
        </p:nvSpPr>
        <p:spPr>
          <a:xfrm>
            <a:off x="774700" y="2476500"/>
            <a:ext cx="3378200" cy="1841500"/>
          </a:xfrm>
          <a:prstGeom prst="rect">
            <a:avLst/>
          </a:prstGeom>
          <a:noFill/>
          <a:ln/>
        </p:spPr>
        <p:txBody>
          <a:bodyPr wrap="square" lIns="0" tIns="0" rIns="0" bIns="0" rtlCol="0" anchor="t"/>
          <a:lstStyle/>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In the early 1990s software was tied to a specific processor or operating system.</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Moving a program to another device could mean substantial rewriting.</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Each target platform meant another build, another set of bugs, and more cost.</a:t>
            </a:r>
            <a:endParaRPr lang="en-US" sz="1350"/>
          </a:p>
        </p:txBody>
      </p:sp>
      <p:sp>
        <p:nvSpPr>
          <p:cNvPr id="9" name="Shape 7"/>
          <p:cNvSpPr/>
          <p:nvPr/>
        </p:nvSpPr>
        <p:spPr>
          <a:xfrm>
            <a:off x="4762500" y="1841500"/>
            <a:ext cx="3835400" cy="2540000"/>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10" name="Text 8"/>
          <p:cNvSpPr/>
          <p:nvPr/>
        </p:nvSpPr>
        <p:spPr>
          <a:xfrm>
            <a:off x="4991100" y="2082800"/>
            <a:ext cx="3378200" cy="320040"/>
          </a:xfrm>
          <a:prstGeom prst="rect">
            <a:avLst/>
          </a:prstGeom>
          <a:noFill/>
          <a:ln/>
        </p:spPr>
        <p:txBody>
          <a:bodyPr wrap="square" lIns="0" tIns="0" rIns="0" bIns="0" rtlCol="0" anchor="ctr"/>
          <a:lstStyle/>
          <a:p>
            <a:pPr marL="0" indent="0">
              <a:buNone/>
            </a:pPr>
            <a:r>
              <a:rPr lang="en-US" sz="1650" b="1">
                <a:solidFill>
                  <a:srgbClr val="1F3557"/>
                </a:solidFill>
                <a:latin typeface="Georgia" pitchFamily="34" charset="0"/>
                <a:ea typeface="Georgia" pitchFamily="34" charset="-122"/>
                <a:cs typeface="Georgia" pitchFamily="34" charset="-120"/>
              </a:rPr>
              <a:t>What the designers wanted</a:t>
            </a:r>
            <a:endParaRPr lang="en-US" sz="1650"/>
          </a:p>
        </p:txBody>
      </p:sp>
      <p:sp>
        <p:nvSpPr>
          <p:cNvPr id="11" name="Text 9"/>
          <p:cNvSpPr/>
          <p:nvPr/>
        </p:nvSpPr>
        <p:spPr>
          <a:xfrm>
            <a:off x="4991100" y="2476500"/>
            <a:ext cx="3378200" cy="1841500"/>
          </a:xfrm>
          <a:prstGeom prst="rect">
            <a:avLst/>
          </a:prstGeom>
          <a:noFill/>
          <a:ln/>
        </p:spPr>
        <p:txBody>
          <a:bodyPr wrap="square" lIns="0" tIns="0" rIns="0" bIns="0" rtlCol="0" anchor="t"/>
          <a:lstStyle/>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A safer, more portable way to build software for many kinds of devices.</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One language and one runtime model instead of a separate build per platform.</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Fewer memory and pointer errors than the C and C++ code of the era.</a:t>
            </a:r>
            <a:endParaRPr lang="en-US" sz="1350"/>
          </a:p>
        </p:txBody>
      </p:sp>
    </p:spTree>
    <p:extLst>
      <p:ext uri="{BB962C8B-B14F-4D97-AF65-F5344CB8AC3E}">
        <p14:creationId xmlns:p14="http://schemas.microsoft.com/office/powerpoint/2010/main" val="27750425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2">
    <p:bg>
      <p:bgPr>
        <a:solidFill>
          <a:srgbClr val="F5EFE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EFE2"/>
          </a:solidFill>
          <a:ln w="3175">
            <a:solidFill>
              <a:srgbClr val="F5EFE2"/>
            </a:solidFill>
            <a:prstDash val="solid"/>
          </a:ln>
        </p:spPr>
        <p:txBody>
          <a:bodyPr/>
          <a:lstStyle/>
          <a:p>
            <a:endParaRPr lang="en-US"/>
          </a:p>
        </p:txBody>
      </p:sp>
      <p:sp>
        <p:nvSpPr>
          <p:cNvPr id="3" name="Text 1"/>
          <p:cNvSpPr/>
          <p:nvPr/>
        </p:nvSpPr>
        <p:spPr>
          <a:xfrm>
            <a:off x="548640" y="384048"/>
            <a:ext cx="5943600" cy="274320"/>
          </a:xfrm>
          <a:prstGeom prst="rect">
            <a:avLst/>
          </a:prstGeom>
          <a:noFill/>
          <a:ln/>
        </p:spPr>
        <p:txBody>
          <a:bodyPr wrap="square" lIns="0" tIns="0" rIns="0" bIns="0" rtlCol="0" anchor="ctr"/>
          <a:lstStyle/>
          <a:p>
            <a:pPr marL="0" indent="0">
              <a:buNone/>
            </a:pPr>
            <a:r>
              <a:rPr lang="en-US" sz="1300" b="1" kern="0" spc="300">
                <a:solidFill>
                  <a:srgbClr val="A9552F"/>
                </a:solidFill>
                <a:latin typeface="Segoe UI" pitchFamily="34" charset="0"/>
                <a:ea typeface="Segoe UI" pitchFamily="34" charset="-122"/>
                <a:cs typeface="Segoe UI" pitchFamily="34" charset="-120"/>
              </a:rPr>
              <a:t>WRITE ONCE, RUN ANYWHERE</a:t>
            </a:r>
            <a:endParaRPr lang="en-US" sz="1300"/>
          </a:p>
        </p:txBody>
      </p:sp>
      <p:sp>
        <p:nvSpPr>
          <p:cNvPr id="4" name="Text 2"/>
          <p:cNvSpPr/>
          <p:nvPr/>
        </p:nvSpPr>
        <p:spPr>
          <a:xfrm>
            <a:off x="530352" y="676656"/>
            <a:ext cx="6035040" cy="548640"/>
          </a:xfrm>
          <a:prstGeom prst="rect">
            <a:avLst/>
          </a:prstGeom>
          <a:noFill/>
          <a:ln/>
        </p:spPr>
        <p:txBody>
          <a:bodyPr wrap="square" lIns="0" tIns="0" rIns="0" bIns="0" rtlCol="0" anchor="ctr"/>
          <a:lstStyle/>
          <a:p>
            <a:pPr marL="0" indent="0">
              <a:buNone/>
            </a:pPr>
            <a:r>
              <a:rPr lang="en-US" sz="3200" b="1" dirty="0">
                <a:solidFill>
                  <a:srgbClr val="1F3557"/>
                </a:solidFill>
                <a:latin typeface="Georgia" pitchFamily="34" charset="0"/>
                <a:ea typeface="Georgia" pitchFamily="34" charset="-122"/>
                <a:cs typeface="Georgia" pitchFamily="34" charset="-120"/>
              </a:rPr>
              <a:t>How Java solves it</a:t>
            </a:r>
            <a:endParaRPr lang="en-US" sz="3200" dirty="0"/>
          </a:p>
        </p:txBody>
      </p:sp>
      <p:sp>
        <p:nvSpPr>
          <p:cNvPr id="5" name="Shape 3"/>
          <p:cNvSpPr/>
          <p:nvPr/>
        </p:nvSpPr>
        <p:spPr>
          <a:xfrm>
            <a:off x="548640" y="1316736"/>
            <a:ext cx="1280160" cy="0"/>
          </a:xfrm>
          <a:prstGeom prst="line">
            <a:avLst/>
          </a:prstGeom>
          <a:noFill/>
          <a:ln w="28575">
            <a:solidFill>
              <a:srgbClr val="A9552F"/>
            </a:solidFill>
            <a:prstDash val="solid"/>
          </a:ln>
        </p:spPr>
        <p:txBody>
          <a:bodyPr/>
          <a:lstStyle/>
          <a:p>
            <a:endParaRPr lang="en-US"/>
          </a:p>
        </p:txBody>
      </p:sp>
      <p:sp>
        <p:nvSpPr>
          <p:cNvPr id="6" name="Shape 4"/>
          <p:cNvSpPr/>
          <p:nvPr/>
        </p:nvSpPr>
        <p:spPr>
          <a:xfrm>
            <a:off x="548640" y="1600200"/>
            <a:ext cx="2880360" cy="3264408"/>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7" name="Text 5"/>
          <p:cNvSpPr/>
          <p:nvPr/>
        </p:nvSpPr>
        <p:spPr>
          <a:xfrm>
            <a:off x="777240" y="1810512"/>
            <a:ext cx="2468880" cy="320040"/>
          </a:xfrm>
          <a:prstGeom prst="rect">
            <a:avLst/>
          </a:prstGeom>
          <a:noFill/>
          <a:ln/>
        </p:spPr>
        <p:txBody>
          <a:bodyPr wrap="square" lIns="0" tIns="0" rIns="0" bIns="0" rtlCol="0" anchor="ctr"/>
          <a:lstStyle/>
          <a:p>
            <a:pPr marL="0" indent="0">
              <a:buNone/>
            </a:pPr>
            <a:r>
              <a:rPr lang="en-US" sz="1650" b="1">
                <a:solidFill>
                  <a:srgbClr val="1F3557"/>
                </a:solidFill>
                <a:latin typeface="Georgia" pitchFamily="34" charset="0"/>
                <a:ea typeface="Georgia" pitchFamily="34" charset="-122"/>
                <a:cs typeface="Georgia" pitchFamily="34" charset="-120"/>
              </a:rPr>
              <a:t>Bytecode and the JVM</a:t>
            </a:r>
            <a:endParaRPr lang="en-US" sz="1650"/>
          </a:p>
        </p:txBody>
      </p:sp>
      <p:sp>
        <p:nvSpPr>
          <p:cNvPr id="8" name="Text 6"/>
          <p:cNvSpPr/>
          <p:nvPr/>
        </p:nvSpPr>
        <p:spPr>
          <a:xfrm>
            <a:off x="777240" y="2212848"/>
            <a:ext cx="2468880" cy="2651760"/>
          </a:xfrm>
          <a:prstGeom prst="rect">
            <a:avLst/>
          </a:prstGeom>
          <a:noFill/>
          <a:ln/>
        </p:spPr>
        <p:txBody>
          <a:bodyPr wrap="square" lIns="0" tIns="0" rIns="0" bIns="0" rtlCol="0" anchor="ctr"/>
          <a:lstStyle/>
          <a:p>
            <a:pPr marL="342900" indent="-34290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Source code compiles to a neutral intermediate form called bytecode.</a:t>
            </a:r>
            <a:endParaRPr lang="en-US" sz="1350"/>
          </a:p>
          <a:p>
            <a:pPr marL="342900" indent="-34290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A Java Virtual Machine on Windows, macOS or Linux runs that same bytecode.</a:t>
            </a:r>
            <a:endParaRPr lang="en-US" sz="1350"/>
          </a:p>
          <a:p>
            <a:pPr marL="342900" indent="-34290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You compile once; the JVM handles the differences between platforms.</a:t>
            </a:r>
            <a:endParaRPr lang="en-US" sz="1350"/>
          </a:p>
        </p:txBody>
      </p:sp>
      <p:sp>
        <p:nvSpPr>
          <p:cNvPr id="9" name="Shape 7"/>
          <p:cNvSpPr/>
          <p:nvPr/>
        </p:nvSpPr>
        <p:spPr>
          <a:xfrm>
            <a:off x="3611880" y="1600200"/>
            <a:ext cx="2880360" cy="3264408"/>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10" name="Text 8"/>
          <p:cNvSpPr/>
          <p:nvPr/>
        </p:nvSpPr>
        <p:spPr>
          <a:xfrm>
            <a:off x="3840480" y="1810512"/>
            <a:ext cx="2468880" cy="320040"/>
          </a:xfrm>
          <a:prstGeom prst="rect">
            <a:avLst/>
          </a:prstGeom>
          <a:noFill/>
          <a:ln/>
        </p:spPr>
        <p:txBody>
          <a:bodyPr wrap="square" lIns="0" tIns="0" rIns="0" bIns="0" rtlCol="0" anchor="ctr"/>
          <a:lstStyle/>
          <a:p>
            <a:pPr marL="0" indent="0">
              <a:buNone/>
            </a:pPr>
            <a:r>
              <a:rPr lang="en-US" sz="1650" b="1">
                <a:solidFill>
                  <a:srgbClr val="1F3557"/>
                </a:solidFill>
                <a:latin typeface="Georgia" pitchFamily="34" charset="0"/>
                <a:ea typeface="Georgia" pitchFamily="34" charset="-122"/>
                <a:cs typeface="Georgia" pitchFamily="34" charset="-120"/>
              </a:rPr>
              <a:t>Safety and built-in tools</a:t>
            </a:r>
            <a:endParaRPr lang="en-US" sz="1650"/>
          </a:p>
        </p:txBody>
      </p:sp>
      <p:sp>
        <p:nvSpPr>
          <p:cNvPr id="11" name="Text 9"/>
          <p:cNvSpPr/>
          <p:nvPr/>
        </p:nvSpPr>
        <p:spPr>
          <a:xfrm>
            <a:off x="3840480" y="2212848"/>
            <a:ext cx="2468880" cy="2651760"/>
          </a:xfrm>
          <a:prstGeom prst="rect">
            <a:avLst/>
          </a:prstGeom>
          <a:noFill/>
          <a:ln/>
        </p:spPr>
        <p:txBody>
          <a:bodyPr wrap="square" lIns="0" tIns="0" rIns="0" bIns="0" rtlCol="0" anchor="ctr"/>
          <a:lstStyle/>
          <a:p>
            <a:pPr marL="342900" indent="-34290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Automatic memory management and strong typing reduce whole classes of bugs.</a:t>
            </a:r>
            <a:endParaRPr lang="en-US" sz="1350"/>
          </a:p>
          <a:p>
            <a:pPr marL="342900" indent="-34290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A vast standard library and ecosystem ship with the platform.</a:t>
            </a:r>
            <a:endParaRPr lang="en-US" sz="1350"/>
          </a:p>
          <a:p>
            <a:pPr marL="342900" indent="-34290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Mature tooling makes large programs easier to build and maintain.</a:t>
            </a:r>
            <a:endParaRPr lang="en-US" sz="1350"/>
          </a:p>
        </p:txBody>
      </p:sp>
      <p:pic>
        <p:nvPicPr>
          <p:cNvPr id="12" name="Image 0"/>
          <p:cNvPicPr>
            <a:picLocks noChangeAspect="1"/>
          </p:cNvPicPr>
          <p:nvPr/>
        </p:nvPicPr>
        <p:blipFill>
          <a:blip r:embed="rId3"/>
          <a:stretch/>
        </p:blipFill>
        <p:spPr>
          <a:xfrm>
            <a:off x="6720840" y="1645545"/>
            <a:ext cx="1874520" cy="1966709"/>
          </a:xfrm>
          <a:prstGeom prst="rect">
            <a:avLst/>
          </a:prstGeom>
        </p:spPr>
      </p:pic>
      <p:sp>
        <p:nvSpPr>
          <p:cNvPr id="13" name="Text 10"/>
          <p:cNvSpPr/>
          <p:nvPr/>
        </p:nvSpPr>
        <p:spPr>
          <a:xfrm>
            <a:off x="6675120" y="3703320"/>
            <a:ext cx="1965960" cy="1161288"/>
          </a:xfrm>
          <a:prstGeom prst="rect">
            <a:avLst/>
          </a:prstGeom>
          <a:noFill/>
          <a:ln/>
        </p:spPr>
        <p:txBody>
          <a:bodyPr wrap="square" lIns="0" tIns="0" rIns="0" bIns="0" rtlCol="0" anchor="ctr"/>
          <a:lstStyle/>
          <a:p>
            <a:pPr marL="0" indent="0">
              <a:lnSpc>
                <a:spcPts val="1400"/>
              </a:lnSpc>
              <a:buNone/>
            </a:pPr>
            <a:r>
              <a:rPr lang="en-US" sz="1250" i="1">
                <a:solidFill>
                  <a:srgbClr val="1F3557"/>
                </a:solidFill>
                <a:latin typeface="Segoe UI" pitchFamily="34" charset="0"/>
                <a:ea typeface="Segoe UI" pitchFamily="34" charset="-122"/>
                <a:cs typeface="Segoe UI" pitchFamily="34" charset="-120"/>
              </a:rPr>
              <a:t>Today Java runs on billions of devices — servers, Android phones, and enterprise systems worldwide.</a:t>
            </a:r>
            <a:endParaRPr lang="en-US" sz="1250"/>
          </a:p>
        </p:txBody>
      </p:sp>
    </p:spTree>
    <p:extLst>
      <p:ext uri="{BB962C8B-B14F-4D97-AF65-F5344CB8AC3E}">
        <p14:creationId xmlns:p14="http://schemas.microsoft.com/office/powerpoint/2010/main" val="5234567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Course application">
    <p:bg>
      <p:bgPr>
        <a:solidFill>
          <a:srgbClr val="F5EFE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EFE2"/>
          </a:solidFill>
          <a:ln w="3175">
            <a:solidFill>
              <a:srgbClr val="F5EFE2"/>
            </a:solidFill>
            <a:prstDash val="solid"/>
          </a:ln>
        </p:spPr>
        <p:txBody>
          <a:bodyPr/>
          <a:lstStyle/>
          <a:p>
            <a:endParaRPr lang="en-US"/>
          </a:p>
        </p:txBody>
      </p:sp>
      <p:sp>
        <p:nvSpPr>
          <p:cNvPr id="3" name="Text 1"/>
          <p:cNvSpPr/>
          <p:nvPr/>
        </p:nvSpPr>
        <p:spPr>
          <a:xfrm>
            <a:off x="548640" y="384048"/>
            <a:ext cx="5943600" cy="274320"/>
          </a:xfrm>
          <a:prstGeom prst="rect">
            <a:avLst/>
          </a:prstGeom>
          <a:noFill/>
          <a:ln/>
        </p:spPr>
        <p:txBody>
          <a:bodyPr wrap="square" lIns="0" tIns="0" rIns="0" bIns="0" rtlCol="0" anchor="ctr"/>
          <a:lstStyle/>
          <a:p>
            <a:pPr marL="0" indent="0">
              <a:buNone/>
            </a:pPr>
            <a:r>
              <a:rPr lang="en-US" sz="1300" b="1" kern="0" spc="300">
                <a:solidFill>
                  <a:srgbClr val="A9552F"/>
                </a:solidFill>
                <a:latin typeface="Segoe UI" pitchFamily="34" charset="0"/>
                <a:ea typeface="Segoe UI" pitchFamily="34" charset="-122"/>
                <a:cs typeface="Segoe UI" pitchFamily="34" charset="-120"/>
              </a:rPr>
              <a:t>WHAT WE ARE BUILDING</a:t>
            </a:r>
            <a:endParaRPr lang="en-US" sz="1300"/>
          </a:p>
        </p:txBody>
      </p:sp>
      <p:sp>
        <p:nvSpPr>
          <p:cNvPr id="4" name="Text 2"/>
          <p:cNvSpPr/>
          <p:nvPr/>
        </p:nvSpPr>
        <p:spPr>
          <a:xfrm>
            <a:off x="530352" y="676656"/>
            <a:ext cx="7200000" cy="548640"/>
          </a:xfrm>
          <a:prstGeom prst="rect">
            <a:avLst/>
          </a:prstGeom>
          <a:noFill/>
          <a:ln/>
        </p:spPr>
        <p:txBody>
          <a:bodyPr wrap="square" lIns="0" tIns="0" rIns="0" bIns="0" rtlCol="0" anchor="ctr"/>
          <a:lstStyle/>
          <a:p>
            <a:pPr marL="0" indent="0">
              <a:buNone/>
            </a:pPr>
            <a:r>
              <a:rPr lang="en-US" sz="2600" b="1">
                <a:solidFill>
                  <a:srgbClr val="1F3557"/>
                </a:solidFill>
                <a:latin typeface="Georgia" pitchFamily="34" charset="0"/>
                <a:ea typeface="Georgia" pitchFamily="34" charset="-122"/>
                <a:cs typeface="Georgia" pitchFamily="34" charset="-120"/>
              </a:rPr>
              <a:t>One application, four stages</a:t>
            </a:r>
            <a:endParaRPr lang="en-US" sz="3200"/>
          </a:p>
        </p:txBody>
      </p:sp>
      <p:sp>
        <p:nvSpPr>
          <p:cNvPr id="5" name="Shape 3"/>
          <p:cNvSpPr/>
          <p:nvPr/>
        </p:nvSpPr>
        <p:spPr>
          <a:xfrm>
            <a:off x="548640" y="1316736"/>
            <a:ext cx="1280160" cy="0"/>
          </a:xfrm>
          <a:prstGeom prst="line">
            <a:avLst/>
          </a:prstGeom>
          <a:noFill/>
          <a:ln w="28575">
            <a:solidFill>
              <a:srgbClr val="A9552F"/>
            </a:solidFill>
            <a:prstDash val="solid"/>
          </a:ln>
        </p:spPr>
        <p:txBody>
          <a:bodyPr/>
          <a:lstStyle/>
          <a:p>
            <a:endParaRPr lang="en-US"/>
          </a:p>
        </p:txBody>
      </p:sp>
      <p:sp>
        <p:nvSpPr>
          <p:cNvPr id="6" name="Lede"/>
          <p:cNvSpPr/>
          <p:nvPr/>
        </p:nvSpPr>
        <p:spPr>
          <a:xfrm>
            <a:off x="548640" y="1600200"/>
            <a:ext cx="8046720" cy="420000"/>
          </a:xfrm>
          <a:prstGeom prst="rect">
            <a:avLst/>
          </a:prstGeom>
          <a:noFill/>
          <a:ln/>
        </p:spPr>
        <p:txBody>
          <a:bodyPr wrap="square" lIns="0" tIns="0" rIns="0" bIns="0" rtlCol="0" anchor="ctr"/>
          <a:lstStyle/>
          <a:p>
            <a:pPr marL="0" indent="0">
              <a:lnSpc>
                <a:spcPts val="1500"/>
              </a:lnSpc>
              <a:buNone/>
            </a:pPr>
            <a:r>
              <a:rPr lang="en-US" sz="1400">
                <a:solidFill>
                  <a:srgbClr val="6B6255"/>
                </a:solidFill>
                <a:latin typeface="Segoe UI" pitchFamily="34" charset="0"/>
                <a:ea typeface="Segoe UI" pitchFamily="34" charset="-122"/>
                <a:cs typeface="Segoe UI" pitchFamily="34" charset="-120"/>
              </a:rPr>
              <a:t>Every exercise in this course feeds one growing application: the </a:t>
            </a:r>
            <a:r>
              <a:rPr lang="en-US" sz="1400" b="1">
                <a:solidFill>
                  <a:srgbClr val="1F3557"/>
                </a:solidFill>
                <a:latin typeface="Segoe UI" pitchFamily="34" charset="0"/>
                <a:ea typeface="Segoe UI" pitchFamily="34" charset="-122"/>
                <a:cs typeface="Segoe UI" pitchFamily="34" charset="-120"/>
              </a:rPr>
              <a:t>Benefits Estimate Calculator</a:t>
            </a:r>
            <a:r>
              <a:rPr lang="en-US" sz="1400">
                <a:solidFill>
                  <a:srgbClr val="6B6255"/>
                </a:solidFill>
                <a:latin typeface="Segoe UI" pitchFamily="34" charset="0"/>
                <a:ea typeface="Segoe UI" pitchFamily="34" charset="-122"/>
                <a:cs typeface="Segoe UI" pitchFamily="34" charset="-120"/>
              </a:rPr>
              <a:t>.</a:t>
            </a:r>
          </a:p>
        </p:txBody>
      </p:sp>
      <p:sp>
        <p:nvSpPr>
          <p:cNvPr id="7" name="Card 1"/>
          <p:cNvSpPr/>
          <p:nvPr/>
        </p:nvSpPr>
        <p:spPr>
          <a:xfrm>
            <a:off x="548640" y="2200000"/>
            <a:ext cx="1897380" cy="2100000"/>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8" name="Cap 1"/>
          <p:cNvSpPr/>
          <p:nvPr/>
        </p:nvSpPr>
        <p:spPr>
          <a:xfrm>
            <a:off x="548640" y="2200000"/>
            <a:ext cx="1897380" cy="68580"/>
          </a:xfrm>
          <a:prstGeom prst="rect">
            <a:avLst/>
          </a:prstGeom>
          <a:solidFill>
            <a:srgbClr val="A9552F"/>
          </a:solidFill>
          <a:ln/>
        </p:spPr>
        <p:txBody>
          <a:bodyPr/>
          <a:lstStyle/>
          <a:p>
            <a:endParaRPr lang="en-US"/>
          </a:p>
        </p:txBody>
      </p:sp>
      <p:sp>
        <p:nvSpPr>
          <p:cNvPr id="9" name="Stage 1"/>
          <p:cNvSpPr/>
          <p:nvPr/>
        </p:nvSpPr>
        <p:spPr>
          <a:xfrm>
            <a:off x="754380" y="2405740"/>
            <a:ext cx="1485900" cy="240000"/>
          </a:xfrm>
          <a:prstGeom prst="rect">
            <a:avLst/>
          </a:prstGeom>
          <a:noFill/>
          <a:ln/>
        </p:spPr>
        <p:txBody>
          <a:bodyPr wrap="square" lIns="0" tIns="0" rIns="0" bIns="0" rtlCol="0" anchor="ctr"/>
          <a:lstStyle/>
          <a:p>
            <a:pPr marL="0" indent="0">
              <a:lnSpc>
                <a:spcPts val="1200"/>
              </a:lnSpc>
              <a:buNone/>
            </a:pPr>
            <a:r>
              <a:rPr lang="en-US" sz="1200" b="1" spc="200">
                <a:solidFill>
                  <a:srgbClr val="A9552F"/>
                </a:solidFill>
                <a:latin typeface="Segoe UI" pitchFamily="34" charset="0"/>
                <a:ea typeface="Segoe UI" pitchFamily="34" charset="-122"/>
                <a:cs typeface="Segoe UI" pitchFamily="34" charset="-120"/>
              </a:rPr>
              <a:t>DAY 1</a:t>
            </a:r>
          </a:p>
        </p:txBody>
      </p:sp>
      <p:sp>
        <p:nvSpPr>
          <p:cNvPr id="10" name="Head 1"/>
          <p:cNvSpPr/>
          <p:nvPr/>
        </p:nvSpPr>
        <p:spPr>
          <a:xfrm>
            <a:off x="754380" y="2680060"/>
            <a:ext cx="1485900" cy="560000"/>
          </a:xfrm>
          <a:prstGeom prst="rect">
            <a:avLst/>
          </a:prstGeom>
          <a:noFill/>
          <a:ln/>
        </p:spPr>
        <p:txBody>
          <a:bodyPr wrap="square" lIns="0" tIns="0" rIns="0" bIns="0" rtlCol="0" anchor="t"/>
          <a:lstStyle/>
          <a:p>
            <a:pPr marL="0" indent="0">
              <a:lnSpc>
                <a:spcPts val="1550"/>
              </a:lnSpc>
              <a:buNone/>
            </a:pPr>
            <a:r>
              <a:rPr lang="en-US" sz="1500" b="1">
                <a:solidFill>
                  <a:srgbClr val="1F3557"/>
                </a:solidFill>
                <a:latin typeface="Georgia" pitchFamily="34" charset="0"/>
                <a:ea typeface="Georgia" pitchFamily="34" charset="-122"/>
                <a:cs typeface="Georgia" pitchFamily="34" charset="-120"/>
              </a:rPr>
              <a:t>Console reports</a:t>
            </a:r>
          </a:p>
        </p:txBody>
      </p:sp>
      <p:sp>
        <p:nvSpPr>
          <p:cNvPr id="11" name="Desc 1"/>
          <p:cNvSpPr/>
          <p:nvPr/>
        </p:nvSpPr>
        <p:spPr>
          <a:xfrm>
            <a:off x="754380" y="3260000"/>
            <a:ext cx="1485900" cy="850000"/>
          </a:xfrm>
          <a:prstGeom prst="rect">
            <a:avLst/>
          </a:prstGeom>
          <a:noFill/>
          <a:ln/>
        </p:spPr>
        <p:txBody>
          <a:bodyPr wrap="square" lIns="0" tIns="0" rIns="0" bIns="0" rtlCol="0" anchor="t"/>
          <a:lstStyle/>
          <a:p>
            <a:pPr marL="0" indent="0">
              <a:lnSpc>
                <a:spcPts val="1300"/>
              </a:lnSpc>
              <a:buNone/>
            </a:pPr>
            <a:r>
              <a:rPr lang="en-US" sz="1250">
                <a:solidFill>
                  <a:srgbClr val="6B6255"/>
                </a:solidFill>
                <a:latin typeface="Segoe UI" pitchFamily="34" charset="0"/>
                <a:ea typeface="Segoe UI" pitchFamily="34" charset="-122"/>
                <a:cs typeface="Segoe UI" pitchFamily="34" charset="-120"/>
              </a:rPr>
              <a:t>Class shell, main, variables, and printed output. The patterns start here.</a:t>
            </a:r>
          </a:p>
        </p:txBody>
      </p:sp>
      <p:sp>
        <p:nvSpPr>
          <p:cNvPr id="12" name="Card 2"/>
          <p:cNvSpPr/>
          <p:nvPr/>
        </p:nvSpPr>
        <p:spPr>
          <a:xfrm>
            <a:off x="2598420" y="2200000"/>
            <a:ext cx="1897380" cy="2100000"/>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13" name="Cap 2"/>
          <p:cNvSpPr/>
          <p:nvPr/>
        </p:nvSpPr>
        <p:spPr>
          <a:xfrm>
            <a:off x="2598420" y="2200000"/>
            <a:ext cx="1897380" cy="68580"/>
          </a:xfrm>
          <a:prstGeom prst="rect">
            <a:avLst/>
          </a:prstGeom>
          <a:solidFill>
            <a:srgbClr val="1F3557"/>
          </a:solidFill>
          <a:ln/>
        </p:spPr>
        <p:txBody>
          <a:bodyPr/>
          <a:lstStyle/>
          <a:p>
            <a:endParaRPr lang="en-US"/>
          </a:p>
        </p:txBody>
      </p:sp>
      <p:sp>
        <p:nvSpPr>
          <p:cNvPr id="14" name="Stage 2"/>
          <p:cNvSpPr/>
          <p:nvPr/>
        </p:nvSpPr>
        <p:spPr>
          <a:xfrm>
            <a:off x="2804160" y="2405740"/>
            <a:ext cx="1485900" cy="240000"/>
          </a:xfrm>
          <a:prstGeom prst="rect">
            <a:avLst/>
          </a:prstGeom>
          <a:noFill/>
          <a:ln/>
        </p:spPr>
        <p:txBody>
          <a:bodyPr wrap="square" lIns="0" tIns="0" rIns="0" bIns="0" rtlCol="0" anchor="ctr"/>
          <a:lstStyle/>
          <a:p>
            <a:pPr marL="0" indent="0">
              <a:lnSpc>
                <a:spcPts val="1200"/>
              </a:lnSpc>
              <a:buNone/>
            </a:pPr>
            <a:r>
              <a:rPr lang="en-US" sz="1200" b="1" spc="200">
                <a:solidFill>
                  <a:srgbClr val="1F3557"/>
                </a:solidFill>
                <a:latin typeface="Segoe UI" pitchFamily="34" charset="0"/>
                <a:ea typeface="Segoe UI" pitchFamily="34" charset="-122"/>
                <a:cs typeface="Segoe UI" pitchFamily="34" charset="-120"/>
              </a:rPr>
              <a:t>NEXT</a:t>
            </a:r>
          </a:p>
        </p:txBody>
      </p:sp>
      <p:sp>
        <p:nvSpPr>
          <p:cNvPr id="15" name="Head 2"/>
          <p:cNvSpPr/>
          <p:nvPr/>
        </p:nvSpPr>
        <p:spPr>
          <a:xfrm>
            <a:off x="2804160" y="2680060"/>
            <a:ext cx="1485900" cy="560000"/>
          </a:xfrm>
          <a:prstGeom prst="rect">
            <a:avLst/>
          </a:prstGeom>
          <a:noFill/>
          <a:ln/>
        </p:spPr>
        <p:txBody>
          <a:bodyPr wrap="square" lIns="0" tIns="0" rIns="0" bIns="0" rtlCol="0" anchor="t"/>
          <a:lstStyle/>
          <a:p>
            <a:pPr marL="0" indent="0">
              <a:lnSpc>
                <a:spcPts val="1550"/>
              </a:lnSpc>
              <a:buNone/>
            </a:pPr>
            <a:r>
              <a:rPr lang="en-US" sz="1500" b="1">
                <a:solidFill>
                  <a:srgbClr val="1F3557"/>
                </a:solidFill>
                <a:latin typeface="Georgia" pitchFamily="34" charset="0"/>
                <a:ea typeface="Georgia" pitchFamily="34" charset="-122"/>
                <a:cs typeface="Georgia" pitchFamily="34" charset="-120"/>
              </a:rPr>
              <a:t>First calculation</a:t>
            </a:r>
          </a:p>
        </p:txBody>
      </p:sp>
      <p:sp>
        <p:nvSpPr>
          <p:cNvPr id="16" name="Desc 2"/>
          <p:cNvSpPr/>
          <p:nvPr/>
        </p:nvSpPr>
        <p:spPr>
          <a:xfrm>
            <a:off x="2804160" y="3260000"/>
            <a:ext cx="1485900" cy="850000"/>
          </a:xfrm>
          <a:prstGeom prst="rect">
            <a:avLst/>
          </a:prstGeom>
          <a:noFill/>
          <a:ln/>
        </p:spPr>
        <p:txBody>
          <a:bodyPr wrap="square" lIns="0" tIns="0" rIns="0" bIns="0" rtlCol="0" anchor="t"/>
          <a:lstStyle/>
          <a:p>
            <a:pPr marL="0" indent="0">
              <a:lnSpc>
                <a:spcPts val="1300"/>
              </a:lnSpc>
              <a:buNone/>
            </a:pPr>
            <a:r>
              <a:rPr lang="en-US" sz="1250">
                <a:solidFill>
                  <a:srgbClr val="6B6255"/>
                </a:solidFill>
                <a:latin typeface="Segoe UI" pitchFamily="34" charset="0"/>
                <a:ea typeface="Segoe UI" pitchFamily="34" charset="-122"/>
                <a:cs typeface="Segoe UI" pitchFamily="34" charset="-120"/>
              </a:rPr>
              <a:t>Keyboard input, decimal numbers, conditionals, loops, and a real estimate.</a:t>
            </a:r>
          </a:p>
        </p:txBody>
      </p:sp>
      <p:sp>
        <p:nvSpPr>
          <p:cNvPr id="17" name="Card 3"/>
          <p:cNvSpPr/>
          <p:nvPr/>
        </p:nvSpPr>
        <p:spPr>
          <a:xfrm>
            <a:off x="4648200" y="2200000"/>
            <a:ext cx="1897380" cy="2100000"/>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18" name="Cap 3"/>
          <p:cNvSpPr/>
          <p:nvPr/>
        </p:nvSpPr>
        <p:spPr>
          <a:xfrm>
            <a:off x="4648200" y="2200000"/>
            <a:ext cx="1897380" cy="68580"/>
          </a:xfrm>
          <a:prstGeom prst="rect">
            <a:avLst/>
          </a:prstGeom>
          <a:solidFill>
            <a:srgbClr val="1F3557"/>
          </a:solidFill>
          <a:ln/>
        </p:spPr>
        <p:txBody>
          <a:bodyPr/>
          <a:lstStyle/>
          <a:p>
            <a:endParaRPr lang="en-US"/>
          </a:p>
        </p:txBody>
      </p:sp>
      <p:sp>
        <p:nvSpPr>
          <p:cNvPr id="19" name="Stage 3"/>
          <p:cNvSpPr/>
          <p:nvPr/>
        </p:nvSpPr>
        <p:spPr>
          <a:xfrm>
            <a:off x="4853940" y="2405740"/>
            <a:ext cx="1485900" cy="240000"/>
          </a:xfrm>
          <a:prstGeom prst="rect">
            <a:avLst/>
          </a:prstGeom>
          <a:noFill/>
          <a:ln/>
        </p:spPr>
        <p:txBody>
          <a:bodyPr wrap="square" lIns="0" tIns="0" rIns="0" bIns="0" rtlCol="0" anchor="ctr"/>
          <a:lstStyle/>
          <a:p>
            <a:pPr marL="0" indent="0">
              <a:lnSpc>
                <a:spcPts val="1200"/>
              </a:lnSpc>
              <a:buNone/>
            </a:pPr>
            <a:r>
              <a:rPr lang="en-US" sz="1200" b="1" spc="200">
                <a:solidFill>
                  <a:srgbClr val="1F3557"/>
                </a:solidFill>
                <a:latin typeface="Segoe UI" pitchFamily="34" charset="0"/>
                <a:ea typeface="Segoe UI" pitchFamily="34" charset="-122"/>
                <a:cs typeface="Segoe UI" pitchFamily="34" charset="-120"/>
              </a:rPr>
              <a:t>THEN</a:t>
            </a:r>
          </a:p>
        </p:txBody>
      </p:sp>
      <p:sp>
        <p:nvSpPr>
          <p:cNvPr id="20" name="Head 3"/>
          <p:cNvSpPr/>
          <p:nvPr/>
        </p:nvSpPr>
        <p:spPr>
          <a:xfrm>
            <a:off x="4853940" y="2680060"/>
            <a:ext cx="1485900" cy="560000"/>
          </a:xfrm>
          <a:prstGeom prst="rect">
            <a:avLst/>
          </a:prstGeom>
          <a:noFill/>
          <a:ln/>
        </p:spPr>
        <p:txBody>
          <a:bodyPr wrap="square" lIns="0" tIns="0" rIns="0" bIns="0" rtlCol="0" anchor="t"/>
          <a:lstStyle/>
          <a:p>
            <a:pPr marL="0" indent="0">
              <a:lnSpc>
                <a:spcPts val="1550"/>
              </a:lnSpc>
              <a:buNone/>
            </a:pPr>
            <a:r>
              <a:rPr lang="en-US" sz="1500" b="1">
                <a:solidFill>
                  <a:srgbClr val="1F3557"/>
                </a:solidFill>
                <a:latin typeface="Georgia" pitchFamily="34" charset="0"/>
                <a:ea typeface="Georgia" pitchFamily="34" charset="-122"/>
                <a:cs typeface="Georgia" pitchFamily="34" charset="-120"/>
              </a:rPr>
              <a:t>Real structure</a:t>
            </a:r>
          </a:p>
        </p:txBody>
      </p:sp>
      <p:sp>
        <p:nvSpPr>
          <p:cNvPr id="21" name="Desc 3"/>
          <p:cNvSpPr/>
          <p:nvPr/>
        </p:nvSpPr>
        <p:spPr>
          <a:xfrm>
            <a:off x="4853940" y="3260000"/>
            <a:ext cx="1485900" cy="850000"/>
          </a:xfrm>
          <a:prstGeom prst="rect">
            <a:avLst/>
          </a:prstGeom>
          <a:noFill/>
          <a:ln/>
        </p:spPr>
        <p:txBody>
          <a:bodyPr wrap="square" lIns="0" tIns="0" rIns="0" bIns="0" rtlCol="0" anchor="t"/>
          <a:lstStyle/>
          <a:p>
            <a:pPr marL="0" indent="0">
              <a:lnSpc>
                <a:spcPts val="1300"/>
              </a:lnSpc>
              <a:buNone/>
            </a:pPr>
            <a:r>
              <a:rPr lang="en-US" sz="1250">
                <a:solidFill>
                  <a:srgbClr val="6B6255"/>
                </a:solidFill>
                <a:latin typeface="Segoe UI" pitchFamily="34" charset="0"/>
                <a:ea typeface="Segoe UI" pitchFamily="34" charset="-122"/>
                <a:cs typeface="Segoe UI" pitchFamily="34" charset="-120"/>
              </a:rPr>
              <a:t>Methods, classes and objects, inheritance, interfaces, collections, generics.</a:t>
            </a:r>
          </a:p>
        </p:txBody>
      </p:sp>
      <p:sp>
        <p:nvSpPr>
          <p:cNvPr id="22" name="Card 4"/>
          <p:cNvSpPr/>
          <p:nvPr/>
        </p:nvSpPr>
        <p:spPr>
          <a:xfrm>
            <a:off x="6697980" y="2200000"/>
            <a:ext cx="1897380" cy="2100000"/>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23" name="Cap 4"/>
          <p:cNvSpPr/>
          <p:nvPr/>
        </p:nvSpPr>
        <p:spPr>
          <a:xfrm>
            <a:off x="6697980" y="2200000"/>
            <a:ext cx="1897380" cy="68580"/>
          </a:xfrm>
          <a:prstGeom prst="rect">
            <a:avLst/>
          </a:prstGeom>
          <a:solidFill>
            <a:srgbClr val="1F3557"/>
          </a:solidFill>
          <a:ln/>
        </p:spPr>
        <p:txBody>
          <a:bodyPr/>
          <a:lstStyle/>
          <a:p>
            <a:endParaRPr lang="en-US"/>
          </a:p>
        </p:txBody>
      </p:sp>
      <p:sp>
        <p:nvSpPr>
          <p:cNvPr id="24" name="Stage 4"/>
          <p:cNvSpPr/>
          <p:nvPr/>
        </p:nvSpPr>
        <p:spPr>
          <a:xfrm>
            <a:off x="6903720" y="2405740"/>
            <a:ext cx="1485900" cy="240000"/>
          </a:xfrm>
          <a:prstGeom prst="rect">
            <a:avLst/>
          </a:prstGeom>
          <a:noFill/>
          <a:ln/>
        </p:spPr>
        <p:txBody>
          <a:bodyPr wrap="square" lIns="0" tIns="0" rIns="0" bIns="0" rtlCol="0" anchor="ctr"/>
          <a:lstStyle/>
          <a:p>
            <a:pPr marL="0" indent="0">
              <a:lnSpc>
                <a:spcPts val="1200"/>
              </a:lnSpc>
              <a:buNone/>
            </a:pPr>
            <a:r>
              <a:rPr lang="en-US" sz="1200" b="1" spc="200">
                <a:solidFill>
                  <a:srgbClr val="1F3557"/>
                </a:solidFill>
                <a:latin typeface="Segoe UI" pitchFamily="34" charset="0"/>
                <a:ea typeface="Segoe UI" pitchFamily="34" charset="-122"/>
                <a:cs typeface="Segoe UI" pitchFamily="34" charset="-120"/>
              </a:rPr>
              <a:t>LATER</a:t>
            </a:r>
          </a:p>
        </p:txBody>
      </p:sp>
      <p:sp>
        <p:nvSpPr>
          <p:cNvPr id="25" name="Head 4"/>
          <p:cNvSpPr/>
          <p:nvPr/>
        </p:nvSpPr>
        <p:spPr>
          <a:xfrm>
            <a:off x="6903720" y="2680060"/>
            <a:ext cx="1485900" cy="560000"/>
          </a:xfrm>
          <a:prstGeom prst="rect">
            <a:avLst/>
          </a:prstGeom>
          <a:noFill/>
          <a:ln/>
        </p:spPr>
        <p:txBody>
          <a:bodyPr wrap="square" lIns="0" tIns="0" rIns="0" bIns="0" rtlCol="0" anchor="t"/>
          <a:lstStyle/>
          <a:p>
            <a:pPr marL="0" indent="0">
              <a:lnSpc>
                <a:spcPts val="1550"/>
              </a:lnSpc>
              <a:buNone/>
            </a:pPr>
            <a:r>
              <a:rPr lang="en-US" sz="1500" b="1">
                <a:solidFill>
                  <a:srgbClr val="1F3557"/>
                </a:solidFill>
                <a:latin typeface="Georgia" pitchFamily="34" charset="0"/>
                <a:ea typeface="Georgia" pitchFamily="34" charset="-122"/>
                <a:cs typeface="Georgia" pitchFamily="34" charset="-120"/>
              </a:rPr>
              <a:t>Production shape</a:t>
            </a:r>
          </a:p>
        </p:txBody>
      </p:sp>
      <p:sp>
        <p:nvSpPr>
          <p:cNvPr id="26" name="Desc 4"/>
          <p:cNvSpPr/>
          <p:nvPr/>
        </p:nvSpPr>
        <p:spPr>
          <a:xfrm>
            <a:off x="6903720" y="3260000"/>
            <a:ext cx="1485900" cy="850000"/>
          </a:xfrm>
          <a:prstGeom prst="rect">
            <a:avLst/>
          </a:prstGeom>
          <a:noFill/>
          <a:ln/>
        </p:spPr>
        <p:txBody>
          <a:bodyPr wrap="square" lIns="0" tIns="0" rIns="0" bIns="0" rtlCol="0" anchor="t"/>
          <a:lstStyle/>
          <a:p>
            <a:pPr marL="0" indent="0">
              <a:lnSpc>
                <a:spcPts val="1300"/>
              </a:lnSpc>
              <a:buNone/>
            </a:pPr>
            <a:r>
              <a:rPr lang="en-US" sz="1250">
                <a:solidFill>
                  <a:srgbClr val="6B6255"/>
                </a:solidFill>
                <a:latin typeface="Segoe UI" pitchFamily="34" charset="0"/>
                <a:ea typeface="Segoe UI" pitchFamily="34" charset="-122"/>
                <a:cs typeface="Segoe UI" pitchFamily="34" charset="-120"/>
              </a:rPr>
              <a:t>Strings, JDBC and H2, the DAO pattern, lambdas, streams, and the capstone.</a:t>
            </a:r>
          </a:p>
        </p:txBody>
      </p:sp>
      <p:sp>
        <p:nvSpPr>
          <p:cNvPr id="27" name="Footer"/>
          <p:cNvSpPr/>
          <p:nvPr/>
        </p:nvSpPr>
        <p:spPr>
          <a:xfrm>
            <a:off x="548640" y="4560000"/>
            <a:ext cx="8046720" cy="320000"/>
          </a:xfrm>
          <a:prstGeom prst="rect">
            <a:avLst/>
          </a:prstGeom>
          <a:noFill/>
          <a:ln/>
        </p:spPr>
        <p:txBody>
          <a:bodyPr wrap="square" lIns="0" tIns="0" rIns="0" bIns="0" rtlCol="0" anchor="ctr"/>
          <a:lstStyle/>
          <a:p>
            <a:pPr marL="0" indent="0">
              <a:lnSpc>
                <a:spcPts val="1300"/>
              </a:lnSpc>
              <a:buNone/>
            </a:pPr>
            <a:r>
              <a:rPr lang="en-US" sz="1250" i="1">
                <a:solidFill>
                  <a:srgbClr val="1F3557"/>
                </a:solidFill>
                <a:latin typeface="Segoe UI" pitchFamily="34" charset="0"/>
                <a:ea typeface="Segoe UI" pitchFamily="34" charset="-122"/>
                <a:cs typeface="Segoe UI" pitchFamily="34" charset="-120"/>
              </a:rPr>
              <a:t>Keep every file you write today — tomorrow's program starts from them.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etup and verify">
    <p:bg>
      <p:bgPr>
        <a:solidFill>
          <a:srgbClr val="F5EFE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EFE2"/>
          </a:solidFill>
          <a:ln w="3175">
            <a:solidFill>
              <a:srgbClr val="F5EFE2"/>
            </a:solidFill>
            <a:prstDash val="solid"/>
          </a:ln>
        </p:spPr>
        <p:txBody>
          <a:bodyPr/>
          <a:lstStyle/>
          <a:p>
            <a:endParaRPr lang="en-US"/>
          </a:p>
        </p:txBody>
      </p:sp>
      <p:sp>
        <p:nvSpPr>
          <p:cNvPr id="3" name="Text 1"/>
          <p:cNvSpPr/>
          <p:nvPr/>
        </p:nvSpPr>
        <p:spPr>
          <a:xfrm>
            <a:off x="548640" y="384048"/>
            <a:ext cx="5943600" cy="274320"/>
          </a:xfrm>
          <a:prstGeom prst="rect">
            <a:avLst/>
          </a:prstGeom>
          <a:noFill/>
          <a:ln/>
        </p:spPr>
        <p:txBody>
          <a:bodyPr wrap="square" lIns="0" tIns="0" rIns="0" bIns="0" rtlCol="0" anchor="ctr"/>
          <a:lstStyle/>
          <a:p>
            <a:pPr marL="0" indent="0">
              <a:buNone/>
            </a:pPr>
            <a:r>
              <a:rPr lang="en-US" sz="1300" b="1" kern="0" spc="300">
                <a:solidFill>
                  <a:srgbClr val="A9552F"/>
                </a:solidFill>
                <a:latin typeface="Segoe UI" pitchFamily="34" charset="0"/>
                <a:ea typeface="Segoe UI" pitchFamily="34" charset="-122"/>
                <a:cs typeface="Segoe UI" pitchFamily="34" charset="-120"/>
              </a:rPr>
              <a:t>SET UP AND VERIFY</a:t>
            </a:r>
            <a:endParaRPr lang="en-US" sz="1300"/>
          </a:p>
        </p:txBody>
      </p:sp>
      <p:sp>
        <p:nvSpPr>
          <p:cNvPr id="4" name="Text 2"/>
          <p:cNvSpPr/>
          <p:nvPr/>
        </p:nvSpPr>
        <p:spPr>
          <a:xfrm>
            <a:off x="530352" y="676656"/>
            <a:ext cx="7200000" cy="548640"/>
          </a:xfrm>
          <a:prstGeom prst="rect">
            <a:avLst/>
          </a:prstGeom>
          <a:noFill/>
          <a:ln/>
        </p:spPr>
        <p:txBody>
          <a:bodyPr wrap="square" lIns="0" tIns="0" rIns="0" bIns="0" rtlCol="0" anchor="ctr"/>
          <a:lstStyle/>
          <a:p>
            <a:pPr marL="0" indent="0">
              <a:buNone/>
            </a:pPr>
            <a:r>
              <a:rPr lang="en-US" sz="2600" b="1">
                <a:solidFill>
                  <a:srgbClr val="1F3557"/>
                </a:solidFill>
                <a:latin typeface="Georgia" pitchFamily="34" charset="0"/>
                <a:ea typeface="Georgia" pitchFamily="34" charset="-122"/>
                <a:cs typeface="Georgia" pitchFamily="34" charset="-120"/>
              </a:rPr>
              <a:t>Get the tools ready first</a:t>
            </a:r>
            <a:endParaRPr lang="en-US" sz="3200"/>
          </a:p>
        </p:txBody>
      </p:sp>
      <p:sp>
        <p:nvSpPr>
          <p:cNvPr id="5" name="Shape 3"/>
          <p:cNvSpPr/>
          <p:nvPr/>
        </p:nvSpPr>
        <p:spPr>
          <a:xfrm>
            <a:off x="548640" y="1316736"/>
            <a:ext cx="1280160" cy="0"/>
          </a:xfrm>
          <a:prstGeom prst="line">
            <a:avLst/>
          </a:prstGeom>
          <a:noFill/>
          <a:ln w="28575">
            <a:solidFill>
              <a:srgbClr val="A9552F"/>
            </a:solidFill>
            <a:prstDash val="solid"/>
          </a:ln>
        </p:spPr>
        <p:txBody>
          <a:bodyPr/>
          <a:lstStyle/>
          <a:p>
            <a:endParaRPr lang="en-US"/>
          </a:p>
        </p:txBody>
      </p:sp>
      <p:sp>
        <p:nvSpPr>
          <p:cNvPr id="6" name="Steps head"/>
          <p:cNvSpPr/>
          <p:nvPr/>
        </p:nvSpPr>
        <p:spPr>
          <a:xfrm>
            <a:off x="548640" y="1600200"/>
            <a:ext cx="4297680" cy="260000"/>
          </a:xfrm>
          <a:prstGeom prst="rect">
            <a:avLst/>
          </a:prstGeom>
          <a:noFill/>
          <a:ln/>
        </p:spPr>
        <p:txBody>
          <a:bodyPr wrap="square" lIns="0" tIns="0" rIns="0" bIns="0" rtlCol="0" anchor="t"/>
          <a:lstStyle/>
          <a:p>
            <a:pPr marL="0" indent="0">
              <a:lnSpc>
                <a:spcPts val="1300"/>
              </a:lnSpc>
              <a:buNone/>
            </a:pPr>
            <a:r>
              <a:rPr lang="en-US" sz="1250" b="1" spc="200">
                <a:solidFill>
                  <a:srgbClr val="A9552F"/>
                </a:solidFill>
                <a:latin typeface="Segoe UI" pitchFamily="34" charset="0"/>
                <a:ea typeface="Segoe UI" pitchFamily="34" charset="-122"/>
                <a:cs typeface="Segoe UI" pitchFamily="34" charset="-120"/>
              </a:rPr>
              <a:t>BEFORE ANY JAVA</a:t>
            </a:r>
          </a:p>
        </p:txBody>
      </p:sp>
      <p:sp>
        <p:nvSpPr>
          <p:cNvPr id="7" name="Num bg 1"/>
          <p:cNvSpPr/>
          <p:nvPr/>
        </p:nvSpPr>
        <p:spPr>
          <a:xfrm>
            <a:off x="548640" y="1960200"/>
            <a:ext cx="297180" cy="297180"/>
          </a:xfrm>
          <a:prstGeom prst="roundRect">
            <a:avLst>
              <a:gd name="adj" fmla="val 15000"/>
            </a:avLst>
          </a:prstGeom>
          <a:solidFill>
            <a:srgbClr val="A9552F"/>
          </a:solidFill>
          <a:ln/>
        </p:spPr>
        <p:txBody>
          <a:bodyPr/>
          <a:lstStyle/>
          <a:p>
            <a:endParaRPr lang="en-US"/>
          </a:p>
        </p:txBody>
      </p:sp>
      <p:sp>
        <p:nvSpPr>
          <p:cNvPr id="8" name="Num 1"/>
          <p:cNvSpPr/>
          <p:nvPr/>
        </p:nvSpPr>
        <p:spPr>
          <a:xfrm>
            <a:off x="548640" y="1960200"/>
            <a:ext cx="297180" cy="297180"/>
          </a:xfrm>
          <a:prstGeom prst="rect">
            <a:avLst/>
          </a:prstGeom>
          <a:noFill/>
          <a:ln/>
        </p:spPr>
        <p:txBody>
          <a:bodyPr wrap="square" lIns="0" tIns="0" rIns="0" bIns="0" rtlCol="0" anchor="ctr"/>
          <a:lstStyle/>
          <a:p>
            <a:pPr marL="0" indent="0" algn="ctr">
              <a:lnSpc>
                <a:spcPts val="1200"/>
              </a:lnSpc>
              <a:buNone/>
            </a:pPr>
            <a:r>
              <a:rPr lang="en-US" sz="1250" b="1">
                <a:solidFill>
                  <a:srgbClr val="F5EFE2"/>
                </a:solidFill>
                <a:latin typeface="Segoe UI" pitchFamily="34" charset="0"/>
                <a:ea typeface="Segoe UI" pitchFamily="34" charset="-122"/>
                <a:cs typeface="Segoe UI" pitchFamily="34" charset="-120"/>
              </a:rPr>
              <a:t>1</a:t>
            </a:r>
          </a:p>
        </p:txBody>
      </p:sp>
      <p:sp>
        <p:nvSpPr>
          <p:cNvPr id="9" name="Step 1"/>
          <p:cNvSpPr/>
          <p:nvPr/>
        </p:nvSpPr>
        <p:spPr>
          <a:xfrm>
            <a:off x="982980" y="1930200"/>
            <a:ext cx="3863340" cy="560000"/>
          </a:xfrm>
          <a:prstGeom prst="rect">
            <a:avLst/>
          </a:prstGeom>
          <a:noFill/>
          <a:ln/>
        </p:spPr>
        <p:txBody>
          <a:bodyPr wrap="square" lIns="0" tIns="0" rIns="0" bIns="0" rtlCol="0" anchor="t"/>
          <a:lstStyle/>
          <a:p>
            <a:pPr marL="0" indent="0">
              <a:lnSpc>
                <a:spcPts val="1400"/>
              </a:lnSpc>
              <a:buNone/>
            </a:pPr>
            <a:r>
              <a:rPr lang="en-US" sz="1400" b="1">
                <a:solidFill>
                  <a:srgbClr val="1F3557"/>
                </a:solidFill>
                <a:latin typeface="Segoe UI" pitchFamily="34" charset="0"/>
                <a:ea typeface="Segoe UI" pitchFamily="34" charset="-122"/>
                <a:cs typeface="Segoe UI" pitchFamily="34" charset="-120"/>
              </a:rPr>
              <a:t>Create the folder</a:t>
            </a:r>
          </a:p>
          <a:p>
            <a:pPr marL="0" indent="0">
              <a:lnSpc>
                <a:spcPts val="1300"/>
              </a:lnSpc>
              <a:buNone/>
            </a:pPr>
            <a:r>
              <a:rPr lang="en-US" sz="1250">
                <a:solidFill>
                  <a:srgbClr val="6B6255"/>
                </a:solidFill>
                <a:latin typeface="Segoe UI" pitchFamily="34" charset="0"/>
                <a:ea typeface="Segoe UI" pitchFamily="34" charset="-122"/>
                <a:cs typeface="Segoe UI" pitchFamily="34" charset="-120"/>
              </a:rPr>
              <a:t>C:\JavaBasicsCourse\Day01\learning — one place for everything you write today.</a:t>
            </a:r>
          </a:p>
        </p:txBody>
      </p:sp>
      <p:sp>
        <p:nvSpPr>
          <p:cNvPr id="10" name="Num bg 2"/>
          <p:cNvSpPr/>
          <p:nvPr/>
        </p:nvSpPr>
        <p:spPr>
          <a:xfrm>
            <a:off x="548640" y="2590200"/>
            <a:ext cx="297180" cy="297180"/>
          </a:xfrm>
          <a:prstGeom prst="roundRect">
            <a:avLst>
              <a:gd name="adj" fmla="val 15000"/>
            </a:avLst>
          </a:prstGeom>
          <a:solidFill>
            <a:srgbClr val="A9552F"/>
          </a:solidFill>
          <a:ln/>
        </p:spPr>
        <p:txBody>
          <a:bodyPr/>
          <a:lstStyle/>
          <a:p>
            <a:endParaRPr lang="en-US"/>
          </a:p>
        </p:txBody>
      </p:sp>
      <p:sp>
        <p:nvSpPr>
          <p:cNvPr id="11" name="Num 2"/>
          <p:cNvSpPr/>
          <p:nvPr/>
        </p:nvSpPr>
        <p:spPr>
          <a:xfrm>
            <a:off x="548640" y="2590200"/>
            <a:ext cx="297180" cy="297180"/>
          </a:xfrm>
          <a:prstGeom prst="rect">
            <a:avLst/>
          </a:prstGeom>
          <a:noFill/>
          <a:ln/>
        </p:spPr>
        <p:txBody>
          <a:bodyPr wrap="square" lIns="0" tIns="0" rIns="0" bIns="0" rtlCol="0" anchor="ctr"/>
          <a:lstStyle/>
          <a:p>
            <a:pPr marL="0" indent="0" algn="ctr">
              <a:lnSpc>
                <a:spcPts val="1200"/>
              </a:lnSpc>
              <a:buNone/>
            </a:pPr>
            <a:r>
              <a:rPr lang="en-US" sz="1250" b="1">
                <a:solidFill>
                  <a:srgbClr val="F5EFE2"/>
                </a:solidFill>
                <a:latin typeface="Segoe UI" pitchFamily="34" charset="0"/>
                <a:ea typeface="Segoe UI" pitchFamily="34" charset="-122"/>
                <a:cs typeface="Segoe UI" pitchFamily="34" charset="-120"/>
              </a:rPr>
              <a:t>2</a:t>
            </a:r>
          </a:p>
        </p:txBody>
      </p:sp>
      <p:sp>
        <p:nvSpPr>
          <p:cNvPr id="12" name="Step 2"/>
          <p:cNvSpPr/>
          <p:nvPr/>
        </p:nvSpPr>
        <p:spPr>
          <a:xfrm>
            <a:off x="982980" y="2560200"/>
            <a:ext cx="3863340" cy="560000"/>
          </a:xfrm>
          <a:prstGeom prst="rect">
            <a:avLst/>
          </a:prstGeom>
          <a:noFill/>
          <a:ln/>
        </p:spPr>
        <p:txBody>
          <a:bodyPr wrap="square" lIns="0" tIns="0" rIns="0" bIns="0" rtlCol="0" anchor="t"/>
          <a:lstStyle/>
          <a:p>
            <a:pPr marL="0" indent="0">
              <a:lnSpc>
                <a:spcPts val="1400"/>
              </a:lnSpc>
              <a:buNone/>
            </a:pPr>
            <a:r>
              <a:rPr lang="en-US" sz="1400" b="1">
                <a:solidFill>
                  <a:srgbClr val="1F3557"/>
                </a:solidFill>
                <a:latin typeface="Segoe UI" pitchFamily="34" charset="0"/>
                <a:ea typeface="Segoe UI" pitchFamily="34" charset="-122"/>
                <a:cs typeface="Segoe UI" pitchFamily="34" charset="-120"/>
              </a:rPr>
              <a:t>Open it in VS Code</a:t>
            </a:r>
          </a:p>
          <a:p>
            <a:pPr marL="0" indent="0">
              <a:lnSpc>
                <a:spcPts val="1300"/>
              </a:lnSpc>
              <a:buNone/>
            </a:pPr>
            <a:r>
              <a:rPr lang="en-US" sz="1250">
                <a:solidFill>
                  <a:srgbClr val="6B6255"/>
                </a:solidFill>
                <a:latin typeface="Segoe UI" pitchFamily="34" charset="0"/>
                <a:ea typeface="Segoe UI" pitchFamily="34" charset="-122"/>
                <a:cs typeface="Segoe UI" pitchFamily="34" charset="-120"/>
              </a:rPr>
              <a:t>File &gt; Open Folder. The folder name must appear in the Explorer pane.</a:t>
            </a:r>
          </a:p>
        </p:txBody>
      </p:sp>
      <p:sp>
        <p:nvSpPr>
          <p:cNvPr id="13" name="Num bg 3"/>
          <p:cNvSpPr/>
          <p:nvPr/>
        </p:nvSpPr>
        <p:spPr>
          <a:xfrm>
            <a:off x="548640" y="3220200"/>
            <a:ext cx="297180" cy="297180"/>
          </a:xfrm>
          <a:prstGeom prst="roundRect">
            <a:avLst>
              <a:gd name="adj" fmla="val 15000"/>
            </a:avLst>
          </a:prstGeom>
          <a:solidFill>
            <a:srgbClr val="A9552F"/>
          </a:solidFill>
          <a:ln/>
        </p:spPr>
        <p:txBody>
          <a:bodyPr/>
          <a:lstStyle/>
          <a:p>
            <a:endParaRPr lang="en-US"/>
          </a:p>
        </p:txBody>
      </p:sp>
      <p:sp>
        <p:nvSpPr>
          <p:cNvPr id="14" name="Num 3"/>
          <p:cNvSpPr/>
          <p:nvPr/>
        </p:nvSpPr>
        <p:spPr>
          <a:xfrm>
            <a:off x="548640" y="3220200"/>
            <a:ext cx="297180" cy="297180"/>
          </a:xfrm>
          <a:prstGeom prst="rect">
            <a:avLst/>
          </a:prstGeom>
          <a:noFill/>
          <a:ln/>
        </p:spPr>
        <p:txBody>
          <a:bodyPr wrap="square" lIns="0" tIns="0" rIns="0" bIns="0" rtlCol="0" anchor="ctr"/>
          <a:lstStyle/>
          <a:p>
            <a:pPr marL="0" indent="0" algn="ctr">
              <a:lnSpc>
                <a:spcPts val="1200"/>
              </a:lnSpc>
              <a:buNone/>
            </a:pPr>
            <a:r>
              <a:rPr lang="en-US" sz="1250" b="1">
                <a:solidFill>
                  <a:srgbClr val="F5EFE2"/>
                </a:solidFill>
                <a:latin typeface="Segoe UI" pitchFamily="34" charset="0"/>
                <a:ea typeface="Segoe UI" pitchFamily="34" charset="-122"/>
                <a:cs typeface="Segoe UI" pitchFamily="34" charset="-120"/>
              </a:rPr>
              <a:t>3</a:t>
            </a:r>
          </a:p>
        </p:txBody>
      </p:sp>
      <p:sp>
        <p:nvSpPr>
          <p:cNvPr id="15" name="Step 3"/>
          <p:cNvSpPr/>
          <p:nvPr/>
        </p:nvSpPr>
        <p:spPr>
          <a:xfrm>
            <a:off x="982980" y="3190200"/>
            <a:ext cx="3863340" cy="560000"/>
          </a:xfrm>
          <a:prstGeom prst="rect">
            <a:avLst/>
          </a:prstGeom>
          <a:noFill/>
          <a:ln/>
        </p:spPr>
        <p:txBody>
          <a:bodyPr wrap="square" lIns="0" tIns="0" rIns="0" bIns="0" rtlCol="0" anchor="t"/>
          <a:lstStyle/>
          <a:p>
            <a:pPr marL="0" indent="0">
              <a:lnSpc>
                <a:spcPts val="1400"/>
              </a:lnSpc>
              <a:buNone/>
            </a:pPr>
            <a:r>
              <a:rPr lang="en-US" sz="1400" b="1">
                <a:solidFill>
                  <a:srgbClr val="1F3557"/>
                </a:solidFill>
                <a:latin typeface="Segoe UI" pitchFamily="34" charset="0"/>
                <a:ea typeface="Segoe UI" pitchFamily="34" charset="-122"/>
                <a:cs typeface="Segoe UI" pitchFamily="34" charset="-120"/>
              </a:rPr>
              <a:t>Open the terminal</a:t>
            </a:r>
          </a:p>
          <a:p>
            <a:pPr marL="0" indent="0">
              <a:lnSpc>
                <a:spcPts val="1300"/>
              </a:lnSpc>
              <a:buNone/>
            </a:pPr>
            <a:r>
              <a:rPr lang="en-US" sz="1250">
                <a:solidFill>
                  <a:srgbClr val="6B6255"/>
                </a:solidFill>
                <a:latin typeface="Segoe UI" pitchFamily="34" charset="0"/>
                <a:ea typeface="Segoe UI" pitchFamily="34" charset="-122"/>
                <a:cs typeface="Segoe UI" pitchFamily="34" charset="-120"/>
              </a:rPr>
              <a:t>Terminal &gt; New Terminal. The prompt must point at that same folder.</a:t>
            </a:r>
          </a:p>
        </p:txBody>
      </p:sp>
      <p:sp>
        <p:nvSpPr>
          <p:cNvPr id="16" name="Num bg 4"/>
          <p:cNvSpPr/>
          <p:nvPr/>
        </p:nvSpPr>
        <p:spPr>
          <a:xfrm>
            <a:off x="548640" y="3850200"/>
            <a:ext cx="297180" cy="297180"/>
          </a:xfrm>
          <a:prstGeom prst="roundRect">
            <a:avLst>
              <a:gd name="adj" fmla="val 15000"/>
            </a:avLst>
          </a:prstGeom>
          <a:solidFill>
            <a:srgbClr val="A9552F"/>
          </a:solidFill>
          <a:ln/>
        </p:spPr>
        <p:txBody>
          <a:bodyPr/>
          <a:lstStyle/>
          <a:p>
            <a:endParaRPr lang="en-US"/>
          </a:p>
        </p:txBody>
      </p:sp>
      <p:sp>
        <p:nvSpPr>
          <p:cNvPr id="17" name="Num 4"/>
          <p:cNvSpPr/>
          <p:nvPr/>
        </p:nvSpPr>
        <p:spPr>
          <a:xfrm>
            <a:off x="548640" y="3850200"/>
            <a:ext cx="297180" cy="297180"/>
          </a:xfrm>
          <a:prstGeom prst="rect">
            <a:avLst/>
          </a:prstGeom>
          <a:noFill/>
          <a:ln/>
        </p:spPr>
        <p:txBody>
          <a:bodyPr wrap="square" lIns="0" tIns="0" rIns="0" bIns="0" rtlCol="0" anchor="ctr"/>
          <a:lstStyle/>
          <a:p>
            <a:pPr marL="0" indent="0" algn="ctr">
              <a:lnSpc>
                <a:spcPts val="1200"/>
              </a:lnSpc>
              <a:buNone/>
            </a:pPr>
            <a:r>
              <a:rPr lang="en-US" sz="1250" b="1">
                <a:solidFill>
                  <a:srgbClr val="F5EFE2"/>
                </a:solidFill>
                <a:latin typeface="Segoe UI" pitchFamily="34" charset="0"/>
                <a:ea typeface="Segoe UI" pitchFamily="34" charset="-122"/>
                <a:cs typeface="Segoe UI" pitchFamily="34" charset="-120"/>
              </a:rPr>
              <a:t>4</a:t>
            </a:r>
          </a:p>
        </p:txBody>
      </p:sp>
      <p:sp>
        <p:nvSpPr>
          <p:cNvPr id="18" name="Step 4"/>
          <p:cNvSpPr/>
          <p:nvPr/>
        </p:nvSpPr>
        <p:spPr>
          <a:xfrm>
            <a:off x="982980" y="3820200"/>
            <a:ext cx="3863340" cy="560000"/>
          </a:xfrm>
          <a:prstGeom prst="rect">
            <a:avLst/>
          </a:prstGeom>
          <a:noFill/>
          <a:ln/>
        </p:spPr>
        <p:txBody>
          <a:bodyPr wrap="square" lIns="0" tIns="0" rIns="0" bIns="0" rtlCol="0" anchor="t"/>
          <a:lstStyle/>
          <a:p>
            <a:pPr marL="0" indent="0">
              <a:lnSpc>
                <a:spcPts val="1400"/>
              </a:lnSpc>
              <a:buNone/>
            </a:pPr>
            <a:r>
              <a:rPr lang="en-US" sz="1400" b="1">
                <a:solidFill>
                  <a:srgbClr val="1F3557"/>
                </a:solidFill>
                <a:latin typeface="Segoe UI" pitchFamily="34" charset="0"/>
                <a:ea typeface="Segoe UI" pitchFamily="34" charset="-122"/>
                <a:cs typeface="Segoe UI" pitchFamily="34" charset="-120"/>
              </a:rPr>
              <a:t>Prove the tools work</a:t>
            </a:r>
          </a:p>
          <a:p>
            <a:pPr marL="0" indent="0">
              <a:lnSpc>
                <a:spcPts val="1300"/>
              </a:lnSpc>
              <a:buNone/>
            </a:pPr>
            <a:r>
              <a:rPr lang="en-US" sz="1250">
                <a:solidFill>
                  <a:srgbClr val="6B6255"/>
                </a:solidFill>
                <a:latin typeface="Segoe UI" pitchFamily="34" charset="0"/>
                <a:ea typeface="Segoe UI" pitchFamily="34" charset="-122"/>
                <a:cs typeface="Segoe UI" pitchFamily="34" charset="-120"/>
              </a:rPr>
              <a:t>Run java -version, then javac -version, in that terminal.</a:t>
            </a:r>
          </a:p>
        </p:txBody>
      </p:sp>
      <p:sp>
        <p:nvSpPr>
          <p:cNvPr id="19" name="Verify head"/>
          <p:cNvSpPr/>
          <p:nvPr/>
        </p:nvSpPr>
        <p:spPr>
          <a:xfrm>
            <a:off x="5303520" y="1600200"/>
            <a:ext cx="3291840" cy="260000"/>
          </a:xfrm>
          <a:prstGeom prst="rect">
            <a:avLst/>
          </a:prstGeom>
          <a:noFill/>
          <a:ln/>
        </p:spPr>
        <p:txBody>
          <a:bodyPr wrap="square" lIns="0" tIns="0" rIns="0" bIns="0" rtlCol="0" anchor="t"/>
          <a:lstStyle/>
          <a:p>
            <a:pPr marL="0" indent="0">
              <a:lnSpc>
                <a:spcPts val="1300"/>
              </a:lnSpc>
              <a:buNone/>
            </a:pPr>
            <a:r>
              <a:rPr lang="en-US" sz="1250" b="1" spc="200">
                <a:solidFill>
                  <a:srgbClr val="A9552F"/>
                </a:solidFill>
                <a:latin typeface="Segoe UI" pitchFamily="34" charset="0"/>
                <a:ea typeface="Segoe UI" pitchFamily="34" charset="-122"/>
                <a:cs typeface="Segoe UI" pitchFamily="34" charset="-120"/>
              </a:rPr>
              <a:t>EXPECTED IN THE TERMINAL</a:t>
            </a:r>
          </a:p>
        </p:txBody>
      </p:sp>
      <p:sp>
        <p:nvSpPr>
          <p:cNvPr id="20" name="Term panel"/>
          <p:cNvSpPr/>
          <p:nvPr/>
        </p:nvSpPr>
        <p:spPr>
          <a:xfrm>
            <a:off x="5303520" y="1930200"/>
            <a:ext cx="3291840" cy="1100000"/>
          </a:xfrm>
          <a:prstGeom prst="roundRect">
            <a:avLst>
              <a:gd name="adj" fmla="val 2500"/>
            </a:avLst>
          </a:prstGeom>
          <a:solidFill>
            <a:srgbClr val="EFE7D6"/>
          </a:solidFill>
          <a:ln w="9525">
            <a:solidFill>
              <a:srgbClr val="1F3557"/>
            </a:solidFill>
            <a:prstDash val="solid"/>
          </a:ln>
        </p:spPr>
        <p:txBody>
          <a:bodyPr/>
          <a:lstStyle/>
          <a:p>
            <a:endParaRPr lang="en-US"/>
          </a:p>
        </p:txBody>
      </p:sp>
      <p:sp>
        <p:nvSpPr>
          <p:cNvPr id="21" name="Term"/>
          <p:cNvSpPr/>
          <p:nvPr/>
        </p:nvSpPr>
        <p:spPr>
          <a:xfrm>
            <a:off x="5509260" y="2080260"/>
            <a:ext cx="2880360" cy="820000"/>
          </a:xfrm>
          <a:prstGeom prst="rect">
            <a:avLst/>
          </a:prstGeom>
          <a:noFill/>
          <a:ln/>
        </p:spPr>
        <p:txBody>
          <a:bodyPr wrap="square" lIns="0" tIns="0" rIns="0" bIns="0" rtlCol="0" anchor="t"/>
          <a:lstStyle/>
          <a:p>
            <a:pPr marL="0" indent="0">
              <a:lnSpc>
                <a:spcPts val="1250"/>
              </a:lnSpc>
              <a:buNone/>
            </a:pPr>
            <a:r>
              <a:rPr lang="en-US" sz="1050">
                <a:solidFill>
                  <a:srgbClr val="1F3557"/>
                </a:solidFill>
                <a:latin typeface="Consolas" pitchFamily="34" charset="0"/>
                <a:ea typeface="Consolas" pitchFamily="34" charset="-122"/>
                <a:cs typeface="Consolas" pitchFamily="34" charset="-120"/>
              </a:rPr>
              <a:t>&gt; java -version</a:t>
            </a:r>
          </a:p>
          <a:p>
            <a:pPr marL="0" indent="0">
              <a:lnSpc>
                <a:spcPts val="1250"/>
              </a:lnSpc>
              <a:buNone/>
            </a:pPr>
            <a:r>
              <a:rPr lang="en-US" sz="1050">
                <a:solidFill>
                  <a:srgbClr val="1F3557"/>
                </a:solidFill>
                <a:latin typeface="Consolas" pitchFamily="34" charset="0"/>
                <a:ea typeface="Consolas" pitchFamily="34" charset="-122"/>
                <a:cs typeface="Consolas" pitchFamily="34" charset="-120"/>
              </a:rPr>
              <a:t>openjdk version "21.0.x"</a:t>
            </a:r>
          </a:p>
          <a:p>
            <a:pPr marL="0" indent="0">
              <a:lnSpc>
                <a:spcPts val="1250"/>
              </a:lnSpc>
              <a:buNone/>
            </a:pPr>
            <a:r>
              <a:rPr lang="en-US" sz="1050">
                <a:solidFill>
                  <a:srgbClr val="1F3557"/>
                </a:solidFill>
                <a:latin typeface="Consolas" pitchFamily="34" charset="0"/>
                <a:ea typeface="Consolas" pitchFamily="34" charset="-122"/>
                <a:cs typeface="Consolas" pitchFamily="34" charset="-120"/>
              </a:rPr>
              <a:t> </a:t>
            </a:r>
          </a:p>
          <a:p>
            <a:pPr marL="0" indent="0">
              <a:lnSpc>
                <a:spcPts val="1250"/>
              </a:lnSpc>
              <a:buNone/>
            </a:pPr>
            <a:r>
              <a:rPr lang="en-US" sz="1050">
                <a:solidFill>
                  <a:srgbClr val="1F3557"/>
                </a:solidFill>
                <a:latin typeface="Consolas" pitchFamily="34" charset="0"/>
                <a:ea typeface="Consolas" pitchFamily="34" charset="-122"/>
                <a:cs typeface="Consolas" pitchFamily="34" charset="-120"/>
              </a:rPr>
              <a:t>&gt; javac -version</a:t>
            </a:r>
          </a:p>
          <a:p>
            <a:pPr marL="0" indent="0">
              <a:lnSpc>
                <a:spcPts val="1250"/>
              </a:lnSpc>
              <a:buNone/>
            </a:pPr>
            <a:r>
              <a:rPr lang="en-US" sz="1050">
                <a:solidFill>
                  <a:srgbClr val="1F3557"/>
                </a:solidFill>
                <a:latin typeface="Consolas" pitchFamily="34" charset="0"/>
                <a:ea typeface="Consolas" pitchFamily="34" charset="-122"/>
                <a:cs typeface="Consolas" pitchFamily="34" charset="-120"/>
              </a:rPr>
              <a:t>javac 21.0.x</a:t>
            </a:r>
          </a:p>
        </p:txBody>
      </p:sp>
      <p:sp>
        <p:nvSpPr>
          <p:cNvPr id="22" name="Warn bar"/>
          <p:cNvSpPr/>
          <p:nvPr/>
        </p:nvSpPr>
        <p:spPr>
          <a:xfrm>
            <a:off x="5303520" y="3160200"/>
            <a:ext cx="45720" cy="900000"/>
          </a:xfrm>
          <a:prstGeom prst="rect">
            <a:avLst/>
          </a:prstGeom>
          <a:solidFill>
            <a:srgbClr val="A9552F"/>
          </a:solidFill>
          <a:ln/>
        </p:spPr>
        <p:txBody>
          <a:bodyPr/>
          <a:lstStyle/>
          <a:p>
            <a:endParaRPr lang="en-US"/>
          </a:p>
        </p:txBody>
      </p:sp>
      <p:sp>
        <p:nvSpPr>
          <p:cNvPr id="23" name="Warn"/>
          <p:cNvSpPr/>
          <p:nvPr/>
        </p:nvSpPr>
        <p:spPr>
          <a:xfrm>
            <a:off x="5509260" y="3160200"/>
            <a:ext cx="3086100" cy="1150000"/>
          </a:xfrm>
          <a:prstGeom prst="rect">
            <a:avLst/>
          </a:prstGeom>
          <a:noFill/>
          <a:ln/>
        </p:spPr>
        <p:txBody>
          <a:bodyPr wrap="square" lIns="0" tIns="0" rIns="0" bIns="0" rtlCol="0" anchor="t"/>
          <a:lstStyle/>
          <a:p>
            <a:pPr marL="0" indent="0">
              <a:lnSpc>
                <a:spcPts val="1250"/>
              </a:lnSpc>
              <a:buNone/>
            </a:pPr>
            <a:r>
              <a:rPr lang="en-US" sz="1200" b="1" spc="150">
                <a:solidFill>
                  <a:srgbClr val="A9552F"/>
                </a:solidFill>
                <a:latin typeface="Segoe UI" pitchFamily="34" charset="0"/>
                <a:ea typeface="Segoe UI" pitchFamily="34" charset="-122"/>
                <a:cs typeface="Segoe UI" pitchFamily="34" charset="-120"/>
              </a:rPr>
              <a:t>WHY THIS MATTERS</a:t>
            </a:r>
          </a:p>
          <a:p>
            <a:pPr marL="0" indent="0">
              <a:lnSpc>
                <a:spcPts val="1350"/>
              </a:lnSpc>
              <a:buNone/>
            </a:pPr>
            <a:r>
              <a:rPr lang="en-US" sz="1250">
                <a:solidFill>
                  <a:srgbClr val="6B6255"/>
                </a:solidFill>
                <a:latin typeface="Segoe UI" pitchFamily="34" charset="0"/>
                <a:ea typeface="Segoe UI" pitchFamily="34" charset="-122"/>
                <a:cs typeface="Segoe UI" pitchFamily="34" charset="-120"/>
              </a:rPr>
              <a:t>Most first-day problems are folder problems. If the terminal sits in one folder and your .java file in another, javac and java will not find it.</a:t>
            </a:r>
          </a:p>
        </p:txBody>
      </p:sp>
      <p:sp>
        <p:nvSpPr>
          <p:cNvPr id="24" name="Note"/>
          <p:cNvSpPr/>
          <p:nvPr/>
        </p:nvSpPr>
        <p:spPr>
          <a:xfrm>
            <a:off x="5303520" y="4390200"/>
            <a:ext cx="3291840" cy="300000"/>
          </a:xfrm>
          <a:prstGeom prst="rect">
            <a:avLst/>
          </a:prstGeom>
          <a:noFill/>
          <a:ln/>
        </p:spPr>
        <p:txBody>
          <a:bodyPr wrap="square" lIns="0" tIns="0" rIns="0" bIns="0" rtlCol="0" anchor="t"/>
          <a:lstStyle/>
          <a:p>
            <a:pPr marL="0" indent="0">
              <a:lnSpc>
                <a:spcPts val="1250"/>
              </a:lnSpc>
              <a:buNone/>
            </a:pPr>
            <a:r>
              <a:rPr lang="en-US" sz="1200" i="1">
                <a:solidFill>
                  <a:srgbClr val="1F3557"/>
                </a:solidFill>
                <a:latin typeface="Segoe UI" pitchFamily="34" charset="0"/>
                <a:ea typeface="Segoe UI" pitchFamily="34" charset="-122"/>
                <a:cs typeface="Segoe UI" pitchFamily="34" charset="-120"/>
              </a:rPr>
              <a:t>Java 21 is the classroom standard; the patch number may differ.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2">
    <p:bg>
      <p:bgPr>
        <a:solidFill>
          <a:srgbClr val="F5EFE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EFE2"/>
          </a:solidFill>
          <a:ln w="3175">
            <a:solidFill>
              <a:srgbClr val="F5EFE2"/>
            </a:solidFill>
            <a:prstDash val="solid"/>
          </a:ln>
        </p:spPr>
        <p:txBody>
          <a:bodyPr/>
          <a:lstStyle/>
          <a:p>
            <a:endParaRPr lang="en-US"/>
          </a:p>
        </p:txBody>
      </p:sp>
      <p:sp>
        <p:nvSpPr>
          <p:cNvPr id="3" name="Text 1"/>
          <p:cNvSpPr/>
          <p:nvPr/>
        </p:nvSpPr>
        <p:spPr>
          <a:xfrm>
            <a:off x="548640" y="384048"/>
            <a:ext cx="5943600" cy="274320"/>
          </a:xfrm>
          <a:prstGeom prst="rect">
            <a:avLst/>
          </a:prstGeom>
          <a:noFill/>
          <a:ln/>
        </p:spPr>
        <p:txBody>
          <a:bodyPr wrap="square" lIns="0" tIns="0" rIns="0" bIns="0" rtlCol="0" anchor="ctr"/>
          <a:lstStyle/>
          <a:p>
            <a:pPr marL="0" indent="0">
              <a:buNone/>
            </a:pPr>
            <a:r>
              <a:rPr lang="en-US" sz="1300" b="1" kern="0" spc="300">
                <a:solidFill>
                  <a:srgbClr val="A9552F"/>
                </a:solidFill>
                <a:latin typeface="Segoe UI" pitchFamily="34" charset="0"/>
                <a:ea typeface="Segoe UI" pitchFamily="34" charset="-122"/>
                <a:cs typeface="Segoe UI" pitchFamily="34" charset="-120"/>
              </a:rPr>
              <a:t>PROVE THE TOOLS WORK</a:t>
            </a:r>
            <a:endParaRPr lang="en-US" sz="1300"/>
          </a:p>
        </p:txBody>
      </p:sp>
      <p:sp>
        <p:nvSpPr>
          <p:cNvPr id="4" name="Text 2"/>
          <p:cNvSpPr/>
          <p:nvPr/>
        </p:nvSpPr>
        <p:spPr>
          <a:xfrm>
            <a:off x="530352" y="676656"/>
            <a:ext cx="7200900" cy="548640"/>
          </a:xfrm>
          <a:prstGeom prst="rect">
            <a:avLst/>
          </a:prstGeom>
          <a:noFill/>
          <a:ln/>
        </p:spPr>
        <p:txBody>
          <a:bodyPr wrap="square" lIns="0" tIns="0" rIns="0" bIns="0" rtlCol="0" anchor="ctr"/>
          <a:lstStyle/>
          <a:p>
            <a:pPr marL="0" indent="0">
              <a:buNone/>
            </a:pPr>
            <a:r>
              <a:rPr lang="en-US" sz="2600" b="1">
                <a:solidFill>
                  <a:srgbClr val="1F3557"/>
                </a:solidFill>
                <a:latin typeface="Georgia" pitchFamily="34" charset="0"/>
                <a:ea typeface="Georgia" pitchFamily="34" charset="-122"/>
                <a:cs typeface="Georgia" pitchFamily="34" charset="-120"/>
              </a:rPr>
              <a:t>SetupTest.java, end to end</a:t>
            </a:r>
            <a:endParaRPr lang="en-US" sz="3200"/>
          </a:p>
        </p:txBody>
      </p:sp>
      <p:sp>
        <p:nvSpPr>
          <p:cNvPr id="5" name="Shape 3"/>
          <p:cNvSpPr/>
          <p:nvPr/>
        </p:nvSpPr>
        <p:spPr>
          <a:xfrm>
            <a:off x="548640" y="1316736"/>
            <a:ext cx="1280160" cy="0"/>
          </a:xfrm>
          <a:prstGeom prst="line">
            <a:avLst/>
          </a:prstGeom>
          <a:noFill/>
          <a:ln w="28575">
            <a:solidFill>
              <a:srgbClr val="A9552F"/>
            </a:solidFill>
            <a:prstDash val="solid"/>
          </a:ln>
        </p:spPr>
        <p:txBody>
          <a:bodyPr/>
          <a:lstStyle/>
          <a:p>
            <a:endParaRPr lang="en-US"/>
          </a:p>
        </p:txBody>
      </p:sp>
      <p:sp>
        <p:nvSpPr>
          <p:cNvPr id="9" name="Shape 7"/>
          <p:cNvSpPr/>
          <p:nvPr/>
        </p:nvSpPr>
        <p:spPr>
          <a:xfrm>
            <a:off x="548640" y="1600200"/>
            <a:ext cx="8046720" cy="3063240"/>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10" name="Text 8"/>
          <p:cNvSpPr/>
          <p:nvPr/>
        </p:nvSpPr>
        <p:spPr>
          <a:xfrm>
            <a:off x="1028246" y="1847088"/>
            <a:ext cx="7087508" cy="365760"/>
          </a:xfrm>
          <a:prstGeom prst="rect">
            <a:avLst/>
          </a:prstGeom>
          <a:noFill/>
          <a:ln/>
        </p:spPr>
        <p:txBody>
          <a:bodyPr wrap="square" lIns="0" tIns="0" rIns="0" bIns="0" rtlCol="0" anchor="ctr"/>
          <a:lstStyle/>
          <a:p>
            <a:pPr marL="0" indent="0">
              <a:buNone/>
            </a:pPr>
            <a:r>
              <a:rPr lang="en-US" sz="2000" b="1">
                <a:solidFill>
                  <a:srgbClr val="1F3557"/>
                </a:solidFill>
                <a:latin typeface="Georgia" pitchFamily="34" charset="0"/>
                <a:ea typeface="Georgia" pitchFamily="34" charset="-122"/>
                <a:cs typeface="Georgia" pitchFamily="34" charset="-120"/>
              </a:rPr>
              <a:t>Your first proof</a:t>
            </a:r>
            <a:endParaRPr lang="en-US" sz="2000"/>
          </a:p>
        </p:txBody>
      </p:sp>
      <p:sp>
        <p:nvSpPr>
          <p:cNvPr id="11" name="Text 9"/>
          <p:cNvSpPr/>
          <p:nvPr/>
        </p:nvSpPr>
        <p:spPr>
          <a:xfrm>
            <a:off x="1028246" y="2468880"/>
            <a:ext cx="7087508" cy="1783080"/>
          </a:xfrm>
          <a:prstGeom prst="rect">
            <a:avLst/>
          </a:prstGeom>
          <a:noFill/>
          <a:ln/>
        </p:spPr>
        <p:txBody>
          <a:bodyPr wrap="square" lIns="0" tIns="0" rIns="0" bIns="0" rtlCol="0" anchor="t"/>
          <a:lstStyle/>
          <a:p>
            <a:pPr marL="171450" indent="-171450">
              <a:lnSpc>
                <a:spcPts val="2200"/>
              </a:lnSpc>
              <a:buSzPct val="100000"/>
              <a:buChar char="•"/>
            </a:pPr>
            <a:r>
              <a:rPr lang="en-US" sz="1750">
                <a:solidFill>
                  <a:srgbClr val="6B6255"/>
                </a:solidFill>
                <a:latin typeface="Segoe UI" pitchFamily="34" charset="0"/>
                <a:ea typeface="Segoe UI" pitchFamily="34" charset="-122"/>
                <a:cs typeface="Segoe UI" pitchFamily="34" charset="-120"/>
              </a:rPr>
              <a:t>Create SetupTest.java in the learning folder — create nothing else yet.</a:t>
            </a:r>
          </a:p>
          <a:p>
            <a:pPr marL="171450" indent="-171450">
              <a:lnSpc>
                <a:spcPts val="2200"/>
              </a:lnSpc>
              <a:buSzPct val="100000"/>
              <a:buChar char="•"/>
            </a:pPr>
            <a:r>
              <a:rPr lang="en-US" sz="1750">
                <a:solidFill>
                  <a:srgbClr val="6B6255"/>
                </a:solidFill>
                <a:latin typeface="Segoe UI" pitchFamily="34" charset="0"/>
                <a:ea typeface="Segoe UI" pitchFamily="34" charset="-122"/>
                <a:cs typeface="Segoe UI" pitchFamily="34" charset="-120"/>
              </a:rPr>
              <a:t>Type a class shell and one println that prints Setup works.</a:t>
            </a:r>
          </a:p>
          <a:p>
            <a:pPr marL="171450" indent="-171450">
              <a:lnSpc>
                <a:spcPts val="2200"/>
              </a:lnSpc>
              <a:buSzPct val="100000"/>
              <a:buChar char="•"/>
            </a:pPr>
            <a:r>
              <a:rPr lang="en-US" sz="1750">
                <a:solidFill>
                  <a:srgbClr val="6B6255"/>
                </a:solidFill>
                <a:latin typeface="Segoe UI" pitchFamily="34" charset="0"/>
                <a:ea typeface="Segoe UI" pitchFamily="34" charset="-122"/>
                <a:cs typeface="Segoe UI" pitchFamily="34" charset="-120"/>
              </a:rPr>
              <a:t>Save with Ctrl+S, then run javac SetupTest.java.</a:t>
            </a:r>
          </a:p>
          <a:p>
            <a:pPr marL="171450" indent="-171450">
              <a:lnSpc>
                <a:spcPts val="2200"/>
              </a:lnSpc>
              <a:buSzPct val="100000"/>
              <a:buChar char="•"/>
            </a:pPr>
            <a:r>
              <a:rPr lang="en-US" sz="1750">
                <a:solidFill>
                  <a:srgbClr val="6B6255"/>
                </a:solidFill>
                <a:latin typeface="Segoe UI" pitchFamily="34" charset="0"/>
                <a:ea typeface="Segoe UI" pitchFamily="34" charset="-122"/>
                <a:cs typeface="Segoe UI" pitchFamily="34" charset="-120"/>
              </a:rPr>
              <a:t>Confirm SetupTest.class appears next to the source file.</a:t>
            </a:r>
          </a:p>
          <a:p>
            <a:pPr marL="171450" indent="-171450">
              <a:lnSpc>
                <a:spcPts val="2200"/>
              </a:lnSpc>
              <a:buSzPct val="100000"/>
              <a:buChar char="•"/>
            </a:pPr>
            <a:r>
              <a:rPr lang="en-US" sz="1750">
                <a:solidFill>
                  <a:srgbClr val="6B6255"/>
                </a:solidFill>
                <a:latin typeface="Segoe UI" pitchFamily="34" charset="0"/>
                <a:ea typeface="Segoe UI" pitchFamily="34" charset="-122"/>
                <a:cs typeface="Segoe UI" pitchFamily="34" charset="-120"/>
              </a:rPr>
              <a:t>Run java SetupTest and read the line it prints.</a:t>
            </a:r>
          </a:p>
          <a:p>
            <a:pPr marL="171450" indent="-171450">
              <a:lnSpc>
                <a:spcPts val="2200"/>
              </a:lnSpc>
              <a:buSzPct val="100000"/>
              <a:buChar char="•"/>
            </a:pPr>
            <a:r>
              <a:rPr lang="en-US" sz="1750">
                <a:solidFill>
                  <a:srgbClr val="6B6255"/>
                </a:solidFill>
                <a:latin typeface="Segoe UI" pitchFamily="34" charset="0"/>
                <a:ea typeface="Segoe UI" pitchFamily="34" charset="-122"/>
                <a:cs typeface="Segoe UI" pitchFamily="34" charset="-120"/>
              </a:rPr>
              <a:t>That output proves the editor, compiler, and runtime all work.</a:t>
            </a:r>
            <a:endParaRPr lang="en-US" sz="1750"/>
          </a:p>
        </p:txBody>
      </p:sp>
    </p:spTree>
    <p:extLst>
      <p:ext uri="{BB962C8B-B14F-4D97-AF65-F5344CB8AC3E}">
        <p14:creationId xmlns:p14="http://schemas.microsoft.com/office/powerpoint/2010/main" val="25476064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3">
    <p:bg>
      <p:bgPr>
        <a:solidFill>
          <a:srgbClr val="F5EFE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EFE2"/>
          </a:solidFill>
          <a:ln w="3175">
            <a:solidFill>
              <a:srgbClr val="F5EFE2"/>
            </a:solidFill>
            <a:prstDash val="solid"/>
          </a:ln>
        </p:spPr>
        <p:txBody>
          <a:bodyPr/>
          <a:lstStyle/>
          <a:p>
            <a:endParaRPr lang="en-US"/>
          </a:p>
        </p:txBody>
      </p:sp>
      <p:sp>
        <p:nvSpPr>
          <p:cNvPr id="3" name="Text 1"/>
          <p:cNvSpPr/>
          <p:nvPr/>
        </p:nvSpPr>
        <p:spPr>
          <a:xfrm>
            <a:off x="548640" y="384048"/>
            <a:ext cx="5943600" cy="274320"/>
          </a:xfrm>
          <a:prstGeom prst="rect">
            <a:avLst/>
          </a:prstGeom>
          <a:noFill/>
          <a:ln/>
        </p:spPr>
        <p:txBody>
          <a:bodyPr wrap="square" lIns="0" tIns="0" rIns="0" bIns="0" rtlCol="0" anchor="ctr"/>
          <a:lstStyle/>
          <a:p>
            <a:pPr marL="0" indent="0">
              <a:buNone/>
            </a:pPr>
            <a:r>
              <a:rPr lang="en-US" sz="1300" b="1" kern="0" spc="300">
                <a:solidFill>
                  <a:srgbClr val="A9552F"/>
                </a:solidFill>
                <a:latin typeface="Segoe UI" pitchFamily="34" charset="0"/>
                <a:ea typeface="Segoe UI" pitchFamily="34" charset="-122"/>
                <a:cs typeface="Segoe UI" pitchFamily="34" charset="-120"/>
              </a:rPr>
              <a:t>WHY THAT MATTERS IN ENTERPRISE SOFTWARE</a:t>
            </a:r>
            <a:endParaRPr lang="en-US" sz="1300"/>
          </a:p>
        </p:txBody>
      </p:sp>
      <p:sp>
        <p:nvSpPr>
          <p:cNvPr id="4" name="Text 2"/>
          <p:cNvSpPr/>
          <p:nvPr/>
        </p:nvSpPr>
        <p:spPr>
          <a:xfrm>
            <a:off x="530352" y="676656"/>
            <a:ext cx="7200000" cy="548640"/>
          </a:xfrm>
          <a:prstGeom prst="rect">
            <a:avLst/>
          </a:prstGeom>
          <a:noFill/>
          <a:ln/>
        </p:spPr>
        <p:txBody>
          <a:bodyPr wrap="square" lIns="0" tIns="0" rIns="0" bIns="0" rtlCol="0" anchor="ctr"/>
          <a:lstStyle/>
          <a:p>
            <a:pPr marL="0" indent="0">
              <a:buNone/>
            </a:pPr>
            <a:r>
              <a:rPr lang="en-US" sz="2600" b="1">
                <a:solidFill>
                  <a:srgbClr val="1F3557"/>
                </a:solidFill>
                <a:latin typeface="Georgia" pitchFamily="34" charset="0"/>
                <a:ea typeface="Georgia" pitchFamily="34" charset="-122"/>
                <a:cs typeface="Georgia" pitchFamily="34" charset="-120"/>
              </a:rPr>
              <a:t>Built for systems that must last</a:t>
            </a:r>
            <a:endParaRPr lang="en-US" sz="3200"/>
          </a:p>
        </p:txBody>
      </p:sp>
      <p:sp>
        <p:nvSpPr>
          <p:cNvPr id="5" name="Shape 3"/>
          <p:cNvSpPr/>
          <p:nvPr/>
        </p:nvSpPr>
        <p:spPr>
          <a:xfrm>
            <a:off x="548640" y="1316736"/>
            <a:ext cx="1280160" cy="0"/>
          </a:xfrm>
          <a:prstGeom prst="line">
            <a:avLst/>
          </a:prstGeom>
          <a:noFill/>
          <a:ln w="28575">
            <a:solidFill>
              <a:srgbClr val="A9552F"/>
            </a:solidFill>
            <a:prstDash val="solid"/>
          </a:ln>
        </p:spPr>
        <p:txBody>
          <a:bodyPr/>
          <a:lstStyle/>
          <a:p>
            <a:endParaRPr lang="en-US"/>
          </a:p>
        </p:txBody>
      </p:sp>
      <p:sp>
        <p:nvSpPr>
          <p:cNvPr id="6" name="Marker 1"/>
          <p:cNvSpPr/>
          <p:nvPr/>
        </p:nvSpPr>
        <p:spPr>
          <a:xfrm>
            <a:off x="548640" y="1750200"/>
            <a:ext cx="106680" cy="106680"/>
          </a:xfrm>
          <a:prstGeom prst="rect">
            <a:avLst/>
          </a:prstGeom>
          <a:solidFill>
            <a:srgbClr val="A9552F"/>
          </a:solidFill>
          <a:ln/>
        </p:spPr>
        <p:txBody>
          <a:bodyPr/>
          <a:lstStyle/>
          <a:p>
            <a:endParaRPr lang="en-US"/>
          </a:p>
        </p:txBody>
      </p:sp>
      <p:sp>
        <p:nvSpPr>
          <p:cNvPr id="7" name="Item 1"/>
          <p:cNvSpPr/>
          <p:nvPr/>
        </p:nvSpPr>
        <p:spPr>
          <a:xfrm>
            <a:off x="796290" y="1600200"/>
            <a:ext cx="5238750" cy="560000"/>
          </a:xfrm>
          <a:prstGeom prst="rect">
            <a:avLst/>
          </a:prstGeom>
          <a:noFill/>
          <a:ln/>
        </p:spPr>
        <p:txBody>
          <a:bodyPr wrap="square" lIns="0" tIns="0" rIns="0" bIns="0" rtlCol="0" anchor="ctr"/>
          <a:lstStyle/>
          <a:p>
            <a:pPr marL="0" indent="0">
              <a:lnSpc>
                <a:spcPts val="1500"/>
              </a:lnSpc>
              <a:buNone/>
            </a:pPr>
            <a:r>
              <a:rPr lang="en-US" sz="1400" b="1">
                <a:solidFill>
                  <a:srgbClr val="1F3557"/>
                </a:solidFill>
                <a:latin typeface="Segoe UI" pitchFamily="34" charset="0"/>
                <a:ea typeface="Segoe UI" pitchFamily="34" charset="-122"/>
                <a:cs typeface="Segoe UI" pitchFamily="34" charset="-120"/>
              </a:rPr>
              <a:t>Portability — </a:t>
            </a:r>
            <a:r>
              <a:rPr lang="en-US" sz="1400">
                <a:solidFill>
                  <a:srgbClr val="6B6255"/>
                </a:solidFill>
                <a:latin typeface="Segoe UI" pitchFamily="34" charset="0"/>
                <a:ea typeface="Segoe UI" pitchFamily="34" charset="-122"/>
                <a:cs typeface="Segoe UI" pitchFamily="34" charset="-120"/>
              </a:rPr>
              <a:t>the same compiled program runs wherever a compatible JVM exists.</a:t>
            </a:r>
            <a:endParaRPr lang="en-US" sz="1400"/>
          </a:p>
        </p:txBody>
      </p:sp>
      <p:sp>
        <p:nvSpPr>
          <p:cNvPr id="8" name="Marker 2"/>
          <p:cNvSpPr/>
          <p:nvPr/>
        </p:nvSpPr>
        <p:spPr>
          <a:xfrm>
            <a:off x="548640" y="2370200"/>
            <a:ext cx="106680" cy="106680"/>
          </a:xfrm>
          <a:prstGeom prst="rect">
            <a:avLst/>
          </a:prstGeom>
          <a:solidFill>
            <a:srgbClr val="A9552F"/>
          </a:solidFill>
          <a:ln/>
        </p:spPr>
        <p:txBody>
          <a:bodyPr/>
          <a:lstStyle/>
          <a:p>
            <a:endParaRPr lang="en-US"/>
          </a:p>
        </p:txBody>
      </p:sp>
      <p:sp>
        <p:nvSpPr>
          <p:cNvPr id="9" name="Item 2"/>
          <p:cNvSpPr/>
          <p:nvPr/>
        </p:nvSpPr>
        <p:spPr>
          <a:xfrm>
            <a:off x="796290" y="2220200"/>
            <a:ext cx="5238750" cy="560000"/>
          </a:xfrm>
          <a:prstGeom prst="rect">
            <a:avLst/>
          </a:prstGeom>
          <a:noFill/>
          <a:ln/>
        </p:spPr>
        <p:txBody>
          <a:bodyPr wrap="square" lIns="0" tIns="0" rIns="0" bIns="0" rtlCol="0" anchor="ctr"/>
          <a:lstStyle/>
          <a:p>
            <a:pPr marL="0" indent="0">
              <a:lnSpc>
                <a:spcPts val="1500"/>
              </a:lnSpc>
              <a:buNone/>
            </a:pPr>
            <a:r>
              <a:rPr lang="en-US" sz="1400" b="1">
                <a:solidFill>
                  <a:srgbClr val="1F3557"/>
                </a:solidFill>
                <a:latin typeface="Segoe UI" pitchFamily="34" charset="0"/>
                <a:ea typeface="Segoe UI" pitchFamily="34" charset="-122"/>
                <a:cs typeface="Segoe UI" pitchFamily="34" charset="-120"/>
              </a:rPr>
              <a:t>Reliability — </a:t>
            </a:r>
            <a:r>
              <a:rPr lang="en-US" sz="1400">
                <a:solidFill>
                  <a:srgbClr val="6B6255"/>
                </a:solidFill>
                <a:latin typeface="Segoe UI" pitchFamily="34" charset="0"/>
                <a:ea typeface="Segoe UI" pitchFamily="34" charset="-122"/>
                <a:cs typeface="Segoe UI" pitchFamily="34" charset="-120"/>
              </a:rPr>
              <a:t>compilation catches many mistakes before execution.</a:t>
            </a:r>
            <a:endParaRPr lang="en-US" sz="1400"/>
          </a:p>
        </p:txBody>
      </p:sp>
      <p:sp>
        <p:nvSpPr>
          <p:cNvPr id="10" name="Marker 3"/>
          <p:cNvSpPr/>
          <p:nvPr/>
        </p:nvSpPr>
        <p:spPr>
          <a:xfrm>
            <a:off x="548640" y="2990200"/>
            <a:ext cx="106680" cy="106680"/>
          </a:xfrm>
          <a:prstGeom prst="rect">
            <a:avLst/>
          </a:prstGeom>
          <a:solidFill>
            <a:srgbClr val="A9552F"/>
          </a:solidFill>
          <a:ln/>
        </p:spPr>
        <p:txBody>
          <a:bodyPr/>
          <a:lstStyle/>
          <a:p>
            <a:endParaRPr lang="en-US"/>
          </a:p>
        </p:txBody>
      </p:sp>
      <p:sp>
        <p:nvSpPr>
          <p:cNvPr id="11" name="Item 3"/>
          <p:cNvSpPr/>
          <p:nvPr/>
        </p:nvSpPr>
        <p:spPr>
          <a:xfrm>
            <a:off x="796290" y="2840200"/>
            <a:ext cx="5238750" cy="560000"/>
          </a:xfrm>
          <a:prstGeom prst="rect">
            <a:avLst/>
          </a:prstGeom>
          <a:noFill/>
          <a:ln/>
        </p:spPr>
        <p:txBody>
          <a:bodyPr wrap="square" lIns="0" tIns="0" rIns="0" bIns="0" rtlCol="0" anchor="ctr"/>
          <a:lstStyle/>
          <a:p>
            <a:pPr marL="0" indent="0">
              <a:lnSpc>
                <a:spcPts val="1500"/>
              </a:lnSpc>
              <a:buNone/>
            </a:pPr>
            <a:r>
              <a:rPr lang="en-US" sz="1400" b="1">
                <a:solidFill>
                  <a:srgbClr val="1F3557"/>
                </a:solidFill>
                <a:latin typeface="Segoe UI" pitchFamily="34" charset="0"/>
                <a:ea typeface="Segoe UI" pitchFamily="34" charset="-122"/>
                <a:cs typeface="Segoe UI" pitchFamily="34" charset="-120"/>
              </a:rPr>
              <a:t>Memory management — </a:t>
            </a:r>
            <a:r>
              <a:rPr lang="en-US" sz="1400">
                <a:solidFill>
                  <a:srgbClr val="6B6255"/>
                </a:solidFill>
                <a:latin typeface="Segoe UI" pitchFamily="34" charset="0"/>
                <a:ea typeface="Segoe UI" pitchFamily="34" charset="-122"/>
                <a:cs typeface="Segoe UI" pitchFamily="34" charset="-120"/>
              </a:rPr>
              <a:t>Java manages memory automatically for common application work.</a:t>
            </a:r>
            <a:endParaRPr lang="en-US" sz="1400"/>
          </a:p>
        </p:txBody>
      </p:sp>
      <p:sp>
        <p:nvSpPr>
          <p:cNvPr id="12" name="Marker 4"/>
          <p:cNvSpPr/>
          <p:nvPr/>
        </p:nvSpPr>
        <p:spPr>
          <a:xfrm>
            <a:off x="548640" y="3610200"/>
            <a:ext cx="106680" cy="106680"/>
          </a:xfrm>
          <a:prstGeom prst="rect">
            <a:avLst/>
          </a:prstGeom>
          <a:solidFill>
            <a:srgbClr val="A9552F"/>
          </a:solidFill>
          <a:ln/>
        </p:spPr>
        <p:txBody>
          <a:bodyPr/>
          <a:lstStyle/>
          <a:p>
            <a:endParaRPr lang="en-US"/>
          </a:p>
        </p:txBody>
      </p:sp>
      <p:sp>
        <p:nvSpPr>
          <p:cNvPr id="13" name="Item 4"/>
          <p:cNvSpPr/>
          <p:nvPr/>
        </p:nvSpPr>
        <p:spPr>
          <a:xfrm>
            <a:off x="796290" y="3460200"/>
            <a:ext cx="5238750" cy="560000"/>
          </a:xfrm>
          <a:prstGeom prst="rect">
            <a:avLst/>
          </a:prstGeom>
          <a:noFill/>
          <a:ln/>
        </p:spPr>
        <p:txBody>
          <a:bodyPr wrap="square" lIns="0" tIns="0" rIns="0" bIns="0" rtlCol="0" anchor="ctr"/>
          <a:lstStyle/>
          <a:p>
            <a:pPr marL="0" indent="0">
              <a:lnSpc>
                <a:spcPts val="1500"/>
              </a:lnSpc>
              <a:buNone/>
            </a:pPr>
            <a:r>
              <a:rPr lang="en-US" sz="1400" b="1">
                <a:solidFill>
                  <a:srgbClr val="1F3557"/>
                </a:solidFill>
                <a:latin typeface="Segoe UI" pitchFamily="34" charset="0"/>
                <a:ea typeface="Segoe UI" pitchFamily="34" charset="-122"/>
                <a:cs typeface="Segoe UI" pitchFamily="34" charset="-120"/>
              </a:rPr>
              <a:t>Structure — </a:t>
            </a:r>
            <a:r>
              <a:rPr lang="en-US" sz="1400">
                <a:solidFill>
                  <a:srgbClr val="6B6255"/>
                </a:solidFill>
                <a:latin typeface="Segoe UI" pitchFamily="34" charset="0"/>
                <a:ea typeface="Segoe UI" pitchFamily="34" charset="-122"/>
                <a:cs typeface="Segoe UI" pitchFamily="34" charset="-120"/>
              </a:rPr>
              <a:t>Java supports large, long-lived codebases maintained by many developers.</a:t>
            </a:r>
            <a:endParaRPr lang="en-US" sz="1400"/>
          </a:p>
        </p:txBody>
      </p:sp>
      <p:sp>
        <p:nvSpPr>
          <p:cNvPr id="14" name="Marker 5"/>
          <p:cNvSpPr/>
          <p:nvPr/>
        </p:nvSpPr>
        <p:spPr>
          <a:xfrm>
            <a:off x="548640" y="4230200"/>
            <a:ext cx="106680" cy="106680"/>
          </a:xfrm>
          <a:prstGeom prst="rect">
            <a:avLst/>
          </a:prstGeom>
          <a:solidFill>
            <a:srgbClr val="A9552F"/>
          </a:solidFill>
          <a:ln/>
        </p:spPr>
        <p:txBody>
          <a:bodyPr/>
          <a:lstStyle/>
          <a:p>
            <a:endParaRPr lang="en-US"/>
          </a:p>
        </p:txBody>
      </p:sp>
      <p:sp>
        <p:nvSpPr>
          <p:cNvPr id="15" name="Item 5"/>
          <p:cNvSpPr/>
          <p:nvPr/>
        </p:nvSpPr>
        <p:spPr>
          <a:xfrm>
            <a:off x="796290" y="4080200"/>
            <a:ext cx="5238750" cy="560000"/>
          </a:xfrm>
          <a:prstGeom prst="rect">
            <a:avLst/>
          </a:prstGeom>
          <a:noFill/>
          <a:ln/>
        </p:spPr>
        <p:txBody>
          <a:bodyPr wrap="square" lIns="0" tIns="0" rIns="0" bIns="0" rtlCol="0" anchor="ctr"/>
          <a:lstStyle/>
          <a:p>
            <a:pPr marL="0" indent="0">
              <a:lnSpc>
                <a:spcPts val="1500"/>
              </a:lnSpc>
              <a:buNone/>
            </a:pPr>
            <a:r>
              <a:rPr lang="en-US" sz="1400" b="1">
                <a:solidFill>
                  <a:srgbClr val="1F3557"/>
                </a:solidFill>
                <a:latin typeface="Segoe UI" pitchFamily="34" charset="0"/>
                <a:ea typeface="Segoe UI" pitchFamily="34" charset="-122"/>
                <a:cs typeface="Segoe UI" pitchFamily="34" charset="-120"/>
              </a:rPr>
              <a:t>Ecosystem — </a:t>
            </a:r>
            <a:r>
              <a:rPr lang="en-US" sz="1400">
                <a:solidFill>
                  <a:srgbClr val="6B6255"/>
                </a:solidFill>
                <a:latin typeface="Segoe UI" pitchFamily="34" charset="0"/>
                <a:ea typeface="Segoe UI" pitchFamily="34" charset="-122"/>
                <a:cs typeface="Segoe UI" pitchFamily="34" charset="-120"/>
              </a:rPr>
              <a:t>mature tools and libraries make it a common backend and enterprise choice.</a:t>
            </a:r>
            <a:endParaRPr lang="en-US" sz="1400"/>
          </a:p>
        </p:txBody>
      </p:sp>
      <p:pic>
        <p:nvPicPr>
          <p:cNvPr id="16" name="Image 0"/>
          <p:cNvPicPr>
            <a:picLocks noChangeAspect="1"/>
          </p:cNvPicPr>
          <p:nvPr/>
        </p:nvPicPr>
        <p:blipFill>
          <a:blip r:embed="rId2"/>
          <a:stretch/>
        </p:blipFill>
        <p:spPr>
          <a:xfrm>
            <a:off x="6309360" y="1600200"/>
            <a:ext cx="2286000" cy="2286000"/>
          </a:xfrm>
          <a:prstGeom prst="rect">
            <a:avLst/>
          </a:prstGeom>
        </p:spPr>
      </p:pic>
      <p:sp>
        <p:nvSpPr>
          <p:cNvPr id="17" name="Caption"/>
          <p:cNvSpPr/>
          <p:nvPr/>
        </p:nvSpPr>
        <p:spPr>
          <a:xfrm>
            <a:off x="6309360" y="4000000"/>
            <a:ext cx="2286000" cy="663440"/>
          </a:xfrm>
          <a:prstGeom prst="rect">
            <a:avLst/>
          </a:prstGeom>
          <a:noFill/>
          <a:ln/>
        </p:spPr>
        <p:txBody>
          <a:bodyPr wrap="square" lIns="0" tIns="0" rIns="0" bIns="0" rtlCol="0" anchor="ctr"/>
          <a:lstStyle/>
          <a:p>
            <a:pPr marL="0" indent="0">
              <a:lnSpc>
                <a:spcPts val="1400"/>
              </a:lnSpc>
              <a:buNone/>
            </a:pPr>
            <a:r>
              <a:rPr lang="en-US" sz="1250" i="1">
                <a:solidFill>
                  <a:srgbClr val="1F3557"/>
                </a:solidFill>
                <a:latin typeface="Segoe UI" pitchFamily="34" charset="0"/>
                <a:ea typeface="Segoe UI" pitchFamily="34" charset="-122"/>
                <a:cs typeface="Segoe UI" pitchFamily="34" charset="-120"/>
              </a:rPr>
              <a:t>These traits are why Java remains a default choice for banking, retail, and large-scale backend systems.</a:t>
            </a:r>
            <a:endParaRPr lang="en-US" sz="125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4">
    <p:bg>
      <p:bgPr>
        <a:solidFill>
          <a:srgbClr val="F5EFE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EFE2"/>
          </a:solidFill>
          <a:ln w="3175">
            <a:solidFill>
              <a:srgbClr val="F5EFE2"/>
            </a:solidFill>
            <a:prstDash val="solid"/>
          </a:ln>
        </p:spPr>
        <p:txBody>
          <a:bodyPr/>
          <a:lstStyle/>
          <a:p>
            <a:endParaRPr lang="en-US"/>
          </a:p>
        </p:txBody>
      </p:sp>
      <p:sp>
        <p:nvSpPr>
          <p:cNvPr id="3" name="Text 1"/>
          <p:cNvSpPr/>
          <p:nvPr/>
        </p:nvSpPr>
        <p:spPr>
          <a:xfrm>
            <a:off x="548640" y="384048"/>
            <a:ext cx="5943600" cy="274320"/>
          </a:xfrm>
          <a:prstGeom prst="rect">
            <a:avLst/>
          </a:prstGeom>
          <a:noFill/>
          <a:ln/>
        </p:spPr>
        <p:txBody>
          <a:bodyPr wrap="square" lIns="0" tIns="0" rIns="0" bIns="0" rtlCol="0" anchor="ctr"/>
          <a:lstStyle/>
          <a:p>
            <a:pPr marL="0" indent="0">
              <a:buNone/>
            </a:pPr>
            <a:r>
              <a:rPr lang="en-US" sz="1300" b="1" kern="0" spc="300">
                <a:solidFill>
                  <a:srgbClr val="A9552F"/>
                </a:solidFill>
                <a:latin typeface="Segoe UI" pitchFamily="34" charset="0"/>
                <a:ea typeface="Segoe UI" pitchFamily="34" charset="-122"/>
                <a:cs typeface="Segoe UI" pitchFamily="34" charset="-120"/>
              </a:rPr>
              <a:t>THE PIECES YOU INSTALL</a:t>
            </a:r>
            <a:endParaRPr lang="en-US" sz="1300"/>
          </a:p>
        </p:txBody>
      </p:sp>
      <p:sp>
        <p:nvSpPr>
          <p:cNvPr id="4" name="Text 2"/>
          <p:cNvSpPr/>
          <p:nvPr/>
        </p:nvSpPr>
        <p:spPr>
          <a:xfrm>
            <a:off x="530352" y="676656"/>
            <a:ext cx="7200000" cy="548640"/>
          </a:xfrm>
          <a:prstGeom prst="rect">
            <a:avLst/>
          </a:prstGeom>
          <a:noFill/>
          <a:ln/>
        </p:spPr>
        <p:txBody>
          <a:bodyPr wrap="square" lIns="0" tIns="0" rIns="0" bIns="0" rtlCol="0" anchor="ctr"/>
          <a:lstStyle/>
          <a:p>
            <a:pPr marL="0" indent="0">
              <a:buNone/>
            </a:pPr>
            <a:r>
              <a:rPr lang="en-US" sz="2600" b="1">
                <a:solidFill>
                  <a:srgbClr val="1F3557"/>
                </a:solidFill>
                <a:latin typeface="Georgia" pitchFamily="34" charset="0"/>
                <a:ea typeface="Georgia" pitchFamily="34" charset="-122"/>
                <a:cs typeface="Georgia" pitchFamily="34" charset="-120"/>
              </a:rPr>
              <a:t>JDK, JRE, and JVM</a:t>
            </a:r>
            <a:endParaRPr lang="en-US" sz="3200"/>
          </a:p>
        </p:txBody>
      </p:sp>
      <p:sp>
        <p:nvSpPr>
          <p:cNvPr id="5" name="Shape 3"/>
          <p:cNvSpPr/>
          <p:nvPr/>
        </p:nvSpPr>
        <p:spPr>
          <a:xfrm>
            <a:off x="548640" y="1316736"/>
            <a:ext cx="1280160" cy="0"/>
          </a:xfrm>
          <a:prstGeom prst="line">
            <a:avLst/>
          </a:prstGeom>
          <a:noFill/>
          <a:ln w="28575">
            <a:solidFill>
              <a:srgbClr val="A9552F"/>
            </a:solidFill>
            <a:prstDash val="solid"/>
          </a:ln>
        </p:spPr>
        <p:txBody>
          <a:bodyPr/>
          <a:lstStyle/>
          <a:p>
            <a:endParaRPr lang="en-US"/>
          </a:p>
        </p:txBody>
      </p:sp>
      <p:sp>
        <p:nvSpPr>
          <p:cNvPr id="6" name="JDK box"/>
          <p:cNvSpPr/>
          <p:nvPr/>
        </p:nvSpPr>
        <p:spPr>
          <a:xfrm>
            <a:off x="548640" y="1600200"/>
            <a:ext cx="3840480" cy="3063240"/>
          </a:xfrm>
          <a:prstGeom prst="roundRect">
            <a:avLst>
              <a:gd name="adj" fmla="val 3175"/>
            </a:avLst>
          </a:prstGeom>
          <a:solidFill>
            <a:srgbClr val="F5EFE2"/>
          </a:solidFill>
          <a:ln w="19050">
            <a:solidFill>
              <a:srgbClr val="1F3557"/>
            </a:solidFill>
            <a:prstDash val="solid"/>
          </a:ln>
        </p:spPr>
        <p:txBody>
          <a:bodyPr/>
          <a:lstStyle/>
          <a:p>
            <a:endParaRPr lang="en-US"/>
          </a:p>
        </p:txBody>
      </p:sp>
      <p:sp>
        <p:nvSpPr>
          <p:cNvPr id="7" name="JDK label"/>
          <p:cNvSpPr/>
          <p:nvPr/>
        </p:nvSpPr>
        <p:spPr>
          <a:xfrm>
            <a:off x="777240" y="1750000"/>
            <a:ext cx="2000000" cy="260000"/>
          </a:xfrm>
          <a:prstGeom prst="rect">
            <a:avLst/>
          </a:prstGeom>
          <a:noFill/>
          <a:ln/>
        </p:spPr>
        <p:txBody>
          <a:bodyPr wrap="square" lIns="0" tIns="0" rIns="0" bIns="0" rtlCol="0" anchor="ctr"/>
          <a:lstStyle/>
          <a:p>
            <a:pPr marL="0" indent="0">
              <a:buNone/>
            </a:pPr>
            <a:r>
              <a:rPr lang="en-US" sz="1300" b="1" spc="200">
                <a:solidFill>
                  <a:srgbClr val="1F3557"/>
                </a:solidFill>
                <a:latin typeface="Segoe UI" pitchFamily="34" charset="0"/>
                <a:ea typeface="Segoe UI" pitchFamily="34" charset="-122"/>
                <a:cs typeface="Segoe UI" pitchFamily="34" charset="-120"/>
              </a:rPr>
              <a:t>JDK</a:t>
            </a:r>
            <a:endParaRPr lang="en-US" sz="1300"/>
          </a:p>
        </p:txBody>
      </p:sp>
      <p:sp>
        <p:nvSpPr>
          <p:cNvPr id="8" name="JRE box"/>
          <p:cNvSpPr/>
          <p:nvPr/>
        </p:nvSpPr>
        <p:spPr>
          <a:xfrm>
            <a:off x="868640" y="2072640"/>
            <a:ext cx="3200480" cy="2263240"/>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9" name="JRE label"/>
          <p:cNvSpPr/>
          <p:nvPr/>
        </p:nvSpPr>
        <p:spPr>
          <a:xfrm>
            <a:off x="1097240" y="2220000"/>
            <a:ext cx="2000000" cy="260000"/>
          </a:xfrm>
          <a:prstGeom prst="rect">
            <a:avLst/>
          </a:prstGeom>
          <a:noFill/>
          <a:ln/>
        </p:spPr>
        <p:txBody>
          <a:bodyPr wrap="square" lIns="0" tIns="0" rIns="0" bIns="0" rtlCol="0" anchor="ctr"/>
          <a:lstStyle/>
          <a:p>
            <a:pPr marL="0" indent="0">
              <a:buNone/>
            </a:pPr>
            <a:r>
              <a:rPr lang="en-US" sz="1300" b="1" spc="200">
                <a:solidFill>
                  <a:srgbClr val="1F3557"/>
                </a:solidFill>
                <a:latin typeface="Segoe UI" pitchFamily="34" charset="0"/>
                <a:ea typeface="Segoe UI" pitchFamily="34" charset="-122"/>
                <a:cs typeface="Segoe UI" pitchFamily="34" charset="-120"/>
              </a:rPr>
              <a:t>JRE</a:t>
            </a:r>
            <a:endParaRPr lang="en-US" sz="1300"/>
          </a:p>
        </p:txBody>
      </p:sp>
      <p:sp>
        <p:nvSpPr>
          <p:cNvPr id="10" name="JVM box"/>
          <p:cNvSpPr/>
          <p:nvPr/>
        </p:nvSpPr>
        <p:spPr>
          <a:xfrm>
            <a:off x="1188640" y="2545080"/>
            <a:ext cx="2560480" cy="1463240"/>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11" name="JVM label"/>
          <p:cNvSpPr/>
          <p:nvPr/>
        </p:nvSpPr>
        <p:spPr>
          <a:xfrm>
            <a:off x="1417240" y="2690000"/>
            <a:ext cx="2000000" cy="260000"/>
          </a:xfrm>
          <a:prstGeom prst="rect">
            <a:avLst/>
          </a:prstGeom>
          <a:noFill/>
          <a:ln/>
        </p:spPr>
        <p:txBody>
          <a:bodyPr wrap="square" lIns="0" tIns="0" rIns="0" bIns="0" rtlCol="0" anchor="ctr"/>
          <a:lstStyle/>
          <a:p>
            <a:pPr marL="0" indent="0">
              <a:buNone/>
            </a:pPr>
            <a:r>
              <a:rPr lang="en-US" sz="1300" b="1" spc="200">
                <a:solidFill>
                  <a:srgbClr val="1F3557"/>
                </a:solidFill>
                <a:latin typeface="Segoe UI" pitchFamily="34" charset="0"/>
                <a:ea typeface="Segoe UI" pitchFamily="34" charset="-122"/>
                <a:cs typeface="Segoe UI" pitchFamily="34" charset="-120"/>
              </a:rPr>
              <a:t>JVM</a:t>
            </a:r>
            <a:endParaRPr lang="en-US" sz="1300"/>
          </a:p>
        </p:txBody>
      </p:sp>
      <p:sp>
        <p:nvSpPr>
          <p:cNvPr id="12" name="JVM note"/>
          <p:cNvSpPr/>
          <p:nvPr/>
        </p:nvSpPr>
        <p:spPr>
          <a:xfrm>
            <a:off x="1417240" y="2990000"/>
            <a:ext cx="2103480" cy="700000"/>
          </a:xfrm>
          <a:prstGeom prst="rect">
            <a:avLst/>
          </a:prstGeom>
          <a:noFill/>
          <a:ln/>
        </p:spPr>
        <p:txBody>
          <a:bodyPr wrap="square" lIns="0" tIns="0" rIns="0" bIns="0" rtlCol="0" anchor="ctr"/>
          <a:lstStyle/>
          <a:p>
            <a:pPr marL="0" indent="0">
              <a:lnSpc>
                <a:spcPts val="1300"/>
              </a:lnSpc>
              <a:buNone/>
            </a:pPr>
            <a:r>
              <a:rPr lang="en-US" sz="1200" i="1">
                <a:solidFill>
                  <a:srgbClr val="6B6255"/>
                </a:solidFill>
                <a:latin typeface="Segoe UI" pitchFamily="34" charset="0"/>
                <a:ea typeface="Segoe UI" pitchFamily="34" charset="-122"/>
                <a:cs typeface="Segoe UI" pitchFamily="34" charset="-120"/>
              </a:rPr>
              <a:t>javac turns .java into .class; java hands that bytecode to the JVM.</a:t>
            </a:r>
            <a:endParaRPr lang="en-US" sz="1200"/>
          </a:p>
        </p:txBody>
      </p:sp>
      <p:sp>
        <p:nvSpPr>
          <p:cNvPr id="13" name="Bar 1"/>
          <p:cNvSpPr/>
          <p:nvPr/>
        </p:nvSpPr>
        <p:spPr>
          <a:xfrm>
            <a:off x="4754880" y="1600200"/>
            <a:ext cx="45720" cy="930000"/>
          </a:xfrm>
          <a:prstGeom prst="rect">
            <a:avLst/>
          </a:prstGeom>
          <a:solidFill>
            <a:srgbClr val="A9552F"/>
          </a:solidFill>
          <a:ln/>
        </p:spPr>
        <p:txBody>
          <a:bodyPr/>
          <a:lstStyle/>
          <a:p>
            <a:endParaRPr lang="en-US"/>
          </a:p>
        </p:txBody>
      </p:sp>
      <p:sp>
        <p:nvSpPr>
          <p:cNvPr id="14" name="Item 1"/>
          <p:cNvSpPr/>
          <p:nvPr/>
        </p:nvSpPr>
        <p:spPr>
          <a:xfrm>
            <a:off x="4983480" y="1600200"/>
            <a:ext cx="3611880" cy="930000"/>
          </a:xfrm>
          <a:prstGeom prst="rect">
            <a:avLst/>
          </a:prstGeom>
          <a:noFill/>
          <a:ln/>
        </p:spPr>
        <p:txBody>
          <a:bodyPr wrap="square" lIns="0" tIns="0" rIns="0" bIns="0" rtlCol="0" anchor="ctr"/>
          <a:lstStyle/>
          <a:p>
            <a:pPr marL="0" indent="0">
              <a:lnSpc>
                <a:spcPts val="1700"/>
              </a:lnSpc>
              <a:buNone/>
            </a:pPr>
            <a:r>
              <a:rPr lang="en-US" sz="1550" b="1">
                <a:solidFill>
                  <a:srgbClr val="1F3557"/>
                </a:solidFill>
                <a:latin typeface="Georgia" pitchFamily="34" charset="0"/>
                <a:ea typeface="Georgia" pitchFamily="34" charset="-122"/>
                <a:cs typeface="Georgia" pitchFamily="34" charset="-120"/>
              </a:rPr>
              <a:t>JVM</a:t>
            </a:r>
            <a:r>
              <a:rPr lang="en-US" sz="1250" b="1" spc="100">
                <a:solidFill>
                  <a:srgbClr val="A9552F"/>
                </a:solidFill>
                <a:latin typeface="Segoe UI" pitchFamily="34" charset="0"/>
                <a:ea typeface="Segoe UI" pitchFamily="34" charset="-122"/>
                <a:cs typeface="Segoe UI" pitchFamily="34" charset="-120"/>
              </a:rPr>
              <a:t>  JAVA VIRTUAL MACHINE</a:t>
            </a:r>
          </a:p>
          <a:p>
            <a:pPr marL="0" indent="0">
              <a:lnSpc>
                <a:spcPts val="1450"/>
              </a:lnSpc>
              <a:buNone/>
            </a:pPr>
            <a:r>
              <a:rPr lang="en-US" sz="1300">
                <a:solidFill>
                  <a:srgbClr val="6B6255"/>
                </a:solidFill>
                <a:latin typeface="Segoe UI" pitchFamily="34" charset="0"/>
                <a:ea typeface="Segoe UI" pitchFamily="34" charset="-122"/>
                <a:cs typeface="Segoe UI" pitchFamily="34" charset="-120"/>
              </a:rPr>
              <a:t>Executes bytecode and manages memory. Started by the java command; each platform has its own.</a:t>
            </a:r>
            <a:endParaRPr lang="en-US" sz="1300"/>
          </a:p>
        </p:txBody>
      </p:sp>
      <p:sp>
        <p:nvSpPr>
          <p:cNvPr id="15" name="Bar 2"/>
          <p:cNvSpPr/>
          <p:nvPr/>
        </p:nvSpPr>
        <p:spPr>
          <a:xfrm>
            <a:off x="4754880" y="2666820"/>
            <a:ext cx="45720" cy="930000"/>
          </a:xfrm>
          <a:prstGeom prst="rect">
            <a:avLst/>
          </a:prstGeom>
          <a:solidFill>
            <a:srgbClr val="A9552F"/>
          </a:solidFill>
          <a:ln/>
        </p:spPr>
        <p:txBody>
          <a:bodyPr/>
          <a:lstStyle/>
          <a:p>
            <a:endParaRPr lang="en-US"/>
          </a:p>
        </p:txBody>
      </p:sp>
      <p:sp>
        <p:nvSpPr>
          <p:cNvPr id="16" name="Item 2"/>
          <p:cNvSpPr/>
          <p:nvPr/>
        </p:nvSpPr>
        <p:spPr>
          <a:xfrm>
            <a:off x="4983480" y="2666820"/>
            <a:ext cx="3611880" cy="930000"/>
          </a:xfrm>
          <a:prstGeom prst="rect">
            <a:avLst/>
          </a:prstGeom>
          <a:noFill/>
          <a:ln/>
        </p:spPr>
        <p:txBody>
          <a:bodyPr wrap="square" lIns="0" tIns="0" rIns="0" bIns="0" rtlCol="0" anchor="ctr"/>
          <a:lstStyle/>
          <a:p>
            <a:pPr marL="0" indent="0">
              <a:lnSpc>
                <a:spcPts val="1700"/>
              </a:lnSpc>
              <a:buNone/>
            </a:pPr>
            <a:r>
              <a:rPr lang="en-US" sz="1550" b="1">
                <a:solidFill>
                  <a:srgbClr val="1F3557"/>
                </a:solidFill>
                <a:latin typeface="Georgia" pitchFamily="34" charset="0"/>
                <a:ea typeface="Georgia" pitchFamily="34" charset="-122"/>
                <a:cs typeface="Georgia" pitchFamily="34" charset="-120"/>
              </a:rPr>
              <a:t>JRE</a:t>
            </a:r>
            <a:r>
              <a:rPr lang="en-US" sz="1250" b="1" spc="100">
                <a:solidFill>
                  <a:srgbClr val="A9552F"/>
                </a:solidFill>
                <a:latin typeface="Segoe UI" pitchFamily="34" charset="0"/>
                <a:ea typeface="Segoe UI" pitchFamily="34" charset="-122"/>
                <a:cs typeface="Segoe UI" pitchFamily="34" charset="-120"/>
              </a:rPr>
              <a:t>  JAVA RUNTIME ENVIRONMENT</a:t>
            </a:r>
          </a:p>
          <a:p>
            <a:pPr marL="0" indent="0">
              <a:lnSpc>
                <a:spcPts val="1450"/>
              </a:lnSpc>
              <a:buNone/>
            </a:pPr>
            <a:r>
              <a:rPr lang="en-US" sz="1300">
                <a:solidFill>
                  <a:srgbClr val="6B6255"/>
                </a:solidFill>
                <a:latin typeface="Segoe UI" pitchFamily="34" charset="0"/>
                <a:ea typeface="Segoe UI" pitchFamily="34" charset="-122"/>
                <a:cs typeface="Segoe UI" pitchFamily="34" charset="-120"/>
              </a:rPr>
              <a:t>The JVM plus the core class libraries — everything needed to run a Java application.</a:t>
            </a:r>
            <a:endParaRPr lang="en-US" sz="1300"/>
          </a:p>
        </p:txBody>
      </p:sp>
      <p:sp>
        <p:nvSpPr>
          <p:cNvPr id="17" name="Bar 3"/>
          <p:cNvSpPr/>
          <p:nvPr/>
        </p:nvSpPr>
        <p:spPr>
          <a:xfrm>
            <a:off x="4754880" y="3733440"/>
            <a:ext cx="45720" cy="930000"/>
          </a:xfrm>
          <a:prstGeom prst="rect">
            <a:avLst/>
          </a:prstGeom>
          <a:solidFill>
            <a:srgbClr val="A9552F"/>
          </a:solidFill>
          <a:ln/>
        </p:spPr>
        <p:txBody>
          <a:bodyPr/>
          <a:lstStyle/>
          <a:p>
            <a:endParaRPr lang="en-US"/>
          </a:p>
        </p:txBody>
      </p:sp>
      <p:sp>
        <p:nvSpPr>
          <p:cNvPr id="18" name="Item 3"/>
          <p:cNvSpPr/>
          <p:nvPr/>
        </p:nvSpPr>
        <p:spPr>
          <a:xfrm>
            <a:off x="4983480" y="3733440"/>
            <a:ext cx="3611880" cy="930000"/>
          </a:xfrm>
          <a:prstGeom prst="rect">
            <a:avLst/>
          </a:prstGeom>
          <a:noFill/>
          <a:ln/>
        </p:spPr>
        <p:txBody>
          <a:bodyPr wrap="square" lIns="0" tIns="0" rIns="0" bIns="0" rtlCol="0" anchor="ctr"/>
          <a:lstStyle/>
          <a:p>
            <a:pPr marL="0" indent="0">
              <a:lnSpc>
                <a:spcPts val="1700"/>
              </a:lnSpc>
              <a:buNone/>
            </a:pPr>
            <a:r>
              <a:rPr lang="en-US" sz="1550" b="1">
                <a:solidFill>
                  <a:srgbClr val="1F3557"/>
                </a:solidFill>
                <a:latin typeface="Georgia" pitchFamily="34" charset="0"/>
                <a:ea typeface="Georgia" pitchFamily="34" charset="-122"/>
                <a:cs typeface="Georgia" pitchFamily="34" charset="-120"/>
              </a:rPr>
              <a:t>JDK</a:t>
            </a:r>
            <a:r>
              <a:rPr lang="en-US" sz="1250" b="1" spc="100">
                <a:solidFill>
                  <a:srgbClr val="A9552F"/>
                </a:solidFill>
                <a:latin typeface="Segoe UI" pitchFamily="34" charset="0"/>
                <a:ea typeface="Segoe UI" pitchFamily="34" charset="-122"/>
                <a:cs typeface="Segoe UI" pitchFamily="34" charset="-120"/>
              </a:rPr>
              <a:t>  JAVA DEVELOPMENT KIT</a:t>
            </a:r>
          </a:p>
          <a:p>
            <a:pPr marL="0" indent="0">
              <a:lnSpc>
                <a:spcPts val="1450"/>
              </a:lnSpc>
              <a:buNone/>
            </a:pPr>
            <a:r>
              <a:rPr lang="en-US" sz="1300">
                <a:solidFill>
                  <a:srgbClr val="6B6255"/>
                </a:solidFill>
                <a:latin typeface="Segoe UI" pitchFamily="34" charset="0"/>
                <a:ea typeface="Segoe UI" pitchFamily="34" charset="-122"/>
                <a:cs typeface="Segoe UI" pitchFamily="34" charset="-120"/>
              </a:rPr>
              <a:t>The JRE plus developer tools — javac the compiler, the debugger, and the utilities you build with.</a:t>
            </a:r>
            <a:endParaRPr lang="en-US" sz="13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Write compile run">
    <p:bg>
      <p:bgPr>
        <a:solidFill>
          <a:srgbClr val="F5EFE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EFE2"/>
          </a:solidFill>
          <a:ln w="3175">
            <a:solidFill>
              <a:srgbClr val="F5EFE2"/>
            </a:solidFill>
            <a:prstDash val="solid"/>
          </a:ln>
        </p:spPr>
        <p:txBody>
          <a:bodyPr/>
          <a:lstStyle/>
          <a:p>
            <a:endParaRPr lang="en-US"/>
          </a:p>
        </p:txBody>
      </p:sp>
      <p:sp>
        <p:nvSpPr>
          <p:cNvPr id="3" name="Text 1"/>
          <p:cNvSpPr/>
          <p:nvPr/>
        </p:nvSpPr>
        <p:spPr>
          <a:xfrm>
            <a:off x="548640" y="384048"/>
            <a:ext cx="5943600" cy="274320"/>
          </a:xfrm>
          <a:prstGeom prst="rect">
            <a:avLst/>
          </a:prstGeom>
          <a:noFill/>
          <a:ln/>
        </p:spPr>
        <p:txBody>
          <a:bodyPr wrap="square" lIns="0" tIns="0" rIns="0" bIns="0" rtlCol="0" anchor="ctr"/>
          <a:lstStyle/>
          <a:p>
            <a:pPr marL="0" indent="0">
              <a:buNone/>
            </a:pPr>
            <a:r>
              <a:rPr lang="en-US" sz="1300" b="1" kern="0" spc="300">
                <a:solidFill>
                  <a:srgbClr val="A9552F"/>
                </a:solidFill>
                <a:latin typeface="Segoe UI" pitchFamily="34" charset="0"/>
                <a:ea typeface="Segoe UI" pitchFamily="34" charset="-122"/>
                <a:cs typeface="Segoe UI" pitchFamily="34" charset="-120"/>
              </a:rPr>
              <a:t>WRITE, COMPILE, RUN</a:t>
            </a:r>
            <a:endParaRPr lang="en-US" sz="1300"/>
          </a:p>
        </p:txBody>
      </p:sp>
      <p:sp>
        <p:nvSpPr>
          <p:cNvPr id="4" name="Text 2"/>
          <p:cNvSpPr/>
          <p:nvPr/>
        </p:nvSpPr>
        <p:spPr>
          <a:xfrm>
            <a:off x="530352" y="676656"/>
            <a:ext cx="7200000" cy="548640"/>
          </a:xfrm>
          <a:prstGeom prst="rect">
            <a:avLst/>
          </a:prstGeom>
          <a:noFill/>
          <a:ln/>
        </p:spPr>
        <p:txBody>
          <a:bodyPr wrap="square" lIns="0" tIns="0" rIns="0" bIns="0" rtlCol="0" anchor="ctr"/>
          <a:lstStyle/>
          <a:p>
            <a:pPr marL="0" indent="0">
              <a:buNone/>
            </a:pPr>
            <a:r>
              <a:rPr lang="en-US" sz="2600" b="1">
                <a:solidFill>
                  <a:srgbClr val="1F3557"/>
                </a:solidFill>
                <a:latin typeface="Georgia" pitchFamily="34" charset="0"/>
                <a:ea typeface="Georgia" pitchFamily="34" charset="-122"/>
                <a:cs typeface="Georgia" pitchFamily="34" charset="-120"/>
              </a:rPr>
              <a:t>From source to output</a:t>
            </a:r>
            <a:endParaRPr lang="en-US" sz="1050"/>
          </a:p>
        </p:txBody>
      </p:sp>
      <p:sp>
        <p:nvSpPr>
          <p:cNvPr id="5" name="Shape 3"/>
          <p:cNvSpPr/>
          <p:nvPr/>
        </p:nvSpPr>
        <p:spPr>
          <a:xfrm>
            <a:off x="548640" y="1316736"/>
            <a:ext cx="1280160" cy="0"/>
          </a:xfrm>
          <a:prstGeom prst="line">
            <a:avLst/>
          </a:prstGeom>
          <a:noFill/>
          <a:ln w="28575">
            <a:solidFill>
              <a:srgbClr val="A9552F"/>
            </a:solidFill>
            <a:prstDash val="solid"/>
          </a:ln>
        </p:spPr>
        <p:txBody>
          <a:bodyPr/>
          <a:lstStyle/>
          <a:p>
            <a:endParaRPr lang="en-US"/>
          </a:p>
        </p:txBody>
      </p:sp>
      <p:sp>
        <p:nvSpPr>
          <p:cNvPr id="6" name="Panel 1"/>
          <p:cNvSpPr/>
          <p:nvPr/>
        </p:nvSpPr>
        <p:spPr>
          <a:xfrm>
            <a:off x="548640" y="1600200"/>
            <a:ext cx="2286000" cy="1153973"/>
          </a:xfrm>
          <a:prstGeom prst="roundRect">
            <a:avLst>
              <a:gd name="adj" fmla="val 2500"/>
            </a:avLst>
          </a:prstGeom>
          <a:solidFill>
            <a:srgbClr val="EFE7D6"/>
          </a:solidFill>
          <a:ln w="9525">
            <a:solidFill>
              <a:srgbClr val="1F3557"/>
            </a:solidFill>
            <a:prstDash val="solid"/>
          </a:ln>
        </p:spPr>
        <p:txBody>
          <a:bodyPr/>
          <a:lstStyle/>
          <a:p>
            <a:endParaRPr lang="en-US"/>
          </a:p>
        </p:txBody>
      </p:sp>
      <p:sp>
        <p:nvSpPr>
          <p:cNvPr id="7" name="PH 1"/>
          <p:cNvSpPr/>
          <p:nvPr/>
        </p:nvSpPr>
        <p:spPr>
          <a:xfrm>
            <a:off x="731520" y="1805940"/>
            <a:ext cx="1920240" cy="300000"/>
          </a:xfrm>
          <a:prstGeom prst="rect">
            <a:avLst/>
          </a:prstGeom>
          <a:noFill/>
          <a:ln/>
        </p:spPr>
        <p:txBody>
          <a:bodyPr wrap="square" lIns="0" tIns="0" rIns="0" bIns="0" rtlCol="0" anchor="ctr"/>
          <a:lstStyle/>
          <a:p>
            <a:pPr marL="0" indent="0" algn="ctr">
              <a:lnSpc>
                <a:spcPts val="1400"/>
              </a:lnSpc>
              <a:buNone/>
            </a:pPr>
            <a:r>
              <a:rPr lang="en-US" sz="1050" b="1">
                <a:solidFill>
                  <a:srgbClr val="1F3557"/>
                </a:solidFill>
                <a:latin typeface="Consolas" pitchFamily="34" charset="0"/>
                <a:ea typeface="Consolas" pitchFamily="34" charset="-122"/>
                <a:cs typeface="Consolas" pitchFamily="34" charset="-120"/>
              </a:rPr>
              <a:t>HelloJava.java</a:t>
            </a:r>
          </a:p>
        </p:txBody>
      </p:sp>
      <p:sp>
        <p:nvSpPr>
          <p:cNvPr id="8" name="PD 1"/>
          <p:cNvSpPr/>
          <p:nvPr/>
        </p:nvSpPr>
        <p:spPr>
          <a:xfrm>
            <a:off x="731520" y="2130200"/>
            <a:ext cx="1920240" cy="624535"/>
          </a:xfrm>
          <a:prstGeom prst="rect">
            <a:avLst/>
          </a:prstGeom>
          <a:noFill/>
          <a:ln/>
        </p:spPr>
        <p:txBody>
          <a:bodyPr wrap="square" lIns="0" tIns="0" rIns="0" bIns="0" rtlCol="0" anchor="ctr"/>
          <a:lstStyle/>
          <a:p>
            <a:pPr marL="0" indent="0" algn="ctr">
              <a:lnSpc>
                <a:spcPts val="1250"/>
              </a:lnSpc>
              <a:buNone/>
            </a:pPr>
            <a:r>
              <a:rPr lang="en-US" sz="1200">
                <a:solidFill>
                  <a:srgbClr val="6B6255"/>
                </a:solidFill>
                <a:latin typeface="Segoe UI" pitchFamily="34" charset="0"/>
                <a:ea typeface="Segoe UI" pitchFamily="34" charset="-122"/>
                <a:cs typeface="Segoe UI" pitchFamily="34" charset="-120"/>
              </a:rPr>
              <a:t>Source you can read</a:t>
            </a:r>
          </a:p>
        </p:txBody>
      </p:sp>
      <p:sp>
        <p:nvSpPr>
          <p:cNvPr id="9" name="Arrow 1"/>
          <p:cNvSpPr/>
          <p:nvPr/>
        </p:nvSpPr>
        <p:spPr>
          <a:xfrm>
            <a:off x="2944640" y="2020200"/>
            <a:ext cx="469392" cy="734263"/>
          </a:xfrm>
          <a:prstGeom prst="rightArrow">
            <a:avLst/>
          </a:prstGeom>
          <a:solidFill>
            <a:srgbClr val="A9552F"/>
          </a:solidFill>
          <a:ln/>
        </p:spPr>
        <p:txBody>
          <a:bodyPr/>
          <a:lstStyle/>
          <a:p>
            <a:endParaRPr lang="en-US"/>
          </a:p>
        </p:txBody>
      </p:sp>
      <p:sp>
        <p:nvSpPr>
          <p:cNvPr id="10" name="Cmd 1"/>
          <p:cNvSpPr/>
          <p:nvPr/>
        </p:nvSpPr>
        <p:spPr>
          <a:xfrm>
            <a:off x="2844640" y="1780200"/>
            <a:ext cx="669392" cy="240000"/>
          </a:xfrm>
          <a:prstGeom prst="rect">
            <a:avLst/>
          </a:prstGeom>
          <a:noFill/>
          <a:ln/>
        </p:spPr>
        <p:txBody>
          <a:bodyPr wrap="square" lIns="0" tIns="0" rIns="0" bIns="0" rtlCol="0" anchor="ctr"/>
          <a:lstStyle/>
          <a:p>
            <a:pPr marL="0" indent="0" algn="ctr">
              <a:lnSpc>
                <a:spcPts val="1200"/>
              </a:lnSpc>
              <a:buNone/>
            </a:pPr>
            <a:r>
              <a:rPr lang="en-US" sz="1050" b="1">
                <a:solidFill>
                  <a:srgbClr val="A9552F"/>
                </a:solidFill>
                <a:latin typeface="Consolas" pitchFamily="34" charset="0"/>
                <a:ea typeface="Consolas" pitchFamily="34" charset="-122"/>
                <a:cs typeface="Consolas" pitchFamily="34" charset="-120"/>
              </a:rPr>
              <a:t>javac</a:t>
            </a:r>
          </a:p>
        </p:txBody>
      </p:sp>
      <p:sp>
        <p:nvSpPr>
          <p:cNvPr id="11" name="Panel 2"/>
          <p:cNvSpPr/>
          <p:nvPr/>
        </p:nvSpPr>
        <p:spPr>
          <a:xfrm>
            <a:off x="3524032" y="1600200"/>
            <a:ext cx="2286000" cy="1153973"/>
          </a:xfrm>
          <a:prstGeom prst="roundRect">
            <a:avLst>
              <a:gd name="adj" fmla="val 2500"/>
            </a:avLst>
          </a:prstGeom>
          <a:solidFill>
            <a:srgbClr val="EFE7D6"/>
          </a:solidFill>
          <a:ln w="9525">
            <a:solidFill>
              <a:srgbClr val="1F3557"/>
            </a:solidFill>
            <a:prstDash val="solid"/>
          </a:ln>
        </p:spPr>
        <p:txBody>
          <a:bodyPr/>
          <a:lstStyle/>
          <a:p>
            <a:endParaRPr lang="en-US"/>
          </a:p>
        </p:txBody>
      </p:sp>
      <p:sp>
        <p:nvSpPr>
          <p:cNvPr id="12" name="PH 2"/>
          <p:cNvSpPr/>
          <p:nvPr/>
        </p:nvSpPr>
        <p:spPr>
          <a:xfrm>
            <a:off x="3706912" y="1805940"/>
            <a:ext cx="1920240" cy="300000"/>
          </a:xfrm>
          <a:prstGeom prst="rect">
            <a:avLst/>
          </a:prstGeom>
          <a:noFill/>
          <a:ln/>
        </p:spPr>
        <p:txBody>
          <a:bodyPr wrap="square" lIns="0" tIns="0" rIns="0" bIns="0" rtlCol="0" anchor="ctr"/>
          <a:lstStyle/>
          <a:p>
            <a:pPr marL="0" indent="0" algn="ctr">
              <a:lnSpc>
                <a:spcPts val="1400"/>
              </a:lnSpc>
              <a:buNone/>
            </a:pPr>
            <a:r>
              <a:rPr lang="en-US" sz="1050" b="1">
                <a:solidFill>
                  <a:srgbClr val="1F3557"/>
                </a:solidFill>
                <a:latin typeface="Consolas" pitchFamily="34" charset="0"/>
                <a:ea typeface="Consolas" pitchFamily="34" charset="-122"/>
                <a:cs typeface="Consolas" pitchFamily="34" charset="-120"/>
              </a:rPr>
              <a:t>HelloJava.class</a:t>
            </a:r>
          </a:p>
        </p:txBody>
      </p:sp>
      <p:sp>
        <p:nvSpPr>
          <p:cNvPr id="13" name="PD 2"/>
          <p:cNvSpPr/>
          <p:nvPr/>
        </p:nvSpPr>
        <p:spPr>
          <a:xfrm>
            <a:off x="3706912" y="2130200"/>
            <a:ext cx="1920240" cy="624535"/>
          </a:xfrm>
          <a:prstGeom prst="rect">
            <a:avLst/>
          </a:prstGeom>
          <a:noFill/>
          <a:ln/>
        </p:spPr>
        <p:txBody>
          <a:bodyPr wrap="square" lIns="0" tIns="0" rIns="0" bIns="0" rtlCol="0" anchor="ctr"/>
          <a:lstStyle/>
          <a:p>
            <a:pPr marL="0" indent="0" algn="ctr">
              <a:lnSpc>
                <a:spcPts val="1250"/>
              </a:lnSpc>
              <a:buNone/>
            </a:pPr>
            <a:r>
              <a:rPr lang="en-US" sz="1200">
                <a:solidFill>
                  <a:srgbClr val="6B6255"/>
                </a:solidFill>
                <a:latin typeface="Segoe UI" pitchFamily="34" charset="0"/>
                <a:ea typeface="Segoe UI" pitchFamily="34" charset="-122"/>
                <a:cs typeface="Segoe UI" pitchFamily="34" charset="-120"/>
              </a:rPr>
              <a:t>Portable bytecode</a:t>
            </a:r>
          </a:p>
        </p:txBody>
      </p:sp>
      <p:sp>
        <p:nvSpPr>
          <p:cNvPr id="14" name="Arrow 2"/>
          <p:cNvSpPr/>
          <p:nvPr/>
        </p:nvSpPr>
        <p:spPr>
          <a:xfrm>
            <a:off x="5920032" y="2020200"/>
            <a:ext cx="469392" cy="734263"/>
          </a:xfrm>
          <a:prstGeom prst="rightArrow">
            <a:avLst/>
          </a:prstGeom>
          <a:solidFill>
            <a:srgbClr val="A9552F"/>
          </a:solidFill>
          <a:ln/>
        </p:spPr>
        <p:txBody>
          <a:bodyPr/>
          <a:lstStyle/>
          <a:p>
            <a:endParaRPr lang="en-US"/>
          </a:p>
        </p:txBody>
      </p:sp>
      <p:sp>
        <p:nvSpPr>
          <p:cNvPr id="15" name="Cmd 2"/>
          <p:cNvSpPr/>
          <p:nvPr/>
        </p:nvSpPr>
        <p:spPr>
          <a:xfrm>
            <a:off x="5820032" y="1780200"/>
            <a:ext cx="669392" cy="240000"/>
          </a:xfrm>
          <a:prstGeom prst="rect">
            <a:avLst/>
          </a:prstGeom>
          <a:noFill/>
          <a:ln/>
        </p:spPr>
        <p:txBody>
          <a:bodyPr wrap="square" lIns="0" tIns="0" rIns="0" bIns="0" rtlCol="0" anchor="ctr"/>
          <a:lstStyle/>
          <a:p>
            <a:pPr marL="0" indent="0" algn="ctr">
              <a:lnSpc>
                <a:spcPts val="1200"/>
              </a:lnSpc>
              <a:buNone/>
            </a:pPr>
            <a:r>
              <a:rPr lang="en-US" sz="1050" b="1">
                <a:solidFill>
                  <a:srgbClr val="A9552F"/>
                </a:solidFill>
                <a:latin typeface="Consolas" pitchFamily="34" charset="0"/>
                <a:ea typeface="Consolas" pitchFamily="34" charset="-122"/>
                <a:cs typeface="Consolas" pitchFamily="34" charset="-120"/>
              </a:rPr>
              <a:t>java</a:t>
            </a:r>
          </a:p>
        </p:txBody>
      </p:sp>
      <p:sp>
        <p:nvSpPr>
          <p:cNvPr id="16" name="Panel 3"/>
          <p:cNvSpPr/>
          <p:nvPr/>
        </p:nvSpPr>
        <p:spPr>
          <a:xfrm>
            <a:off x="6499424" y="1600200"/>
            <a:ext cx="2286000" cy="1153973"/>
          </a:xfrm>
          <a:prstGeom prst="roundRect">
            <a:avLst>
              <a:gd name="adj" fmla="val 2500"/>
            </a:avLst>
          </a:prstGeom>
          <a:solidFill>
            <a:srgbClr val="F5EFE2"/>
          </a:solidFill>
          <a:ln w="9525">
            <a:solidFill>
              <a:srgbClr val="1F3557"/>
            </a:solidFill>
            <a:prstDash val="solid"/>
          </a:ln>
        </p:spPr>
        <p:txBody>
          <a:bodyPr/>
          <a:lstStyle/>
          <a:p>
            <a:endParaRPr lang="en-US"/>
          </a:p>
        </p:txBody>
      </p:sp>
      <p:sp>
        <p:nvSpPr>
          <p:cNvPr id="17" name="PH 3"/>
          <p:cNvSpPr/>
          <p:nvPr/>
        </p:nvSpPr>
        <p:spPr>
          <a:xfrm>
            <a:off x="6682304" y="1805940"/>
            <a:ext cx="1920240" cy="300000"/>
          </a:xfrm>
          <a:prstGeom prst="rect">
            <a:avLst/>
          </a:prstGeom>
          <a:noFill/>
          <a:ln/>
        </p:spPr>
        <p:txBody>
          <a:bodyPr wrap="square" lIns="0" tIns="0" rIns="0" bIns="0" rtlCol="0" anchor="ctr"/>
          <a:lstStyle/>
          <a:p>
            <a:pPr marL="0" indent="0" algn="ctr">
              <a:lnSpc>
                <a:spcPts val="1400"/>
              </a:lnSpc>
              <a:buNone/>
            </a:pPr>
            <a:r>
              <a:rPr lang="en-US" sz="1050" b="1">
                <a:solidFill>
                  <a:srgbClr val="1F3557"/>
                </a:solidFill>
                <a:latin typeface="Consolas" pitchFamily="34" charset="0"/>
                <a:ea typeface="Consolas" pitchFamily="34" charset="-122"/>
                <a:cs typeface="Consolas" pitchFamily="34" charset="-120"/>
              </a:rPr>
              <a:t>Hello, Java!</a:t>
            </a:r>
          </a:p>
        </p:txBody>
      </p:sp>
      <p:sp>
        <p:nvSpPr>
          <p:cNvPr id="18" name="PD 3"/>
          <p:cNvSpPr/>
          <p:nvPr/>
        </p:nvSpPr>
        <p:spPr>
          <a:xfrm>
            <a:off x="6682304" y="2130200"/>
            <a:ext cx="1920240" cy="624535"/>
          </a:xfrm>
          <a:prstGeom prst="rect">
            <a:avLst/>
          </a:prstGeom>
          <a:noFill/>
          <a:ln/>
        </p:spPr>
        <p:txBody>
          <a:bodyPr wrap="square" lIns="0" tIns="0" rIns="0" bIns="0" rtlCol="0" anchor="ctr"/>
          <a:lstStyle/>
          <a:p>
            <a:pPr marL="0" indent="0" algn="ctr">
              <a:lnSpc>
                <a:spcPts val="1250"/>
              </a:lnSpc>
              <a:buNone/>
            </a:pPr>
            <a:r>
              <a:rPr lang="en-US" sz="1200">
                <a:solidFill>
                  <a:srgbClr val="6B6255"/>
                </a:solidFill>
                <a:latin typeface="Segoe UI" pitchFamily="34" charset="0"/>
                <a:ea typeface="Segoe UI" pitchFamily="34" charset="-122"/>
                <a:cs typeface="Segoe UI" pitchFamily="34" charset="-120"/>
              </a:rPr>
              <a:t>Program output</a:t>
            </a:r>
          </a:p>
        </p:txBody>
      </p:sp>
      <p:sp>
        <p:nvSpPr>
          <p:cNvPr id="19" name="Code panel"/>
          <p:cNvSpPr/>
          <p:nvPr/>
        </p:nvSpPr>
        <p:spPr>
          <a:xfrm>
            <a:off x="548640" y="2800000"/>
            <a:ext cx="3931920" cy="2064715"/>
          </a:xfrm>
          <a:prstGeom prst="roundRect">
            <a:avLst>
              <a:gd name="adj" fmla="val 2500"/>
            </a:avLst>
          </a:prstGeom>
          <a:solidFill>
            <a:srgbClr val="EFE7D6"/>
          </a:solidFill>
          <a:ln w="9525">
            <a:solidFill>
              <a:srgbClr val="1F3557"/>
            </a:solidFill>
            <a:prstDash val="solid"/>
          </a:ln>
        </p:spPr>
        <p:txBody>
          <a:bodyPr/>
          <a:lstStyle/>
          <a:p>
            <a:endParaRPr lang="en-US"/>
          </a:p>
        </p:txBody>
      </p:sp>
      <p:sp>
        <p:nvSpPr>
          <p:cNvPr id="20" name="Code name"/>
          <p:cNvSpPr/>
          <p:nvPr/>
        </p:nvSpPr>
        <p:spPr>
          <a:xfrm>
            <a:off x="777240" y="2960020"/>
            <a:ext cx="3474720" cy="240000"/>
          </a:xfrm>
          <a:prstGeom prst="rect">
            <a:avLst/>
          </a:prstGeom>
          <a:noFill/>
          <a:ln/>
        </p:spPr>
        <p:txBody>
          <a:bodyPr wrap="square" lIns="0" tIns="0" rIns="0" bIns="0" rtlCol="0" anchor="t"/>
          <a:lstStyle/>
          <a:p>
            <a:pPr marL="0" indent="0">
              <a:lnSpc>
                <a:spcPts val="1200"/>
              </a:lnSpc>
              <a:buNone/>
            </a:pPr>
            <a:r>
              <a:rPr lang="en-US" sz="1200" b="1" spc="100">
                <a:solidFill>
                  <a:srgbClr val="A9552F"/>
                </a:solidFill>
                <a:latin typeface="Segoe UI" pitchFamily="34" charset="0"/>
                <a:ea typeface="Segoe UI" pitchFamily="34" charset="-122"/>
                <a:cs typeface="Segoe UI" pitchFamily="34" charset="-120"/>
              </a:rPr>
              <a:t>HelloJava.java</a:t>
            </a:r>
          </a:p>
        </p:txBody>
      </p:sp>
      <p:sp>
        <p:nvSpPr>
          <p:cNvPr id="21" name="Code"/>
          <p:cNvSpPr/>
          <p:nvPr/>
        </p:nvSpPr>
        <p:spPr>
          <a:xfrm>
            <a:off x="777240" y="3280060"/>
            <a:ext cx="3474720" cy="1584655"/>
          </a:xfrm>
          <a:prstGeom prst="rect">
            <a:avLst/>
          </a:prstGeom>
          <a:noFill/>
          <a:ln/>
        </p:spPr>
        <p:txBody>
          <a:bodyPr wrap="square" lIns="0" tIns="0" rIns="0" bIns="0" rtlCol="0" anchor="t"/>
          <a:lstStyle/>
          <a:p>
            <a:pPr marL="0" indent="0">
              <a:lnSpc>
                <a:spcPts val="1250"/>
              </a:lnSpc>
              <a:buNone/>
            </a:pPr>
            <a:r>
              <a:rPr lang="en-US" sz="1050">
                <a:solidFill>
                  <a:srgbClr val="1F3557"/>
                </a:solidFill>
                <a:latin typeface="Consolas" pitchFamily="34" charset="0"/>
                <a:ea typeface="Consolas" pitchFamily="34" charset="-122"/>
                <a:cs typeface="Consolas" pitchFamily="34" charset="-120"/>
              </a:rPr>
              <a:t>public class HelloJava {</a:t>
            </a:r>
          </a:p>
          <a:p>
            <a:pPr marL="0" indent="0">
              <a:lnSpc>
                <a:spcPts val="1250"/>
              </a:lnSpc>
              <a:buNone/>
            </a:pPr>
            <a:r>
              <a:rPr lang="en-US" sz="1050">
                <a:solidFill>
                  <a:srgbClr val="1F3557"/>
                </a:solidFill>
                <a:latin typeface="Consolas" pitchFamily="34" charset="0"/>
                <a:ea typeface="Consolas" pitchFamily="34" charset="-122"/>
                <a:cs typeface="Consolas" pitchFamily="34" charset="-120"/>
              </a:rPr>
              <a:t>    public static void main(String[] args) {</a:t>
            </a:r>
          </a:p>
          <a:p>
            <a:pPr marL="0" indent="0">
              <a:lnSpc>
                <a:spcPts val="1250"/>
              </a:lnSpc>
              <a:buNone/>
            </a:pPr>
            <a:r>
              <a:rPr lang="en-US" sz="1050">
                <a:solidFill>
                  <a:srgbClr val="1F3557"/>
                </a:solidFill>
                <a:latin typeface="Consolas" pitchFamily="34" charset="0"/>
                <a:ea typeface="Consolas" pitchFamily="34" charset="-122"/>
                <a:cs typeface="Consolas" pitchFamily="34" charset="-120"/>
              </a:rPr>
              <a:t>        System.out.println("Hello, Java!");</a:t>
            </a:r>
          </a:p>
          <a:p>
            <a:pPr marL="0" indent="0">
              <a:lnSpc>
                <a:spcPts val="1250"/>
              </a:lnSpc>
              <a:buNone/>
            </a:pPr>
            <a:r>
              <a:rPr lang="en-US" sz="1050">
                <a:solidFill>
                  <a:srgbClr val="1F3557"/>
                </a:solidFill>
                <a:latin typeface="Consolas" pitchFamily="34" charset="0"/>
                <a:ea typeface="Consolas" pitchFamily="34" charset="-122"/>
                <a:cs typeface="Consolas" pitchFamily="34" charset="-120"/>
              </a:rPr>
              <a:t>    }</a:t>
            </a:r>
          </a:p>
          <a:p>
            <a:pPr marL="0" indent="0">
              <a:lnSpc>
                <a:spcPts val="1250"/>
              </a:lnSpc>
              <a:buNone/>
            </a:pPr>
            <a:r>
              <a:rPr lang="en-US" sz="1050">
                <a:solidFill>
                  <a:srgbClr val="1F3557"/>
                </a:solidFill>
                <a:latin typeface="Consolas" pitchFamily="34" charset="0"/>
                <a:ea typeface="Consolas" pitchFamily="34" charset="-122"/>
                <a:cs typeface="Consolas" pitchFamily="34" charset="-120"/>
              </a:rPr>
              <a:t>}</a:t>
            </a:r>
          </a:p>
        </p:txBody>
      </p:sp>
      <p:sp>
        <p:nvSpPr>
          <p:cNvPr id="22" name="Steps head"/>
          <p:cNvSpPr/>
          <p:nvPr/>
        </p:nvSpPr>
        <p:spPr>
          <a:xfrm>
            <a:off x="4983480" y="2871216"/>
            <a:ext cx="3611880" cy="260000"/>
          </a:xfrm>
          <a:prstGeom prst="rect">
            <a:avLst/>
          </a:prstGeom>
          <a:noFill/>
          <a:ln/>
        </p:spPr>
        <p:txBody>
          <a:bodyPr wrap="square" lIns="0" tIns="0" rIns="0" bIns="0" rtlCol="0" anchor="t"/>
          <a:lstStyle/>
          <a:p>
            <a:pPr marL="0" indent="0">
              <a:lnSpc>
                <a:spcPts val="1300"/>
              </a:lnSpc>
              <a:buNone/>
            </a:pPr>
            <a:r>
              <a:rPr lang="en-US" sz="1250" b="1" spc="150">
                <a:solidFill>
                  <a:srgbClr val="A9552F"/>
                </a:solidFill>
                <a:latin typeface="Segoe UI" pitchFamily="34" charset="0"/>
                <a:ea typeface="Segoe UI" pitchFamily="34" charset="-122"/>
                <a:cs typeface="Segoe UI" pitchFamily="34" charset="-120"/>
              </a:rPr>
              <a:t>THE CYCLE YOU WILL REPEAT ALL DAY</a:t>
            </a:r>
          </a:p>
        </p:txBody>
      </p:sp>
      <p:sp>
        <p:nvSpPr>
          <p:cNvPr id="23" name="Mk 1"/>
          <p:cNvSpPr/>
          <p:nvPr/>
        </p:nvSpPr>
        <p:spPr>
          <a:xfrm>
            <a:off x="4983480" y="3160005"/>
            <a:ext cx="91440" cy="359359"/>
          </a:xfrm>
          <a:prstGeom prst="rect">
            <a:avLst/>
          </a:prstGeom>
          <a:solidFill>
            <a:srgbClr val="A9552F"/>
          </a:solidFill>
          <a:ln/>
        </p:spPr>
        <p:txBody>
          <a:bodyPr/>
          <a:lstStyle/>
          <a:p>
            <a:endParaRPr lang="en-US"/>
          </a:p>
        </p:txBody>
      </p:sp>
      <p:sp>
        <p:nvSpPr>
          <p:cNvPr id="24" name="St 1"/>
          <p:cNvSpPr/>
          <p:nvPr/>
        </p:nvSpPr>
        <p:spPr>
          <a:xfrm>
            <a:off x="5212080" y="3120000"/>
            <a:ext cx="3383280" cy="360000"/>
          </a:xfrm>
          <a:prstGeom prst="rect">
            <a:avLst/>
          </a:prstGeom>
          <a:noFill/>
          <a:ln/>
        </p:spPr>
        <p:txBody>
          <a:bodyPr wrap="square" lIns="0" tIns="0" rIns="0" bIns="0" rtlCol="0" anchor="t"/>
          <a:lstStyle/>
          <a:p>
            <a:pPr marL="0" indent="0">
              <a:lnSpc>
                <a:spcPts val="1300"/>
              </a:lnSpc>
              <a:buNone/>
            </a:pPr>
            <a:r>
              <a:rPr lang="en-US" sz="1300" b="1">
                <a:solidFill>
                  <a:srgbClr val="1F3557"/>
                </a:solidFill>
                <a:latin typeface="Segoe UI" pitchFamily="34" charset="0"/>
                <a:ea typeface="Segoe UI" pitchFamily="34" charset="-122"/>
                <a:cs typeface="Segoe UI" pitchFamily="34" charset="-120"/>
              </a:rPr>
              <a:t>Type it — </a:t>
            </a:r>
            <a:r>
              <a:rPr lang="en-US" sz="1300">
                <a:solidFill>
                  <a:srgbClr val="6B6255"/>
                </a:solidFill>
                <a:latin typeface="Segoe UI" pitchFamily="34" charset="0"/>
                <a:ea typeface="Segoe UI" pitchFamily="34" charset="-122"/>
                <a:cs typeface="Segoe UI" pitchFamily="34" charset="-120"/>
              </a:rPr>
              <a:t>every brace, quote, and semicolon — do not paste</a:t>
            </a:r>
          </a:p>
        </p:txBody>
      </p:sp>
      <p:sp>
        <p:nvSpPr>
          <p:cNvPr id="25" name="Mk 2"/>
          <p:cNvSpPr/>
          <p:nvPr/>
        </p:nvSpPr>
        <p:spPr>
          <a:xfrm>
            <a:off x="4983480" y="3565005"/>
            <a:ext cx="91440" cy="359359"/>
          </a:xfrm>
          <a:prstGeom prst="rect">
            <a:avLst/>
          </a:prstGeom>
          <a:solidFill>
            <a:srgbClr val="A9552F"/>
          </a:solidFill>
          <a:ln/>
        </p:spPr>
        <p:txBody>
          <a:bodyPr/>
          <a:lstStyle/>
          <a:p>
            <a:endParaRPr lang="en-US"/>
          </a:p>
        </p:txBody>
      </p:sp>
      <p:sp>
        <p:nvSpPr>
          <p:cNvPr id="26" name="St 2"/>
          <p:cNvSpPr/>
          <p:nvPr/>
        </p:nvSpPr>
        <p:spPr>
          <a:xfrm>
            <a:off x="5212080" y="3525000"/>
            <a:ext cx="3383280" cy="360000"/>
          </a:xfrm>
          <a:prstGeom prst="rect">
            <a:avLst/>
          </a:prstGeom>
          <a:noFill/>
          <a:ln/>
        </p:spPr>
        <p:txBody>
          <a:bodyPr wrap="square" lIns="0" tIns="0" rIns="0" bIns="0" rtlCol="0" anchor="t"/>
          <a:lstStyle/>
          <a:p>
            <a:pPr marL="0" indent="0">
              <a:lnSpc>
                <a:spcPts val="1300"/>
              </a:lnSpc>
              <a:buNone/>
            </a:pPr>
            <a:r>
              <a:rPr lang="en-US" sz="1300" b="1">
                <a:solidFill>
                  <a:srgbClr val="1F3557"/>
                </a:solidFill>
                <a:latin typeface="Segoe UI" pitchFamily="34" charset="0"/>
                <a:ea typeface="Segoe UI" pitchFamily="34" charset="-122"/>
                <a:cs typeface="Segoe UI" pitchFamily="34" charset="-120"/>
              </a:rPr>
              <a:t>Save it — </a:t>
            </a:r>
            <a:r>
              <a:rPr lang="en-US" sz="1300">
                <a:solidFill>
                  <a:srgbClr val="6B6255"/>
                </a:solidFill>
                <a:latin typeface="Segoe UI" pitchFamily="34" charset="0"/>
                <a:ea typeface="Segoe UI" pitchFamily="34" charset="-122"/>
                <a:cs typeface="Segoe UI" pitchFamily="34" charset="-120"/>
              </a:rPr>
              <a:t>Ctrl+S; an unsaved edit is invisible to javac</a:t>
            </a:r>
          </a:p>
        </p:txBody>
      </p:sp>
      <p:sp>
        <p:nvSpPr>
          <p:cNvPr id="27" name="Mk 3"/>
          <p:cNvSpPr/>
          <p:nvPr/>
        </p:nvSpPr>
        <p:spPr>
          <a:xfrm>
            <a:off x="4983480" y="3970005"/>
            <a:ext cx="91440" cy="359359"/>
          </a:xfrm>
          <a:prstGeom prst="rect">
            <a:avLst/>
          </a:prstGeom>
          <a:solidFill>
            <a:srgbClr val="A9552F"/>
          </a:solidFill>
          <a:ln/>
        </p:spPr>
        <p:txBody>
          <a:bodyPr/>
          <a:lstStyle/>
          <a:p>
            <a:endParaRPr lang="en-US"/>
          </a:p>
        </p:txBody>
      </p:sp>
      <p:sp>
        <p:nvSpPr>
          <p:cNvPr id="28" name="St 3"/>
          <p:cNvSpPr/>
          <p:nvPr/>
        </p:nvSpPr>
        <p:spPr>
          <a:xfrm>
            <a:off x="5212080" y="3930000"/>
            <a:ext cx="3383280" cy="360000"/>
          </a:xfrm>
          <a:prstGeom prst="rect">
            <a:avLst/>
          </a:prstGeom>
          <a:noFill/>
          <a:ln/>
        </p:spPr>
        <p:txBody>
          <a:bodyPr wrap="square" lIns="0" tIns="0" rIns="0" bIns="0" rtlCol="0" anchor="t"/>
          <a:lstStyle/>
          <a:p>
            <a:pPr marL="0" indent="0">
              <a:lnSpc>
                <a:spcPts val="1300"/>
              </a:lnSpc>
              <a:buNone/>
            </a:pPr>
            <a:r>
              <a:rPr lang="en-US" sz="1300" b="1">
                <a:solidFill>
                  <a:srgbClr val="1F3557"/>
                </a:solidFill>
                <a:latin typeface="Segoe UI" pitchFamily="34" charset="0"/>
                <a:ea typeface="Segoe UI" pitchFamily="34" charset="-122"/>
                <a:cs typeface="Segoe UI" pitchFamily="34" charset="-120"/>
              </a:rPr>
              <a:t>Compile it — </a:t>
            </a:r>
            <a:r>
              <a:rPr lang="en-US" sz="1300">
                <a:solidFill>
                  <a:srgbClr val="6B6255"/>
                </a:solidFill>
                <a:latin typeface="Segoe UI" pitchFamily="34" charset="0"/>
                <a:ea typeface="Segoe UI" pitchFamily="34" charset="-122"/>
                <a:cs typeface="Segoe UI" pitchFamily="34" charset="-120"/>
              </a:rPr>
              <a:t>javac HelloJava.java, then look for HelloJava.class</a:t>
            </a:r>
          </a:p>
        </p:txBody>
      </p:sp>
      <p:sp>
        <p:nvSpPr>
          <p:cNvPr id="29" name="Mk 4"/>
          <p:cNvSpPr/>
          <p:nvPr/>
        </p:nvSpPr>
        <p:spPr>
          <a:xfrm>
            <a:off x="4983480" y="4375005"/>
            <a:ext cx="91440" cy="489204"/>
          </a:xfrm>
          <a:prstGeom prst="rect">
            <a:avLst/>
          </a:prstGeom>
          <a:solidFill>
            <a:srgbClr val="A9552F"/>
          </a:solidFill>
          <a:ln/>
        </p:spPr>
        <p:txBody>
          <a:bodyPr/>
          <a:lstStyle/>
          <a:p>
            <a:endParaRPr lang="en-US"/>
          </a:p>
        </p:txBody>
      </p:sp>
      <p:sp>
        <p:nvSpPr>
          <p:cNvPr id="30" name="St 4"/>
          <p:cNvSpPr/>
          <p:nvPr/>
        </p:nvSpPr>
        <p:spPr>
          <a:xfrm>
            <a:off x="5212080" y="4335000"/>
            <a:ext cx="3383280" cy="529438"/>
          </a:xfrm>
          <a:prstGeom prst="rect">
            <a:avLst/>
          </a:prstGeom>
          <a:noFill/>
          <a:ln/>
        </p:spPr>
        <p:txBody>
          <a:bodyPr wrap="square" lIns="0" tIns="0" rIns="0" bIns="0" rtlCol="0" anchor="t"/>
          <a:lstStyle/>
          <a:p>
            <a:pPr marL="0" indent="0">
              <a:lnSpc>
                <a:spcPts val="1300"/>
              </a:lnSpc>
              <a:buNone/>
            </a:pPr>
            <a:r>
              <a:rPr lang="en-US" sz="1300" b="1">
                <a:solidFill>
                  <a:srgbClr val="1F3557"/>
                </a:solidFill>
                <a:latin typeface="Segoe UI" pitchFamily="34" charset="0"/>
                <a:ea typeface="Segoe UI" pitchFamily="34" charset="-122"/>
                <a:cs typeface="Segoe UI" pitchFamily="34" charset="-120"/>
              </a:rPr>
              <a:t>Run it — </a:t>
            </a:r>
            <a:r>
              <a:rPr lang="en-US" sz="1300">
                <a:solidFill>
                  <a:srgbClr val="6B6255"/>
                </a:solidFill>
                <a:latin typeface="Segoe UI" pitchFamily="34" charset="0"/>
                <a:ea typeface="Segoe UI" pitchFamily="34" charset="-122"/>
                <a:cs typeface="Segoe UI" pitchFamily="34" charset="-120"/>
              </a:rPr>
              <a:t>java HelloJava — no .java, no .class on the end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5">
    <p:bg>
      <p:bgPr>
        <a:solidFill>
          <a:srgbClr val="F5EFE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EFE2"/>
          </a:solidFill>
          <a:ln w="3175">
            <a:solidFill>
              <a:srgbClr val="F5EFE2"/>
            </a:solidFill>
            <a:prstDash val="solid"/>
          </a:ln>
        </p:spPr>
        <p:txBody>
          <a:bodyPr/>
          <a:lstStyle/>
          <a:p>
            <a:endParaRPr lang="en-US"/>
          </a:p>
        </p:txBody>
      </p:sp>
      <p:sp>
        <p:nvSpPr>
          <p:cNvPr id="3" name="Text 1"/>
          <p:cNvSpPr/>
          <p:nvPr/>
        </p:nvSpPr>
        <p:spPr>
          <a:xfrm>
            <a:off x="548640" y="384048"/>
            <a:ext cx="5943600" cy="274320"/>
          </a:xfrm>
          <a:prstGeom prst="rect">
            <a:avLst/>
          </a:prstGeom>
          <a:noFill/>
          <a:ln/>
        </p:spPr>
        <p:txBody>
          <a:bodyPr wrap="square" lIns="0" tIns="0" rIns="0" bIns="0" rtlCol="0" anchor="ctr"/>
          <a:lstStyle/>
          <a:p>
            <a:pPr marL="0" indent="0">
              <a:buNone/>
            </a:pPr>
            <a:r>
              <a:rPr lang="en-US" sz="1120" b="1" kern="0" spc="300">
                <a:solidFill>
                  <a:srgbClr val="A9552F"/>
                </a:solidFill>
                <a:latin typeface="Segoe UI" pitchFamily="34" charset="0"/>
                <a:ea typeface="Segoe UI" pitchFamily="34" charset="-122"/>
                <a:cs typeface="Segoe UI" pitchFamily="34" charset="-120"/>
              </a:rPr>
              <a:t>ANATOMY OF A JAVA FILE</a:t>
            </a:r>
            <a:endParaRPr lang="en-US" sz="1120"/>
          </a:p>
        </p:txBody>
      </p:sp>
      <p:sp>
        <p:nvSpPr>
          <p:cNvPr id="4" name="Text 2"/>
          <p:cNvSpPr/>
          <p:nvPr/>
        </p:nvSpPr>
        <p:spPr>
          <a:xfrm>
            <a:off x="530352" y="676656"/>
            <a:ext cx="7200000" cy="548640"/>
          </a:xfrm>
          <a:prstGeom prst="rect">
            <a:avLst/>
          </a:prstGeom>
          <a:noFill/>
          <a:ln/>
        </p:spPr>
        <p:txBody>
          <a:bodyPr wrap="square" lIns="0" tIns="0" rIns="0" bIns="0" rtlCol="0" anchor="ctr"/>
          <a:lstStyle/>
          <a:p>
            <a:pPr marL="0" indent="0">
              <a:buNone/>
            </a:pPr>
            <a:r>
              <a:rPr lang="en-US" sz="2600" b="1">
                <a:solidFill>
                  <a:srgbClr val="1F3557"/>
                </a:solidFill>
                <a:latin typeface="Georgia" pitchFamily="34" charset="0"/>
                <a:ea typeface="Georgia" pitchFamily="34" charset="-122"/>
                <a:cs typeface="Georgia" pitchFamily="34" charset="-120"/>
              </a:rPr>
              <a:t>Every part of your first program</a:t>
            </a:r>
            <a:endParaRPr lang="en-US" sz="3200"/>
          </a:p>
        </p:txBody>
      </p:sp>
      <p:sp>
        <p:nvSpPr>
          <p:cNvPr id="5" name="Shape 3"/>
          <p:cNvSpPr/>
          <p:nvPr/>
        </p:nvSpPr>
        <p:spPr>
          <a:xfrm>
            <a:off x="548640" y="1316736"/>
            <a:ext cx="1280160" cy="0"/>
          </a:xfrm>
          <a:prstGeom prst="line">
            <a:avLst/>
          </a:prstGeom>
          <a:noFill/>
          <a:ln w="28575">
            <a:solidFill>
              <a:srgbClr val="A9552F"/>
            </a:solidFill>
            <a:prstDash val="solid"/>
          </a:ln>
        </p:spPr>
        <p:txBody>
          <a:bodyPr/>
          <a:lstStyle/>
          <a:p>
            <a:endParaRPr lang="en-US"/>
          </a:p>
        </p:txBody>
      </p:sp>
      <p:sp>
        <p:nvSpPr>
          <p:cNvPr id="6" name="Code panel"/>
          <p:cNvSpPr/>
          <p:nvPr/>
        </p:nvSpPr>
        <p:spPr>
          <a:xfrm>
            <a:off x="548640" y="1600200"/>
            <a:ext cx="4160520" cy="3264408"/>
          </a:xfrm>
          <a:prstGeom prst="roundRect">
            <a:avLst>
              <a:gd name="adj" fmla="val 2500"/>
            </a:avLst>
          </a:prstGeom>
          <a:solidFill>
            <a:srgbClr val="EFE7D6"/>
          </a:solidFill>
          <a:ln w="9525">
            <a:solidFill>
              <a:srgbClr val="1F3557"/>
            </a:solidFill>
            <a:prstDash val="solid"/>
          </a:ln>
        </p:spPr>
        <p:txBody>
          <a:bodyPr/>
          <a:lstStyle/>
          <a:p>
            <a:endParaRPr lang="en-US"/>
          </a:p>
        </p:txBody>
      </p:sp>
      <p:sp>
        <p:nvSpPr>
          <p:cNvPr id="7" name="File name"/>
          <p:cNvSpPr/>
          <p:nvPr/>
        </p:nvSpPr>
        <p:spPr>
          <a:xfrm>
            <a:off x="777240" y="1760220"/>
            <a:ext cx="3703320" cy="240030"/>
          </a:xfrm>
          <a:prstGeom prst="rect">
            <a:avLst/>
          </a:prstGeom>
          <a:noFill/>
          <a:ln/>
        </p:spPr>
        <p:txBody>
          <a:bodyPr wrap="square" lIns="0" tIns="0" rIns="0" bIns="0" rtlCol="0" anchor="ctr"/>
          <a:lstStyle/>
          <a:p>
            <a:pPr marL="0" indent="0">
              <a:buNone/>
            </a:pPr>
            <a:r>
              <a:rPr lang="en-US" sz="1120" b="1" spc="100">
                <a:solidFill>
                  <a:srgbClr val="A9552F"/>
                </a:solidFill>
                <a:latin typeface="Segoe UI" pitchFamily="34" charset="0"/>
                <a:ea typeface="Segoe UI" pitchFamily="34" charset="-122"/>
                <a:cs typeface="Segoe UI" pitchFamily="34" charset="-120"/>
              </a:rPr>
              <a:t>HelloJava.java</a:t>
            </a:r>
          </a:p>
        </p:txBody>
      </p:sp>
      <p:sp>
        <p:nvSpPr>
          <p:cNvPr id="8" name="Code"/>
          <p:cNvSpPr/>
          <p:nvPr/>
        </p:nvSpPr>
        <p:spPr>
          <a:xfrm>
            <a:off x="777240" y="2080260"/>
            <a:ext cx="3703320" cy="2784348"/>
          </a:xfrm>
          <a:prstGeom prst="rect">
            <a:avLst/>
          </a:prstGeom>
          <a:noFill/>
          <a:ln/>
        </p:spPr>
        <p:txBody>
          <a:bodyPr wrap="square" lIns="0" tIns="0" rIns="0" bIns="0" rtlCol="0" anchor="t"/>
          <a:lstStyle/>
          <a:p>
            <a:pPr marL="0" indent="0">
              <a:lnSpc>
                <a:spcPts val="1250"/>
              </a:lnSpc>
              <a:buNone/>
            </a:pPr>
            <a:r>
              <a:rPr lang="en-US" sz="1050">
                <a:solidFill>
                  <a:srgbClr val="A9552F"/>
                </a:solidFill>
                <a:latin typeface="Consolas" pitchFamily="34" charset="0"/>
                <a:ea typeface="Consolas" pitchFamily="34" charset="-122"/>
                <a:cs typeface="Consolas" pitchFamily="34" charset="-120"/>
              </a:rPr>
              <a:t>// Prints one line of text</a:t>
            </a:r>
          </a:p>
          <a:p>
            <a:pPr marL="0" indent="0">
              <a:lnSpc>
                <a:spcPts val="1250"/>
              </a:lnSpc>
              <a:buNone/>
            </a:pPr>
            <a:r>
              <a:rPr lang="en-US" sz="1050">
                <a:solidFill>
                  <a:srgbClr val="1F3557"/>
                </a:solidFill>
                <a:latin typeface="Consolas" pitchFamily="34" charset="0"/>
                <a:ea typeface="Consolas" pitchFamily="34" charset="-122"/>
                <a:cs typeface="Consolas" pitchFamily="34" charset="-120"/>
              </a:rPr>
              <a:t>public class HelloJava {</a:t>
            </a:r>
          </a:p>
          <a:p>
            <a:pPr marL="0" indent="0">
              <a:lnSpc>
                <a:spcPts val="1250"/>
              </a:lnSpc>
              <a:buNone/>
            </a:pPr>
            <a:r>
              <a:rPr lang="en-US" sz="1050">
                <a:solidFill>
                  <a:srgbClr val="1F3557"/>
                </a:solidFill>
                <a:latin typeface="Consolas" pitchFamily="34" charset="0"/>
                <a:ea typeface="Consolas" pitchFamily="34" charset="-122"/>
                <a:cs typeface="Consolas" pitchFamily="34" charset="-120"/>
              </a:rPr>
              <a:t> </a:t>
            </a:r>
          </a:p>
          <a:p>
            <a:pPr marL="0" indent="0">
              <a:lnSpc>
                <a:spcPts val="1250"/>
              </a:lnSpc>
              <a:buNone/>
            </a:pPr>
            <a:r>
              <a:rPr lang="en-US" sz="1050">
                <a:solidFill>
                  <a:srgbClr val="1F3557"/>
                </a:solidFill>
                <a:latin typeface="Consolas" pitchFamily="34" charset="0"/>
                <a:ea typeface="Consolas" pitchFamily="34" charset="-122"/>
                <a:cs typeface="Consolas" pitchFamily="34" charset="-120"/>
              </a:rPr>
              <a:t>    public static void main(String[] args) {</a:t>
            </a:r>
          </a:p>
          <a:p>
            <a:pPr marL="0" indent="0">
              <a:lnSpc>
                <a:spcPts val="1250"/>
              </a:lnSpc>
              <a:buNone/>
            </a:pPr>
            <a:r>
              <a:rPr lang="en-US" sz="1050">
                <a:solidFill>
                  <a:srgbClr val="1F3557"/>
                </a:solidFill>
                <a:latin typeface="Consolas" pitchFamily="34" charset="0"/>
                <a:ea typeface="Consolas" pitchFamily="34" charset="-122"/>
                <a:cs typeface="Consolas" pitchFamily="34" charset="-120"/>
              </a:rPr>
              <a:t>        System.out.println("Hello, Java!");</a:t>
            </a:r>
          </a:p>
          <a:p>
            <a:pPr marL="0" indent="0">
              <a:lnSpc>
                <a:spcPts val="1250"/>
              </a:lnSpc>
              <a:buNone/>
            </a:pPr>
            <a:r>
              <a:rPr lang="en-US" sz="1050">
                <a:solidFill>
                  <a:srgbClr val="1F3557"/>
                </a:solidFill>
                <a:latin typeface="Consolas" pitchFamily="34" charset="0"/>
                <a:ea typeface="Consolas" pitchFamily="34" charset="-122"/>
                <a:cs typeface="Consolas" pitchFamily="34" charset="-120"/>
              </a:rPr>
              <a:t>    }</a:t>
            </a:r>
          </a:p>
          <a:p>
            <a:pPr marL="0" indent="0">
              <a:lnSpc>
                <a:spcPts val="1250"/>
              </a:lnSpc>
              <a:buNone/>
            </a:pPr>
            <a:r>
              <a:rPr lang="en-US" sz="1050">
                <a:solidFill>
                  <a:srgbClr val="1F3557"/>
                </a:solidFill>
                <a:latin typeface="Consolas" pitchFamily="34" charset="0"/>
                <a:ea typeface="Consolas" pitchFamily="34" charset="-122"/>
                <a:cs typeface="Consolas" pitchFamily="34" charset="-120"/>
              </a:rPr>
              <a:t>}</a:t>
            </a:r>
          </a:p>
        </p:txBody>
      </p:sp>
      <p:sp>
        <p:nvSpPr>
          <p:cNvPr id="9" name="Marker 1"/>
          <p:cNvSpPr/>
          <p:nvPr/>
        </p:nvSpPr>
        <p:spPr>
          <a:xfrm>
            <a:off x="4983480" y="1730200"/>
            <a:ext cx="91440" cy="91440"/>
          </a:xfrm>
          <a:prstGeom prst="rect">
            <a:avLst/>
          </a:prstGeom>
          <a:solidFill>
            <a:srgbClr val="A9552F"/>
          </a:solidFill>
          <a:ln/>
        </p:spPr>
        <p:txBody>
          <a:bodyPr/>
          <a:lstStyle/>
          <a:p>
            <a:endParaRPr lang="en-US"/>
          </a:p>
        </p:txBody>
      </p:sp>
      <p:sp>
        <p:nvSpPr>
          <p:cNvPr id="10" name="Note 1"/>
          <p:cNvSpPr/>
          <p:nvPr/>
        </p:nvSpPr>
        <p:spPr>
          <a:xfrm>
            <a:off x="5212080" y="1600200"/>
            <a:ext cx="3383280" cy="460000"/>
          </a:xfrm>
          <a:prstGeom prst="rect">
            <a:avLst/>
          </a:prstGeom>
          <a:noFill/>
          <a:ln/>
        </p:spPr>
        <p:txBody>
          <a:bodyPr wrap="square" lIns="0" tIns="0" rIns="0" bIns="0" rtlCol="0" anchor="ctr"/>
          <a:lstStyle/>
          <a:p>
            <a:pPr marL="0" indent="0">
              <a:lnSpc>
                <a:spcPts val="1300"/>
              </a:lnSpc>
              <a:buNone/>
            </a:pPr>
            <a:r>
              <a:rPr lang="en-US" sz="1120" b="1">
                <a:solidFill>
                  <a:srgbClr val="1F3557"/>
                </a:solidFill>
                <a:latin typeface="Segoe UI" pitchFamily="34" charset="0"/>
                <a:ea typeface="Segoe UI" pitchFamily="34" charset="-122"/>
                <a:cs typeface="Segoe UI" pitchFamily="34" charset="-120"/>
              </a:rPr>
              <a:t>File name — </a:t>
            </a:r>
            <a:r>
              <a:rPr lang="en-US" sz="1120">
                <a:solidFill>
                  <a:srgbClr val="6B6255"/>
                </a:solidFill>
                <a:latin typeface="Segoe UI" pitchFamily="34" charset="0"/>
                <a:ea typeface="Segoe UI" pitchFamily="34" charset="-122"/>
                <a:cs typeface="Segoe UI" pitchFamily="34" charset="-120"/>
              </a:rPr>
              <a:t>The file must be named after the public class, capital letters included.</a:t>
            </a:r>
          </a:p>
        </p:txBody>
      </p:sp>
      <p:sp>
        <p:nvSpPr>
          <p:cNvPr id="11" name="Marker 2"/>
          <p:cNvSpPr/>
          <p:nvPr/>
        </p:nvSpPr>
        <p:spPr>
          <a:xfrm>
            <a:off x="4983480" y="2250848"/>
            <a:ext cx="91440" cy="474574"/>
          </a:xfrm>
          <a:prstGeom prst="rect">
            <a:avLst/>
          </a:prstGeom>
          <a:solidFill>
            <a:srgbClr val="A9552F"/>
          </a:solidFill>
          <a:ln/>
        </p:spPr>
        <p:txBody>
          <a:bodyPr/>
          <a:lstStyle/>
          <a:p>
            <a:endParaRPr lang="en-US"/>
          </a:p>
        </p:txBody>
      </p:sp>
      <p:sp>
        <p:nvSpPr>
          <p:cNvPr id="12" name="Note 2"/>
          <p:cNvSpPr/>
          <p:nvPr/>
        </p:nvSpPr>
        <p:spPr>
          <a:xfrm>
            <a:off x="5212080" y="2120848"/>
            <a:ext cx="3383280" cy="460000"/>
          </a:xfrm>
          <a:prstGeom prst="rect">
            <a:avLst/>
          </a:prstGeom>
          <a:noFill/>
          <a:ln/>
        </p:spPr>
        <p:txBody>
          <a:bodyPr wrap="square" lIns="0" tIns="0" rIns="0" bIns="0" rtlCol="0" anchor="ctr"/>
          <a:lstStyle/>
          <a:p>
            <a:pPr marL="0" indent="0">
              <a:lnSpc>
                <a:spcPts val="1300"/>
              </a:lnSpc>
              <a:buNone/>
            </a:pPr>
            <a:r>
              <a:rPr lang="en-US" sz="1120" b="1">
                <a:solidFill>
                  <a:srgbClr val="1F3557"/>
                </a:solidFill>
                <a:latin typeface="Segoe UI" pitchFamily="34" charset="0"/>
                <a:ea typeface="Segoe UI" pitchFamily="34" charset="-122"/>
                <a:cs typeface="Segoe UI" pitchFamily="34" charset="-120"/>
              </a:rPr>
              <a:t>Class shell — </a:t>
            </a:r>
            <a:r>
              <a:rPr lang="en-US" sz="1120">
                <a:solidFill>
                  <a:srgbClr val="6B6255"/>
                </a:solidFill>
                <a:latin typeface="Segoe UI" pitchFamily="34" charset="0"/>
                <a:ea typeface="Segoe UI" pitchFamily="34" charset="-122"/>
                <a:cs typeface="Segoe UI" pitchFamily="34" charset="-120"/>
              </a:rPr>
              <a:t>public class HelloJava and its braces form the container for everything else.</a:t>
            </a:r>
          </a:p>
        </p:txBody>
      </p:sp>
      <p:sp>
        <p:nvSpPr>
          <p:cNvPr id="13" name="Marker 3"/>
          <p:cNvSpPr/>
          <p:nvPr/>
        </p:nvSpPr>
        <p:spPr>
          <a:xfrm>
            <a:off x="4983480" y="2771496"/>
            <a:ext cx="91440" cy="474574"/>
          </a:xfrm>
          <a:prstGeom prst="rect">
            <a:avLst/>
          </a:prstGeom>
          <a:solidFill>
            <a:srgbClr val="A9552F"/>
          </a:solidFill>
          <a:ln/>
        </p:spPr>
        <p:txBody>
          <a:bodyPr/>
          <a:lstStyle/>
          <a:p>
            <a:endParaRPr lang="en-US"/>
          </a:p>
        </p:txBody>
      </p:sp>
      <p:sp>
        <p:nvSpPr>
          <p:cNvPr id="14" name="Note 3"/>
          <p:cNvSpPr/>
          <p:nvPr/>
        </p:nvSpPr>
        <p:spPr>
          <a:xfrm>
            <a:off x="5212080" y="2641496"/>
            <a:ext cx="3383280" cy="460000"/>
          </a:xfrm>
          <a:prstGeom prst="rect">
            <a:avLst/>
          </a:prstGeom>
          <a:noFill/>
          <a:ln/>
        </p:spPr>
        <p:txBody>
          <a:bodyPr wrap="square" lIns="0" tIns="0" rIns="0" bIns="0" rtlCol="0" anchor="ctr"/>
          <a:lstStyle/>
          <a:p>
            <a:pPr marL="0" indent="0">
              <a:lnSpc>
                <a:spcPts val="1300"/>
              </a:lnSpc>
              <a:buNone/>
            </a:pPr>
            <a:r>
              <a:rPr lang="en-US" sz="1120" b="1">
                <a:solidFill>
                  <a:srgbClr val="1F3557"/>
                </a:solidFill>
                <a:latin typeface="Segoe UI" pitchFamily="34" charset="0"/>
                <a:ea typeface="Segoe UI" pitchFamily="34" charset="-122"/>
                <a:cs typeface="Segoe UI" pitchFamily="34" charset="-120"/>
              </a:rPr>
              <a:t>Braces — </a:t>
            </a:r>
            <a:r>
              <a:rPr lang="en-US" sz="1120">
                <a:solidFill>
                  <a:srgbClr val="6B6255"/>
                </a:solidFill>
                <a:latin typeface="Segoe UI" pitchFamily="34" charset="0"/>
                <a:ea typeface="Segoe UI" pitchFamily="34" charset="-122"/>
                <a:cs typeface="Segoe UI" pitchFamily="34" charset="-120"/>
              </a:rPr>
              <a:t>Every { must be closed by a }. They mark where a block begins and ends.</a:t>
            </a:r>
          </a:p>
        </p:txBody>
      </p:sp>
      <p:sp>
        <p:nvSpPr>
          <p:cNvPr id="15" name="Marker 4"/>
          <p:cNvSpPr/>
          <p:nvPr/>
        </p:nvSpPr>
        <p:spPr>
          <a:xfrm>
            <a:off x="4983480" y="3292144"/>
            <a:ext cx="91440" cy="474574"/>
          </a:xfrm>
          <a:prstGeom prst="rect">
            <a:avLst/>
          </a:prstGeom>
          <a:solidFill>
            <a:srgbClr val="A9552F"/>
          </a:solidFill>
          <a:ln/>
        </p:spPr>
        <p:txBody>
          <a:bodyPr/>
          <a:lstStyle/>
          <a:p>
            <a:endParaRPr lang="en-US"/>
          </a:p>
        </p:txBody>
      </p:sp>
      <p:sp>
        <p:nvSpPr>
          <p:cNvPr id="16" name="Note 4"/>
          <p:cNvSpPr/>
          <p:nvPr/>
        </p:nvSpPr>
        <p:spPr>
          <a:xfrm>
            <a:off x="5212080" y="3162144"/>
            <a:ext cx="3383280" cy="460000"/>
          </a:xfrm>
          <a:prstGeom prst="rect">
            <a:avLst/>
          </a:prstGeom>
          <a:noFill/>
          <a:ln/>
        </p:spPr>
        <p:txBody>
          <a:bodyPr wrap="square" lIns="0" tIns="0" rIns="0" bIns="0" rtlCol="0" anchor="ctr"/>
          <a:lstStyle/>
          <a:p>
            <a:pPr marL="0" indent="0">
              <a:lnSpc>
                <a:spcPts val="1300"/>
              </a:lnSpc>
              <a:buNone/>
            </a:pPr>
            <a:r>
              <a:rPr lang="en-US" sz="1120" b="1">
                <a:solidFill>
                  <a:srgbClr val="1F3557"/>
                </a:solidFill>
                <a:latin typeface="Segoe UI" pitchFamily="34" charset="0"/>
                <a:ea typeface="Segoe UI" pitchFamily="34" charset="-122"/>
                <a:cs typeface="Segoe UI" pitchFamily="34" charset="-120"/>
              </a:rPr>
              <a:t>The main method — </a:t>
            </a:r>
            <a:r>
              <a:rPr lang="en-US" sz="1120">
                <a:solidFill>
                  <a:srgbClr val="6B6255"/>
                </a:solidFill>
                <a:latin typeface="Segoe UI" pitchFamily="34" charset="0"/>
                <a:ea typeface="Segoe UI" pitchFamily="34" charset="-122"/>
                <a:cs typeface="Segoe UI" pitchFamily="34" charset="-120"/>
              </a:rPr>
              <a:t>Execution starts here, inside the class braces: public static void main(String[] args).</a:t>
            </a:r>
          </a:p>
        </p:txBody>
      </p:sp>
      <p:sp>
        <p:nvSpPr>
          <p:cNvPr id="17" name="Marker 5"/>
          <p:cNvSpPr/>
          <p:nvPr/>
        </p:nvSpPr>
        <p:spPr>
          <a:xfrm>
            <a:off x="4983480" y="3812792"/>
            <a:ext cx="91440" cy="474574"/>
          </a:xfrm>
          <a:prstGeom prst="rect">
            <a:avLst/>
          </a:prstGeom>
          <a:solidFill>
            <a:srgbClr val="A9552F"/>
          </a:solidFill>
          <a:ln/>
        </p:spPr>
        <p:txBody>
          <a:bodyPr/>
          <a:lstStyle/>
          <a:p>
            <a:endParaRPr lang="en-US"/>
          </a:p>
        </p:txBody>
      </p:sp>
      <p:sp>
        <p:nvSpPr>
          <p:cNvPr id="18" name="Note 5"/>
          <p:cNvSpPr/>
          <p:nvPr/>
        </p:nvSpPr>
        <p:spPr>
          <a:xfrm>
            <a:off x="5212080" y="3682792"/>
            <a:ext cx="3383280" cy="460000"/>
          </a:xfrm>
          <a:prstGeom prst="rect">
            <a:avLst/>
          </a:prstGeom>
          <a:noFill/>
          <a:ln/>
        </p:spPr>
        <p:txBody>
          <a:bodyPr wrap="square" lIns="0" tIns="0" rIns="0" bIns="0" rtlCol="0" anchor="ctr"/>
          <a:lstStyle/>
          <a:p>
            <a:pPr marL="0" indent="0">
              <a:lnSpc>
                <a:spcPts val="1300"/>
              </a:lnSpc>
              <a:buNone/>
            </a:pPr>
            <a:r>
              <a:rPr lang="en-US" sz="1120" b="1">
                <a:solidFill>
                  <a:srgbClr val="1F3557"/>
                </a:solidFill>
                <a:latin typeface="Segoe UI" pitchFamily="34" charset="0"/>
                <a:ea typeface="Segoe UI" pitchFamily="34" charset="-122"/>
                <a:cs typeface="Segoe UI" pitchFamily="34" charset="-120"/>
              </a:rPr>
              <a:t>Statements — </a:t>
            </a:r>
            <a:r>
              <a:rPr lang="en-US" sz="1120">
                <a:solidFill>
                  <a:srgbClr val="6B6255"/>
                </a:solidFill>
                <a:latin typeface="Segoe UI" pitchFamily="34" charset="0"/>
                <a:ea typeface="Segoe UI" pitchFamily="34" charset="-122"/>
                <a:cs typeface="Segoe UI" pitchFamily="34" charset="-120"/>
              </a:rPr>
              <a:t>Every statement ends with a semicolon. Missing one is the most common first-day error.</a:t>
            </a:r>
          </a:p>
        </p:txBody>
      </p:sp>
      <p:sp>
        <p:nvSpPr>
          <p:cNvPr id="19" name="Marker 6"/>
          <p:cNvSpPr/>
          <p:nvPr/>
        </p:nvSpPr>
        <p:spPr>
          <a:xfrm>
            <a:off x="4983480" y="4333440"/>
            <a:ext cx="91440" cy="531266"/>
          </a:xfrm>
          <a:prstGeom prst="rect">
            <a:avLst/>
          </a:prstGeom>
          <a:solidFill>
            <a:srgbClr val="A9552F"/>
          </a:solidFill>
          <a:ln/>
        </p:spPr>
        <p:txBody>
          <a:bodyPr/>
          <a:lstStyle/>
          <a:p>
            <a:endParaRPr lang="en-US"/>
          </a:p>
        </p:txBody>
      </p:sp>
      <p:sp>
        <p:nvSpPr>
          <p:cNvPr id="20" name="Note 6"/>
          <p:cNvSpPr/>
          <p:nvPr/>
        </p:nvSpPr>
        <p:spPr>
          <a:xfrm>
            <a:off x="5212080" y="4203440"/>
            <a:ext cx="3383280" cy="661111"/>
          </a:xfrm>
          <a:prstGeom prst="rect">
            <a:avLst/>
          </a:prstGeom>
          <a:noFill/>
          <a:ln/>
        </p:spPr>
        <p:txBody>
          <a:bodyPr wrap="square" lIns="0" tIns="0" rIns="0" bIns="0" rtlCol="0" anchor="ctr"/>
          <a:lstStyle/>
          <a:p>
            <a:pPr marL="0" indent="0">
              <a:lnSpc>
                <a:spcPts val="1300"/>
              </a:lnSpc>
              <a:buNone/>
            </a:pPr>
            <a:r>
              <a:rPr lang="en-US" sz="1120" b="1">
                <a:solidFill>
                  <a:srgbClr val="1F3557"/>
                </a:solidFill>
                <a:latin typeface="Segoe UI" pitchFamily="34" charset="0"/>
                <a:ea typeface="Segoe UI" pitchFamily="34" charset="-122"/>
                <a:cs typeface="Segoe UI" pitchFamily="34" charset="-120"/>
              </a:rPr>
              <a:t>Comments — </a:t>
            </a:r>
            <a:r>
              <a:rPr lang="en-US" sz="1120">
                <a:solidFill>
                  <a:srgbClr val="6B6255"/>
                </a:solidFill>
                <a:latin typeface="Segoe UI" pitchFamily="34" charset="0"/>
                <a:ea typeface="Segoe UI" pitchFamily="34" charset="-122"/>
                <a:cs typeface="Segoe UI" pitchFamily="34" charset="-120"/>
              </a:rPr>
              <a:t>// for a single line, /* ... */ for a block. Ignored by the compiler.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
    <p:bg>
      <p:bgPr>
        <a:solidFill>
          <a:srgbClr val="F5EFE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EFE2"/>
          </a:solidFill>
          <a:ln w="3175">
            <a:solidFill>
              <a:srgbClr val="F5EFE2"/>
            </a:solidFill>
            <a:prstDash val="solid"/>
          </a:ln>
        </p:spPr>
        <p:txBody>
          <a:bodyPr/>
          <a:lstStyle/>
          <a:p>
            <a:endParaRPr lang="en-US"/>
          </a:p>
        </p:txBody>
      </p:sp>
      <p:sp>
        <p:nvSpPr>
          <p:cNvPr id="3" name="Text 1"/>
          <p:cNvSpPr/>
          <p:nvPr/>
        </p:nvSpPr>
        <p:spPr>
          <a:xfrm>
            <a:off x="548640" y="384048"/>
            <a:ext cx="5943600" cy="274320"/>
          </a:xfrm>
          <a:prstGeom prst="rect">
            <a:avLst/>
          </a:prstGeom>
          <a:noFill/>
          <a:ln/>
        </p:spPr>
        <p:txBody>
          <a:bodyPr wrap="square" lIns="0" tIns="0" rIns="0" bIns="0" rtlCol="0" anchor="ctr"/>
          <a:lstStyle/>
          <a:p>
            <a:pPr marL="0" indent="0">
              <a:buNone/>
            </a:pPr>
            <a:r>
              <a:rPr lang="en-US" sz="1300" b="1" kern="0" spc="300">
                <a:solidFill>
                  <a:srgbClr val="A9552F"/>
                </a:solidFill>
                <a:latin typeface="Segoe UI" pitchFamily="34" charset="0"/>
                <a:ea typeface="Segoe UI" pitchFamily="34" charset="-122"/>
                <a:cs typeface="Segoe UI" pitchFamily="34" charset="-120"/>
              </a:rPr>
              <a:t>THE LINE EVERY PROGRAM NEEDS</a:t>
            </a:r>
            <a:endParaRPr lang="en-US" sz="1300"/>
          </a:p>
        </p:txBody>
      </p:sp>
      <p:sp>
        <p:nvSpPr>
          <p:cNvPr id="4" name="Text 2"/>
          <p:cNvSpPr/>
          <p:nvPr/>
        </p:nvSpPr>
        <p:spPr>
          <a:xfrm>
            <a:off x="530352" y="676656"/>
            <a:ext cx="7200900" cy="548640"/>
          </a:xfrm>
          <a:prstGeom prst="rect">
            <a:avLst/>
          </a:prstGeom>
          <a:noFill/>
          <a:ln/>
        </p:spPr>
        <p:txBody>
          <a:bodyPr wrap="square" lIns="0" tIns="0" rIns="0" bIns="0" rtlCol="0" anchor="ctr"/>
          <a:lstStyle/>
          <a:p>
            <a:pPr marL="0" indent="0">
              <a:buNone/>
            </a:pPr>
            <a:r>
              <a:rPr lang="en-US" sz="2600" b="1">
                <a:solidFill>
                  <a:srgbClr val="1F3557"/>
                </a:solidFill>
                <a:latin typeface="Georgia" pitchFamily="34" charset="0"/>
                <a:ea typeface="Georgia" pitchFamily="34" charset="-122"/>
                <a:cs typeface="Georgia" pitchFamily="34" charset="-120"/>
              </a:rPr>
              <a:t>main, word by word</a:t>
            </a:r>
            <a:endParaRPr lang="en-US" sz="3200"/>
          </a:p>
        </p:txBody>
      </p:sp>
      <p:sp>
        <p:nvSpPr>
          <p:cNvPr id="5" name="Shape 3"/>
          <p:cNvSpPr/>
          <p:nvPr/>
        </p:nvSpPr>
        <p:spPr>
          <a:xfrm>
            <a:off x="548640" y="1316736"/>
            <a:ext cx="1280160" cy="0"/>
          </a:xfrm>
          <a:prstGeom prst="line">
            <a:avLst/>
          </a:prstGeom>
          <a:noFill/>
          <a:ln w="28575">
            <a:solidFill>
              <a:srgbClr val="A9552F"/>
            </a:solidFill>
            <a:prstDash val="solid"/>
          </a:ln>
        </p:spPr>
        <p:txBody>
          <a:bodyPr/>
          <a:lstStyle/>
          <a:p>
            <a:endParaRPr lang="en-US"/>
          </a:p>
        </p:txBody>
      </p:sp>
      <p:sp>
        <p:nvSpPr>
          <p:cNvPr id="9" name="Shape 7"/>
          <p:cNvSpPr/>
          <p:nvPr/>
        </p:nvSpPr>
        <p:spPr>
          <a:xfrm>
            <a:off x="548640" y="1600200"/>
            <a:ext cx="8046720" cy="3063240"/>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10" name="Text 8"/>
          <p:cNvSpPr/>
          <p:nvPr/>
        </p:nvSpPr>
        <p:spPr>
          <a:xfrm>
            <a:off x="1028246" y="1847088"/>
            <a:ext cx="7087508" cy="365760"/>
          </a:xfrm>
          <a:prstGeom prst="rect">
            <a:avLst/>
          </a:prstGeom>
          <a:noFill/>
          <a:ln/>
        </p:spPr>
        <p:txBody>
          <a:bodyPr wrap="square" lIns="0" tIns="0" rIns="0" bIns="0" rtlCol="0" anchor="ctr"/>
          <a:lstStyle/>
          <a:p>
            <a:pPr marL="0" indent="0">
              <a:buNone/>
            </a:pPr>
            <a:r>
              <a:rPr lang="en-US" sz="2000" b="1">
                <a:solidFill>
                  <a:srgbClr val="1F3557"/>
                </a:solidFill>
                <a:latin typeface="Georgia" pitchFamily="34" charset="0"/>
                <a:ea typeface="Georgia" pitchFamily="34" charset="-122"/>
                <a:cs typeface="Georgia" pitchFamily="34" charset="-120"/>
              </a:rPr>
              <a:t>public static void main(String[] args)</a:t>
            </a:r>
            <a:endParaRPr lang="en-US" sz="2000"/>
          </a:p>
        </p:txBody>
      </p:sp>
      <p:sp>
        <p:nvSpPr>
          <p:cNvPr id="11" name="Text 9"/>
          <p:cNvSpPr/>
          <p:nvPr/>
        </p:nvSpPr>
        <p:spPr>
          <a:xfrm>
            <a:off x="1028246" y="2468880"/>
            <a:ext cx="7087508" cy="1783080"/>
          </a:xfrm>
          <a:prstGeom prst="rect">
            <a:avLst/>
          </a:prstGeom>
          <a:noFill/>
          <a:ln/>
        </p:spPr>
        <p:txBody>
          <a:bodyPr wrap="square" lIns="0" tIns="0" rIns="0" bIns="0" rtlCol="0" anchor="t"/>
          <a:lstStyle/>
          <a:p>
            <a:pPr marL="171450" indent="-171450">
              <a:lnSpc>
                <a:spcPts val="2200"/>
              </a:lnSpc>
              <a:buSzPct val="100000"/>
              <a:buChar char="•"/>
            </a:pPr>
            <a:r>
              <a:rPr lang="en-US" sz="1750">
                <a:solidFill>
                  <a:srgbClr val="6B6255"/>
                </a:solidFill>
                <a:latin typeface="Segoe UI" pitchFamily="34" charset="0"/>
                <a:ea typeface="Segoe UI" pitchFamily="34" charset="-122"/>
                <a:cs typeface="Segoe UI" pitchFamily="34" charset="-120"/>
              </a:rPr>
              <a:t>public — visible to everything, so the JVM is allowed to call it.</a:t>
            </a:r>
          </a:p>
          <a:p>
            <a:pPr marL="171450" indent="-171450">
              <a:lnSpc>
                <a:spcPts val="2200"/>
              </a:lnSpc>
              <a:buSzPct val="100000"/>
              <a:buChar char="•"/>
            </a:pPr>
            <a:r>
              <a:rPr lang="en-US" sz="1750">
                <a:solidFill>
                  <a:srgbClr val="6B6255"/>
                </a:solidFill>
                <a:latin typeface="Segoe UI" pitchFamily="34" charset="0"/>
                <a:ea typeface="Segoe UI" pitchFamily="34" charset="-122"/>
                <a:cs typeface="Segoe UI" pitchFamily="34" charset="-120"/>
              </a:rPr>
              <a:t>static — runs without creating an object first.</a:t>
            </a:r>
          </a:p>
          <a:p>
            <a:pPr marL="171450" indent="-171450">
              <a:lnSpc>
                <a:spcPts val="2200"/>
              </a:lnSpc>
              <a:buSzPct val="100000"/>
              <a:buChar char="•"/>
            </a:pPr>
            <a:r>
              <a:rPr lang="en-US" sz="1750">
                <a:solidFill>
                  <a:srgbClr val="6B6255"/>
                </a:solidFill>
                <a:latin typeface="Segoe UI" pitchFamily="34" charset="0"/>
                <a:ea typeface="Segoe UI" pitchFamily="34" charset="-122"/>
                <a:cs typeface="Segoe UI" pitchFamily="34" charset="-120"/>
              </a:rPr>
              <a:t>void — hands nothing back when it finishes.</a:t>
            </a:r>
          </a:p>
          <a:p>
            <a:pPr marL="171450" indent="-171450">
              <a:lnSpc>
                <a:spcPts val="2200"/>
              </a:lnSpc>
              <a:buSzPct val="100000"/>
              <a:buChar char="•"/>
            </a:pPr>
            <a:r>
              <a:rPr lang="en-US" sz="1750">
                <a:solidFill>
                  <a:srgbClr val="6B6255"/>
                </a:solidFill>
                <a:latin typeface="Segoe UI" pitchFamily="34" charset="0"/>
                <a:ea typeface="Segoe UI" pitchFamily="34" charset="-122"/>
                <a:cs typeface="Segoe UI" pitchFamily="34" charset="-120"/>
              </a:rPr>
              <a:t>main — the exact name the JVM looks for to start the program.</a:t>
            </a:r>
          </a:p>
          <a:p>
            <a:pPr marL="171450" indent="-171450">
              <a:lnSpc>
                <a:spcPts val="2200"/>
              </a:lnSpc>
              <a:buSzPct val="100000"/>
              <a:buChar char="•"/>
            </a:pPr>
            <a:r>
              <a:rPr lang="en-US" sz="1750">
                <a:solidFill>
                  <a:srgbClr val="6B6255"/>
                </a:solidFill>
                <a:latin typeface="Segoe UI" pitchFamily="34" charset="0"/>
                <a:ea typeface="Segoe UI" pitchFamily="34" charset="-122"/>
                <a:cs typeface="Segoe UI" pitchFamily="34" charset="-120"/>
              </a:rPr>
              <a:t>String[] args — a list of text values passed in from the command line.</a:t>
            </a:r>
          </a:p>
          <a:p>
            <a:pPr marL="171450" indent="-171450">
              <a:lnSpc>
                <a:spcPts val="2200"/>
              </a:lnSpc>
              <a:buSzPct val="100000"/>
              <a:buChar char="•"/>
            </a:pPr>
            <a:r>
              <a:rPr lang="en-US" sz="1750">
                <a:solidFill>
                  <a:srgbClr val="6B6255"/>
                </a:solidFill>
                <a:latin typeface="Segoe UI" pitchFamily="34" charset="0"/>
                <a:ea typeface="Segoe UI" pitchFamily="34" charset="-122"/>
                <a:cs typeface="Segoe UI" pitchFamily="34" charset="-120"/>
              </a:rPr>
              <a:t>Get one word wrong and the program compiles but will not start.</a:t>
            </a:r>
            <a:endParaRPr lang="en-US" sz="1750"/>
          </a:p>
        </p:txBody>
      </p:sp>
    </p:spTree>
    <p:extLst>
      <p:ext uri="{BB962C8B-B14F-4D97-AF65-F5344CB8AC3E}">
        <p14:creationId xmlns:p14="http://schemas.microsoft.com/office/powerpoint/2010/main" val="41689572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
    <p:bg>
      <p:bgPr>
        <a:solidFill>
          <a:srgbClr val="F5EFE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EFE2"/>
          </a:solidFill>
          <a:ln w="3175">
            <a:solidFill>
              <a:srgbClr val="F5EFE2"/>
            </a:solidFill>
            <a:prstDash val="solid"/>
          </a:ln>
        </p:spPr>
        <p:txBody>
          <a:bodyPr/>
          <a:lstStyle/>
          <a:p>
            <a:endParaRPr lang="en-US"/>
          </a:p>
        </p:txBody>
      </p:sp>
      <p:sp>
        <p:nvSpPr>
          <p:cNvPr id="3" name="Text 1"/>
          <p:cNvSpPr/>
          <p:nvPr/>
        </p:nvSpPr>
        <p:spPr>
          <a:xfrm>
            <a:off x="548640" y="384048"/>
            <a:ext cx="5943600" cy="274320"/>
          </a:xfrm>
          <a:prstGeom prst="rect">
            <a:avLst/>
          </a:prstGeom>
          <a:noFill/>
          <a:ln/>
        </p:spPr>
        <p:txBody>
          <a:bodyPr wrap="square" lIns="0" tIns="0" rIns="0" bIns="0" rtlCol="0" anchor="ctr"/>
          <a:lstStyle/>
          <a:p>
            <a:pPr marL="0" indent="0">
              <a:buNone/>
            </a:pPr>
            <a:r>
              <a:rPr lang="en-US" sz="1300" b="1" kern="0" spc="300">
                <a:solidFill>
                  <a:srgbClr val="A9552F"/>
                </a:solidFill>
                <a:latin typeface="Segoe UI" pitchFamily="34" charset="0"/>
                <a:ea typeface="Segoe UI" pitchFamily="34" charset="-122"/>
                <a:cs typeface="Segoe UI" pitchFamily="34" charset="-120"/>
              </a:rPr>
              <a:t>EXERCISE 1 — YOUR FIRST PROGRAM</a:t>
            </a:r>
            <a:endParaRPr lang="en-US" sz="1300"/>
          </a:p>
        </p:txBody>
      </p:sp>
      <p:sp>
        <p:nvSpPr>
          <p:cNvPr id="4" name="Text 2"/>
          <p:cNvSpPr/>
          <p:nvPr/>
        </p:nvSpPr>
        <p:spPr>
          <a:xfrm>
            <a:off x="530352" y="676656"/>
            <a:ext cx="7200900" cy="548640"/>
          </a:xfrm>
          <a:prstGeom prst="rect">
            <a:avLst/>
          </a:prstGeom>
          <a:noFill/>
          <a:ln/>
        </p:spPr>
        <p:txBody>
          <a:bodyPr wrap="square" lIns="0" tIns="0" rIns="0" bIns="0" rtlCol="0" anchor="ctr"/>
          <a:lstStyle/>
          <a:p>
            <a:pPr marL="0" indent="0">
              <a:buNone/>
            </a:pPr>
            <a:r>
              <a:rPr lang="en-US" sz="2600" b="1">
                <a:solidFill>
                  <a:srgbClr val="1F3557"/>
                </a:solidFill>
                <a:latin typeface="Georgia" pitchFamily="34" charset="0"/>
                <a:ea typeface="Georgia" pitchFamily="34" charset="-122"/>
                <a:cs typeface="Georgia" pitchFamily="34" charset="-120"/>
              </a:rPr>
              <a:t>Seven steps</a:t>
            </a:r>
            <a:r>
              <a:rPr lang="en-US" sz="2600" b="1" dirty="0">
                <a:solidFill>
                  <a:srgbClr val="1F3557"/>
                </a:solidFill>
                <a:latin typeface="Georgia" pitchFamily="34" charset="0"/>
                <a:ea typeface="Georgia" pitchFamily="34" charset="-122"/>
                <a:cs typeface="Georgia" pitchFamily="34" charset="-120"/>
              </a:rPr>
              <a:t>, </a:t>
            </a:r>
            <a:r>
              <a:rPr lang="en-US" sz="2600" b="1">
                <a:solidFill>
                  <a:srgbClr val="1F3557"/>
                </a:solidFill>
                <a:latin typeface="Georgia" pitchFamily="34" charset="0"/>
                <a:ea typeface="Georgia" pitchFamily="34" charset="-122"/>
                <a:cs typeface="Georgia" pitchFamily="34" charset="-120"/>
              </a:rPr>
              <a:t>in order</a:t>
            </a:r>
            <a:endParaRPr lang="en-US" sz="3200" dirty="0"/>
          </a:p>
        </p:txBody>
      </p:sp>
      <p:sp>
        <p:nvSpPr>
          <p:cNvPr id="5" name="Shape 3"/>
          <p:cNvSpPr/>
          <p:nvPr/>
        </p:nvSpPr>
        <p:spPr>
          <a:xfrm>
            <a:off x="548640" y="1316736"/>
            <a:ext cx="1280160" cy="0"/>
          </a:xfrm>
          <a:prstGeom prst="line">
            <a:avLst/>
          </a:prstGeom>
          <a:noFill/>
          <a:ln w="28575">
            <a:solidFill>
              <a:srgbClr val="A9552F"/>
            </a:solidFill>
            <a:prstDash val="solid"/>
          </a:ln>
        </p:spPr>
        <p:txBody>
          <a:bodyPr/>
          <a:lstStyle/>
          <a:p>
            <a:endParaRPr lang="en-US"/>
          </a:p>
        </p:txBody>
      </p:sp>
      <p:sp>
        <p:nvSpPr>
          <p:cNvPr id="6" name="Shape 4"/>
          <p:cNvSpPr/>
          <p:nvPr/>
        </p:nvSpPr>
        <p:spPr>
          <a:xfrm>
            <a:off x="548640" y="1651000"/>
            <a:ext cx="8046720" cy="3213202"/>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7" name="Text 5"/>
          <p:cNvSpPr/>
          <p:nvPr/>
        </p:nvSpPr>
        <p:spPr>
          <a:xfrm>
            <a:off x="1028246" y="1866900"/>
            <a:ext cx="7087508" cy="279400"/>
          </a:xfrm>
          <a:prstGeom prst="rect">
            <a:avLst/>
          </a:prstGeom>
          <a:noFill/>
          <a:ln/>
        </p:spPr>
        <p:txBody>
          <a:bodyPr wrap="square" lIns="0" tIns="0" rIns="0" bIns="0" rtlCol="0" anchor="ctr"/>
          <a:lstStyle/>
          <a:p>
            <a:pPr marL="0" indent="0">
              <a:buNone/>
            </a:pPr>
            <a:r>
              <a:rPr lang="en-US" sz="1650" b="1">
                <a:solidFill>
                  <a:srgbClr val="1F3557"/>
                </a:solidFill>
                <a:latin typeface="Georgia" pitchFamily="34" charset="0"/>
                <a:ea typeface="Georgia" pitchFamily="34" charset="-122"/>
                <a:cs typeface="Georgia" pitchFamily="34" charset="-120"/>
              </a:rPr>
              <a:t>Seven steps, in order</a:t>
            </a:r>
            <a:endParaRPr lang="en-US" sz="1650"/>
          </a:p>
        </p:txBody>
      </p:sp>
      <p:sp>
        <p:nvSpPr>
          <p:cNvPr id="8" name="Text 6"/>
          <p:cNvSpPr/>
          <p:nvPr/>
        </p:nvSpPr>
        <p:spPr>
          <a:xfrm>
            <a:off x="1028246" y="2235200"/>
            <a:ext cx="7087508" cy="2629814"/>
          </a:xfrm>
          <a:prstGeom prst="rect">
            <a:avLst/>
          </a:prstGeom>
          <a:noFill/>
          <a:ln/>
        </p:spPr>
        <p:txBody>
          <a:bodyPr wrap="square" lIns="0" tIns="0" rIns="0" bIns="0" rtlCol="0" anchor="t"/>
          <a:lstStyle/>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Create HelloJava.java in VS Code — capitalization matters.</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Type every character yourself. Do not paste.</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Save with Ctrl+S; javac only reads the saved file.</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Compile: javac HelloJava.java</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Confirm HelloJava.class appeared — that is your bytecode.</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Run: java HelloJava (no file extension).</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Run it again with the VS Code Run button.</a:t>
            </a:r>
            <a:endParaRPr lang="en-US" sz="1350"/>
          </a:p>
        </p:txBody>
      </p:sp>
    </p:spTree>
    <p:extLst>
      <p:ext uri="{BB962C8B-B14F-4D97-AF65-F5344CB8AC3E}">
        <p14:creationId xmlns:p14="http://schemas.microsoft.com/office/powerpoint/2010/main" val="34323026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
    <p:bg>
      <p:bgPr>
        <a:solidFill>
          <a:srgbClr val="F5EFE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EFE2"/>
          </a:solidFill>
          <a:ln w="3175">
            <a:solidFill>
              <a:srgbClr val="F5EFE2"/>
            </a:solidFill>
            <a:prstDash val="solid"/>
          </a:ln>
        </p:spPr>
        <p:txBody>
          <a:bodyPr/>
          <a:lstStyle/>
          <a:p>
            <a:endParaRPr lang="en-US"/>
          </a:p>
        </p:txBody>
      </p:sp>
      <p:sp>
        <p:nvSpPr>
          <p:cNvPr id="3" name="Text 1"/>
          <p:cNvSpPr/>
          <p:nvPr/>
        </p:nvSpPr>
        <p:spPr>
          <a:xfrm>
            <a:off x="548640" y="384048"/>
            <a:ext cx="5943600" cy="274320"/>
          </a:xfrm>
          <a:prstGeom prst="rect">
            <a:avLst/>
          </a:prstGeom>
          <a:noFill/>
          <a:ln/>
        </p:spPr>
        <p:txBody>
          <a:bodyPr wrap="square" lIns="0" tIns="0" rIns="0" bIns="0" rtlCol="0" anchor="ctr"/>
          <a:lstStyle/>
          <a:p>
            <a:pPr marL="0" indent="0">
              <a:buNone/>
            </a:pPr>
            <a:r>
              <a:rPr lang="en-US" sz="1300" b="1" kern="0" spc="300">
                <a:solidFill>
                  <a:srgbClr val="A9552F"/>
                </a:solidFill>
                <a:latin typeface="Segoe UI" pitchFamily="34" charset="0"/>
                <a:ea typeface="Segoe UI" pitchFamily="34" charset="-122"/>
                <a:cs typeface="Segoe UI" pitchFamily="34" charset="-120"/>
              </a:rPr>
              <a:t>EXERCISE 1 — YOUR FIRST PROGRAM</a:t>
            </a:r>
            <a:endParaRPr lang="en-US" sz="1300"/>
          </a:p>
        </p:txBody>
      </p:sp>
      <p:sp>
        <p:nvSpPr>
          <p:cNvPr id="4" name="Text 2"/>
          <p:cNvSpPr/>
          <p:nvPr/>
        </p:nvSpPr>
        <p:spPr>
          <a:xfrm>
            <a:off x="530352" y="676656"/>
            <a:ext cx="7200900" cy="548640"/>
          </a:xfrm>
          <a:prstGeom prst="rect">
            <a:avLst/>
          </a:prstGeom>
          <a:noFill/>
          <a:ln/>
        </p:spPr>
        <p:txBody>
          <a:bodyPr wrap="square" lIns="0" tIns="0" rIns="0" bIns="0" rtlCol="0" anchor="ctr"/>
          <a:lstStyle/>
          <a:p>
            <a:pPr marL="0" indent="0">
              <a:buNone/>
            </a:pPr>
            <a:r>
              <a:rPr lang="en-US" sz="2600" b="1">
                <a:solidFill>
                  <a:srgbClr val="1F3557"/>
                </a:solidFill>
                <a:latin typeface="Georgia" pitchFamily="34" charset="0"/>
                <a:ea typeface="Georgia" pitchFamily="34" charset="-122"/>
                <a:cs typeface="Georgia" pitchFamily="34" charset="-120"/>
              </a:rPr>
              <a:t>What success looks like</a:t>
            </a:r>
            <a:endParaRPr lang="en-US" sz="3200"/>
          </a:p>
        </p:txBody>
      </p:sp>
      <p:sp>
        <p:nvSpPr>
          <p:cNvPr id="5" name="Shape 3"/>
          <p:cNvSpPr/>
          <p:nvPr/>
        </p:nvSpPr>
        <p:spPr>
          <a:xfrm>
            <a:off x="548640" y="1316736"/>
            <a:ext cx="1280160" cy="0"/>
          </a:xfrm>
          <a:prstGeom prst="line">
            <a:avLst/>
          </a:prstGeom>
          <a:noFill/>
          <a:ln w="28575">
            <a:solidFill>
              <a:srgbClr val="A9552F"/>
            </a:solidFill>
            <a:prstDash val="solid"/>
          </a:ln>
        </p:spPr>
        <p:txBody>
          <a:bodyPr/>
          <a:lstStyle/>
          <a:p>
            <a:endParaRPr lang="en-US"/>
          </a:p>
        </p:txBody>
      </p:sp>
      <p:sp>
        <p:nvSpPr>
          <p:cNvPr id="9" name="Shape 7"/>
          <p:cNvSpPr/>
          <p:nvPr/>
        </p:nvSpPr>
        <p:spPr>
          <a:xfrm>
            <a:off x="548640" y="1651000"/>
            <a:ext cx="8046720" cy="3213202"/>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10" name="Text 8"/>
          <p:cNvSpPr/>
          <p:nvPr/>
        </p:nvSpPr>
        <p:spPr>
          <a:xfrm>
            <a:off x="1028246" y="1866900"/>
            <a:ext cx="7087508" cy="279400"/>
          </a:xfrm>
          <a:prstGeom prst="rect">
            <a:avLst/>
          </a:prstGeom>
          <a:noFill/>
          <a:ln/>
        </p:spPr>
        <p:txBody>
          <a:bodyPr wrap="square" lIns="0" tIns="0" rIns="0" bIns="0" rtlCol="0" anchor="ctr"/>
          <a:lstStyle/>
          <a:p>
            <a:pPr marL="0" indent="0">
              <a:buNone/>
            </a:pPr>
            <a:r>
              <a:rPr lang="en-US" sz="1650" b="1">
                <a:solidFill>
                  <a:srgbClr val="1F3557"/>
                </a:solidFill>
                <a:latin typeface="Georgia" pitchFamily="34" charset="0"/>
                <a:ea typeface="Georgia" pitchFamily="34" charset="-122"/>
                <a:cs typeface="Georgia" pitchFamily="34" charset="-120"/>
              </a:rPr>
              <a:t>What success looks like</a:t>
            </a:r>
            <a:endParaRPr lang="en-US" sz="1650"/>
          </a:p>
        </p:txBody>
      </p:sp>
      <p:sp>
        <p:nvSpPr>
          <p:cNvPr id="11" name="Text 9"/>
          <p:cNvSpPr/>
          <p:nvPr/>
        </p:nvSpPr>
        <p:spPr>
          <a:xfrm>
            <a:off x="1028246" y="2235200"/>
            <a:ext cx="7087508" cy="2629814"/>
          </a:xfrm>
          <a:prstGeom prst="rect">
            <a:avLst/>
          </a:prstGeom>
          <a:noFill/>
          <a:ln/>
        </p:spPr>
        <p:txBody>
          <a:bodyPr wrap="square" lIns="0" tIns="0" rIns="0" bIns="0" rtlCol="0" anchor="t"/>
          <a:lstStyle/>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javac prints nothing and returns to the prompt.</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HelloJava.class sits beside your source file.</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java HelloJava prints: Hello, Java!</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Saw no output? You compiled but did not run.</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Got an error? Read only the first message, then fix one thing.</a:t>
            </a:r>
            <a:endParaRPr lang="en-US" sz="1350"/>
          </a:p>
        </p:txBody>
      </p:sp>
    </p:spTree>
    <p:extLst>
      <p:ext uri="{BB962C8B-B14F-4D97-AF65-F5344CB8AC3E}">
        <p14:creationId xmlns:p14="http://schemas.microsoft.com/office/powerpoint/2010/main" val="3079677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Output and variables">
    <p:bg>
      <p:bgPr>
        <a:solidFill>
          <a:srgbClr val="F5EFE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EFE2"/>
          </a:solidFill>
          <a:ln w="3175">
            <a:solidFill>
              <a:srgbClr val="F5EFE2"/>
            </a:solidFill>
            <a:prstDash val="solid"/>
          </a:ln>
        </p:spPr>
        <p:txBody>
          <a:bodyPr/>
          <a:lstStyle/>
          <a:p>
            <a:endParaRPr lang="en-US"/>
          </a:p>
        </p:txBody>
      </p:sp>
      <p:sp>
        <p:nvSpPr>
          <p:cNvPr id="3" name="Text 1"/>
          <p:cNvSpPr/>
          <p:nvPr/>
        </p:nvSpPr>
        <p:spPr>
          <a:xfrm>
            <a:off x="548640" y="384048"/>
            <a:ext cx="5943600" cy="274320"/>
          </a:xfrm>
          <a:prstGeom prst="rect">
            <a:avLst/>
          </a:prstGeom>
          <a:noFill/>
          <a:ln/>
        </p:spPr>
        <p:txBody>
          <a:bodyPr wrap="square" lIns="0" tIns="0" rIns="0" bIns="0" rtlCol="0" anchor="ctr"/>
          <a:lstStyle/>
          <a:p>
            <a:pPr marL="0" indent="0">
              <a:buNone/>
            </a:pPr>
            <a:r>
              <a:rPr lang="en-US" sz="1300" b="1" kern="0" spc="300">
                <a:solidFill>
                  <a:srgbClr val="A9552F"/>
                </a:solidFill>
                <a:latin typeface="Segoe UI" pitchFamily="34" charset="0"/>
                <a:ea typeface="Segoe UI" pitchFamily="34" charset="-122"/>
                <a:cs typeface="Segoe UI" pitchFamily="34" charset="-120"/>
              </a:rPr>
              <a:t>OUTPUT AND VARIABLES</a:t>
            </a:r>
            <a:endParaRPr lang="en-US" sz="1300"/>
          </a:p>
        </p:txBody>
      </p:sp>
      <p:sp>
        <p:nvSpPr>
          <p:cNvPr id="4" name="Text 2"/>
          <p:cNvSpPr/>
          <p:nvPr/>
        </p:nvSpPr>
        <p:spPr>
          <a:xfrm>
            <a:off x="530352" y="676656"/>
            <a:ext cx="7200000" cy="548640"/>
          </a:xfrm>
          <a:prstGeom prst="rect">
            <a:avLst/>
          </a:prstGeom>
          <a:noFill/>
          <a:ln/>
        </p:spPr>
        <p:txBody>
          <a:bodyPr wrap="square" lIns="0" tIns="0" rIns="0" bIns="0" rtlCol="0" anchor="ctr"/>
          <a:lstStyle/>
          <a:p>
            <a:pPr marL="0" indent="0">
              <a:buNone/>
            </a:pPr>
            <a:r>
              <a:rPr lang="en-US" sz="2600" b="1">
                <a:solidFill>
                  <a:srgbClr val="1F3557"/>
                </a:solidFill>
                <a:latin typeface="Georgia" pitchFamily="34" charset="0"/>
                <a:ea typeface="Georgia" pitchFamily="34" charset="-122"/>
                <a:cs typeface="Georgia" pitchFamily="34" charset="-120"/>
              </a:rPr>
              <a:t>Say something, and remember it</a:t>
            </a:r>
            <a:endParaRPr lang="en-US" sz="1050"/>
          </a:p>
        </p:txBody>
      </p:sp>
      <p:sp>
        <p:nvSpPr>
          <p:cNvPr id="5" name="Shape 3"/>
          <p:cNvSpPr/>
          <p:nvPr/>
        </p:nvSpPr>
        <p:spPr>
          <a:xfrm>
            <a:off x="548640" y="1316736"/>
            <a:ext cx="1280160" cy="0"/>
          </a:xfrm>
          <a:prstGeom prst="line">
            <a:avLst/>
          </a:prstGeom>
          <a:noFill/>
          <a:ln w="28575">
            <a:solidFill>
              <a:srgbClr val="A9552F"/>
            </a:solidFill>
            <a:prstDash val="solid"/>
          </a:ln>
        </p:spPr>
        <p:txBody>
          <a:bodyPr/>
          <a:lstStyle/>
          <a:p>
            <a:endParaRPr lang="en-US"/>
          </a:p>
        </p:txBody>
      </p:sp>
      <p:sp>
        <p:nvSpPr>
          <p:cNvPr id="101" name="S101"/>
          <p:cNvSpPr/>
          <p:nvPr/>
        </p:nvSpPr>
        <p:spPr>
          <a:xfrm>
            <a:off x="548640" y="1600200"/>
            <a:ext cx="4200000" cy="1900000"/>
          </a:xfrm>
          <a:prstGeom prst="roundRect">
            <a:avLst>
              <a:gd name="adj" fmla="val 3175"/>
            </a:avLst>
          </a:prstGeom>
          <a:solidFill>
            <a:srgbClr val="EFE7D6"/>
          </a:solidFill>
          <a:ln/>
        </p:spPr>
        <p:txBody>
          <a:bodyPr/>
          <a:lstStyle/>
          <a:p>
            <a:endParaRPr lang="en-US"/>
          </a:p>
        </p:txBody>
      </p:sp>
      <p:sp>
        <p:nvSpPr>
          <p:cNvPr id="102" name="T102"/>
          <p:cNvSpPr/>
          <p:nvPr/>
        </p:nvSpPr>
        <p:spPr>
          <a:xfrm>
            <a:off x="748640" y="1780200"/>
            <a:ext cx="3800000" cy="1540000"/>
          </a:xfrm>
          <a:prstGeom prst="rect">
            <a:avLst/>
          </a:prstGeom>
          <a:noFill/>
          <a:ln/>
        </p:spPr>
        <p:txBody>
          <a:bodyPr wrap="square" lIns="0" tIns="0" rIns="0" bIns="0" rtlCol="0" anchor="t"/>
          <a:lstStyle/>
          <a:p>
            <a:pPr marL="0" indent="0">
              <a:lnSpc>
                <a:spcPts val="1200"/>
              </a:lnSpc>
              <a:buNone/>
            </a:pPr>
            <a:r>
              <a:rPr lang="en-US" sz="1050">
                <a:solidFill>
                  <a:srgbClr val="A9552F"/>
                </a:solidFill>
                <a:latin typeface="Consolas" pitchFamily="34" charset="0"/>
                <a:ea typeface="Consolas" pitchFamily="34" charset="-122"/>
                <a:cs typeface="Consolas" pitchFamily="34" charset="-120"/>
              </a:rPr>
              <a:t>// A comment explains, it never runs</a:t>
            </a:r>
          </a:p>
          <a:p>
            <a:pPr marL="0" indent="0">
              <a:lnSpc>
                <a:spcPts val="1200"/>
              </a:lnSpc>
              <a:buNone/>
            </a:pPr>
            <a:r>
              <a:rPr lang="en-US" sz="1050">
                <a:solidFill>
                  <a:srgbClr val="A9552F"/>
                </a:solidFill>
                <a:latin typeface="Consolas" pitchFamily="34" charset="0"/>
                <a:ea typeface="Consolas" pitchFamily="34" charset="-122"/>
                <a:cs typeface="Consolas" pitchFamily="34" charset="-120"/>
              </a:rPr>
              <a:t>String studentName = "Jordan Smith";</a:t>
            </a:r>
          </a:p>
          <a:p>
            <a:pPr marL="0" indent="0">
              <a:lnSpc>
                <a:spcPts val="1200"/>
              </a:lnSpc>
              <a:buNone/>
            </a:pPr>
            <a:r>
              <a:rPr lang="en-US" sz="1050">
                <a:solidFill>
                  <a:srgbClr val="A9552F"/>
                </a:solidFill>
                <a:latin typeface="Consolas" pitchFamily="34" charset="0"/>
                <a:ea typeface="Consolas" pitchFamily="34" charset="-122"/>
                <a:cs typeface="Consolas" pitchFamily="34" charset="-120"/>
              </a:rPr>
              <a:t>int daysLeft = 45;</a:t>
            </a:r>
          </a:p>
          <a:p>
            <a:pPr marL="0" indent="0">
              <a:lnSpc>
                <a:spcPts val="1200"/>
              </a:lnSpc>
              <a:buNone/>
            </a:pPr>
            <a:r>
              <a:rPr lang="en-US" sz="1050">
                <a:solidFill>
                  <a:srgbClr val="A9552F"/>
                </a:solidFill>
                <a:latin typeface="Consolas" pitchFamily="34" charset="0"/>
                <a:ea typeface="Consolas" pitchFamily="34" charset="-122"/>
                <a:cs typeface="Consolas" pitchFamily="34" charset="-120"/>
              </a:rPr>
              <a:t> </a:t>
            </a:r>
          </a:p>
          <a:p>
            <a:pPr marL="0" indent="0">
              <a:lnSpc>
                <a:spcPts val="1200"/>
              </a:lnSpc>
              <a:buNone/>
            </a:pPr>
            <a:r>
              <a:rPr lang="en-US" sz="1050">
                <a:solidFill>
                  <a:srgbClr val="A9552F"/>
                </a:solidFill>
                <a:latin typeface="Consolas" pitchFamily="34" charset="0"/>
                <a:ea typeface="Consolas" pitchFamily="34" charset="-122"/>
                <a:cs typeface="Consolas" pitchFamily="34" charset="-120"/>
              </a:rPr>
              <a:t>System.out.print("Welcome, ");</a:t>
            </a:r>
          </a:p>
          <a:p>
            <a:pPr marL="0" indent="0">
              <a:lnSpc>
                <a:spcPts val="1200"/>
              </a:lnSpc>
              <a:buNone/>
            </a:pPr>
            <a:r>
              <a:rPr lang="en-US" sz="1050">
                <a:solidFill>
                  <a:srgbClr val="A9552F"/>
                </a:solidFill>
                <a:latin typeface="Consolas" pitchFamily="34" charset="0"/>
                <a:ea typeface="Consolas" pitchFamily="34" charset="-122"/>
                <a:cs typeface="Consolas" pitchFamily="34" charset="-120"/>
              </a:rPr>
              <a:t>System.out.println(studentName);</a:t>
            </a:r>
          </a:p>
          <a:p>
            <a:pPr marL="0" indent="0">
              <a:lnSpc>
                <a:spcPts val="1200"/>
              </a:lnSpc>
              <a:buNone/>
            </a:pPr>
            <a:r>
              <a:rPr lang="en-US" sz="1050">
                <a:solidFill>
                  <a:srgbClr val="A9552F"/>
                </a:solidFill>
                <a:latin typeface="Consolas" pitchFamily="34" charset="0"/>
                <a:ea typeface="Consolas" pitchFamily="34" charset="-122"/>
                <a:cs typeface="Consolas" pitchFamily="34" charset="-120"/>
              </a:rPr>
              <a:t>System.out.println("Days left: " + daysLeft);</a:t>
            </a:r>
            <a:endParaRPr lang="en-US" sz="1050">
              <a:solidFill>
                <a:srgbClr val="1F3557"/>
              </a:solidFill>
              <a:latin typeface="Consolas" pitchFamily="34" charset="0"/>
              <a:ea typeface="Consolas" pitchFamily="34" charset="-122"/>
              <a:cs typeface="Consolas" pitchFamily="34" charset="-120"/>
            </a:endParaRPr>
          </a:p>
        </p:txBody>
      </p:sp>
      <p:sp>
        <p:nvSpPr>
          <p:cNvPr id="103" name="T103"/>
          <p:cNvSpPr/>
          <p:nvPr/>
        </p:nvSpPr>
        <p:spPr>
          <a:xfrm>
            <a:off x="548640" y="3620000"/>
            <a:ext cx="4200000" cy="220000"/>
          </a:xfrm>
          <a:prstGeom prst="rect">
            <a:avLst/>
          </a:prstGeom>
          <a:noFill/>
          <a:ln/>
        </p:spPr>
        <p:txBody>
          <a:bodyPr wrap="square" lIns="0" tIns="0" rIns="0" bIns="0" rtlCol="0" anchor="t"/>
          <a:lstStyle/>
          <a:p>
            <a:pPr marL="0" indent="0">
              <a:lnSpc>
                <a:spcPts val="1000"/>
              </a:lnSpc>
              <a:buNone/>
            </a:pPr>
            <a:r>
              <a:rPr lang="en-US" sz="1120" b="1" spc="150">
                <a:solidFill>
                  <a:srgbClr val="A9552F"/>
                </a:solidFill>
                <a:latin typeface="Segoe UI" pitchFamily="34" charset="0"/>
                <a:ea typeface="Segoe UI" pitchFamily="34" charset="-122"/>
                <a:cs typeface="Segoe UI" pitchFamily="34" charset="-120"/>
              </a:rPr>
              <a:t>WHAT PRINTS</a:t>
            </a:r>
          </a:p>
        </p:txBody>
      </p:sp>
      <p:sp>
        <p:nvSpPr>
          <p:cNvPr id="104" name="S104"/>
          <p:cNvSpPr/>
          <p:nvPr/>
        </p:nvSpPr>
        <p:spPr>
          <a:xfrm>
            <a:off x="548640" y="3900000"/>
            <a:ext cx="4200000" cy="700000"/>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105" name="T105"/>
          <p:cNvSpPr/>
          <p:nvPr/>
        </p:nvSpPr>
        <p:spPr>
          <a:xfrm>
            <a:off x="748640" y="4020000"/>
            <a:ext cx="3800000" cy="480000"/>
          </a:xfrm>
          <a:prstGeom prst="rect">
            <a:avLst/>
          </a:prstGeom>
          <a:noFill/>
          <a:ln/>
        </p:spPr>
        <p:txBody>
          <a:bodyPr wrap="square" lIns="0" tIns="0" rIns="0" bIns="0" rtlCol="0" anchor="t"/>
          <a:lstStyle/>
          <a:p>
            <a:pPr marL="0" indent="0">
              <a:lnSpc>
                <a:spcPts val="1200"/>
              </a:lnSpc>
              <a:buNone/>
            </a:pPr>
            <a:r>
              <a:rPr lang="en-US" sz="1050">
                <a:solidFill>
                  <a:srgbClr val="1F3557"/>
                </a:solidFill>
                <a:latin typeface="Consolas" pitchFamily="34" charset="0"/>
                <a:ea typeface="Consolas" pitchFamily="34" charset="-122"/>
                <a:cs typeface="Consolas" pitchFamily="34" charset="-120"/>
              </a:rPr>
              <a:t>Welcome, Jordan Smith</a:t>
            </a:r>
          </a:p>
          <a:p>
            <a:pPr marL="0" indent="0">
              <a:lnSpc>
                <a:spcPts val="1200"/>
              </a:lnSpc>
              <a:buNone/>
            </a:pPr>
            <a:r>
              <a:rPr lang="en-US" sz="1050">
                <a:solidFill>
                  <a:srgbClr val="1F3557"/>
                </a:solidFill>
                <a:latin typeface="Consolas" pitchFamily="34" charset="0"/>
                <a:ea typeface="Consolas" pitchFamily="34" charset="-122"/>
                <a:cs typeface="Consolas" pitchFamily="34" charset="-120"/>
              </a:rPr>
              <a:t>Days left: 45</a:t>
            </a:r>
          </a:p>
        </p:txBody>
      </p:sp>
      <p:sp>
        <p:nvSpPr>
          <p:cNvPr id="106" name="S106"/>
          <p:cNvSpPr/>
          <p:nvPr/>
        </p:nvSpPr>
        <p:spPr>
          <a:xfrm>
            <a:off x="5150000" y="1630200"/>
            <a:ext cx="106680" cy="106680"/>
          </a:xfrm>
          <a:prstGeom prst="rect">
            <a:avLst/>
          </a:prstGeom>
          <a:solidFill>
            <a:srgbClr val="A9552F"/>
          </a:solidFill>
          <a:ln/>
        </p:spPr>
        <p:txBody>
          <a:bodyPr/>
          <a:lstStyle/>
          <a:p>
            <a:endParaRPr lang="en-US"/>
          </a:p>
        </p:txBody>
      </p:sp>
      <p:sp>
        <p:nvSpPr>
          <p:cNvPr id="107" name="T107"/>
          <p:cNvSpPr/>
          <p:nvPr/>
        </p:nvSpPr>
        <p:spPr>
          <a:xfrm>
            <a:off x="5400000" y="1600200"/>
            <a:ext cx="3195360" cy="230000"/>
          </a:xfrm>
          <a:prstGeom prst="rect">
            <a:avLst/>
          </a:prstGeom>
          <a:noFill/>
          <a:ln/>
        </p:spPr>
        <p:txBody>
          <a:bodyPr wrap="square" lIns="0" tIns="0" rIns="0" bIns="0" rtlCol="0" anchor="t"/>
          <a:lstStyle/>
          <a:p>
            <a:pPr marL="0" indent="0">
              <a:lnSpc>
                <a:spcPts val="1300"/>
              </a:lnSpc>
              <a:buNone/>
            </a:pPr>
            <a:r>
              <a:rPr lang="en-US" sz="1400" b="1">
                <a:solidFill>
                  <a:srgbClr val="1F3557"/>
                </a:solidFill>
                <a:latin typeface="Georgia" pitchFamily="34" charset="0"/>
                <a:ea typeface="Georgia" pitchFamily="34" charset="-122"/>
                <a:cs typeface="Georgia" pitchFamily="34" charset="-120"/>
              </a:rPr>
              <a:t>print vs println</a:t>
            </a:r>
          </a:p>
        </p:txBody>
      </p:sp>
      <p:sp>
        <p:nvSpPr>
          <p:cNvPr id="108" name="T108"/>
          <p:cNvSpPr/>
          <p:nvPr/>
        </p:nvSpPr>
        <p:spPr>
          <a:xfrm>
            <a:off x="5400000" y="1850200"/>
            <a:ext cx="3195360" cy="460000"/>
          </a:xfrm>
          <a:prstGeom prst="rect">
            <a:avLst/>
          </a:prstGeom>
          <a:noFill/>
          <a:ln/>
        </p:spPr>
        <p:txBody>
          <a:bodyPr wrap="square" lIns="0" tIns="0" rIns="0" bIns="0" rtlCol="0" anchor="t"/>
          <a:lstStyle/>
          <a:p>
            <a:pPr marL="0" indent="0">
              <a:lnSpc>
                <a:spcPts val="1150"/>
              </a:lnSpc>
              <a:buNone/>
            </a:pPr>
            <a:r>
              <a:rPr lang="en-US" sz="1200">
                <a:solidFill>
                  <a:srgbClr val="6B6255"/>
                </a:solidFill>
                <a:latin typeface="Segoe UI" pitchFamily="34" charset="0"/>
                <a:ea typeface="Segoe UI" pitchFamily="34" charset="-122"/>
                <a:cs typeface="Segoe UI" pitchFamily="34" charset="-120"/>
              </a:rPr>
              <a:t>print leaves the cursor on the same line. println ends the line, so the next output starts below.</a:t>
            </a:r>
          </a:p>
        </p:txBody>
      </p:sp>
      <p:sp>
        <p:nvSpPr>
          <p:cNvPr id="109" name="S109"/>
          <p:cNvSpPr/>
          <p:nvPr/>
        </p:nvSpPr>
        <p:spPr>
          <a:xfrm>
            <a:off x="5150000" y="2460200"/>
            <a:ext cx="106680" cy="106680"/>
          </a:xfrm>
          <a:prstGeom prst="rect">
            <a:avLst/>
          </a:prstGeom>
          <a:solidFill>
            <a:srgbClr val="A9552F"/>
          </a:solidFill>
          <a:ln/>
        </p:spPr>
        <p:txBody>
          <a:bodyPr/>
          <a:lstStyle/>
          <a:p>
            <a:endParaRPr lang="en-US"/>
          </a:p>
        </p:txBody>
      </p:sp>
      <p:sp>
        <p:nvSpPr>
          <p:cNvPr id="110" name="T110"/>
          <p:cNvSpPr/>
          <p:nvPr/>
        </p:nvSpPr>
        <p:spPr>
          <a:xfrm>
            <a:off x="5400000" y="2430200"/>
            <a:ext cx="3195360" cy="230000"/>
          </a:xfrm>
          <a:prstGeom prst="rect">
            <a:avLst/>
          </a:prstGeom>
          <a:noFill/>
          <a:ln/>
        </p:spPr>
        <p:txBody>
          <a:bodyPr wrap="square" lIns="0" tIns="0" rIns="0" bIns="0" rtlCol="0" anchor="t"/>
          <a:lstStyle/>
          <a:p>
            <a:pPr marL="0" indent="0">
              <a:lnSpc>
                <a:spcPts val="1300"/>
              </a:lnSpc>
              <a:buNone/>
            </a:pPr>
            <a:r>
              <a:rPr lang="en-US" sz="1400" b="1">
                <a:solidFill>
                  <a:srgbClr val="1F3557"/>
                </a:solidFill>
                <a:latin typeface="Georgia" pitchFamily="34" charset="0"/>
                <a:ea typeface="Georgia" pitchFamily="34" charset="-122"/>
                <a:cs typeface="Georgia" pitchFamily="34" charset="-120"/>
              </a:rPr>
              <a:t>String</a:t>
            </a:r>
          </a:p>
        </p:txBody>
      </p:sp>
      <p:sp>
        <p:nvSpPr>
          <p:cNvPr id="111" name="T111"/>
          <p:cNvSpPr/>
          <p:nvPr/>
        </p:nvSpPr>
        <p:spPr>
          <a:xfrm>
            <a:off x="5400000" y="2680200"/>
            <a:ext cx="3195360" cy="460000"/>
          </a:xfrm>
          <a:prstGeom prst="rect">
            <a:avLst/>
          </a:prstGeom>
          <a:noFill/>
          <a:ln/>
        </p:spPr>
        <p:txBody>
          <a:bodyPr wrap="square" lIns="0" tIns="0" rIns="0" bIns="0" rtlCol="0" anchor="t"/>
          <a:lstStyle/>
          <a:p>
            <a:pPr marL="0" indent="0">
              <a:lnSpc>
                <a:spcPts val="1150"/>
              </a:lnSpc>
              <a:buNone/>
            </a:pPr>
            <a:r>
              <a:rPr lang="en-US" sz="1200">
                <a:solidFill>
                  <a:srgbClr val="6B6255"/>
                </a:solidFill>
                <a:latin typeface="Segoe UI" pitchFamily="34" charset="0"/>
                <a:ea typeface="Segoe UI" pitchFamily="34" charset="-122"/>
                <a:cs typeface="Segoe UI" pitchFamily="34" charset="-120"/>
              </a:rPr>
              <a:t>Holds text. Wrap the value in double quotes.</a:t>
            </a:r>
          </a:p>
        </p:txBody>
      </p:sp>
      <p:sp>
        <p:nvSpPr>
          <p:cNvPr id="112" name="S112"/>
          <p:cNvSpPr/>
          <p:nvPr/>
        </p:nvSpPr>
        <p:spPr>
          <a:xfrm>
            <a:off x="5150000" y="3290200"/>
            <a:ext cx="106680" cy="106680"/>
          </a:xfrm>
          <a:prstGeom prst="rect">
            <a:avLst/>
          </a:prstGeom>
          <a:solidFill>
            <a:srgbClr val="A9552F"/>
          </a:solidFill>
          <a:ln/>
        </p:spPr>
        <p:txBody>
          <a:bodyPr/>
          <a:lstStyle/>
          <a:p>
            <a:endParaRPr lang="en-US"/>
          </a:p>
        </p:txBody>
      </p:sp>
      <p:sp>
        <p:nvSpPr>
          <p:cNvPr id="113" name="T113"/>
          <p:cNvSpPr/>
          <p:nvPr/>
        </p:nvSpPr>
        <p:spPr>
          <a:xfrm>
            <a:off x="5400000" y="3260200"/>
            <a:ext cx="3195360" cy="230000"/>
          </a:xfrm>
          <a:prstGeom prst="rect">
            <a:avLst/>
          </a:prstGeom>
          <a:noFill/>
          <a:ln/>
        </p:spPr>
        <p:txBody>
          <a:bodyPr wrap="square" lIns="0" tIns="0" rIns="0" bIns="0" rtlCol="0" anchor="t"/>
          <a:lstStyle/>
          <a:p>
            <a:pPr marL="0" indent="0">
              <a:lnSpc>
                <a:spcPts val="1300"/>
              </a:lnSpc>
              <a:buNone/>
            </a:pPr>
            <a:r>
              <a:rPr lang="en-US" sz="1400" b="1">
                <a:solidFill>
                  <a:srgbClr val="1F3557"/>
                </a:solidFill>
                <a:latin typeface="Georgia" pitchFamily="34" charset="0"/>
                <a:ea typeface="Georgia" pitchFamily="34" charset="-122"/>
                <a:cs typeface="Georgia" pitchFamily="34" charset="-120"/>
              </a:rPr>
              <a:t>int</a:t>
            </a:r>
          </a:p>
        </p:txBody>
      </p:sp>
      <p:sp>
        <p:nvSpPr>
          <p:cNvPr id="114" name="T114"/>
          <p:cNvSpPr/>
          <p:nvPr/>
        </p:nvSpPr>
        <p:spPr>
          <a:xfrm>
            <a:off x="5400000" y="3510200"/>
            <a:ext cx="3195360" cy="460000"/>
          </a:xfrm>
          <a:prstGeom prst="rect">
            <a:avLst/>
          </a:prstGeom>
          <a:noFill/>
          <a:ln/>
        </p:spPr>
        <p:txBody>
          <a:bodyPr wrap="square" lIns="0" tIns="0" rIns="0" bIns="0" rtlCol="0" anchor="t"/>
          <a:lstStyle/>
          <a:p>
            <a:pPr marL="0" indent="0">
              <a:lnSpc>
                <a:spcPts val="1150"/>
              </a:lnSpc>
              <a:buNone/>
            </a:pPr>
            <a:r>
              <a:rPr lang="en-US" sz="1200">
                <a:solidFill>
                  <a:srgbClr val="6B6255"/>
                </a:solidFill>
                <a:latin typeface="Segoe UI" pitchFamily="34" charset="0"/>
                <a:ea typeface="Segoe UI" pitchFamily="34" charset="-122"/>
                <a:cs typeface="Segoe UI" pitchFamily="34" charset="-120"/>
              </a:rPr>
              <a:t>Holds a whole number. No quotes, and no decimal point today.</a:t>
            </a:r>
          </a:p>
        </p:txBody>
      </p:sp>
      <p:sp>
        <p:nvSpPr>
          <p:cNvPr id="115" name="S115"/>
          <p:cNvSpPr/>
          <p:nvPr/>
        </p:nvSpPr>
        <p:spPr>
          <a:xfrm>
            <a:off x="5150000" y="4120200"/>
            <a:ext cx="106680" cy="106680"/>
          </a:xfrm>
          <a:prstGeom prst="rect">
            <a:avLst/>
          </a:prstGeom>
          <a:solidFill>
            <a:srgbClr val="A9552F"/>
          </a:solidFill>
          <a:ln/>
        </p:spPr>
        <p:txBody>
          <a:bodyPr/>
          <a:lstStyle/>
          <a:p>
            <a:endParaRPr lang="en-US"/>
          </a:p>
        </p:txBody>
      </p:sp>
      <p:sp>
        <p:nvSpPr>
          <p:cNvPr id="116" name="T116"/>
          <p:cNvSpPr/>
          <p:nvPr/>
        </p:nvSpPr>
        <p:spPr>
          <a:xfrm>
            <a:off x="5400000" y="4090200"/>
            <a:ext cx="3195360" cy="230000"/>
          </a:xfrm>
          <a:prstGeom prst="rect">
            <a:avLst/>
          </a:prstGeom>
          <a:noFill/>
          <a:ln/>
        </p:spPr>
        <p:txBody>
          <a:bodyPr wrap="square" lIns="0" tIns="0" rIns="0" bIns="0" rtlCol="0" anchor="t"/>
          <a:lstStyle/>
          <a:p>
            <a:pPr marL="0" indent="0">
              <a:lnSpc>
                <a:spcPts val="1300"/>
              </a:lnSpc>
              <a:buNone/>
            </a:pPr>
            <a:r>
              <a:rPr lang="en-US" sz="1400" b="1">
                <a:solidFill>
                  <a:srgbClr val="1F3557"/>
                </a:solidFill>
                <a:latin typeface="Georgia" pitchFamily="34" charset="0"/>
                <a:ea typeface="Georgia" pitchFamily="34" charset="-122"/>
                <a:cs typeface="Georgia" pitchFamily="34" charset="-120"/>
              </a:rPr>
              <a:t>The + sign</a:t>
            </a:r>
          </a:p>
        </p:txBody>
      </p:sp>
      <p:sp>
        <p:nvSpPr>
          <p:cNvPr id="117" name="T117"/>
          <p:cNvSpPr/>
          <p:nvPr/>
        </p:nvSpPr>
        <p:spPr>
          <a:xfrm>
            <a:off x="5400000" y="4340200"/>
            <a:ext cx="3195360" cy="460000"/>
          </a:xfrm>
          <a:prstGeom prst="rect">
            <a:avLst/>
          </a:prstGeom>
          <a:noFill/>
          <a:ln/>
        </p:spPr>
        <p:txBody>
          <a:bodyPr wrap="square" lIns="0" tIns="0" rIns="0" bIns="0" rtlCol="0" anchor="t"/>
          <a:lstStyle/>
          <a:p>
            <a:pPr marL="0" indent="0">
              <a:lnSpc>
                <a:spcPts val="1150"/>
              </a:lnSpc>
              <a:buNone/>
            </a:pPr>
            <a:r>
              <a:rPr lang="en-US" sz="1200">
                <a:solidFill>
                  <a:srgbClr val="6B6255"/>
                </a:solidFill>
                <a:latin typeface="Segoe UI" pitchFamily="34" charset="0"/>
                <a:ea typeface="Segoe UI" pitchFamily="34" charset="-122"/>
                <a:cs typeface="Segoe UI" pitchFamily="34" charset="-120"/>
              </a:rPr>
              <a:t>Between text and a value it joins them into one line of output. Watch your spaces inside the quotes.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
    <p:bg>
      <p:bgPr>
        <a:solidFill>
          <a:srgbClr val="F5EFE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EFE2"/>
          </a:solidFill>
          <a:ln w="3175">
            <a:solidFill>
              <a:srgbClr val="F5EFE2"/>
            </a:solidFill>
            <a:prstDash val="solid"/>
          </a:ln>
        </p:spPr>
        <p:txBody>
          <a:bodyPr/>
          <a:lstStyle/>
          <a:p>
            <a:endParaRPr lang="en-US"/>
          </a:p>
        </p:txBody>
      </p:sp>
      <p:sp>
        <p:nvSpPr>
          <p:cNvPr id="3" name="Text 1"/>
          <p:cNvSpPr/>
          <p:nvPr/>
        </p:nvSpPr>
        <p:spPr>
          <a:xfrm>
            <a:off x="548640" y="384048"/>
            <a:ext cx="5943600" cy="274320"/>
          </a:xfrm>
          <a:prstGeom prst="rect">
            <a:avLst/>
          </a:prstGeom>
          <a:noFill/>
          <a:ln/>
        </p:spPr>
        <p:txBody>
          <a:bodyPr wrap="square" lIns="0" tIns="0" rIns="0" bIns="0" rtlCol="0" anchor="ctr"/>
          <a:lstStyle/>
          <a:p>
            <a:pPr marL="0" indent="0">
              <a:buNone/>
            </a:pPr>
            <a:r>
              <a:rPr lang="en-US" sz="1300" b="1" kern="0" spc="300">
                <a:solidFill>
                  <a:srgbClr val="A9552F"/>
                </a:solidFill>
                <a:latin typeface="Segoe UI" pitchFamily="34" charset="0"/>
                <a:ea typeface="Segoe UI" pitchFamily="34" charset="-122"/>
                <a:cs typeface="Segoe UI" pitchFamily="34" charset="-120"/>
              </a:rPr>
              <a:t>QUICK DRILL — OUTPUTPRACTICE.JAVA</a:t>
            </a:r>
            <a:endParaRPr lang="en-US" sz="1300"/>
          </a:p>
        </p:txBody>
      </p:sp>
      <p:sp>
        <p:nvSpPr>
          <p:cNvPr id="4" name="Text 2"/>
          <p:cNvSpPr/>
          <p:nvPr/>
        </p:nvSpPr>
        <p:spPr>
          <a:xfrm>
            <a:off x="530352" y="676656"/>
            <a:ext cx="7200900" cy="548640"/>
          </a:xfrm>
          <a:prstGeom prst="rect">
            <a:avLst/>
          </a:prstGeom>
          <a:noFill/>
          <a:ln/>
        </p:spPr>
        <p:txBody>
          <a:bodyPr wrap="square" lIns="0" tIns="0" rIns="0" bIns="0" rtlCol="0" anchor="ctr"/>
          <a:lstStyle/>
          <a:p>
            <a:pPr marL="0" indent="0">
              <a:buNone/>
            </a:pPr>
            <a:r>
              <a:rPr lang="en-US" sz="2600" b="1">
                <a:solidFill>
                  <a:srgbClr val="1F3557"/>
                </a:solidFill>
                <a:latin typeface="Georgia" pitchFamily="34" charset="0"/>
                <a:ea typeface="Georgia" pitchFamily="34" charset="-122"/>
                <a:cs typeface="Georgia" pitchFamily="34" charset="-120"/>
              </a:rPr>
              <a:t>Try it in OutputPractice.java</a:t>
            </a:r>
            <a:endParaRPr lang="en-US" sz="3200" dirty="0"/>
          </a:p>
        </p:txBody>
      </p:sp>
      <p:sp>
        <p:nvSpPr>
          <p:cNvPr id="5" name="Shape 3"/>
          <p:cNvSpPr/>
          <p:nvPr/>
        </p:nvSpPr>
        <p:spPr>
          <a:xfrm>
            <a:off x="548640" y="1316736"/>
            <a:ext cx="1280160" cy="0"/>
          </a:xfrm>
          <a:prstGeom prst="line">
            <a:avLst/>
          </a:prstGeom>
          <a:noFill/>
          <a:ln w="28575">
            <a:solidFill>
              <a:srgbClr val="A9552F"/>
            </a:solidFill>
            <a:prstDash val="solid"/>
          </a:ln>
        </p:spPr>
        <p:txBody>
          <a:bodyPr/>
          <a:lstStyle/>
          <a:p>
            <a:endParaRPr lang="en-US"/>
          </a:p>
        </p:txBody>
      </p:sp>
      <p:sp>
        <p:nvSpPr>
          <p:cNvPr id="6" name="Shape 4"/>
          <p:cNvSpPr/>
          <p:nvPr/>
        </p:nvSpPr>
        <p:spPr>
          <a:xfrm>
            <a:off x="548640" y="1651000"/>
            <a:ext cx="8046720" cy="3213202"/>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7" name="Text 5"/>
          <p:cNvSpPr/>
          <p:nvPr/>
        </p:nvSpPr>
        <p:spPr>
          <a:xfrm>
            <a:off x="1028246" y="1866900"/>
            <a:ext cx="7087508" cy="279400"/>
          </a:xfrm>
          <a:prstGeom prst="rect">
            <a:avLst/>
          </a:prstGeom>
          <a:noFill/>
          <a:ln/>
        </p:spPr>
        <p:txBody>
          <a:bodyPr wrap="square" lIns="0" tIns="0" rIns="0" bIns="0" rtlCol="0" anchor="ctr"/>
          <a:lstStyle/>
          <a:p>
            <a:pPr marL="0" indent="0">
              <a:buNone/>
            </a:pPr>
            <a:r>
              <a:rPr lang="en-US" sz="1650" b="1">
                <a:solidFill>
                  <a:srgbClr val="1F3557"/>
                </a:solidFill>
                <a:latin typeface="Georgia" pitchFamily="34" charset="0"/>
                <a:ea typeface="Georgia" pitchFamily="34" charset="-122"/>
                <a:cs typeface="Georgia" pitchFamily="34" charset="-120"/>
              </a:rPr>
              <a:t>Try it in OutputPractice.java</a:t>
            </a:r>
            <a:endParaRPr lang="en-US" sz="1650"/>
          </a:p>
        </p:txBody>
      </p:sp>
      <p:sp>
        <p:nvSpPr>
          <p:cNvPr id="8" name="Text 6"/>
          <p:cNvSpPr/>
          <p:nvPr/>
        </p:nvSpPr>
        <p:spPr>
          <a:xfrm>
            <a:off x="1028246" y="2235200"/>
            <a:ext cx="7087508" cy="2629814"/>
          </a:xfrm>
          <a:prstGeom prst="rect">
            <a:avLst/>
          </a:prstGeom>
          <a:noFill/>
          <a:ln/>
        </p:spPr>
        <p:txBody>
          <a:bodyPr wrap="square" lIns="0" tIns="0" rIns="0" bIns="0" rtlCol="0" anchor="t"/>
          <a:lstStyle/>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Print "Hello, " then "Jordan" with two print calls.</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Predict first: same line, or a new line?</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Replace one print with println and predict again.</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Add a // comment above each block explaining intent.</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Declare String studentName and int daysLeft.</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Print both with a label using + concatenation.</a:t>
            </a:r>
            <a:endParaRPr lang="en-US" sz="1350"/>
          </a:p>
        </p:txBody>
      </p:sp>
    </p:spTree>
    <p:extLst>
      <p:ext uri="{BB962C8B-B14F-4D97-AF65-F5344CB8AC3E}">
        <p14:creationId xmlns:p14="http://schemas.microsoft.com/office/powerpoint/2010/main" val="543020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
    <p:bg>
      <p:bgPr>
        <a:solidFill>
          <a:srgbClr val="F5EFE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EFE2"/>
          </a:solidFill>
          <a:ln w="3175">
            <a:solidFill>
              <a:srgbClr val="F5EFE2"/>
            </a:solidFill>
            <a:prstDash val="solid"/>
          </a:ln>
        </p:spPr>
        <p:txBody>
          <a:bodyPr/>
          <a:lstStyle/>
          <a:p>
            <a:endParaRPr lang="en-US"/>
          </a:p>
        </p:txBody>
      </p:sp>
      <p:sp>
        <p:nvSpPr>
          <p:cNvPr id="3" name="Text 1"/>
          <p:cNvSpPr/>
          <p:nvPr/>
        </p:nvSpPr>
        <p:spPr>
          <a:xfrm>
            <a:off x="548640" y="384048"/>
            <a:ext cx="5943600" cy="274320"/>
          </a:xfrm>
          <a:prstGeom prst="rect">
            <a:avLst/>
          </a:prstGeom>
          <a:noFill/>
          <a:ln/>
        </p:spPr>
        <p:txBody>
          <a:bodyPr wrap="square" lIns="0" tIns="0" rIns="0" bIns="0" rtlCol="0" anchor="ctr"/>
          <a:lstStyle/>
          <a:p>
            <a:pPr marL="0" indent="0">
              <a:buNone/>
            </a:pPr>
            <a:r>
              <a:rPr lang="en-US" sz="1300" b="1" kern="0" spc="300">
                <a:solidFill>
                  <a:srgbClr val="A9552F"/>
                </a:solidFill>
                <a:latin typeface="Segoe UI" pitchFamily="34" charset="0"/>
                <a:ea typeface="Segoe UI" pitchFamily="34" charset="-122"/>
                <a:cs typeface="Segoe UI" pitchFamily="34" charset="-120"/>
              </a:rPr>
              <a:t>QUICK DRILL — OUTPUTPRACTICE.JAVA</a:t>
            </a:r>
            <a:endParaRPr lang="en-US" sz="1300"/>
          </a:p>
        </p:txBody>
      </p:sp>
      <p:sp>
        <p:nvSpPr>
          <p:cNvPr id="4" name="Text 2"/>
          <p:cNvSpPr/>
          <p:nvPr/>
        </p:nvSpPr>
        <p:spPr>
          <a:xfrm>
            <a:off x="530352" y="676656"/>
            <a:ext cx="7200900" cy="548640"/>
          </a:xfrm>
          <a:prstGeom prst="rect">
            <a:avLst/>
          </a:prstGeom>
          <a:noFill/>
          <a:ln/>
        </p:spPr>
        <p:txBody>
          <a:bodyPr wrap="square" lIns="0" tIns="0" rIns="0" bIns="0" rtlCol="0" anchor="ctr"/>
          <a:lstStyle/>
          <a:p>
            <a:pPr marL="0" indent="0">
              <a:buNone/>
            </a:pPr>
            <a:r>
              <a:rPr lang="en-US" sz="2600" b="1">
                <a:solidFill>
                  <a:srgbClr val="1F3557"/>
                </a:solidFill>
                <a:latin typeface="Georgia" pitchFamily="34" charset="0"/>
                <a:ea typeface="Georgia" pitchFamily="34" charset="-122"/>
                <a:cs typeface="Georgia" pitchFamily="34" charset="-120"/>
              </a:rPr>
              <a:t>What to notice</a:t>
            </a:r>
            <a:endParaRPr lang="en-US" sz="3200"/>
          </a:p>
        </p:txBody>
      </p:sp>
      <p:sp>
        <p:nvSpPr>
          <p:cNvPr id="5" name="Shape 3"/>
          <p:cNvSpPr/>
          <p:nvPr/>
        </p:nvSpPr>
        <p:spPr>
          <a:xfrm>
            <a:off x="548640" y="1316736"/>
            <a:ext cx="1280160" cy="0"/>
          </a:xfrm>
          <a:prstGeom prst="line">
            <a:avLst/>
          </a:prstGeom>
          <a:noFill/>
          <a:ln w="28575">
            <a:solidFill>
              <a:srgbClr val="A9552F"/>
            </a:solidFill>
            <a:prstDash val="solid"/>
          </a:ln>
        </p:spPr>
        <p:txBody>
          <a:bodyPr/>
          <a:lstStyle/>
          <a:p>
            <a:endParaRPr lang="en-US"/>
          </a:p>
        </p:txBody>
      </p:sp>
      <p:sp>
        <p:nvSpPr>
          <p:cNvPr id="9" name="Shape 7"/>
          <p:cNvSpPr/>
          <p:nvPr/>
        </p:nvSpPr>
        <p:spPr>
          <a:xfrm>
            <a:off x="548640" y="1651000"/>
            <a:ext cx="8046720" cy="3213202"/>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10" name="Text 8"/>
          <p:cNvSpPr/>
          <p:nvPr/>
        </p:nvSpPr>
        <p:spPr>
          <a:xfrm>
            <a:off x="1028246" y="1866900"/>
            <a:ext cx="7087508" cy="279400"/>
          </a:xfrm>
          <a:prstGeom prst="rect">
            <a:avLst/>
          </a:prstGeom>
          <a:noFill/>
          <a:ln/>
        </p:spPr>
        <p:txBody>
          <a:bodyPr wrap="square" lIns="0" tIns="0" rIns="0" bIns="0" rtlCol="0" anchor="ctr"/>
          <a:lstStyle/>
          <a:p>
            <a:pPr marL="0" indent="0">
              <a:buNone/>
            </a:pPr>
            <a:r>
              <a:rPr lang="en-US" sz="1650" b="1">
                <a:solidFill>
                  <a:srgbClr val="1F3557"/>
                </a:solidFill>
                <a:latin typeface="Georgia" pitchFamily="34" charset="0"/>
                <a:ea typeface="Georgia" pitchFamily="34" charset="-122"/>
                <a:cs typeface="Georgia" pitchFamily="34" charset="-120"/>
              </a:rPr>
              <a:t>What to notice</a:t>
            </a:r>
            <a:endParaRPr lang="en-US" sz="1650"/>
          </a:p>
        </p:txBody>
      </p:sp>
      <p:sp>
        <p:nvSpPr>
          <p:cNvPr id="11" name="Text 9"/>
          <p:cNvSpPr/>
          <p:nvPr/>
        </p:nvSpPr>
        <p:spPr>
          <a:xfrm>
            <a:off x="1028246" y="2235200"/>
            <a:ext cx="7087508" cy="2629814"/>
          </a:xfrm>
          <a:prstGeom prst="rect">
            <a:avLst/>
          </a:prstGeom>
          <a:noFill/>
          <a:ln/>
        </p:spPr>
        <p:txBody>
          <a:bodyPr wrap="square" lIns="0" tIns="0" rIns="0" bIns="0" rtlCol="0" anchor="t"/>
          <a:lstStyle/>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print stays on the line; println ends it.</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Comments are for people — Java ignores them.</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When a String is involved, + joins text.</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Between two numbers, + adds instead.</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"Total: " + 2 + 3 gives Total: 23, not 5.</a:t>
            </a:r>
            <a:endParaRPr lang="en-US" sz="1350"/>
          </a:p>
        </p:txBody>
      </p:sp>
    </p:spTree>
    <p:extLst>
      <p:ext uri="{BB962C8B-B14F-4D97-AF65-F5344CB8AC3E}">
        <p14:creationId xmlns:p14="http://schemas.microsoft.com/office/powerpoint/2010/main" val="12867312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Live demo">
    <p:bg>
      <p:bgPr>
        <a:solidFill>
          <a:srgbClr val="F5EFE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EFE2"/>
          </a:solidFill>
          <a:ln w="3175">
            <a:solidFill>
              <a:srgbClr val="F5EFE2"/>
            </a:solidFill>
            <a:prstDash val="solid"/>
          </a:ln>
        </p:spPr>
        <p:txBody>
          <a:bodyPr/>
          <a:lstStyle/>
          <a:p>
            <a:endParaRPr lang="en-US"/>
          </a:p>
        </p:txBody>
      </p:sp>
      <p:sp>
        <p:nvSpPr>
          <p:cNvPr id="3" name="Text 1"/>
          <p:cNvSpPr/>
          <p:nvPr/>
        </p:nvSpPr>
        <p:spPr>
          <a:xfrm>
            <a:off x="548640" y="384048"/>
            <a:ext cx="5943600" cy="274320"/>
          </a:xfrm>
          <a:prstGeom prst="rect">
            <a:avLst/>
          </a:prstGeom>
          <a:noFill/>
          <a:ln/>
        </p:spPr>
        <p:txBody>
          <a:bodyPr wrap="square" lIns="0" tIns="0" rIns="0" bIns="0" rtlCol="0" anchor="ctr"/>
          <a:lstStyle/>
          <a:p>
            <a:pPr marL="0" indent="0">
              <a:buNone/>
            </a:pPr>
            <a:r>
              <a:rPr lang="en-US" sz="1300" b="1" kern="0" spc="300">
                <a:solidFill>
                  <a:srgbClr val="A9552F"/>
                </a:solidFill>
                <a:latin typeface="Segoe UI" pitchFamily="34" charset="0"/>
                <a:ea typeface="Segoe UI" pitchFamily="34" charset="-122"/>
                <a:cs typeface="Segoe UI" pitchFamily="34" charset="-120"/>
              </a:rPr>
              <a:t>LIVE DEMO — FOLLOW ALONG</a:t>
            </a:r>
            <a:endParaRPr lang="en-US" sz="1300"/>
          </a:p>
        </p:txBody>
      </p:sp>
      <p:sp>
        <p:nvSpPr>
          <p:cNvPr id="4" name="Text 2"/>
          <p:cNvSpPr/>
          <p:nvPr/>
        </p:nvSpPr>
        <p:spPr>
          <a:xfrm>
            <a:off x="530352" y="676656"/>
            <a:ext cx="7200000" cy="548640"/>
          </a:xfrm>
          <a:prstGeom prst="rect">
            <a:avLst/>
          </a:prstGeom>
          <a:noFill/>
          <a:ln/>
        </p:spPr>
        <p:txBody>
          <a:bodyPr wrap="square" lIns="0" tIns="0" rIns="0" bIns="0" rtlCol="0" anchor="ctr"/>
          <a:lstStyle/>
          <a:p>
            <a:pPr marL="0" indent="0">
              <a:buNone/>
            </a:pPr>
            <a:r>
              <a:rPr lang="en-US" sz="2600" b="1">
                <a:solidFill>
                  <a:srgbClr val="1F3557"/>
                </a:solidFill>
                <a:latin typeface="Georgia" pitchFamily="34" charset="0"/>
                <a:ea typeface="Georgia" pitchFamily="34" charset="-122"/>
                <a:cs typeface="Georgia" pitchFamily="34" charset="-120"/>
              </a:rPr>
              <a:t>We build WelcomeReport together</a:t>
            </a:r>
            <a:endParaRPr lang="en-US" sz="3200"/>
          </a:p>
        </p:txBody>
      </p:sp>
      <p:sp>
        <p:nvSpPr>
          <p:cNvPr id="5" name="Shape 3"/>
          <p:cNvSpPr/>
          <p:nvPr/>
        </p:nvSpPr>
        <p:spPr>
          <a:xfrm>
            <a:off x="548640" y="1316736"/>
            <a:ext cx="1280160" cy="0"/>
          </a:xfrm>
          <a:prstGeom prst="line">
            <a:avLst/>
          </a:prstGeom>
          <a:noFill/>
          <a:ln w="28575">
            <a:solidFill>
              <a:srgbClr val="A9552F"/>
            </a:solidFill>
            <a:prstDash val="solid"/>
          </a:ln>
        </p:spPr>
        <p:txBody>
          <a:bodyPr/>
          <a:lstStyle/>
          <a:p>
            <a:endParaRPr lang="en-US"/>
          </a:p>
        </p:txBody>
      </p:sp>
      <p:sp>
        <p:nvSpPr>
          <p:cNvPr id="101" name="S101"/>
          <p:cNvSpPr/>
          <p:nvPr/>
        </p:nvSpPr>
        <p:spPr>
          <a:xfrm>
            <a:off x="548640" y="1600200"/>
            <a:ext cx="2660000" cy="1180000"/>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102" name="S102"/>
          <p:cNvSpPr/>
          <p:nvPr/>
        </p:nvSpPr>
        <p:spPr>
          <a:xfrm>
            <a:off x="548640" y="1600200"/>
            <a:ext cx="2660000" cy="45720"/>
          </a:xfrm>
          <a:prstGeom prst="rect">
            <a:avLst/>
          </a:prstGeom>
          <a:solidFill>
            <a:srgbClr val="A9552F"/>
          </a:solidFill>
          <a:ln/>
        </p:spPr>
        <p:txBody>
          <a:bodyPr/>
          <a:lstStyle/>
          <a:p>
            <a:endParaRPr lang="en-US"/>
          </a:p>
        </p:txBody>
      </p:sp>
      <p:sp>
        <p:nvSpPr>
          <p:cNvPr id="103" name="T103"/>
          <p:cNvSpPr/>
          <p:nvPr/>
        </p:nvSpPr>
        <p:spPr>
          <a:xfrm>
            <a:off x="748640" y="1770200"/>
            <a:ext cx="300000" cy="240000"/>
          </a:xfrm>
          <a:prstGeom prst="rect">
            <a:avLst/>
          </a:prstGeom>
          <a:noFill/>
          <a:ln/>
        </p:spPr>
        <p:txBody>
          <a:bodyPr wrap="square" lIns="0" tIns="0" rIns="0" bIns="0" rtlCol="0" anchor="t"/>
          <a:lstStyle/>
          <a:p>
            <a:pPr marL="0" indent="0">
              <a:lnSpc>
                <a:spcPts val="1450"/>
              </a:lnSpc>
              <a:buNone/>
            </a:pPr>
            <a:r>
              <a:rPr lang="en-US" sz="1550" b="1">
                <a:solidFill>
                  <a:srgbClr val="A9552F"/>
                </a:solidFill>
                <a:latin typeface="Georgia" pitchFamily="34" charset="0"/>
                <a:ea typeface="Georgia" pitchFamily="34" charset="-122"/>
                <a:cs typeface="Georgia" pitchFamily="34" charset="-120"/>
              </a:rPr>
              <a:t>1</a:t>
            </a:r>
          </a:p>
        </p:txBody>
      </p:sp>
      <p:sp>
        <p:nvSpPr>
          <p:cNvPr id="104" name="T104"/>
          <p:cNvSpPr/>
          <p:nvPr/>
        </p:nvSpPr>
        <p:spPr>
          <a:xfrm>
            <a:off x="1068640" y="1780200"/>
            <a:ext cx="1940000" cy="240000"/>
          </a:xfrm>
          <a:prstGeom prst="rect">
            <a:avLst/>
          </a:prstGeom>
          <a:noFill/>
          <a:ln/>
        </p:spPr>
        <p:txBody>
          <a:bodyPr wrap="square" lIns="0" tIns="0" rIns="0" bIns="0" rtlCol="0" anchor="t"/>
          <a:lstStyle/>
          <a:p>
            <a:pPr marL="0" indent="0">
              <a:lnSpc>
                <a:spcPts val="1300"/>
              </a:lnSpc>
              <a:buNone/>
            </a:pPr>
            <a:r>
              <a:rPr lang="en-US" sz="1400" b="1">
                <a:solidFill>
                  <a:srgbClr val="1F3557"/>
                </a:solidFill>
                <a:latin typeface="Georgia" pitchFamily="34" charset="0"/>
                <a:ea typeface="Georgia" pitchFamily="34" charset="-122"/>
                <a:cs typeface="Georgia" pitchFamily="34" charset="-120"/>
              </a:rPr>
              <a:t>Create the file</a:t>
            </a:r>
          </a:p>
        </p:txBody>
      </p:sp>
      <p:sp>
        <p:nvSpPr>
          <p:cNvPr id="105" name="T105"/>
          <p:cNvSpPr/>
          <p:nvPr/>
        </p:nvSpPr>
        <p:spPr>
          <a:xfrm>
            <a:off x="748640" y="2120200"/>
            <a:ext cx="2260000" cy="560000"/>
          </a:xfrm>
          <a:prstGeom prst="rect">
            <a:avLst/>
          </a:prstGeom>
          <a:noFill/>
          <a:ln/>
        </p:spPr>
        <p:txBody>
          <a:bodyPr wrap="square" lIns="0" tIns="0" rIns="0" bIns="0" rtlCol="0" anchor="t"/>
          <a:lstStyle/>
          <a:p>
            <a:pPr marL="0" indent="0">
              <a:lnSpc>
                <a:spcPts val="1100"/>
              </a:lnSpc>
              <a:buNone/>
            </a:pPr>
            <a:r>
              <a:rPr lang="en-US" sz="1150">
                <a:solidFill>
                  <a:srgbClr val="6B6255"/>
                </a:solidFill>
                <a:latin typeface="Segoe UI" pitchFamily="34" charset="0"/>
                <a:ea typeface="Segoe UI" pitchFamily="34" charset="-122"/>
                <a:cs typeface="Segoe UI" pitchFamily="34" charset="-120"/>
              </a:rPr>
              <a:t>New file named WelcomeReport.java, class name spelled the same way.</a:t>
            </a:r>
          </a:p>
        </p:txBody>
      </p:sp>
      <p:sp>
        <p:nvSpPr>
          <p:cNvPr id="106" name="S106"/>
          <p:cNvSpPr/>
          <p:nvPr/>
        </p:nvSpPr>
        <p:spPr>
          <a:xfrm>
            <a:off x="3388640" y="1600200"/>
            <a:ext cx="2660000" cy="1180000"/>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107" name="S107"/>
          <p:cNvSpPr/>
          <p:nvPr/>
        </p:nvSpPr>
        <p:spPr>
          <a:xfrm>
            <a:off x="3388640" y="1600200"/>
            <a:ext cx="2660000" cy="45720"/>
          </a:xfrm>
          <a:prstGeom prst="rect">
            <a:avLst/>
          </a:prstGeom>
          <a:solidFill>
            <a:srgbClr val="A9552F"/>
          </a:solidFill>
          <a:ln/>
        </p:spPr>
        <p:txBody>
          <a:bodyPr/>
          <a:lstStyle/>
          <a:p>
            <a:endParaRPr lang="en-US"/>
          </a:p>
        </p:txBody>
      </p:sp>
      <p:sp>
        <p:nvSpPr>
          <p:cNvPr id="108" name="T108"/>
          <p:cNvSpPr/>
          <p:nvPr/>
        </p:nvSpPr>
        <p:spPr>
          <a:xfrm>
            <a:off x="3588640" y="1770200"/>
            <a:ext cx="300000" cy="240000"/>
          </a:xfrm>
          <a:prstGeom prst="rect">
            <a:avLst/>
          </a:prstGeom>
          <a:noFill/>
          <a:ln/>
        </p:spPr>
        <p:txBody>
          <a:bodyPr wrap="square" lIns="0" tIns="0" rIns="0" bIns="0" rtlCol="0" anchor="t"/>
          <a:lstStyle/>
          <a:p>
            <a:pPr marL="0" indent="0">
              <a:lnSpc>
                <a:spcPts val="1450"/>
              </a:lnSpc>
              <a:buNone/>
            </a:pPr>
            <a:r>
              <a:rPr lang="en-US" sz="1550" b="1">
                <a:solidFill>
                  <a:srgbClr val="A9552F"/>
                </a:solidFill>
                <a:latin typeface="Georgia" pitchFamily="34" charset="0"/>
                <a:ea typeface="Georgia" pitchFamily="34" charset="-122"/>
                <a:cs typeface="Georgia" pitchFamily="34" charset="-120"/>
              </a:rPr>
              <a:t>2</a:t>
            </a:r>
          </a:p>
        </p:txBody>
      </p:sp>
      <p:sp>
        <p:nvSpPr>
          <p:cNvPr id="109" name="T109"/>
          <p:cNvSpPr/>
          <p:nvPr/>
        </p:nvSpPr>
        <p:spPr>
          <a:xfrm>
            <a:off x="3908640" y="1780200"/>
            <a:ext cx="1940000" cy="240000"/>
          </a:xfrm>
          <a:prstGeom prst="rect">
            <a:avLst/>
          </a:prstGeom>
          <a:noFill/>
          <a:ln/>
        </p:spPr>
        <p:txBody>
          <a:bodyPr wrap="square" lIns="0" tIns="0" rIns="0" bIns="0" rtlCol="0" anchor="t"/>
          <a:lstStyle/>
          <a:p>
            <a:pPr marL="0" indent="0">
              <a:lnSpc>
                <a:spcPts val="1300"/>
              </a:lnSpc>
              <a:buNone/>
            </a:pPr>
            <a:r>
              <a:rPr lang="en-US" sz="1400" b="1">
                <a:solidFill>
                  <a:srgbClr val="1F3557"/>
                </a:solidFill>
                <a:latin typeface="Georgia" pitchFamily="34" charset="0"/>
                <a:ea typeface="Georgia" pitchFamily="34" charset="-122"/>
                <a:cs typeface="Georgia" pitchFamily="34" charset="-120"/>
              </a:rPr>
              <a:t>Print one line</a:t>
            </a:r>
          </a:p>
        </p:txBody>
      </p:sp>
      <p:sp>
        <p:nvSpPr>
          <p:cNvPr id="110" name="T110"/>
          <p:cNvSpPr/>
          <p:nvPr/>
        </p:nvSpPr>
        <p:spPr>
          <a:xfrm>
            <a:off x="3588640" y="2120200"/>
            <a:ext cx="2260000" cy="560000"/>
          </a:xfrm>
          <a:prstGeom prst="rect">
            <a:avLst/>
          </a:prstGeom>
          <a:noFill/>
          <a:ln/>
        </p:spPr>
        <p:txBody>
          <a:bodyPr wrap="square" lIns="0" tIns="0" rIns="0" bIns="0" rtlCol="0" anchor="t"/>
          <a:lstStyle/>
          <a:p>
            <a:pPr marL="0" indent="0">
              <a:lnSpc>
                <a:spcPts val="1100"/>
              </a:lnSpc>
              <a:buNone/>
            </a:pPr>
            <a:r>
              <a:rPr lang="en-US" sz="1150">
                <a:solidFill>
                  <a:srgbClr val="6B6255"/>
                </a:solidFill>
                <a:latin typeface="Segoe UI" pitchFamily="34" charset="0"/>
                <a:ea typeface="Segoe UI" pitchFamily="34" charset="-122"/>
                <a:cs typeface="Segoe UI" pitchFamily="34" charset="-120"/>
              </a:rPr>
              <a:t>A single println with the company greeting. Compile and run before adding anything else.</a:t>
            </a:r>
          </a:p>
        </p:txBody>
      </p:sp>
      <p:sp>
        <p:nvSpPr>
          <p:cNvPr id="111" name="S111"/>
          <p:cNvSpPr/>
          <p:nvPr/>
        </p:nvSpPr>
        <p:spPr>
          <a:xfrm>
            <a:off x="6228640" y="1600200"/>
            <a:ext cx="2660000" cy="1180000"/>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112" name="S112"/>
          <p:cNvSpPr/>
          <p:nvPr/>
        </p:nvSpPr>
        <p:spPr>
          <a:xfrm>
            <a:off x="6228640" y="1600200"/>
            <a:ext cx="2660000" cy="45720"/>
          </a:xfrm>
          <a:prstGeom prst="rect">
            <a:avLst/>
          </a:prstGeom>
          <a:solidFill>
            <a:srgbClr val="A9552F"/>
          </a:solidFill>
          <a:ln/>
        </p:spPr>
        <p:txBody>
          <a:bodyPr/>
          <a:lstStyle/>
          <a:p>
            <a:endParaRPr lang="en-US"/>
          </a:p>
        </p:txBody>
      </p:sp>
      <p:sp>
        <p:nvSpPr>
          <p:cNvPr id="113" name="T113"/>
          <p:cNvSpPr/>
          <p:nvPr/>
        </p:nvSpPr>
        <p:spPr>
          <a:xfrm>
            <a:off x="6428640" y="1770200"/>
            <a:ext cx="300000" cy="240000"/>
          </a:xfrm>
          <a:prstGeom prst="rect">
            <a:avLst/>
          </a:prstGeom>
          <a:noFill/>
          <a:ln/>
        </p:spPr>
        <p:txBody>
          <a:bodyPr wrap="square" lIns="0" tIns="0" rIns="0" bIns="0" rtlCol="0" anchor="t"/>
          <a:lstStyle/>
          <a:p>
            <a:pPr marL="0" indent="0">
              <a:lnSpc>
                <a:spcPts val="1450"/>
              </a:lnSpc>
              <a:buNone/>
            </a:pPr>
            <a:r>
              <a:rPr lang="en-US" sz="1550" b="1">
                <a:solidFill>
                  <a:srgbClr val="A9552F"/>
                </a:solidFill>
                <a:latin typeface="Georgia" pitchFamily="34" charset="0"/>
                <a:ea typeface="Georgia" pitchFamily="34" charset="-122"/>
                <a:cs typeface="Georgia" pitchFamily="34" charset="-120"/>
              </a:rPr>
              <a:t>3</a:t>
            </a:r>
          </a:p>
        </p:txBody>
      </p:sp>
      <p:sp>
        <p:nvSpPr>
          <p:cNvPr id="114" name="T114"/>
          <p:cNvSpPr/>
          <p:nvPr/>
        </p:nvSpPr>
        <p:spPr>
          <a:xfrm>
            <a:off x="6748640" y="1780200"/>
            <a:ext cx="1940000" cy="240000"/>
          </a:xfrm>
          <a:prstGeom prst="rect">
            <a:avLst/>
          </a:prstGeom>
          <a:noFill/>
          <a:ln/>
        </p:spPr>
        <p:txBody>
          <a:bodyPr wrap="square" lIns="0" tIns="0" rIns="0" bIns="0" rtlCol="0" anchor="t"/>
          <a:lstStyle/>
          <a:p>
            <a:pPr marL="0" indent="0">
              <a:lnSpc>
                <a:spcPts val="1300"/>
              </a:lnSpc>
              <a:buNone/>
            </a:pPr>
            <a:r>
              <a:rPr lang="en-US" sz="1400" b="1">
                <a:solidFill>
                  <a:srgbClr val="1F3557"/>
                </a:solidFill>
                <a:latin typeface="Georgia" pitchFamily="34" charset="0"/>
                <a:ea typeface="Georgia" pitchFamily="34" charset="-122"/>
                <a:cs typeface="Georgia" pitchFamily="34" charset="-120"/>
              </a:rPr>
              <a:t>Add the member</a:t>
            </a:r>
          </a:p>
        </p:txBody>
      </p:sp>
      <p:sp>
        <p:nvSpPr>
          <p:cNvPr id="115" name="T115"/>
          <p:cNvSpPr/>
          <p:nvPr/>
        </p:nvSpPr>
        <p:spPr>
          <a:xfrm>
            <a:off x="6428640" y="2120200"/>
            <a:ext cx="2260000" cy="560000"/>
          </a:xfrm>
          <a:prstGeom prst="rect">
            <a:avLst/>
          </a:prstGeom>
          <a:noFill/>
          <a:ln/>
        </p:spPr>
        <p:txBody>
          <a:bodyPr wrap="square" lIns="0" tIns="0" rIns="0" bIns="0" rtlCol="0" anchor="t"/>
          <a:lstStyle/>
          <a:p>
            <a:pPr marL="0" indent="0">
              <a:lnSpc>
                <a:spcPts val="1100"/>
              </a:lnSpc>
              <a:buNone/>
            </a:pPr>
            <a:r>
              <a:rPr lang="en-US" sz="1150">
                <a:solidFill>
                  <a:srgbClr val="6B6255"/>
                </a:solidFill>
                <a:latin typeface="Segoe UI" pitchFamily="34" charset="0"/>
                <a:ea typeface="Segoe UI" pitchFamily="34" charset="-122"/>
                <a:cs typeface="Segoe UI" pitchFamily="34" charset="-120"/>
              </a:rPr>
              <a:t>Store the member name in a String, then print it after the greeting.</a:t>
            </a:r>
          </a:p>
        </p:txBody>
      </p:sp>
      <p:sp>
        <p:nvSpPr>
          <p:cNvPr id="116" name="S116"/>
          <p:cNvSpPr/>
          <p:nvPr/>
        </p:nvSpPr>
        <p:spPr>
          <a:xfrm>
            <a:off x="548640" y="2950200"/>
            <a:ext cx="2660000" cy="1180000"/>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117" name="S117"/>
          <p:cNvSpPr/>
          <p:nvPr/>
        </p:nvSpPr>
        <p:spPr>
          <a:xfrm>
            <a:off x="548640" y="2950200"/>
            <a:ext cx="2660000" cy="45720"/>
          </a:xfrm>
          <a:prstGeom prst="rect">
            <a:avLst/>
          </a:prstGeom>
          <a:solidFill>
            <a:srgbClr val="A9552F"/>
          </a:solidFill>
          <a:ln/>
        </p:spPr>
        <p:txBody>
          <a:bodyPr/>
          <a:lstStyle/>
          <a:p>
            <a:endParaRPr lang="en-US"/>
          </a:p>
        </p:txBody>
      </p:sp>
      <p:sp>
        <p:nvSpPr>
          <p:cNvPr id="118" name="T118"/>
          <p:cNvSpPr/>
          <p:nvPr/>
        </p:nvSpPr>
        <p:spPr>
          <a:xfrm>
            <a:off x="748640" y="3120200"/>
            <a:ext cx="300000" cy="240000"/>
          </a:xfrm>
          <a:prstGeom prst="rect">
            <a:avLst/>
          </a:prstGeom>
          <a:noFill/>
          <a:ln/>
        </p:spPr>
        <p:txBody>
          <a:bodyPr wrap="square" lIns="0" tIns="0" rIns="0" bIns="0" rtlCol="0" anchor="t"/>
          <a:lstStyle/>
          <a:p>
            <a:pPr marL="0" indent="0">
              <a:lnSpc>
                <a:spcPts val="1450"/>
              </a:lnSpc>
              <a:buNone/>
            </a:pPr>
            <a:r>
              <a:rPr lang="en-US" sz="1550" b="1">
                <a:solidFill>
                  <a:srgbClr val="A9552F"/>
                </a:solidFill>
                <a:latin typeface="Georgia" pitchFamily="34" charset="0"/>
                <a:ea typeface="Georgia" pitchFamily="34" charset="-122"/>
                <a:cs typeface="Georgia" pitchFamily="34" charset="-120"/>
              </a:rPr>
              <a:t>4</a:t>
            </a:r>
          </a:p>
        </p:txBody>
      </p:sp>
      <p:sp>
        <p:nvSpPr>
          <p:cNvPr id="119" name="T119"/>
          <p:cNvSpPr/>
          <p:nvPr/>
        </p:nvSpPr>
        <p:spPr>
          <a:xfrm>
            <a:off x="1068640" y="3130200"/>
            <a:ext cx="1940000" cy="240000"/>
          </a:xfrm>
          <a:prstGeom prst="rect">
            <a:avLst/>
          </a:prstGeom>
          <a:noFill/>
          <a:ln/>
        </p:spPr>
        <p:txBody>
          <a:bodyPr wrap="square" lIns="0" tIns="0" rIns="0" bIns="0" rtlCol="0" anchor="t"/>
          <a:lstStyle/>
          <a:p>
            <a:pPr marL="0" indent="0">
              <a:lnSpc>
                <a:spcPts val="1300"/>
              </a:lnSpc>
              <a:buNone/>
            </a:pPr>
            <a:r>
              <a:rPr lang="en-US" sz="1400" b="1">
                <a:solidFill>
                  <a:srgbClr val="1F3557"/>
                </a:solidFill>
                <a:latin typeface="Georgia" pitchFamily="34" charset="0"/>
                <a:ea typeface="Georgia" pitchFamily="34" charset="-122"/>
                <a:cs typeface="Georgia" pitchFamily="34" charset="-120"/>
              </a:rPr>
              <a:t>Add a number</a:t>
            </a:r>
          </a:p>
        </p:txBody>
      </p:sp>
      <p:sp>
        <p:nvSpPr>
          <p:cNvPr id="120" name="T120"/>
          <p:cNvSpPr/>
          <p:nvPr/>
        </p:nvSpPr>
        <p:spPr>
          <a:xfrm>
            <a:off x="748640" y="3470200"/>
            <a:ext cx="2260000" cy="560000"/>
          </a:xfrm>
          <a:prstGeom prst="rect">
            <a:avLst/>
          </a:prstGeom>
          <a:noFill/>
          <a:ln/>
        </p:spPr>
        <p:txBody>
          <a:bodyPr wrap="square" lIns="0" tIns="0" rIns="0" bIns="0" rtlCol="0" anchor="t"/>
          <a:lstStyle/>
          <a:p>
            <a:pPr marL="0" indent="0">
              <a:lnSpc>
                <a:spcPts val="1100"/>
              </a:lnSpc>
              <a:buNone/>
            </a:pPr>
            <a:r>
              <a:rPr lang="en-US" sz="1150">
                <a:solidFill>
                  <a:srgbClr val="6B6255"/>
                </a:solidFill>
                <a:latin typeface="Segoe UI" pitchFamily="34" charset="0"/>
                <a:ea typeface="Segoe UI" pitchFamily="34" charset="-122"/>
                <a:cs typeface="Segoe UI" pitchFamily="34" charset="-120"/>
              </a:rPr>
              <a:t>Store visits in an int and print it on its own line.</a:t>
            </a:r>
          </a:p>
        </p:txBody>
      </p:sp>
      <p:sp>
        <p:nvSpPr>
          <p:cNvPr id="121" name="S121"/>
          <p:cNvSpPr/>
          <p:nvPr/>
        </p:nvSpPr>
        <p:spPr>
          <a:xfrm>
            <a:off x="3388640" y="2950200"/>
            <a:ext cx="2660000" cy="1180000"/>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122" name="S122"/>
          <p:cNvSpPr/>
          <p:nvPr/>
        </p:nvSpPr>
        <p:spPr>
          <a:xfrm>
            <a:off x="3388640" y="2950200"/>
            <a:ext cx="2660000" cy="45720"/>
          </a:xfrm>
          <a:prstGeom prst="rect">
            <a:avLst/>
          </a:prstGeom>
          <a:solidFill>
            <a:srgbClr val="A9552F"/>
          </a:solidFill>
          <a:ln/>
        </p:spPr>
        <p:txBody>
          <a:bodyPr/>
          <a:lstStyle/>
          <a:p>
            <a:endParaRPr lang="en-US"/>
          </a:p>
        </p:txBody>
      </p:sp>
      <p:sp>
        <p:nvSpPr>
          <p:cNvPr id="123" name="T123"/>
          <p:cNvSpPr/>
          <p:nvPr/>
        </p:nvSpPr>
        <p:spPr>
          <a:xfrm>
            <a:off x="3588640" y="3120200"/>
            <a:ext cx="300000" cy="240000"/>
          </a:xfrm>
          <a:prstGeom prst="rect">
            <a:avLst/>
          </a:prstGeom>
          <a:noFill/>
          <a:ln/>
        </p:spPr>
        <p:txBody>
          <a:bodyPr wrap="square" lIns="0" tIns="0" rIns="0" bIns="0" rtlCol="0" anchor="t"/>
          <a:lstStyle/>
          <a:p>
            <a:pPr marL="0" indent="0">
              <a:lnSpc>
                <a:spcPts val="1450"/>
              </a:lnSpc>
              <a:buNone/>
            </a:pPr>
            <a:r>
              <a:rPr lang="en-US" sz="1550" b="1">
                <a:solidFill>
                  <a:srgbClr val="A9552F"/>
                </a:solidFill>
                <a:latin typeface="Georgia" pitchFamily="34" charset="0"/>
                <a:ea typeface="Georgia" pitchFamily="34" charset="-122"/>
                <a:cs typeface="Georgia" pitchFamily="34" charset="-120"/>
              </a:rPr>
              <a:t>5</a:t>
            </a:r>
          </a:p>
        </p:txBody>
      </p:sp>
      <p:sp>
        <p:nvSpPr>
          <p:cNvPr id="124" name="T124"/>
          <p:cNvSpPr/>
          <p:nvPr/>
        </p:nvSpPr>
        <p:spPr>
          <a:xfrm>
            <a:off x="3908640" y="3130200"/>
            <a:ext cx="1940000" cy="240000"/>
          </a:xfrm>
          <a:prstGeom prst="rect">
            <a:avLst/>
          </a:prstGeom>
          <a:noFill/>
          <a:ln/>
        </p:spPr>
        <p:txBody>
          <a:bodyPr wrap="square" lIns="0" tIns="0" rIns="0" bIns="0" rtlCol="0" anchor="t"/>
          <a:lstStyle/>
          <a:p>
            <a:pPr marL="0" indent="0">
              <a:lnSpc>
                <a:spcPts val="1300"/>
              </a:lnSpc>
              <a:buNone/>
            </a:pPr>
            <a:r>
              <a:rPr lang="en-US" sz="1400" b="1">
                <a:solidFill>
                  <a:srgbClr val="1F3557"/>
                </a:solidFill>
                <a:latin typeface="Georgia" pitchFamily="34" charset="0"/>
                <a:ea typeface="Georgia" pitchFamily="34" charset="-122"/>
                <a:cs typeface="Georgia" pitchFamily="34" charset="-120"/>
              </a:rPr>
              <a:t>Join the pieces</a:t>
            </a:r>
          </a:p>
        </p:txBody>
      </p:sp>
      <p:sp>
        <p:nvSpPr>
          <p:cNvPr id="125" name="T125"/>
          <p:cNvSpPr/>
          <p:nvPr/>
        </p:nvSpPr>
        <p:spPr>
          <a:xfrm>
            <a:off x="3588640" y="3470200"/>
            <a:ext cx="2260000" cy="560000"/>
          </a:xfrm>
          <a:prstGeom prst="rect">
            <a:avLst/>
          </a:prstGeom>
          <a:noFill/>
          <a:ln/>
        </p:spPr>
        <p:txBody>
          <a:bodyPr wrap="square" lIns="0" tIns="0" rIns="0" bIns="0" rtlCol="0" anchor="t"/>
          <a:lstStyle/>
          <a:p>
            <a:pPr marL="0" indent="0">
              <a:lnSpc>
                <a:spcPts val="1100"/>
              </a:lnSpc>
              <a:buNone/>
            </a:pPr>
            <a:r>
              <a:rPr lang="en-US" sz="1150">
                <a:solidFill>
                  <a:srgbClr val="6B6255"/>
                </a:solidFill>
                <a:latin typeface="Segoe UI" pitchFamily="34" charset="0"/>
                <a:ea typeface="Segoe UI" pitchFamily="34" charset="-122"/>
                <a:cs typeface="Segoe UI" pitchFamily="34" charset="-120"/>
              </a:rPr>
              <a:t>Use + to build one sentence from text and a value.</a:t>
            </a:r>
          </a:p>
        </p:txBody>
      </p:sp>
      <p:sp>
        <p:nvSpPr>
          <p:cNvPr id="126" name="S126"/>
          <p:cNvSpPr/>
          <p:nvPr/>
        </p:nvSpPr>
        <p:spPr>
          <a:xfrm>
            <a:off x="6228640" y="2950200"/>
            <a:ext cx="2660000" cy="1180000"/>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127" name="S127"/>
          <p:cNvSpPr/>
          <p:nvPr/>
        </p:nvSpPr>
        <p:spPr>
          <a:xfrm>
            <a:off x="6228640" y="2950200"/>
            <a:ext cx="2660000" cy="45720"/>
          </a:xfrm>
          <a:prstGeom prst="rect">
            <a:avLst/>
          </a:prstGeom>
          <a:solidFill>
            <a:srgbClr val="A9552F"/>
          </a:solidFill>
          <a:ln/>
        </p:spPr>
        <p:txBody>
          <a:bodyPr/>
          <a:lstStyle/>
          <a:p>
            <a:endParaRPr lang="en-US"/>
          </a:p>
        </p:txBody>
      </p:sp>
      <p:sp>
        <p:nvSpPr>
          <p:cNvPr id="128" name="T128"/>
          <p:cNvSpPr/>
          <p:nvPr/>
        </p:nvSpPr>
        <p:spPr>
          <a:xfrm>
            <a:off x="6428640" y="3120200"/>
            <a:ext cx="300000" cy="240000"/>
          </a:xfrm>
          <a:prstGeom prst="rect">
            <a:avLst/>
          </a:prstGeom>
          <a:noFill/>
          <a:ln/>
        </p:spPr>
        <p:txBody>
          <a:bodyPr wrap="square" lIns="0" tIns="0" rIns="0" bIns="0" rtlCol="0" anchor="t"/>
          <a:lstStyle/>
          <a:p>
            <a:pPr marL="0" indent="0">
              <a:lnSpc>
                <a:spcPts val="1450"/>
              </a:lnSpc>
              <a:buNone/>
            </a:pPr>
            <a:r>
              <a:rPr lang="en-US" sz="1550" b="1">
                <a:solidFill>
                  <a:srgbClr val="A9552F"/>
                </a:solidFill>
                <a:latin typeface="Georgia" pitchFamily="34" charset="0"/>
                <a:ea typeface="Georgia" pitchFamily="34" charset="-122"/>
                <a:cs typeface="Georgia" pitchFamily="34" charset="-120"/>
              </a:rPr>
              <a:t>6</a:t>
            </a:r>
          </a:p>
        </p:txBody>
      </p:sp>
      <p:sp>
        <p:nvSpPr>
          <p:cNvPr id="129" name="T129"/>
          <p:cNvSpPr/>
          <p:nvPr/>
        </p:nvSpPr>
        <p:spPr>
          <a:xfrm>
            <a:off x="6748640" y="3130200"/>
            <a:ext cx="1940000" cy="240000"/>
          </a:xfrm>
          <a:prstGeom prst="rect">
            <a:avLst/>
          </a:prstGeom>
          <a:noFill/>
          <a:ln/>
        </p:spPr>
        <p:txBody>
          <a:bodyPr wrap="square" lIns="0" tIns="0" rIns="0" bIns="0" rtlCol="0" anchor="t"/>
          <a:lstStyle/>
          <a:p>
            <a:pPr marL="0" indent="0">
              <a:lnSpc>
                <a:spcPts val="1300"/>
              </a:lnSpc>
              <a:buNone/>
            </a:pPr>
            <a:r>
              <a:rPr lang="en-US" sz="1400" b="1">
                <a:solidFill>
                  <a:srgbClr val="1F3557"/>
                </a:solidFill>
                <a:latin typeface="Georgia" pitchFamily="34" charset="0"/>
                <a:ea typeface="Georgia" pitchFamily="34" charset="-122"/>
                <a:cs typeface="Georgia" pitchFamily="34" charset="-120"/>
              </a:rPr>
              <a:t>Break it, fix it</a:t>
            </a:r>
          </a:p>
        </p:txBody>
      </p:sp>
      <p:sp>
        <p:nvSpPr>
          <p:cNvPr id="130" name="T130"/>
          <p:cNvSpPr/>
          <p:nvPr/>
        </p:nvSpPr>
        <p:spPr>
          <a:xfrm>
            <a:off x="6428640" y="3470200"/>
            <a:ext cx="2260000" cy="560000"/>
          </a:xfrm>
          <a:prstGeom prst="rect">
            <a:avLst/>
          </a:prstGeom>
          <a:noFill/>
          <a:ln/>
        </p:spPr>
        <p:txBody>
          <a:bodyPr wrap="square" lIns="0" tIns="0" rIns="0" bIns="0" rtlCol="0" anchor="t"/>
          <a:lstStyle/>
          <a:p>
            <a:pPr marL="0" indent="0">
              <a:lnSpc>
                <a:spcPts val="1100"/>
              </a:lnSpc>
              <a:buNone/>
            </a:pPr>
            <a:r>
              <a:rPr lang="en-US" sz="1150">
                <a:solidFill>
                  <a:srgbClr val="6B6255"/>
                </a:solidFill>
                <a:latin typeface="Segoe UI" pitchFamily="34" charset="0"/>
                <a:ea typeface="Segoe UI" pitchFamily="34" charset="-122"/>
                <a:cs typeface="Segoe UI" pitchFamily="34" charset="-120"/>
              </a:rPr>
              <a:t>Delete a semicolon on purpose. Read the error, restore it, compile clean.</a:t>
            </a:r>
          </a:p>
        </p:txBody>
      </p:sp>
      <p:sp>
        <p:nvSpPr>
          <p:cNvPr id="131" name="S131"/>
          <p:cNvSpPr/>
          <p:nvPr/>
        </p:nvSpPr>
        <p:spPr>
          <a:xfrm>
            <a:off x="548640" y="4250200"/>
            <a:ext cx="8340000" cy="9525"/>
          </a:xfrm>
          <a:prstGeom prst="rect">
            <a:avLst/>
          </a:prstGeom>
          <a:solidFill>
            <a:srgbClr val="A9552F"/>
          </a:solidFill>
          <a:ln/>
        </p:spPr>
        <p:txBody>
          <a:bodyPr/>
          <a:lstStyle/>
          <a:p>
            <a:endParaRPr lang="en-US"/>
          </a:p>
        </p:txBody>
      </p:sp>
      <p:sp>
        <p:nvSpPr>
          <p:cNvPr id="132" name="T132"/>
          <p:cNvSpPr/>
          <p:nvPr/>
        </p:nvSpPr>
        <p:spPr>
          <a:xfrm>
            <a:off x="548640" y="4370200"/>
            <a:ext cx="8340000" cy="300000"/>
          </a:xfrm>
          <a:prstGeom prst="rect">
            <a:avLst/>
          </a:prstGeom>
          <a:noFill/>
          <a:ln/>
        </p:spPr>
        <p:txBody>
          <a:bodyPr wrap="square" lIns="0" tIns="0" rIns="0" bIns="0" rtlCol="0" anchor="t"/>
          <a:lstStyle/>
          <a:p>
            <a:pPr marL="0" indent="0">
              <a:lnSpc>
                <a:spcPts val="1150"/>
              </a:lnSpc>
              <a:buNone/>
            </a:pPr>
            <a:r>
              <a:rPr lang="en-US" sz="1200" i="1">
                <a:solidFill>
                  <a:srgbClr val="1F3557"/>
                </a:solidFill>
                <a:latin typeface="Segoe UI" pitchFamily="34" charset="0"/>
                <a:ea typeface="Segoe UI" pitchFamily="34" charset="-122"/>
                <a:cs typeface="Segoe UI" pitchFamily="34" charset="-120"/>
              </a:rPr>
              <a:t>Compile and run after every single checkpoint. Small steps make the error message point at the line you just typed.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Troubleshooting">
    <p:bg>
      <p:bgPr>
        <a:solidFill>
          <a:srgbClr val="F5EFE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EFE2"/>
          </a:solidFill>
          <a:ln w="3175">
            <a:solidFill>
              <a:srgbClr val="F5EFE2"/>
            </a:solidFill>
            <a:prstDash val="solid"/>
          </a:ln>
        </p:spPr>
        <p:txBody>
          <a:bodyPr/>
          <a:lstStyle/>
          <a:p>
            <a:endParaRPr lang="en-US"/>
          </a:p>
        </p:txBody>
      </p:sp>
      <p:sp>
        <p:nvSpPr>
          <p:cNvPr id="3" name="Text 1"/>
          <p:cNvSpPr/>
          <p:nvPr/>
        </p:nvSpPr>
        <p:spPr>
          <a:xfrm>
            <a:off x="548640" y="384048"/>
            <a:ext cx="5943600" cy="274320"/>
          </a:xfrm>
          <a:prstGeom prst="rect">
            <a:avLst/>
          </a:prstGeom>
          <a:noFill/>
          <a:ln/>
        </p:spPr>
        <p:txBody>
          <a:bodyPr wrap="square" lIns="0" tIns="0" rIns="0" bIns="0" rtlCol="0" anchor="ctr"/>
          <a:lstStyle/>
          <a:p>
            <a:pPr marL="0" indent="0">
              <a:buNone/>
            </a:pPr>
            <a:r>
              <a:rPr lang="en-US" sz="1300" b="1" kern="0" spc="300">
                <a:solidFill>
                  <a:srgbClr val="A9552F"/>
                </a:solidFill>
                <a:latin typeface="Segoe UI" pitchFamily="34" charset="0"/>
                <a:ea typeface="Segoe UI" pitchFamily="34" charset="-122"/>
                <a:cs typeface="Segoe UI" pitchFamily="34" charset="-120"/>
              </a:rPr>
              <a:t>BREAK IT ON PURPOSE</a:t>
            </a:r>
            <a:endParaRPr lang="en-US" sz="1300"/>
          </a:p>
        </p:txBody>
      </p:sp>
      <p:sp>
        <p:nvSpPr>
          <p:cNvPr id="4" name="Text 2"/>
          <p:cNvSpPr/>
          <p:nvPr/>
        </p:nvSpPr>
        <p:spPr>
          <a:xfrm>
            <a:off x="530352" y="676656"/>
            <a:ext cx="7200000" cy="548640"/>
          </a:xfrm>
          <a:prstGeom prst="rect">
            <a:avLst/>
          </a:prstGeom>
          <a:noFill/>
          <a:ln/>
        </p:spPr>
        <p:txBody>
          <a:bodyPr wrap="square" lIns="0" tIns="0" rIns="0" bIns="0" rtlCol="0" anchor="ctr"/>
          <a:lstStyle/>
          <a:p>
            <a:pPr marL="0" indent="0">
              <a:buNone/>
            </a:pPr>
            <a:r>
              <a:rPr lang="en-US" sz="2600" b="1">
                <a:solidFill>
                  <a:srgbClr val="1F3557"/>
                </a:solidFill>
                <a:latin typeface="Georgia" pitchFamily="34" charset="0"/>
                <a:ea typeface="Georgia" pitchFamily="34" charset="-122"/>
                <a:cs typeface="Georgia" pitchFamily="34" charset="-120"/>
              </a:rPr>
              <a:t>Errors are instructions, not failures</a:t>
            </a:r>
            <a:endParaRPr lang="en-US" sz="3200"/>
          </a:p>
        </p:txBody>
      </p:sp>
      <p:sp>
        <p:nvSpPr>
          <p:cNvPr id="5" name="Shape 3"/>
          <p:cNvSpPr/>
          <p:nvPr/>
        </p:nvSpPr>
        <p:spPr>
          <a:xfrm>
            <a:off x="548640" y="1316736"/>
            <a:ext cx="1280160" cy="0"/>
          </a:xfrm>
          <a:prstGeom prst="line">
            <a:avLst/>
          </a:prstGeom>
          <a:noFill/>
          <a:ln w="28575">
            <a:solidFill>
              <a:srgbClr val="A9552F"/>
            </a:solidFill>
            <a:prstDash val="solid"/>
          </a:ln>
        </p:spPr>
        <p:txBody>
          <a:bodyPr/>
          <a:lstStyle/>
          <a:p>
            <a:endParaRPr lang="en-US"/>
          </a:p>
        </p:txBody>
      </p:sp>
      <p:sp>
        <p:nvSpPr>
          <p:cNvPr id="101" name="S101"/>
          <p:cNvSpPr/>
          <p:nvPr/>
        </p:nvSpPr>
        <p:spPr>
          <a:xfrm>
            <a:off x="548640" y="1600200"/>
            <a:ext cx="2660000" cy="1900000"/>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102" name="S102"/>
          <p:cNvSpPr/>
          <p:nvPr/>
        </p:nvSpPr>
        <p:spPr>
          <a:xfrm>
            <a:off x="548640" y="1600200"/>
            <a:ext cx="2660000" cy="45720"/>
          </a:xfrm>
          <a:prstGeom prst="rect">
            <a:avLst/>
          </a:prstGeom>
          <a:solidFill>
            <a:srgbClr val="A9552F"/>
          </a:solidFill>
          <a:ln/>
        </p:spPr>
        <p:txBody>
          <a:bodyPr/>
          <a:lstStyle/>
          <a:p>
            <a:endParaRPr lang="en-US"/>
          </a:p>
        </p:txBody>
      </p:sp>
      <p:sp>
        <p:nvSpPr>
          <p:cNvPr id="103" name="T103"/>
          <p:cNvSpPr/>
          <p:nvPr/>
        </p:nvSpPr>
        <p:spPr>
          <a:xfrm>
            <a:off x="748640" y="1800200"/>
            <a:ext cx="2260000" cy="240000"/>
          </a:xfrm>
          <a:prstGeom prst="rect">
            <a:avLst/>
          </a:prstGeom>
          <a:noFill/>
          <a:ln/>
        </p:spPr>
        <p:txBody>
          <a:bodyPr wrap="square" lIns="0" tIns="0" rIns="0" bIns="0" rtlCol="0" anchor="t"/>
          <a:lstStyle/>
          <a:p>
            <a:pPr marL="0" indent="0">
              <a:lnSpc>
                <a:spcPts val="1350"/>
              </a:lnSpc>
              <a:buNone/>
            </a:pPr>
            <a:r>
              <a:rPr lang="en-US" sz="1450" b="1">
                <a:solidFill>
                  <a:srgbClr val="1F3557"/>
                </a:solidFill>
                <a:latin typeface="Georgia" pitchFamily="34" charset="0"/>
                <a:ea typeface="Georgia" pitchFamily="34" charset="-122"/>
                <a:cs typeface="Georgia" pitchFamily="34" charset="-120"/>
              </a:rPr>
              <a:t>Missing semicolon</a:t>
            </a:r>
          </a:p>
        </p:txBody>
      </p:sp>
      <p:sp>
        <p:nvSpPr>
          <p:cNvPr id="104" name="T104"/>
          <p:cNvSpPr/>
          <p:nvPr/>
        </p:nvSpPr>
        <p:spPr>
          <a:xfrm>
            <a:off x="748640" y="2140200"/>
            <a:ext cx="2260000" cy="200000"/>
          </a:xfrm>
          <a:prstGeom prst="rect">
            <a:avLst/>
          </a:prstGeom>
          <a:noFill/>
          <a:ln/>
        </p:spPr>
        <p:txBody>
          <a:bodyPr wrap="square" lIns="0" tIns="0" rIns="0" bIns="0" rtlCol="0" anchor="t"/>
          <a:lstStyle/>
          <a:p>
            <a:pPr marL="0" indent="0">
              <a:lnSpc>
                <a:spcPts val="950"/>
              </a:lnSpc>
              <a:buNone/>
            </a:pPr>
            <a:r>
              <a:rPr lang="en-US" sz="1050" b="1" spc="150">
                <a:solidFill>
                  <a:srgbClr val="A9552F"/>
                </a:solidFill>
                <a:latin typeface="Segoe UI" pitchFamily="34" charset="0"/>
                <a:ea typeface="Segoe UI" pitchFamily="34" charset="-122"/>
                <a:cs typeface="Segoe UI" pitchFamily="34" charset="-120"/>
              </a:rPr>
              <a:t>WHAT JAVA SAYS</a:t>
            </a:r>
          </a:p>
        </p:txBody>
      </p:sp>
      <p:sp>
        <p:nvSpPr>
          <p:cNvPr id="105" name="S105"/>
          <p:cNvSpPr/>
          <p:nvPr/>
        </p:nvSpPr>
        <p:spPr>
          <a:xfrm>
            <a:off x="728640" y="2390200"/>
            <a:ext cx="2300000" cy="325000"/>
          </a:xfrm>
          <a:prstGeom prst="roundRect">
            <a:avLst>
              <a:gd name="adj" fmla="val 3175"/>
            </a:avLst>
          </a:prstGeom>
          <a:solidFill>
            <a:srgbClr val="EFE7D6"/>
          </a:solidFill>
          <a:ln/>
        </p:spPr>
        <p:txBody>
          <a:bodyPr/>
          <a:lstStyle/>
          <a:p>
            <a:endParaRPr lang="en-US"/>
          </a:p>
        </p:txBody>
      </p:sp>
      <p:sp>
        <p:nvSpPr>
          <p:cNvPr id="106" name="T106"/>
          <p:cNvSpPr/>
          <p:nvPr/>
        </p:nvSpPr>
        <p:spPr>
          <a:xfrm>
            <a:off x="848640" y="2480200"/>
            <a:ext cx="2060000" cy="145000"/>
          </a:xfrm>
          <a:prstGeom prst="rect">
            <a:avLst/>
          </a:prstGeom>
          <a:noFill/>
          <a:ln/>
        </p:spPr>
        <p:txBody>
          <a:bodyPr wrap="square" lIns="0" tIns="0" rIns="0" bIns="0" rtlCol="0" anchor="t"/>
          <a:lstStyle/>
          <a:p>
            <a:pPr marL="0" indent="0">
              <a:lnSpc>
                <a:spcPts val="1050"/>
              </a:lnSpc>
              <a:buNone/>
            </a:pPr>
            <a:r>
              <a:rPr lang="en-US" sz="1050">
                <a:solidFill>
                  <a:srgbClr val="1F3557"/>
                </a:solidFill>
                <a:latin typeface="Consolas" pitchFamily="34" charset="0"/>
                <a:ea typeface="Consolas" pitchFamily="34" charset="-122"/>
                <a:cs typeface="Consolas" pitchFamily="34" charset="-120"/>
              </a:rPr>
              <a:t>';' expected</a:t>
            </a:r>
          </a:p>
        </p:txBody>
      </p:sp>
      <p:sp>
        <p:nvSpPr>
          <p:cNvPr id="107" name="T107"/>
          <p:cNvSpPr/>
          <p:nvPr/>
        </p:nvSpPr>
        <p:spPr>
          <a:xfrm>
            <a:off x="748640" y="3020200"/>
            <a:ext cx="2260000" cy="420000"/>
          </a:xfrm>
          <a:prstGeom prst="rect">
            <a:avLst/>
          </a:prstGeom>
          <a:noFill/>
          <a:ln/>
        </p:spPr>
        <p:txBody>
          <a:bodyPr wrap="square" lIns="0" tIns="0" rIns="0" bIns="0" rtlCol="0" anchor="t"/>
          <a:lstStyle/>
          <a:p>
            <a:pPr marL="0" indent="0">
              <a:lnSpc>
                <a:spcPts val="1100"/>
              </a:lnSpc>
              <a:buNone/>
            </a:pPr>
            <a:r>
              <a:rPr lang="en-US" sz="1150">
                <a:solidFill>
                  <a:srgbClr val="6B6255"/>
                </a:solidFill>
                <a:latin typeface="Segoe UI" pitchFamily="34" charset="0"/>
                <a:ea typeface="Segoe UI" pitchFamily="34" charset="-122"/>
                <a:cs typeface="Segoe UI" pitchFamily="34" charset="-120"/>
              </a:rPr>
              <a:t>Java points at the line after the one you broke. Look up one line.</a:t>
            </a:r>
          </a:p>
        </p:txBody>
      </p:sp>
      <p:sp>
        <p:nvSpPr>
          <p:cNvPr id="108" name="S108"/>
          <p:cNvSpPr/>
          <p:nvPr/>
        </p:nvSpPr>
        <p:spPr>
          <a:xfrm>
            <a:off x="3388640" y="1600200"/>
            <a:ext cx="2660000" cy="1900000"/>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109" name="S109"/>
          <p:cNvSpPr/>
          <p:nvPr/>
        </p:nvSpPr>
        <p:spPr>
          <a:xfrm>
            <a:off x="3388640" y="1600200"/>
            <a:ext cx="2660000" cy="45720"/>
          </a:xfrm>
          <a:prstGeom prst="rect">
            <a:avLst/>
          </a:prstGeom>
          <a:solidFill>
            <a:srgbClr val="A9552F"/>
          </a:solidFill>
          <a:ln/>
        </p:spPr>
        <p:txBody>
          <a:bodyPr/>
          <a:lstStyle/>
          <a:p>
            <a:endParaRPr lang="en-US"/>
          </a:p>
        </p:txBody>
      </p:sp>
      <p:sp>
        <p:nvSpPr>
          <p:cNvPr id="110" name="T110"/>
          <p:cNvSpPr/>
          <p:nvPr/>
        </p:nvSpPr>
        <p:spPr>
          <a:xfrm>
            <a:off x="3588640" y="1800200"/>
            <a:ext cx="2260000" cy="240000"/>
          </a:xfrm>
          <a:prstGeom prst="rect">
            <a:avLst/>
          </a:prstGeom>
          <a:noFill/>
          <a:ln/>
        </p:spPr>
        <p:txBody>
          <a:bodyPr wrap="square" lIns="0" tIns="0" rIns="0" bIns="0" rtlCol="0" anchor="t"/>
          <a:lstStyle/>
          <a:p>
            <a:pPr marL="0" indent="0">
              <a:lnSpc>
                <a:spcPts val="1350"/>
              </a:lnSpc>
              <a:buNone/>
            </a:pPr>
            <a:r>
              <a:rPr lang="en-US" sz="1450" b="1">
                <a:solidFill>
                  <a:srgbClr val="1F3557"/>
                </a:solidFill>
                <a:latin typeface="Georgia" pitchFamily="34" charset="0"/>
                <a:ea typeface="Georgia" pitchFamily="34" charset="-122"/>
                <a:cs typeface="Georgia" pitchFamily="34" charset="-120"/>
              </a:rPr>
              <a:t>Case mismatch</a:t>
            </a:r>
          </a:p>
        </p:txBody>
      </p:sp>
      <p:sp>
        <p:nvSpPr>
          <p:cNvPr id="111" name="T111"/>
          <p:cNvSpPr/>
          <p:nvPr/>
        </p:nvSpPr>
        <p:spPr>
          <a:xfrm>
            <a:off x="3588640" y="2140200"/>
            <a:ext cx="2260000" cy="200000"/>
          </a:xfrm>
          <a:prstGeom prst="rect">
            <a:avLst/>
          </a:prstGeom>
          <a:noFill/>
          <a:ln/>
        </p:spPr>
        <p:txBody>
          <a:bodyPr wrap="square" lIns="0" tIns="0" rIns="0" bIns="0" rtlCol="0" anchor="t"/>
          <a:lstStyle/>
          <a:p>
            <a:pPr marL="0" indent="0">
              <a:lnSpc>
                <a:spcPts val="950"/>
              </a:lnSpc>
              <a:buNone/>
            </a:pPr>
            <a:r>
              <a:rPr lang="en-US" sz="1050" b="1" spc="150">
                <a:solidFill>
                  <a:srgbClr val="A9552F"/>
                </a:solidFill>
                <a:latin typeface="Segoe UI" pitchFamily="34" charset="0"/>
                <a:ea typeface="Segoe UI" pitchFamily="34" charset="-122"/>
                <a:cs typeface="Segoe UI" pitchFamily="34" charset="-120"/>
              </a:rPr>
              <a:t>WHAT JAVA SAYS</a:t>
            </a:r>
          </a:p>
        </p:txBody>
      </p:sp>
      <p:sp>
        <p:nvSpPr>
          <p:cNvPr id="112" name="S112"/>
          <p:cNvSpPr/>
          <p:nvPr/>
        </p:nvSpPr>
        <p:spPr>
          <a:xfrm>
            <a:off x="3568640" y="2390200"/>
            <a:ext cx="2300000" cy="325000"/>
          </a:xfrm>
          <a:prstGeom prst="roundRect">
            <a:avLst>
              <a:gd name="adj" fmla="val 3175"/>
            </a:avLst>
          </a:prstGeom>
          <a:solidFill>
            <a:srgbClr val="EFE7D6"/>
          </a:solidFill>
          <a:ln/>
        </p:spPr>
        <p:txBody>
          <a:bodyPr/>
          <a:lstStyle/>
          <a:p>
            <a:endParaRPr lang="en-US"/>
          </a:p>
        </p:txBody>
      </p:sp>
      <p:sp>
        <p:nvSpPr>
          <p:cNvPr id="113" name="T113"/>
          <p:cNvSpPr/>
          <p:nvPr/>
        </p:nvSpPr>
        <p:spPr>
          <a:xfrm>
            <a:off x="3688640" y="2480200"/>
            <a:ext cx="2060000" cy="145000"/>
          </a:xfrm>
          <a:prstGeom prst="rect">
            <a:avLst/>
          </a:prstGeom>
          <a:noFill/>
          <a:ln/>
        </p:spPr>
        <p:txBody>
          <a:bodyPr wrap="square" lIns="0" tIns="0" rIns="0" bIns="0" rtlCol="0" anchor="t"/>
          <a:lstStyle/>
          <a:p>
            <a:pPr marL="0" indent="0">
              <a:lnSpc>
                <a:spcPts val="1050"/>
              </a:lnSpc>
              <a:buNone/>
            </a:pPr>
            <a:r>
              <a:rPr lang="en-US" sz="1050">
                <a:solidFill>
                  <a:srgbClr val="1F3557"/>
                </a:solidFill>
                <a:latin typeface="Consolas" pitchFamily="34" charset="0"/>
                <a:ea typeface="Consolas" pitchFamily="34" charset="-122"/>
                <a:cs typeface="Consolas" pitchFamily="34" charset="-120"/>
              </a:rPr>
              <a:t>cannot find symbol</a:t>
            </a:r>
          </a:p>
        </p:txBody>
      </p:sp>
      <p:sp>
        <p:nvSpPr>
          <p:cNvPr id="114" name="T114"/>
          <p:cNvSpPr/>
          <p:nvPr/>
        </p:nvSpPr>
        <p:spPr>
          <a:xfrm>
            <a:off x="3588640" y="3020200"/>
            <a:ext cx="2260000" cy="420000"/>
          </a:xfrm>
          <a:prstGeom prst="rect">
            <a:avLst/>
          </a:prstGeom>
          <a:noFill/>
          <a:ln/>
        </p:spPr>
        <p:txBody>
          <a:bodyPr wrap="square" lIns="0" tIns="0" rIns="0" bIns="0" rtlCol="0" anchor="t"/>
          <a:lstStyle/>
          <a:p>
            <a:pPr marL="0" indent="0">
              <a:lnSpc>
                <a:spcPts val="1100"/>
              </a:lnSpc>
              <a:buNone/>
            </a:pPr>
            <a:r>
              <a:rPr lang="en-US" sz="1150">
                <a:solidFill>
                  <a:srgbClr val="6B6255"/>
                </a:solidFill>
                <a:latin typeface="Segoe UI" pitchFamily="34" charset="0"/>
                <a:ea typeface="Segoe UI" pitchFamily="34" charset="-122"/>
                <a:cs typeface="Segoe UI" pitchFamily="34" charset="-120"/>
              </a:rPr>
              <a:t>system is not System, and println is not Println. Java reads capitals literally.</a:t>
            </a:r>
          </a:p>
        </p:txBody>
      </p:sp>
      <p:sp>
        <p:nvSpPr>
          <p:cNvPr id="115" name="S115"/>
          <p:cNvSpPr/>
          <p:nvPr/>
        </p:nvSpPr>
        <p:spPr>
          <a:xfrm>
            <a:off x="6228640" y="1600200"/>
            <a:ext cx="2660000" cy="1900000"/>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116" name="S116"/>
          <p:cNvSpPr/>
          <p:nvPr/>
        </p:nvSpPr>
        <p:spPr>
          <a:xfrm>
            <a:off x="6228640" y="1600200"/>
            <a:ext cx="2660000" cy="45720"/>
          </a:xfrm>
          <a:prstGeom prst="rect">
            <a:avLst/>
          </a:prstGeom>
          <a:solidFill>
            <a:srgbClr val="A9552F"/>
          </a:solidFill>
          <a:ln/>
        </p:spPr>
        <p:txBody>
          <a:bodyPr/>
          <a:lstStyle/>
          <a:p>
            <a:endParaRPr lang="en-US"/>
          </a:p>
        </p:txBody>
      </p:sp>
      <p:sp>
        <p:nvSpPr>
          <p:cNvPr id="117" name="T117"/>
          <p:cNvSpPr/>
          <p:nvPr/>
        </p:nvSpPr>
        <p:spPr>
          <a:xfrm>
            <a:off x="6428640" y="1800200"/>
            <a:ext cx="2260000" cy="240000"/>
          </a:xfrm>
          <a:prstGeom prst="rect">
            <a:avLst/>
          </a:prstGeom>
          <a:noFill/>
          <a:ln/>
        </p:spPr>
        <p:txBody>
          <a:bodyPr wrap="square" lIns="0" tIns="0" rIns="0" bIns="0" rtlCol="0" anchor="t"/>
          <a:lstStyle/>
          <a:p>
            <a:pPr marL="0" indent="0">
              <a:lnSpc>
                <a:spcPts val="1350"/>
              </a:lnSpc>
              <a:buNone/>
            </a:pPr>
            <a:r>
              <a:rPr lang="en-US" sz="1450" b="1">
                <a:solidFill>
                  <a:srgbClr val="1F3557"/>
                </a:solidFill>
                <a:latin typeface="Georgia" pitchFamily="34" charset="0"/>
                <a:ea typeface="Georgia" pitchFamily="34" charset="-122"/>
                <a:cs typeface="Georgia" pitchFamily="34" charset="-120"/>
              </a:rPr>
              <a:t>Name mismatch</a:t>
            </a:r>
          </a:p>
        </p:txBody>
      </p:sp>
      <p:sp>
        <p:nvSpPr>
          <p:cNvPr id="118" name="T118"/>
          <p:cNvSpPr/>
          <p:nvPr/>
        </p:nvSpPr>
        <p:spPr>
          <a:xfrm>
            <a:off x="6428640" y="2140200"/>
            <a:ext cx="2260000" cy="200000"/>
          </a:xfrm>
          <a:prstGeom prst="rect">
            <a:avLst/>
          </a:prstGeom>
          <a:noFill/>
          <a:ln/>
        </p:spPr>
        <p:txBody>
          <a:bodyPr wrap="square" lIns="0" tIns="0" rIns="0" bIns="0" rtlCol="0" anchor="t"/>
          <a:lstStyle/>
          <a:p>
            <a:pPr marL="0" indent="0">
              <a:lnSpc>
                <a:spcPts val="950"/>
              </a:lnSpc>
              <a:buNone/>
            </a:pPr>
            <a:r>
              <a:rPr lang="en-US" sz="1050" b="1" spc="150">
                <a:solidFill>
                  <a:srgbClr val="A9552F"/>
                </a:solidFill>
                <a:latin typeface="Segoe UI" pitchFamily="34" charset="0"/>
                <a:ea typeface="Segoe UI" pitchFamily="34" charset="-122"/>
                <a:cs typeface="Segoe UI" pitchFamily="34" charset="-120"/>
              </a:rPr>
              <a:t>WHAT JAVA SAYS</a:t>
            </a:r>
          </a:p>
        </p:txBody>
      </p:sp>
      <p:sp>
        <p:nvSpPr>
          <p:cNvPr id="119" name="S119"/>
          <p:cNvSpPr/>
          <p:nvPr/>
        </p:nvSpPr>
        <p:spPr>
          <a:xfrm>
            <a:off x="6408640" y="2390200"/>
            <a:ext cx="2300000" cy="615000"/>
          </a:xfrm>
          <a:prstGeom prst="roundRect">
            <a:avLst>
              <a:gd name="adj" fmla="val 3175"/>
            </a:avLst>
          </a:prstGeom>
          <a:solidFill>
            <a:srgbClr val="EFE7D6"/>
          </a:solidFill>
          <a:ln/>
        </p:spPr>
        <p:txBody>
          <a:bodyPr/>
          <a:lstStyle/>
          <a:p>
            <a:endParaRPr lang="en-US"/>
          </a:p>
        </p:txBody>
      </p:sp>
      <p:sp>
        <p:nvSpPr>
          <p:cNvPr id="120" name="T120"/>
          <p:cNvSpPr/>
          <p:nvPr/>
        </p:nvSpPr>
        <p:spPr>
          <a:xfrm>
            <a:off x="6528640" y="2480200"/>
            <a:ext cx="2060000" cy="435000"/>
          </a:xfrm>
          <a:prstGeom prst="rect">
            <a:avLst/>
          </a:prstGeom>
          <a:noFill/>
          <a:ln/>
        </p:spPr>
        <p:txBody>
          <a:bodyPr wrap="square" lIns="0" tIns="0" rIns="0" bIns="0" rtlCol="0" anchor="t"/>
          <a:lstStyle/>
          <a:p>
            <a:pPr marL="0" indent="0">
              <a:lnSpc>
                <a:spcPts val="1050"/>
              </a:lnSpc>
              <a:buNone/>
            </a:pPr>
            <a:r>
              <a:rPr lang="en-US" sz="1050">
                <a:solidFill>
                  <a:srgbClr val="1F3557"/>
                </a:solidFill>
                <a:latin typeface="Consolas" pitchFamily="34" charset="0"/>
                <a:ea typeface="Consolas" pitchFamily="34" charset="-122"/>
                <a:cs typeface="Consolas" pitchFamily="34" charset="-120"/>
              </a:rPr>
              <a:t>class HelloJava is public,</a:t>
            </a:r>
          </a:p>
          <a:p>
            <a:pPr marL="0" indent="0">
              <a:lnSpc>
                <a:spcPts val="1050"/>
              </a:lnSpc>
              <a:buNone/>
            </a:pPr>
            <a:r>
              <a:rPr lang="en-US" sz="1050">
                <a:solidFill>
                  <a:srgbClr val="1F3557"/>
                </a:solidFill>
                <a:latin typeface="Consolas" pitchFamily="34" charset="0"/>
                <a:ea typeface="Consolas" pitchFamily="34" charset="-122"/>
                <a:cs typeface="Consolas" pitchFamily="34" charset="-120"/>
              </a:rPr>
              <a:t>should be in HelloJava.java</a:t>
            </a:r>
          </a:p>
        </p:txBody>
      </p:sp>
      <p:sp>
        <p:nvSpPr>
          <p:cNvPr id="121" name="T121"/>
          <p:cNvSpPr/>
          <p:nvPr/>
        </p:nvSpPr>
        <p:spPr>
          <a:xfrm>
            <a:off x="6428640" y="3020200"/>
            <a:ext cx="2260000" cy="420000"/>
          </a:xfrm>
          <a:prstGeom prst="rect">
            <a:avLst/>
          </a:prstGeom>
          <a:noFill/>
          <a:ln/>
        </p:spPr>
        <p:txBody>
          <a:bodyPr wrap="square" lIns="0" tIns="0" rIns="0" bIns="0" rtlCol="0" anchor="t"/>
          <a:lstStyle/>
          <a:p>
            <a:pPr marL="0" indent="0">
              <a:lnSpc>
                <a:spcPts val="1100"/>
              </a:lnSpc>
              <a:buNone/>
            </a:pPr>
            <a:r>
              <a:rPr lang="en-US" sz="1150">
                <a:solidFill>
                  <a:srgbClr val="6B6255"/>
                </a:solidFill>
                <a:latin typeface="Segoe UI" pitchFamily="34" charset="0"/>
                <a:ea typeface="Segoe UI" pitchFamily="34" charset="-122"/>
                <a:cs typeface="Segoe UI" pitchFamily="34" charset="-120"/>
              </a:rPr>
              <a:t>The file name and the public class name must match, character for character.</a:t>
            </a:r>
          </a:p>
        </p:txBody>
      </p:sp>
      <p:sp>
        <p:nvSpPr>
          <p:cNvPr id="122" name="S122"/>
          <p:cNvSpPr/>
          <p:nvPr/>
        </p:nvSpPr>
        <p:spPr>
          <a:xfrm>
            <a:off x="548640" y="3700200"/>
            <a:ext cx="8340000" cy="700000"/>
          </a:xfrm>
          <a:prstGeom prst="roundRect">
            <a:avLst>
              <a:gd name="adj" fmla="val 3175"/>
            </a:avLst>
          </a:prstGeom>
          <a:solidFill>
            <a:srgbClr val="EFE7D6"/>
          </a:solidFill>
          <a:ln/>
        </p:spPr>
        <p:txBody>
          <a:bodyPr/>
          <a:lstStyle/>
          <a:p>
            <a:endParaRPr lang="en-US"/>
          </a:p>
        </p:txBody>
      </p:sp>
      <p:sp>
        <p:nvSpPr>
          <p:cNvPr id="123" name="T123"/>
          <p:cNvSpPr/>
          <p:nvPr/>
        </p:nvSpPr>
        <p:spPr>
          <a:xfrm>
            <a:off x="798640" y="3850200"/>
            <a:ext cx="7840000" cy="200000"/>
          </a:xfrm>
          <a:prstGeom prst="rect">
            <a:avLst/>
          </a:prstGeom>
          <a:noFill/>
          <a:ln/>
        </p:spPr>
        <p:txBody>
          <a:bodyPr wrap="square" lIns="0" tIns="0" rIns="0" bIns="0" rtlCol="0" anchor="t"/>
          <a:lstStyle/>
          <a:p>
            <a:pPr marL="0" indent="0">
              <a:lnSpc>
                <a:spcPts val="1000"/>
              </a:lnSpc>
              <a:buNone/>
            </a:pPr>
            <a:r>
              <a:rPr lang="en-US" sz="1120" b="1" spc="150">
                <a:solidFill>
                  <a:srgbClr val="A9552F"/>
                </a:solidFill>
                <a:latin typeface="Segoe UI" pitchFamily="34" charset="0"/>
                <a:ea typeface="Segoe UI" pitchFamily="34" charset="-122"/>
                <a:cs typeface="Segoe UI" pitchFamily="34" charset="-120"/>
              </a:rPr>
              <a:t>THE LOOP, EVERY TIME</a:t>
            </a:r>
          </a:p>
        </p:txBody>
      </p:sp>
      <p:sp>
        <p:nvSpPr>
          <p:cNvPr id="124" name="T124"/>
          <p:cNvSpPr/>
          <p:nvPr/>
        </p:nvSpPr>
        <p:spPr>
          <a:xfrm>
            <a:off x="798640" y="4100200"/>
            <a:ext cx="7840000" cy="240000"/>
          </a:xfrm>
          <a:prstGeom prst="rect">
            <a:avLst/>
          </a:prstGeom>
          <a:noFill/>
          <a:ln/>
        </p:spPr>
        <p:txBody>
          <a:bodyPr wrap="square" lIns="0" tIns="0" rIns="0" bIns="0" rtlCol="0" anchor="t"/>
          <a:lstStyle/>
          <a:p>
            <a:pPr marL="0" indent="0">
              <a:lnSpc>
                <a:spcPts val="1200"/>
              </a:lnSpc>
              <a:buNone/>
            </a:pPr>
            <a:r>
              <a:rPr lang="en-US" sz="1250" b="1">
                <a:solidFill>
                  <a:srgbClr val="1F3557"/>
                </a:solidFill>
                <a:latin typeface="Segoe UI" pitchFamily="34" charset="0"/>
                <a:ea typeface="Segoe UI" pitchFamily="34" charset="-122"/>
                <a:cs typeface="Segoe UI" pitchFamily="34" charset="-120"/>
              </a:rPr>
              <a:t>Read the message  →  find the line number  →  change that one line  →  compile again.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
    <p:bg>
      <p:bgPr>
        <a:solidFill>
          <a:srgbClr val="F5EFE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EFE2"/>
          </a:solidFill>
          <a:ln w="3175">
            <a:solidFill>
              <a:srgbClr val="F5EFE2"/>
            </a:solidFill>
            <a:prstDash val="solid"/>
          </a:ln>
        </p:spPr>
        <p:txBody>
          <a:bodyPr/>
          <a:lstStyle/>
          <a:p>
            <a:endParaRPr lang="en-US"/>
          </a:p>
        </p:txBody>
      </p:sp>
      <p:sp>
        <p:nvSpPr>
          <p:cNvPr id="3" name="Text 1"/>
          <p:cNvSpPr/>
          <p:nvPr/>
        </p:nvSpPr>
        <p:spPr>
          <a:xfrm>
            <a:off x="548640" y="384048"/>
            <a:ext cx="5943600" cy="274320"/>
          </a:xfrm>
          <a:prstGeom prst="rect">
            <a:avLst/>
          </a:prstGeom>
          <a:noFill/>
          <a:ln/>
        </p:spPr>
        <p:txBody>
          <a:bodyPr wrap="square" lIns="0" tIns="0" rIns="0" bIns="0" rtlCol="0" anchor="ctr"/>
          <a:lstStyle/>
          <a:p>
            <a:pPr marL="0" indent="0">
              <a:buNone/>
            </a:pPr>
            <a:r>
              <a:rPr lang="en-US" sz="1300" b="1" kern="0" spc="300">
                <a:solidFill>
                  <a:srgbClr val="A9552F"/>
                </a:solidFill>
                <a:latin typeface="Segoe UI" pitchFamily="34" charset="0"/>
                <a:ea typeface="Segoe UI" pitchFamily="34" charset="-122"/>
                <a:cs typeface="Segoe UI" pitchFamily="34" charset="-120"/>
              </a:rPr>
              <a:t>BREAK-AND-REPAIR LAB</a:t>
            </a:r>
            <a:endParaRPr lang="en-US" sz="1300"/>
          </a:p>
        </p:txBody>
      </p:sp>
      <p:sp>
        <p:nvSpPr>
          <p:cNvPr id="4" name="Text 2"/>
          <p:cNvSpPr/>
          <p:nvPr/>
        </p:nvSpPr>
        <p:spPr>
          <a:xfrm>
            <a:off x="530352" y="676656"/>
            <a:ext cx="7200900" cy="548640"/>
          </a:xfrm>
          <a:prstGeom prst="rect">
            <a:avLst/>
          </a:prstGeom>
          <a:noFill/>
          <a:ln/>
        </p:spPr>
        <p:txBody>
          <a:bodyPr wrap="square" lIns="0" tIns="0" rIns="0" bIns="0" rtlCol="0" anchor="ctr"/>
          <a:lstStyle/>
          <a:p>
            <a:pPr marL="0" indent="0">
              <a:buNone/>
            </a:pPr>
            <a:r>
              <a:rPr lang="en-US" sz="2600" b="1">
                <a:solidFill>
                  <a:srgbClr val="1F3557"/>
                </a:solidFill>
                <a:latin typeface="Georgia" pitchFamily="34" charset="0"/>
                <a:ea typeface="Georgia" pitchFamily="34" charset="-122"/>
                <a:cs typeface="Georgia" pitchFamily="34" charset="-120"/>
              </a:rPr>
              <a:t>Break HelloJava three times</a:t>
            </a:r>
            <a:endParaRPr lang="en-US" sz="3200" dirty="0"/>
          </a:p>
        </p:txBody>
      </p:sp>
      <p:sp>
        <p:nvSpPr>
          <p:cNvPr id="5" name="Shape 3"/>
          <p:cNvSpPr/>
          <p:nvPr/>
        </p:nvSpPr>
        <p:spPr>
          <a:xfrm>
            <a:off x="548640" y="1316736"/>
            <a:ext cx="1280160" cy="0"/>
          </a:xfrm>
          <a:prstGeom prst="line">
            <a:avLst/>
          </a:prstGeom>
          <a:noFill/>
          <a:ln w="28575">
            <a:solidFill>
              <a:srgbClr val="A9552F"/>
            </a:solidFill>
            <a:prstDash val="solid"/>
          </a:ln>
        </p:spPr>
        <p:txBody>
          <a:bodyPr/>
          <a:lstStyle/>
          <a:p>
            <a:endParaRPr lang="en-US"/>
          </a:p>
        </p:txBody>
      </p:sp>
      <p:sp>
        <p:nvSpPr>
          <p:cNvPr id="6" name="Shape 4"/>
          <p:cNvSpPr/>
          <p:nvPr/>
        </p:nvSpPr>
        <p:spPr>
          <a:xfrm>
            <a:off x="548640" y="1651000"/>
            <a:ext cx="8046720" cy="2819400"/>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7" name="Text 5"/>
          <p:cNvSpPr/>
          <p:nvPr/>
        </p:nvSpPr>
        <p:spPr>
          <a:xfrm>
            <a:off x="1028246" y="1866900"/>
            <a:ext cx="7087508" cy="279400"/>
          </a:xfrm>
          <a:prstGeom prst="rect">
            <a:avLst/>
          </a:prstGeom>
          <a:noFill/>
          <a:ln/>
        </p:spPr>
        <p:txBody>
          <a:bodyPr wrap="square" lIns="0" tIns="0" rIns="0" bIns="0" rtlCol="0" anchor="ctr"/>
          <a:lstStyle/>
          <a:p>
            <a:pPr marL="0" indent="0">
              <a:buNone/>
            </a:pPr>
            <a:r>
              <a:rPr lang="en-US" sz="1650" b="1">
                <a:solidFill>
                  <a:srgbClr val="1F3557"/>
                </a:solidFill>
                <a:latin typeface="Georgia" pitchFamily="34" charset="0"/>
                <a:ea typeface="Georgia" pitchFamily="34" charset="-122"/>
                <a:cs typeface="Georgia" pitchFamily="34" charset="-120"/>
              </a:rPr>
              <a:t>Break HelloJava three times</a:t>
            </a:r>
            <a:endParaRPr lang="en-US" sz="1650"/>
          </a:p>
        </p:txBody>
      </p:sp>
      <p:sp>
        <p:nvSpPr>
          <p:cNvPr id="8" name="Text 6"/>
          <p:cNvSpPr/>
          <p:nvPr/>
        </p:nvSpPr>
        <p:spPr>
          <a:xfrm>
            <a:off x="1028246" y="2235200"/>
            <a:ext cx="7087508" cy="2159000"/>
          </a:xfrm>
          <a:prstGeom prst="rect">
            <a:avLst/>
          </a:prstGeom>
          <a:noFill/>
          <a:ln/>
        </p:spPr>
        <p:txBody>
          <a:bodyPr wrap="square" lIns="0" tIns="0" rIns="0" bIns="0" rtlCol="0" anchor="t"/>
          <a:lstStyle/>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A — Delete the semicolon after println, save, compile. Look for ';' expected.</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B — Change System to system. Expect cannot find symbol; Java is case-sensitive.</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C — Rename the class to HelloJAVA but leave the file HelloJava.java.</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Restore one thing at a time and recompile after each repair.</a:t>
            </a:r>
            <a:endParaRPr lang="en-US" sz="1350"/>
          </a:p>
        </p:txBody>
      </p:sp>
    </p:spTree>
    <p:extLst>
      <p:ext uri="{BB962C8B-B14F-4D97-AF65-F5344CB8AC3E}">
        <p14:creationId xmlns:p14="http://schemas.microsoft.com/office/powerpoint/2010/main" val="3799732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
    <p:bg>
      <p:bgPr>
        <a:solidFill>
          <a:srgbClr val="F5EFE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EFE2"/>
          </a:solidFill>
          <a:ln w="3175">
            <a:solidFill>
              <a:srgbClr val="F5EFE2"/>
            </a:solidFill>
            <a:prstDash val="solid"/>
          </a:ln>
        </p:spPr>
        <p:txBody>
          <a:bodyPr/>
          <a:lstStyle/>
          <a:p>
            <a:endParaRPr lang="en-US"/>
          </a:p>
        </p:txBody>
      </p:sp>
      <p:sp>
        <p:nvSpPr>
          <p:cNvPr id="3" name="Text 1"/>
          <p:cNvSpPr/>
          <p:nvPr/>
        </p:nvSpPr>
        <p:spPr>
          <a:xfrm>
            <a:off x="548640" y="384048"/>
            <a:ext cx="5943600" cy="274320"/>
          </a:xfrm>
          <a:prstGeom prst="rect">
            <a:avLst/>
          </a:prstGeom>
          <a:noFill/>
          <a:ln/>
        </p:spPr>
        <p:txBody>
          <a:bodyPr wrap="square" lIns="0" tIns="0" rIns="0" bIns="0" rtlCol="0" anchor="ctr"/>
          <a:lstStyle/>
          <a:p>
            <a:pPr marL="0" indent="0">
              <a:buNone/>
            </a:pPr>
            <a:r>
              <a:rPr lang="en-US" sz="1300" b="1" kern="0" spc="300">
                <a:solidFill>
                  <a:srgbClr val="A9552F"/>
                </a:solidFill>
                <a:latin typeface="Segoe UI" pitchFamily="34" charset="0"/>
                <a:ea typeface="Segoe UI" pitchFamily="34" charset="-122"/>
                <a:cs typeface="Segoe UI" pitchFamily="34" charset="-120"/>
              </a:rPr>
              <a:t>BREAK-AND-REPAIR LAB</a:t>
            </a:r>
            <a:endParaRPr lang="en-US" sz="1300"/>
          </a:p>
        </p:txBody>
      </p:sp>
      <p:sp>
        <p:nvSpPr>
          <p:cNvPr id="4" name="Text 2"/>
          <p:cNvSpPr/>
          <p:nvPr/>
        </p:nvSpPr>
        <p:spPr>
          <a:xfrm>
            <a:off x="530352" y="676656"/>
            <a:ext cx="7200900" cy="548640"/>
          </a:xfrm>
          <a:prstGeom prst="rect">
            <a:avLst/>
          </a:prstGeom>
          <a:noFill/>
          <a:ln/>
        </p:spPr>
        <p:txBody>
          <a:bodyPr wrap="square" lIns="0" tIns="0" rIns="0" bIns="0" rtlCol="0" anchor="ctr"/>
          <a:lstStyle/>
          <a:p>
            <a:pPr marL="0" indent="0">
              <a:buNone/>
            </a:pPr>
            <a:r>
              <a:rPr lang="en-US" sz="2600" b="1">
                <a:solidFill>
                  <a:srgbClr val="1F3557"/>
                </a:solidFill>
                <a:latin typeface="Georgia" pitchFamily="34" charset="0"/>
                <a:ea typeface="Georgia" pitchFamily="34" charset="-122"/>
                <a:cs typeface="Georgia" pitchFamily="34" charset="-120"/>
              </a:rPr>
              <a:t>The five-step repair loop</a:t>
            </a:r>
            <a:endParaRPr lang="en-US" sz="3200"/>
          </a:p>
        </p:txBody>
      </p:sp>
      <p:sp>
        <p:nvSpPr>
          <p:cNvPr id="5" name="Shape 3"/>
          <p:cNvSpPr/>
          <p:nvPr/>
        </p:nvSpPr>
        <p:spPr>
          <a:xfrm>
            <a:off x="548640" y="1316736"/>
            <a:ext cx="1280160" cy="0"/>
          </a:xfrm>
          <a:prstGeom prst="line">
            <a:avLst/>
          </a:prstGeom>
          <a:noFill/>
          <a:ln w="28575">
            <a:solidFill>
              <a:srgbClr val="A9552F"/>
            </a:solidFill>
            <a:prstDash val="solid"/>
          </a:ln>
        </p:spPr>
        <p:txBody>
          <a:bodyPr/>
          <a:lstStyle/>
          <a:p>
            <a:endParaRPr lang="en-US"/>
          </a:p>
        </p:txBody>
      </p:sp>
      <p:sp>
        <p:nvSpPr>
          <p:cNvPr id="9" name="Shape 7"/>
          <p:cNvSpPr/>
          <p:nvPr/>
        </p:nvSpPr>
        <p:spPr>
          <a:xfrm>
            <a:off x="548640" y="1651000"/>
            <a:ext cx="8046720" cy="2819400"/>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10" name="Text 8"/>
          <p:cNvSpPr/>
          <p:nvPr/>
        </p:nvSpPr>
        <p:spPr>
          <a:xfrm>
            <a:off x="1028246" y="1866900"/>
            <a:ext cx="7087508" cy="279400"/>
          </a:xfrm>
          <a:prstGeom prst="rect">
            <a:avLst/>
          </a:prstGeom>
          <a:noFill/>
          <a:ln/>
        </p:spPr>
        <p:txBody>
          <a:bodyPr wrap="square" lIns="0" tIns="0" rIns="0" bIns="0" rtlCol="0" anchor="ctr"/>
          <a:lstStyle/>
          <a:p>
            <a:pPr marL="0" indent="0">
              <a:buNone/>
            </a:pPr>
            <a:r>
              <a:rPr lang="en-US" sz="1650" b="1">
                <a:solidFill>
                  <a:srgbClr val="1F3557"/>
                </a:solidFill>
                <a:latin typeface="Georgia" pitchFamily="34" charset="0"/>
                <a:ea typeface="Georgia" pitchFamily="34" charset="-122"/>
                <a:cs typeface="Georgia" pitchFamily="34" charset="-120"/>
              </a:rPr>
              <a:t>The five-step repair loop</a:t>
            </a:r>
            <a:endParaRPr lang="en-US" sz="1650"/>
          </a:p>
        </p:txBody>
      </p:sp>
      <p:sp>
        <p:nvSpPr>
          <p:cNvPr id="11" name="Text 9"/>
          <p:cNvSpPr/>
          <p:nvPr/>
        </p:nvSpPr>
        <p:spPr>
          <a:xfrm>
            <a:off x="1028246" y="2235200"/>
            <a:ext cx="7087508" cy="2159000"/>
          </a:xfrm>
          <a:prstGeom prst="rect">
            <a:avLst/>
          </a:prstGeom>
          <a:noFill/>
          <a:ln/>
        </p:spPr>
        <p:txBody>
          <a:bodyPr wrap="square" lIns="0" tIns="0" rIns="0" bIns="0" rtlCol="0" anchor="t"/>
          <a:lstStyle/>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Name the stage: did it fail to compile, or fail to run?</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Read the first useful message only.</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Locate the file and line number it names.</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Change one thing — spelling, case, quotes, braces, semicolon.</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Save and run the same command again.</a:t>
            </a:r>
            <a:endParaRPr lang="en-US" sz="1350"/>
          </a:p>
        </p:txBody>
      </p:sp>
    </p:spTree>
    <p:extLst>
      <p:ext uri="{BB962C8B-B14F-4D97-AF65-F5344CB8AC3E}">
        <p14:creationId xmlns:p14="http://schemas.microsoft.com/office/powerpoint/2010/main" val="1294347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
    <p:bg>
      <p:bgPr>
        <a:solidFill>
          <a:srgbClr val="F5EFE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EFE2"/>
          </a:solidFill>
          <a:ln w="3175">
            <a:solidFill>
              <a:srgbClr val="F5EFE2"/>
            </a:solidFill>
            <a:prstDash val="solid"/>
          </a:ln>
        </p:spPr>
        <p:txBody>
          <a:bodyPr/>
          <a:lstStyle/>
          <a:p>
            <a:endParaRPr lang="en-US"/>
          </a:p>
        </p:txBody>
      </p:sp>
      <p:sp>
        <p:nvSpPr>
          <p:cNvPr id="3" name="Text 1"/>
          <p:cNvSpPr/>
          <p:nvPr/>
        </p:nvSpPr>
        <p:spPr>
          <a:xfrm>
            <a:off x="548640" y="384048"/>
            <a:ext cx="5943600" cy="274320"/>
          </a:xfrm>
          <a:prstGeom prst="rect">
            <a:avLst/>
          </a:prstGeom>
          <a:noFill/>
          <a:ln/>
        </p:spPr>
        <p:txBody>
          <a:bodyPr wrap="square" lIns="0" tIns="0" rIns="0" bIns="0" rtlCol="0" anchor="ctr"/>
          <a:lstStyle/>
          <a:p>
            <a:pPr marL="0" indent="0">
              <a:buNone/>
            </a:pPr>
            <a:r>
              <a:rPr lang="en-US" sz="1300" b="1" kern="0" spc="300">
                <a:solidFill>
                  <a:srgbClr val="A9552F"/>
                </a:solidFill>
                <a:latin typeface="Segoe UI" pitchFamily="34" charset="0"/>
                <a:ea typeface="Segoe UI" pitchFamily="34" charset="-122"/>
                <a:cs typeface="Segoe UI" pitchFamily="34" charset="-120"/>
              </a:rPr>
              <a:t>QUESTIONS EVERY CLASS ASKS</a:t>
            </a:r>
            <a:endParaRPr lang="en-US" sz="1300"/>
          </a:p>
        </p:txBody>
      </p:sp>
      <p:sp>
        <p:nvSpPr>
          <p:cNvPr id="4" name="Text 2"/>
          <p:cNvSpPr/>
          <p:nvPr/>
        </p:nvSpPr>
        <p:spPr>
          <a:xfrm>
            <a:off x="530352" y="676656"/>
            <a:ext cx="7200900" cy="548640"/>
          </a:xfrm>
          <a:prstGeom prst="rect">
            <a:avLst/>
          </a:prstGeom>
          <a:noFill/>
          <a:ln/>
        </p:spPr>
        <p:txBody>
          <a:bodyPr wrap="square" lIns="0" tIns="0" rIns="0" bIns="0" rtlCol="0" anchor="ctr"/>
          <a:lstStyle/>
          <a:p>
            <a:pPr marL="0" indent="0">
              <a:buNone/>
            </a:pPr>
            <a:r>
              <a:rPr lang="en-US" sz="2600" b="1" dirty="0">
                <a:solidFill>
                  <a:srgbClr val="1F3557"/>
                </a:solidFill>
                <a:latin typeface="Georgia" pitchFamily="34" charset="0"/>
                <a:ea typeface="Georgia" pitchFamily="34" charset="-122"/>
                <a:cs typeface="Georgia" pitchFamily="34" charset="-120"/>
              </a:rPr>
              <a:t>Answers </a:t>
            </a:r>
            <a:r>
              <a:rPr lang="en-US" sz="2600" b="1">
                <a:solidFill>
                  <a:srgbClr val="1F3557"/>
                </a:solidFill>
                <a:latin typeface="Georgia" pitchFamily="34" charset="0"/>
                <a:ea typeface="Georgia" pitchFamily="34" charset="-122"/>
                <a:cs typeface="Georgia" pitchFamily="34" charset="-120"/>
              </a:rPr>
              <a:t>about the code</a:t>
            </a:r>
            <a:endParaRPr lang="en-US" sz="3200" dirty="0"/>
          </a:p>
        </p:txBody>
      </p:sp>
      <p:sp>
        <p:nvSpPr>
          <p:cNvPr id="5" name="Shape 3"/>
          <p:cNvSpPr/>
          <p:nvPr/>
        </p:nvSpPr>
        <p:spPr>
          <a:xfrm>
            <a:off x="548640" y="1316736"/>
            <a:ext cx="1280160" cy="0"/>
          </a:xfrm>
          <a:prstGeom prst="line">
            <a:avLst/>
          </a:prstGeom>
          <a:noFill/>
          <a:ln w="28575">
            <a:solidFill>
              <a:srgbClr val="A9552F"/>
            </a:solidFill>
            <a:prstDash val="solid"/>
          </a:ln>
        </p:spPr>
        <p:txBody>
          <a:bodyPr/>
          <a:lstStyle/>
          <a:p>
            <a:endParaRPr lang="en-US"/>
          </a:p>
        </p:txBody>
      </p:sp>
      <p:sp>
        <p:nvSpPr>
          <p:cNvPr id="6" name="Shape 4"/>
          <p:cNvSpPr/>
          <p:nvPr/>
        </p:nvSpPr>
        <p:spPr>
          <a:xfrm>
            <a:off x="548640" y="1651000"/>
            <a:ext cx="8046720" cy="3213202"/>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7" name="Text 5"/>
          <p:cNvSpPr/>
          <p:nvPr/>
        </p:nvSpPr>
        <p:spPr>
          <a:xfrm>
            <a:off x="1028246" y="1866900"/>
            <a:ext cx="7087508" cy="279400"/>
          </a:xfrm>
          <a:prstGeom prst="rect">
            <a:avLst/>
          </a:prstGeom>
          <a:noFill/>
          <a:ln/>
        </p:spPr>
        <p:txBody>
          <a:bodyPr wrap="square" lIns="0" tIns="0" rIns="0" bIns="0" rtlCol="0" anchor="ctr"/>
          <a:lstStyle/>
          <a:p>
            <a:pPr marL="0" indent="0">
              <a:buNone/>
            </a:pPr>
            <a:r>
              <a:rPr lang="en-US" sz="1650" b="1">
                <a:solidFill>
                  <a:srgbClr val="1F3557"/>
                </a:solidFill>
                <a:latin typeface="Georgia" pitchFamily="34" charset="0"/>
                <a:ea typeface="Georgia" pitchFamily="34" charset="-122"/>
                <a:cs typeface="Georgia" pitchFamily="34" charset="-120"/>
              </a:rPr>
              <a:t>About the code</a:t>
            </a:r>
            <a:endParaRPr lang="en-US" sz="1650"/>
          </a:p>
        </p:txBody>
      </p:sp>
      <p:sp>
        <p:nvSpPr>
          <p:cNvPr id="8" name="Text 6"/>
          <p:cNvSpPr/>
          <p:nvPr/>
        </p:nvSpPr>
        <p:spPr>
          <a:xfrm>
            <a:off x="1028246" y="2235200"/>
            <a:ext cx="7087508" cy="2629814"/>
          </a:xfrm>
          <a:prstGeom prst="rect">
            <a:avLst/>
          </a:prstGeom>
          <a:noFill/>
          <a:ln/>
        </p:spPr>
        <p:txBody>
          <a:bodyPr wrap="square" lIns="0" tIns="0" rIns="0" bIns="0" rtlCol="0" anchor="t"/>
          <a:lstStyle/>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Why quotes? They mark a String literal — text written into the program.</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Why is 45 not quoted? Without quotes it is an int; "45" would be text.</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Why capital String but lowercase int? String is a class; int is a keyword.</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Why does + sometimes add? Two numbers add; if a String joins in, it becomes text.</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Why must the class name match the file name? Java requires it for a public class.</a:t>
            </a:r>
            <a:endParaRPr lang="en-US" sz="1350"/>
          </a:p>
        </p:txBody>
      </p:sp>
    </p:spTree>
    <p:extLst>
      <p:ext uri="{BB962C8B-B14F-4D97-AF65-F5344CB8AC3E}">
        <p14:creationId xmlns:p14="http://schemas.microsoft.com/office/powerpoint/2010/main" val="76452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
    <p:bg>
      <p:bgPr>
        <a:solidFill>
          <a:srgbClr val="F5EFE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EFE2"/>
          </a:solidFill>
          <a:ln w="3175">
            <a:solidFill>
              <a:srgbClr val="F5EFE2"/>
            </a:solidFill>
            <a:prstDash val="solid"/>
          </a:ln>
        </p:spPr>
        <p:txBody>
          <a:bodyPr/>
          <a:lstStyle/>
          <a:p>
            <a:endParaRPr lang="en-US"/>
          </a:p>
        </p:txBody>
      </p:sp>
      <p:sp>
        <p:nvSpPr>
          <p:cNvPr id="3" name="Text 1"/>
          <p:cNvSpPr/>
          <p:nvPr/>
        </p:nvSpPr>
        <p:spPr>
          <a:xfrm>
            <a:off x="548640" y="384048"/>
            <a:ext cx="5943600" cy="274320"/>
          </a:xfrm>
          <a:prstGeom prst="rect">
            <a:avLst/>
          </a:prstGeom>
          <a:noFill/>
          <a:ln/>
        </p:spPr>
        <p:txBody>
          <a:bodyPr wrap="square" lIns="0" tIns="0" rIns="0" bIns="0" rtlCol="0" anchor="ctr"/>
          <a:lstStyle/>
          <a:p>
            <a:pPr marL="0" indent="0">
              <a:buNone/>
            </a:pPr>
            <a:r>
              <a:rPr lang="en-US" sz="1300" b="1" kern="0" spc="300">
                <a:solidFill>
                  <a:srgbClr val="A9552F"/>
                </a:solidFill>
                <a:latin typeface="Segoe UI" pitchFamily="34" charset="0"/>
                <a:ea typeface="Segoe UI" pitchFamily="34" charset="-122"/>
                <a:cs typeface="Segoe UI" pitchFamily="34" charset="-120"/>
              </a:rPr>
              <a:t>QUESTIONS EVERY CLASS ASKS</a:t>
            </a:r>
            <a:endParaRPr lang="en-US" sz="1300"/>
          </a:p>
        </p:txBody>
      </p:sp>
      <p:sp>
        <p:nvSpPr>
          <p:cNvPr id="4" name="Text 2"/>
          <p:cNvSpPr/>
          <p:nvPr/>
        </p:nvSpPr>
        <p:spPr>
          <a:xfrm>
            <a:off x="530352" y="676656"/>
            <a:ext cx="7200900" cy="548640"/>
          </a:xfrm>
          <a:prstGeom prst="rect">
            <a:avLst/>
          </a:prstGeom>
          <a:noFill/>
          <a:ln/>
        </p:spPr>
        <p:txBody>
          <a:bodyPr wrap="square" lIns="0" tIns="0" rIns="0" bIns="0" rtlCol="0" anchor="ctr"/>
          <a:lstStyle/>
          <a:p>
            <a:pPr marL="0" indent="0">
              <a:buNone/>
            </a:pPr>
            <a:r>
              <a:rPr lang="en-US" sz="2600" b="1">
                <a:solidFill>
                  <a:srgbClr val="1F3557"/>
                </a:solidFill>
                <a:latin typeface="Georgia" pitchFamily="34" charset="0"/>
                <a:ea typeface="Georgia" pitchFamily="34" charset="-122"/>
                <a:cs typeface="Georgia" pitchFamily="34" charset="-120"/>
              </a:rPr>
              <a:t>Answers about the tools</a:t>
            </a:r>
            <a:endParaRPr lang="en-US" sz="3200"/>
          </a:p>
        </p:txBody>
      </p:sp>
      <p:sp>
        <p:nvSpPr>
          <p:cNvPr id="5" name="Shape 3"/>
          <p:cNvSpPr/>
          <p:nvPr/>
        </p:nvSpPr>
        <p:spPr>
          <a:xfrm>
            <a:off x="548640" y="1316736"/>
            <a:ext cx="1280160" cy="0"/>
          </a:xfrm>
          <a:prstGeom prst="line">
            <a:avLst/>
          </a:prstGeom>
          <a:noFill/>
          <a:ln w="28575">
            <a:solidFill>
              <a:srgbClr val="A9552F"/>
            </a:solidFill>
            <a:prstDash val="solid"/>
          </a:ln>
        </p:spPr>
        <p:txBody>
          <a:bodyPr/>
          <a:lstStyle/>
          <a:p>
            <a:endParaRPr lang="en-US"/>
          </a:p>
        </p:txBody>
      </p:sp>
      <p:sp>
        <p:nvSpPr>
          <p:cNvPr id="9" name="Shape 7"/>
          <p:cNvSpPr/>
          <p:nvPr/>
        </p:nvSpPr>
        <p:spPr>
          <a:xfrm>
            <a:off x="548640" y="1651000"/>
            <a:ext cx="8046720" cy="3213202"/>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10" name="Text 8"/>
          <p:cNvSpPr/>
          <p:nvPr/>
        </p:nvSpPr>
        <p:spPr>
          <a:xfrm>
            <a:off x="1028246" y="1866900"/>
            <a:ext cx="7087508" cy="279400"/>
          </a:xfrm>
          <a:prstGeom prst="rect">
            <a:avLst/>
          </a:prstGeom>
          <a:noFill/>
          <a:ln/>
        </p:spPr>
        <p:txBody>
          <a:bodyPr wrap="square" lIns="0" tIns="0" rIns="0" bIns="0" rtlCol="0" anchor="ctr"/>
          <a:lstStyle/>
          <a:p>
            <a:pPr marL="0" indent="0">
              <a:buNone/>
            </a:pPr>
            <a:r>
              <a:rPr lang="en-US" sz="1650" b="1">
                <a:solidFill>
                  <a:srgbClr val="1F3557"/>
                </a:solidFill>
                <a:latin typeface="Georgia" pitchFamily="34" charset="0"/>
                <a:ea typeface="Georgia" pitchFamily="34" charset="-122"/>
                <a:cs typeface="Georgia" pitchFamily="34" charset="-120"/>
              </a:rPr>
              <a:t>About the tools</a:t>
            </a:r>
            <a:endParaRPr lang="en-US" sz="1650"/>
          </a:p>
        </p:txBody>
      </p:sp>
      <p:sp>
        <p:nvSpPr>
          <p:cNvPr id="11" name="Text 9"/>
          <p:cNvSpPr/>
          <p:nvPr/>
        </p:nvSpPr>
        <p:spPr>
          <a:xfrm>
            <a:off x="1028246" y="2235200"/>
            <a:ext cx="7087508" cy="2629814"/>
          </a:xfrm>
          <a:prstGeom prst="rect">
            <a:avLst/>
          </a:prstGeom>
          <a:noFill/>
          <a:ln/>
        </p:spPr>
        <p:txBody>
          <a:bodyPr wrap="square" lIns="0" tIns="0" rIns="0" bIns="0" rtlCol="0" anchor="t"/>
          <a:lstStyle/>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Why did nothing appear after javac? Success is quiet — look for the .class file.</a:t>
            </a:r>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Why do I have to save first? javac reads the file on disk, not your editor.</a:t>
            </a:r>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What is a compiler error vs a runtime error? One stops javac; one stops java.</a:t>
            </a:r>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What is the difference between the JDK and the JVM? The JDK builds; the JVM runs.</a:t>
            </a:r>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Why does VS Code not need javac? The Run button does both steps for you.</a:t>
            </a:r>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javac takes the file name with .java; java takes the class name with nothing.</a:t>
            </a:r>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Can one file hold two classes? Yes, but only one public class, matching the file.</a:t>
            </a:r>
            <a:endParaRPr lang="en-US" sz="1350"/>
          </a:p>
        </p:txBody>
      </p:sp>
    </p:spTree>
    <p:extLst>
      <p:ext uri="{BB962C8B-B14F-4D97-AF65-F5344CB8AC3E}">
        <p14:creationId xmlns:p14="http://schemas.microsoft.com/office/powerpoint/2010/main" val="10937789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
    <p:bg>
      <p:bgPr>
        <a:solidFill>
          <a:srgbClr val="F5EFE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EFE2"/>
          </a:solidFill>
          <a:ln w="3175">
            <a:solidFill>
              <a:srgbClr val="F5EFE2"/>
            </a:solidFill>
            <a:prstDash val="solid"/>
          </a:ln>
        </p:spPr>
        <p:txBody>
          <a:bodyPr/>
          <a:lstStyle/>
          <a:p>
            <a:endParaRPr lang="en-US"/>
          </a:p>
        </p:txBody>
      </p:sp>
      <p:sp>
        <p:nvSpPr>
          <p:cNvPr id="3" name="Text 1"/>
          <p:cNvSpPr/>
          <p:nvPr/>
        </p:nvSpPr>
        <p:spPr>
          <a:xfrm>
            <a:off x="548640" y="384048"/>
            <a:ext cx="5943600" cy="274320"/>
          </a:xfrm>
          <a:prstGeom prst="rect">
            <a:avLst/>
          </a:prstGeom>
          <a:noFill/>
          <a:ln/>
        </p:spPr>
        <p:txBody>
          <a:bodyPr wrap="square" lIns="0" tIns="0" rIns="0" bIns="0" rtlCol="0" anchor="ctr"/>
          <a:lstStyle/>
          <a:p>
            <a:pPr marL="0" indent="0">
              <a:buNone/>
            </a:pPr>
            <a:r>
              <a:rPr lang="en-US" sz="1300" b="1" kern="0" spc="300">
                <a:solidFill>
                  <a:srgbClr val="A9552F"/>
                </a:solidFill>
                <a:latin typeface="Segoe UI" pitchFamily="34" charset="0"/>
                <a:ea typeface="Segoe UI" pitchFamily="34" charset="-122"/>
                <a:cs typeface="Segoe UI" pitchFamily="34" charset="-120"/>
              </a:rPr>
              <a:t>FIX IT YOURSELF FIRST</a:t>
            </a:r>
            <a:endParaRPr lang="en-US" sz="1300"/>
          </a:p>
        </p:txBody>
      </p:sp>
      <p:sp>
        <p:nvSpPr>
          <p:cNvPr id="4" name="Text 2"/>
          <p:cNvSpPr/>
          <p:nvPr/>
        </p:nvSpPr>
        <p:spPr>
          <a:xfrm>
            <a:off x="530352" y="676656"/>
            <a:ext cx="7200900" cy="548640"/>
          </a:xfrm>
          <a:prstGeom prst="rect">
            <a:avLst/>
          </a:prstGeom>
          <a:noFill/>
          <a:ln/>
        </p:spPr>
        <p:txBody>
          <a:bodyPr wrap="square" lIns="0" tIns="0" rIns="0" bIns="0" rtlCol="0" anchor="ctr"/>
          <a:lstStyle/>
          <a:p>
            <a:pPr marL="0" indent="0">
              <a:buNone/>
            </a:pPr>
            <a:r>
              <a:rPr lang="en-US" sz="2600" b="1">
                <a:solidFill>
                  <a:srgbClr val="1F3557"/>
                </a:solidFill>
                <a:latin typeface="Georgia" pitchFamily="34" charset="0"/>
                <a:ea typeface="Georgia" pitchFamily="34" charset="-122"/>
                <a:cs typeface="Georgia" pitchFamily="34" charset="-120"/>
              </a:rPr>
              <a:t>Match the message to the cause</a:t>
            </a:r>
            <a:endParaRPr lang="en-US" sz="3200" dirty="0"/>
          </a:p>
        </p:txBody>
      </p:sp>
      <p:sp>
        <p:nvSpPr>
          <p:cNvPr id="5" name="Shape 3"/>
          <p:cNvSpPr/>
          <p:nvPr/>
        </p:nvSpPr>
        <p:spPr>
          <a:xfrm>
            <a:off x="548640" y="1316736"/>
            <a:ext cx="1280160" cy="0"/>
          </a:xfrm>
          <a:prstGeom prst="line">
            <a:avLst/>
          </a:prstGeom>
          <a:noFill/>
          <a:ln w="28575">
            <a:solidFill>
              <a:srgbClr val="A9552F"/>
            </a:solidFill>
            <a:prstDash val="solid"/>
          </a:ln>
        </p:spPr>
        <p:txBody>
          <a:bodyPr/>
          <a:lstStyle/>
          <a:p>
            <a:endParaRPr lang="en-US"/>
          </a:p>
        </p:txBody>
      </p:sp>
      <p:sp>
        <p:nvSpPr>
          <p:cNvPr id="6" name="Shape 4"/>
          <p:cNvSpPr/>
          <p:nvPr/>
        </p:nvSpPr>
        <p:spPr>
          <a:xfrm>
            <a:off x="548640" y="1549400"/>
            <a:ext cx="8046720" cy="3200400"/>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7" name="Text 5"/>
          <p:cNvSpPr/>
          <p:nvPr/>
        </p:nvSpPr>
        <p:spPr>
          <a:xfrm>
            <a:off x="1028246" y="1765300"/>
            <a:ext cx="7087508" cy="279400"/>
          </a:xfrm>
          <a:prstGeom prst="rect">
            <a:avLst/>
          </a:prstGeom>
          <a:noFill/>
          <a:ln/>
        </p:spPr>
        <p:txBody>
          <a:bodyPr wrap="square" lIns="0" tIns="0" rIns="0" bIns="0" rtlCol="0" anchor="ctr"/>
          <a:lstStyle/>
          <a:p>
            <a:pPr marL="0" indent="0">
              <a:buNone/>
            </a:pPr>
            <a:r>
              <a:rPr lang="en-US" sz="1650" b="1">
                <a:solidFill>
                  <a:srgbClr val="1F3557"/>
                </a:solidFill>
                <a:latin typeface="Georgia" pitchFamily="34" charset="0"/>
                <a:ea typeface="Georgia" pitchFamily="34" charset="-122"/>
                <a:cs typeface="Georgia" pitchFamily="34" charset="-120"/>
              </a:rPr>
              <a:t>Match the message to the cause</a:t>
            </a:r>
            <a:endParaRPr lang="en-US" sz="1650"/>
          </a:p>
        </p:txBody>
      </p:sp>
      <p:sp>
        <p:nvSpPr>
          <p:cNvPr id="8" name="Text 6"/>
          <p:cNvSpPr/>
          <p:nvPr/>
        </p:nvSpPr>
        <p:spPr>
          <a:xfrm>
            <a:off x="1028246" y="2108200"/>
            <a:ext cx="7087508" cy="2819400"/>
          </a:xfrm>
          <a:prstGeom prst="rect">
            <a:avLst/>
          </a:prstGeom>
          <a:noFill/>
          <a:ln/>
        </p:spPr>
        <p:txBody>
          <a:bodyPr wrap="square" lIns="0" tIns="0" rIns="0" bIns="0" rtlCol="0" anchor="t"/>
          <a:lstStyle/>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'javac' is not recognized — only a runtime is installed, or the JDK is not on your path.</a:t>
            </a:r>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'java' is not recognized — wrong terminal. Open a new VS Code terminal.</a:t>
            </a:r>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file not found — the terminal is in a different folder. Run dir and look.</a:t>
            </a:r>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Could not find or load main class — you typed java with .java or .class. Drop it.</a:t>
            </a:r>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 expected — a semicolon is missing on that line or the line above.</a:t>
            </a:r>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cannot find symbol — check spelling and capitalization, e.g. system vs System.</a:t>
            </a:r>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class X should be declared in a file named X.java — name mismatch.</a:t>
            </a:r>
            <a:endParaRPr lang="en-US" sz="1350"/>
          </a:p>
        </p:txBody>
      </p:sp>
    </p:spTree>
    <p:extLst>
      <p:ext uri="{BB962C8B-B14F-4D97-AF65-F5344CB8AC3E}">
        <p14:creationId xmlns:p14="http://schemas.microsoft.com/office/powerpoint/2010/main" val="11652812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
    <p:bg>
      <p:bgPr>
        <a:solidFill>
          <a:srgbClr val="F5EFE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EFE2"/>
          </a:solidFill>
          <a:ln w="3175">
            <a:solidFill>
              <a:srgbClr val="F5EFE2"/>
            </a:solidFill>
            <a:prstDash val="solid"/>
          </a:ln>
        </p:spPr>
        <p:txBody>
          <a:bodyPr/>
          <a:lstStyle/>
          <a:p>
            <a:endParaRPr lang="en-US"/>
          </a:p>
        </p:txBody>
      </p:sp>
      <p:sp>
        <p:nvSpPr>
          <p:cNvPr id="3" name="Text 1"/>
          <p:cNvSpPr/>
          <p:nvPr/>
        </p:nvSpPr>
        <p:spPr>
          <a:xfrm>
            <a:off x="548640" y="384048"/>
            <a:ext cx="5943600" cy="274320"/>
          </a:xfrm>
          <a:prstGeom prst="rect">
            <a:avLst/>
          </a:prstGeom>
          <a:noFill/>
          <a:ln/>
        </p:spPr>
        <p:txBody>
          <a:bodyPr wrap="square" lIns="0" tIns="0" rIns="0" bIns="0" rtlCol="0" anchor="ctr"/>
          <a:lstStyle/>
          <a:p>
            <a:pPr marL="0" indent="0">
              <a:buNone/>
            </a:pPr>
            <a:r>
              <a:rPr lang="en-US" sz="1300" b="1" kern="0" spc="300">
                <a:solidFill>
                  <a:srgbClr val="A9552F"/>
                </a:solidFill>
                <a:latin typeface="Segoe UI" pitchFamily="34" charset="0"/>
                <a:ea typeface="Segoe UI" pitchFamily="34" charset="-122"/>
                <a:cs typeface="Segoe UI" pitchFamily="34" charset="-120"/>
              </a:rPr>
              <a:t>FIX IT YOURSELF FIRST</a:t>
            </a:r>
            <a:endParaRPr lang="en-US" sz="1300"/>
          </a:p>
        </p:txBody>
      </p:sp>
      <p:sp>
        <p:nvSpPr>
          <p:cNvPr id="4" name="Text 2"/>
          <p:cNvSpPr/>
          <p:nvPr/>
        </p:nvSpPr>
        <p:spPr>
          <a:xfrm>
            <a:off x="530352" y="676656"/>
            <a:ext cx="7200900" cy="548640"/>
          </a:xfrm>
          <a:prstGeom prst="rect">
            <a:avLst/>
          </a:prstGeom>
          <a:noFill/>
          <a:ln/>
        </p:spPr>
        <p:txBody>
          <a:bodyPr wrap="square" lIns="0" tIns="0" rIns="0" bIns="0" rtlCol="0" anchor="ctr"/>
          <a:lstStyle/>
          <a:p>
            <a:pPr marL="0" indent="0">
              <a:buNone/>
            </a:pPr>
            <a:r>
              <a:rPr lang="en-US" sz="2600" b="1">
                <a:solidFill>
                  <a:srgbClr val="1F3557"/>
                </a:solidFill>
                <a:latin typeface="Georgia" pitchFamily="34" charset="0"/>
                <a:ea typeface="Georgia" pitchFamily="34" charset="-122"/>
                <a:cs typeface="Georgia" pitchFamily="34" charset="-120"/>
              </a:rPr>
              <a:t>Before you raise your hand</a:t>
            </a:r>
            <a:endParaRPr lang="en-US" sz="3200"/>
          </a:p>
        </p:txBody>
      </p:sp>
      <p:sp>
        <p:nvSpPr>
          <p:cNvPr id="5" name="Shape 3"/>
          <p:cNvSpPr/>
          <p:nvPr/>
        </p:nvSpPr>
        <p:spPr>
          <a:xfrm>
            <a:off x="548640" y="1316736"/>
            <a:ext cx="1280160" cy="0"/>
          </a:xfrm>
          <a:prstGeom prst="line">
            <a:avLst/>
          </a:prstGeom>
          <a:noFill/>
          <a:ln w="28575">
            <a:solidFill>
              <a:srgbClr val="A9552F"/>
            </a:solidFill>
            <a:prstDash val="solid"/>
          </a:ln>
        </p:spPr>
        <p:txBody>
          <a:bodyPr/>
          <a:lstStyle/>
          <a:p>
            <a:endParaRPr lang="en-US"/>
          </a:p>
        </p:txBody>
      </p:sp>
      <p:sp>
        <p:nvSpPr>
          <p:cNvPr id="9" name="Shape 7"/>
          <p:cNvSpPr/>
          <p:nvPr/>
        </p:nvSpPr>
        <p:spPr>
          <a:xfrm>
            <a:off x="548640" y="1549400"/>
            <a:ext cx="8046720" cy="3200400"/>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10" name="Text 8"/>
          <p:cNvSpPr/>
          <p:nvPr/>
        </p:nvSpPr>
        <p:spPr>
          <a:xfrm>
            <a:off x="1028246" y="1765300"/>
            <a:ext cx="7087508" cy="279400"/>
          </a:xfrm>
          <a:prstGeom prst="rect">
            <a:avLst/>
          </a:prstGeom>
          <a:noFill/>
          <a:ln/>
        </p:spPr>
        <p:txBody>
          <a:bodyPr wrap="square" lIns="0" tIns="0" rIns="0" bIns="0" rtlCol="0" anchor="ctr"/>
          <a:lstStyle/>
          <a:p>
            <a:pPr marL="0" indent="0">
              <a:buNone/>
            </a:pPr>
            <a:r>
              <a:rPr lang="en-US" sz="1650" b="1">
                <a:solidFill>
                  <a:srgbClr val="1F3557"/>
                </a:solidFill>
                <a:latin typeface="Georgia" pitchFamily="34" charset="0"/>
                <a:ea typeface="Georgia" pitchFamily="34" charset="-122"/>
                <a:cs typeface="Georgia" pitchFamily="34" charset="-120"/>
              </a:rPr>
              <a:t>Before you raise your hand</a:t>
            </a:r>
            <a:endParaRPr lang="en-US" sz="1650"/>
          </a:p>
        </p:txBody>
      </p:sp>
      <p:sp>
        <p:nvSpPr>
          <p:cNvPr id="11" name="Text 9"/>
          <p:cNvSpPr/>
          <p:nvPr/>
        </p:nvSpPr>
        <p:spPr>
          <a:xfrm>
            <a:off x="1028246" y="2108200"/>
            <a:ext cx="7087508" cy="2819400"/>
          </a:xfrm>
          <a:prstGeom prst="rect">
            <a:avLst/>
          </a:prstGeom>
          <a:noFill/>
          <a:ln/>
        </p:spPr>
        <p:txBody>
          <a:bodyPr wrap="square" lIns="0" tIns="0" rIns="0" bIns="0" rtlCol="0" anchor="t"/>
          <a:lstStyle/>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Did you save? Look for the dot on the VS Code tab.</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Which command failed — javac or java? Name the stage.</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Read only the first error, then look at that line number.</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Change one thing, save, and run the same command again.</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Still stuck after five minutes? Now raise your hand.</a:t>
            </a:r>
            <a:endParaRPr lang="en-US" sz="1350"/>
          </a:p>
        </p:txBody>
      </p:sp>
    </p:spTree>
    <p:extLst>
      <p:ext uri="{BB962C8B-B14F-4D97-AF65-F5344CB8AC3E}">
        <p14:creationId xmlns:p14="http://schemas.microsoft.com/office/powerpoint/2010/main" val="32186830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elf-paced practice">
    <p:bg>
      <p:bgPr>
        <a:solidFill>
          <a:srgbClr val="F5EFE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EFE2"/>
          </a:solidFill>
          <a:ln w="3175">
            <a:solidFill>
              <a:srgbClr val="F5EFE2"/>
            </a:solidFill>
            <a:prstDash val="solid"/>
          </a:ln>
        </p:spPr>
        <p:txBody>
          <a:bodyPr/>
          <a:lstStyle/>
          <a:p>
            <a:endParaRPr lang="en-US"/>
          </a:p>
        </p:txBody>
      </p:sp>
      <p:sp>
        <p:nvSpPr>
          <p:cNvPr id="3" name="Text 1"/>
          <p:cNvSpPr/>
          <p:nvPr/>
        </p:nvSpPr>
        <p:spPr>
          <a:xfrm>
            <a:off x="548640" y="384048"/>
            <a:ext cx="5943600" cy="274320"/>
          </a:xfrm>
          <a:prstGeom prst="rect">
            <a:avLst/>
          </a:prstGeom>
          <a:noFill/>
          <a:ln/>
        </p:spPr>
        <p:txBody>
          <a:bodyPr wrap="square" lIns="0" tIns="0" rIns="0" bIns="0" rtlCol="0" anchor="ctr"/>
          <a:lstStyle/>
          <a:p>
            <a:pPr marL="0" indent="0">
              <a:buNone/>
            </a:pPr>
            <a:r>
              <a:rPr lang="en-US" sz="1419" b="1" kern="0" spc="300">
                <a:solidFill>
                  <a:srgbClr val="A9552F"/>
                </a:solidFill>
                <a:latin typeface="Segoe UI" pitchFamily="34" charset="0"/>
                <a:ea typeface="Segoe UI" pitchFamily="34" charset="-122"/>
                <a:cs typeface="Segoe UI" pitchFamily="34" charset="-120"/>
              </a:rPr>
              <a:t>SELF-PACED PRACTICE — 2:40 TO 5:00</a:t>
            </a:r>
            <a:endParaRPr lang="en-US" sz="1419"/>
          </a:p>
        </p:txBody>
      </p:sp>
      <p:sp>
        <p:nvSpPr>
          <p:cNvPr id="4" name="Text 2"/>
          <p:cNvSpPr/>
          <p:nvPr/>
        </p:nvSpPr>
        <p:spPr>
          <a:xfrm>
            <a:off x="530352" y="676656"/>
            <a:ext cx="7200000" cy="548640"/>
          </a:xfrm>
          <a:prstGeom prst="rect">
            <a:avLst/>
          </a:prstGeom>
          <a:noFill/>
          <a:ln/>
        </p:spPr>
        <p:txBody>
          <a:bodyPr wrap="square" lIns="0" tIns="0" rIns="0" bIns="0" rtlCol="0" anchor="ctr"/>
          <a:lstStyle/>
          <a:p>
            <a:pPr marL="0" indent="0">
              <a:buNone/>
            </a:pPr>
            <a:r>
              <a:rPr lang="en-US" sz="2600" b="1">
                <a:solidFill>
                  <a:srgbClr val="1F3557"/>
                </a:solidFill>
                <a:latin typeface="Georgia" pitchFamily="34" charset="0"/>
                <a:ea typeface="Georgia" pitchFamily="34" charset="-122"/>
                <a:cs typeface="Georgia" pitchFamily="34" charset="-120"/>
              </a:rPr>
              <a:t>Work it through on your own</a:t>
            </a:r>
            <a:endParaRPr lang="en-US" sz="3200"/>
          </a:p>
        </p:txBody>
      </p:sp>
      <p:sp>
        <p:nvSpPr>
          <p:cNvPr id="5" name="Shape 3"/>
          <p:cNvSpPr/>
          <p:nvPr/>
        </p:nvSpPr>
        <p:spPr>
          <a:xfrm>
            <a:off x="548640" y="1316736"/>
            <a:ext cx="1280160" cy="0"/>
          </a:xfrm>
          <a:prstGeom prst="line">
            <a:avLst/>
          </a:prstGeom>
          <a:noFill/>
          <a:ln w="28575">
            <a:solidFill>
              <a:srgbClr val="A9552F"/>
            </a:solidFill>
            <a:prstDash val="solid"/>
          </a:ln>
        </p:spPr>
        <p:txBody>
          <a:bodyPr/>
          <a:lstStyle/>
          <a:p>
            <a:endParaRPr lang="en-US"/>
          </a:p>
        </p:txBody>
      </p:sp>
      <p:sp>
        <p:nvSpPr>
          <p:cNvPr id="101" name="S101"/>
          <p:cNvSpPr/>
          <p:nvPr/>
        </p:nvSpPr>
        <p:spPr>
          <a:xfrm>
            <a:off x="548640" y="1444752"/>
            <a:ext cx="8046720" cy="1097280"/>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102" name="S102"/>
          <p:cNvSpPr/>
          <p:nvPr/>
        </p:nvSpPr>
        <p:spPr>
          <a:xfrm>
            <a:off x="548640" y="1444752"/>
            <a:ext cx="45720" cy="1097280"/>
          </a:xfrm>
          <a:prstGeom prst="rect">
            <a:avLst/>
          </a:prstGeom>
          <a:solidFill>
            <a:srgbClr val="A9552F"/>
          </a:solidFill>
          <a:ln/>
        </p:spPr>
        <p:txBody>
          <a:bodyPr/>
          <a:lstStyle/>
          <a:p>
            <a:endParaRPr lang="en-US"/>
          </a:p>
        </p:txBody>
      </p:sp>
      <p:sp>
        <p:nvSpPr>
          <p:cNvPr id="103" name="T103"/>
          <p:cNvSpPr/>
          <p:nvPr/>
        </p:nvSpPr>
        <p:spPr>
          <a:xfrm>
            <a:off x="925295" y="1563624"/>
            <a:ext cx="7293410" cy="190000"/>
          </a:xfrm>
          <a:prstGeom prst="rect">
            <a:avLst/>
          </a:prstGeom>
          <a:noFill/>
          <a:ln/>
        </p:spPr>
        <p:txBody>
          <a:bodyPr wrap="square" lIns="0" tIns="0" rIns="0" bIns="0" rtlCol="0" anchor="t"/>
          <a:lstStyle/>
          <a:p>
            <a:pPr marL="0" indent="0">
              <a:lnSpc>
                <a:spcPts val="1000"/>
              </a:lnSpc>
              <a:buNone/>
            </a:pPr>
            <a:r>
              <a:rPr lang="en-US" sz="1419" b="1" spc="150">
                <a:solidFill>
                  <a:srgbClr val="A9552F"/>
                </a:solidFill>
                <a:latin typeface="Segoe UI" pitchFamily="34" charset="0"/>
                <a:ea typeface="Segoe UI" pitchFamily="34" charset="-122"/>
                <a:cs typeface="Segoe UI" pitchFamily="34" charset="-120"/>
              </a:rPr>
              <a:t>LEVEL 1  ·  EVERYONE</a:t>
            </a:r>
          </a:p>
        </p:txBody>
      </p:sp>
      <p:sp>
        <p:nvSpPr>
          <p:cNvPr id="104" name="T104"/>
          <p:cNvSpPr/>
          <p:nvPr/>
        </p:nvSpPr>
        <p:spPr>
          <a:xfrm>
            <a:off x="925295" y="1773936"/>
            <a:ext cx="7293410" cy="240000"/>
          </a:xfrm>
          <a:prstGeom prst="rect">
            <a:avLst/>
          </a:prstGeom>
          <a:noFill/>
          <a:ln/>
        </p:spPr>
        <p:txBody>
          <a:bodyPr wrap="square" lIns="0" tIns="0" rIns="0" bIns="0" rtlCol="0" anchor="t"/>
          <a:lstStyle/>
          <a:p>
            <a:pPr marL="0" indent="0">
              <a:lnSpc>
                <a:spcPts val="1450"/>
              </a:lnSpc>
              <a:buNone/>
            </a:pPr>
            <a:r>
              <a:rPr lang="en-US" sz="1500" b="1">
                <a:solidFill>
                  <a:srgbClr val="1F3557"/>
                </a:solidFill>
                <a:latin typeface="Georgia" pitchFamily="34" charset="0"/>
                <a:ea typeface="Georgia" pitchFamily="34" charset="-122"/>
                <a:cs typeface="Georgia" pitchFamily="34" charset="-120"/>
              </a:rPr>
              <a:t>Finish MemberWelcomeReport</a:t>
            </a:r>
          </a:p>
        </p:txBody>
      </p:sp>
      <p:sp>
        <p:nvSpPr>
          <p:cNvPr id="105" name="T105"/>
          <p:cNvSpPr/>
          <p:nvPr/>
        </p:nvSpPr>
        <p:spPr>
          <a:xfrm>
            <a:off x="925295" y="2029968"/>
            <a:ext cx="7293410" cy="457200"/>
          </a:xfrm>
          <a:prstGeom prst="rect">
            <a:avLst/>
          </a:prstGeom>
          <a:noFill/>
          <a:ln/>
        </p:spPr>
        <p:txBody>
          <a:bodyPr wrap="square" lIns="0" tIns="0" rIns="0" bIns="0" rtlCol="0" anchor="t"/>
          <a:lstStyle/>
          <a:p>
            <a:pPr marL="0" indent="0">
              <a:lnSpc>
                <a:spcPts val="1150"/>
              </a:lnSpc>
              <a:buNone/>
            </a:pPr>
            <a:r>
              <a:rPr lang="en-US" sz="1419">
                <a:solidFill>
                  <a:srgbClr val="6B6255"/>
                </a:solidFill>
                <a:latin typeface="Segoe UI" pitchFamily="34" charset="0"/>
                <a:ea typeface="Segoe UI" pitchFamily="34" charset="-122"/>
                <a:cs typeface="Segoe UI" pitchFamily="34" charset="-120"/>
              </a:rPr>
              <a:t>Print a labeled welcome block: member name, plan name, group number, and enrollment year, plus a welcome sentence.</a:t>
            </a:r>
          </a:p>
        </p:txBody>
      </p:sp>
      <p:sp>
        <p:nvSpPr>
          <p:cNvPr id="106" name="S106"/>
          <p:cNvSpPr/>
          <p:nvPr/>
        </p:nvSpPr>
        <p:spPr>
          <a:xfrm>
            <a:off x="548640" y="2587752"/>
            <a:ext cx="8046720" cy="1097280"/>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107" name="S107"/>
          <p:cNvSpPr/>
          <p:nvPr/>
        </p:nvSpPr>
        <p:spPr>
          <a:xfrm>
            <a:off x="548640" y="2587752"/>
            <a:ext cx="45720" cy="1097280"/>
          </a:xfrm>
          <a:prstGeom prst="rect">
            <a:avLst/>
          </a:prstGeom>
          <a:solidFill>
            <a:srgbClr val="A9552F"/>
          </a:solidFill>
          <a:ln/>
        </p:spPr>
        <p:txBody>
          <a:bodyPr/>
          <a:lstStyle/>
          <a:p>
            <a:endParaRPr lang="en-US"/>
          </a:p>
        </p:txBody>
      </p:sp>
      <p:sp>
        <p:nvSpPr>
          <p:cNvPr id="108" name="T108"/>
          <p:cNvSpPr/>
          <p:nvPr/>
        </p:nvSpPr>
        <p:spPr>
          <a:xfrm>
            <a:off x="925295" y="2706624"/>
            <a:ext cx="7293410" cy="190000"/>
          </a:xfrm>
          <a:prstGeom prst="rect">
            <a:avLst/>
          </a:prstGeom>
          <a:noFill/>
          <a:ln/>
        </p:spPr>
        <p:txBody>
          <a:bodyPr wrap="square" lIns="0" tIns="0" rIns="0" bIns="0" rtlCol="0" anchor="t"/>
          <a:lstStyle/>
          <a:p>
            <a:pPr marL="0" indent="0">
              <a:lnSpc>
                <a:spcPts val="1000"/>
              </a:lnSpc>
              <a:buNone/>
            </a:pPr>
            <a:r>
              <a:rPr lang="en-US" sz="1419" b="1" spc="150">
                <a:solidFill>
                  <a:srgbClr val="A9552F"/>
                </a:solidFill>
                <a:latin typeface="Segoe UI" pitchFamily="34" charset="0"/>
                <a:ea typeface="Segoe UI" pitchFamily="34" charset="-122"/>
                <a:cs typeface="Segoe UI" pitchFamily="34" charset="-120"/>
              </a:rPr>
              <a:t>LEVEL 2  ·  IF YOU FINISH</a:t>
            </a:r>
          </a:p>
        </p:txBody>
      </p:sp>
      <p:sp>
        <p:nvSpPr>
          <p:cNvPr id="109" name="T109"/>
          <p:cNvSpPr/>
          <p:nvPr/>
        </p:nvSpPr>
        <p:spPr>
          <a:xfrm>
            <a:off x="925295" y="2916936"/>
            <a:ext cx="7293410" cy="240000"/>
          </a:xfrm>
          <a:prstGeom prst="rect">
            <a:avLst/>
          </a:prstGeom>
          <a:noFill/>
          <a:ln/>
        </p:spPr>
        <p:txBody>
          <a:bodyPr wrap="square" lIns="0" tIns="0" rIns="0" bIns="0" rtlCol="0" anchor="t"/>
          <a:lstStyle/>
          <a:p>
            <a:pPr marL="0" indent="0">
              <a:lnSpc>
                <a:spcPts val="1450"/>
              </a:lnSpc>
              <a:buNone/>
            </a:pPr>
            <a:r>
              <a:rPr lang="en-US" sz="1500" b="1">
                <a:solidFill>
                  <a:srgbClr val="1F3557"/>
                </a:solidFill>
                <a:latin typeface="Georgia" pitchFamily="34" charset="0"/>
                <a:ea typeface="Georgia" pitchFamily="34" charset="-122"/>
                <a:cs typeface="Georgia" pitchFamily="34" charset="-120"/>
              </a:rPr>
              <a:t>Add a totals line</a:t>
            </a:r>
          </a:p>
        </p:txBody>
      </p:sp>
      <p:sp>
        <p:nvSpPr>
          <p:cNvPr id="110" name="T110"/>
          <p:cNvSpPr/>
          <p:nvPr/>
        </p:nvSpPr>
        <p:spPr>
          <a:xfrm>
            <a:off x="925295" y="3172968"/>
            <a:ext cx="7293410" cy="457200"/>
          </a:xfrm>
          <a:prstGeom prst="rect">
            <a:avLst/>
          </a:prstGeom>
          <a:noFill/>
          <a:ln/>
        </p:spPr>
        <p:txBody>
          <a:bodyPr wrap="square" lIns="0" tIns="0" rIns="0" bIns="0" rtlCol="0" anchor="t"/>
          <a:lstStyle/>
          <a:p>
            <a:pPr marL="0" indent="0">
              <a:lnSpc>
                <a:spcPts val="1150"/>
              </a:lnSpc>
              <a:buNone/>
            </a:pPr>
            <a:r>
              <a:rPr lang="en-US" sz="1419">
                <a:solidFill>
                  <a:srgbClr val="6B6255"/>
                </a:solidFill>
                <a:latin typeface="Segoe UI" pitchFamily="34" charset="0"/>
                <a:ea typeface="Segoe UI" pitchFamily="34" charset="-122"/>
                <a:cs typeface="Segoe UI" pitchFamily="34" charset="-120"/>
              </a:rPr>
              <a:t>Store two int values for visits used and visits allowed, then print a fifth line that reports both numbers inside one sentence.</a:t>
            </a:r>
          </a:p>
        </p:txBody>
      </p:sp>
      <p:sp>
        <p:nvSpPr>
          <p:cNvPr id="111" name="S111"/>
          <p:cNvSpPr/>
          <p:nvPr/>
        </p:nvSpPr>
        <p:spPr>
          <a:xfrm>
            <a:off x="548640" y="3730752"/>
            <a:ext cx="8046720" cy="1097280"/>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112" name="S112"/>
          <p:cNvSpPr/>
          <p:nvPr/>
        </p:nvSpPr>
        <p:spPr>
          <a:xfrm>
            <a:off x="548640" y="3730752"/>
            <a:ext cx="45720" cy="1097280"/>
          </a:xfrm>
          <a:prstGeom prst="rect">
            <a:avLst/>
          </a:prstGeom>
          <a:solidFill>
            <a:srgbClr val="A9552F"/>
          </a:solidFill>
          <a:ln/>
        </p:spPr>
        <p:txBody>
          <a:bodyPr/>
          <a:lstStyle/>
          <a:p>
            <a:endParaRPr lang="en-US"/>
          </a:p>
        </p:txBody>
      </p:sp>
      <p:sp>
        <p:nvSpPr>
          <p:cNvPr id="113" name="T113"/>
          <p:cNvSpPr/>
          <p:nvPr/>
        </p:nvSpPr>
        <p:spPr>
          <a:xfrm>
            <a:off x="925295" y="3849624"/>
            <a:ext cx="7293410" cy="190000"/>
          </a:xfrm>
          <a:prstGeom prst="rect">
            <a:avLst/>
          </a:prstGeom>
          <a:noFill/>
          <a:ln/>
        </p:spPr>
        <p:txBody>
          <a:bodyPr wrap="square" lIns="0" tIns="0" rIns="0" bIns="0" rtlCol="0" anchor="t"/>
          <a:lstStyle/>
          <a:p>
            <a:pPr marL="0" indent="0">
              <a:lnSpc>
                <a:spcPts val="1000"/>
              </a:lnSpc>
              <a:buNone/>
            </a:pPr>
            <a:r>
              <a:rPr lang="en-US" sz="1419" b="1" spc="150">
                <a:solidFill>
                  <a:srgbClr val="A9552F"/>
                </a:solidFill>
                <a:latin typeface="Segoe UI" pitchFamily="34" charset="0"/>
                <a:ea typeface="Segoe UI" pitchFamily="34" charset="-122"/>
                <a:cs typeface="Segoe UI" pitchFamily="34" charset="-120"/>
              </a:rPr>
              <a:t>LEVEL 3  ·  STRETCH</a:t>
            </a:r>
          </a:p>
        </p:txBody>
      </p:sp>
      <p:sp>
        <p:nvSpPr>
          <p:cNvPr id="114" name="T114"/>
          <p:cNvSpPr/>
          <p:nvPr/>
        </p:nvSpPr>
        <p:spPr>
          <a:xfrm>
            <a:off x="925295" y="4059936"/>
            <a:ext cx="7293410" cy="240000"/>
          </a:xfrm>
          <a:prstGeom prst="rect">
            <a:avLst/>
          </a:prstGeom>
          <a:noFill/>
          <a:ln/>
        </p:spPr>
        <p:txBody>
          <a:bodyPr wrap="square" lIns="0" tIns="0" rIns="0" bIns="0" rtlCol="0" anchor="t"/>
          <a:lstStyle/>
          <a:p>
            <a:pPr marL="0" indent="0">
              <a:lnSpc>
                <a:spcPts val="1450"/>
              </a:lnSpc>
              <a:buNone/>
            </a:pPr>
            <a:r>
              <a:rPr lang="en-US" sz="1500" b="1">
                <a:solidFill>
                  <a:srgbClr val="1F3557"/>
                </a:solidFill>
                <a:latin typeface="Georgia" pitchFamily="34" charset="0"/>
                <a:ea typeface="Georgia" pitchFamily="34" charset="-122"/>
                <a:cs typeface="Georgia" pitchFamily="34" charset="-120"/>
              </a:rPr>
              <a:t>Make it reusable</a:t>
            </a:r>
          </a:p>
        </p:txBody>
      </p:sp>
      <p:sp>
        <p:nvSpPr>
          <p:cNvPr id="115" name="T115"/>
          <p:cNvSpPr/>
          <p:nvPr/>
        </p:nvSpPr>
        <p:spPr>
          <a:xfrm>
            <a:off x="925295" y="4315968"/>
            <a:ext cx="7293410" cy="457200"/>
          </a:xfrm>
          <a:prstGeom prst="rect">
            <a:avLst/>
          </a:prstGeom>
          <a:noFill/>
          <a:ln/>
        </p:spPr>
        <p:txBody>
          <a:bodyPr wrap="square" lIns="0" tIns="0" rIns="0" bIns="0" rtlCol="0" anchor="t"/>
          <a:lstStyle/>
          <a:p>
            <a:pPr marL="0" indent="0">
              <a:lnSpc>
                <a:spcPts val="1150"/>
              </a:lnSpc>
              <a:buNone/>
            </a:pPr>
            <a:r>
              <a:rPr lang="en-US" sz="1419">
                <a:solidFill>
                  <a:srgbClr val="6B6255"/>
                </a:solidFill>
                <a:latin typeface="Segoe UI" pitchFamily="34" charset="0"/>
                <a:ea typeface="Segoe UI" pitchFamily="34" charset="-122"/>
                <a:cs typeface="Segoe UI" pitchFamily="34" charset="-120"/>
              </a:rPr>
              <a:t>Copy the file to ClaimStatusReport.java, rename the class to match, and change the wording so it reports a claim instead of a welcome.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elf-paced practice">
    <p:bg>
      <p:bgPr>
        <a:solidFill>
          <a:srgbClr val="F5EFE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EFE2"/>
          </a:solidFill>
          <a:ln w="3175">
            <a:solidFill>
              <a:srgbClr val="F5EFE2"/>
            </a:solidFill>
            <a:prstDash val="solid"/>
          </a:ln>
        </p:spPr>
        <p:txBody>
          <a:bodyPr/>
          <a:lstStyle/>
          <a:p>
            <a:endParaRPr lang="en-US"/>
          </a:p>
        </p:txBody>
      </p:sp>
      <p:sp>
        <p:nvSpPr>
          <p:cNvPr id="3" name="Text 1"/>
          <p:cNvSpPr/>
          <p:nvPr/>
        </p:nvSpPr>
        <p:spPr>
          <a:xfrm>
            <a:off x="548640" y="384048"/>
            <a:ext cx="5943600" cy="274320"/>
          </a:xfrm>
          <a:prstGeom prst="rect">
            <a:avLst/>
          </a:prstGeom>
          <a:noFill/>
          <a:ln/>
        </p:spPr>
        <p:txBody>
          <a:bodyPr wrap="square" lIns="0" tIns="0" rIns="0" bIns="0" rtlCol="0" anchor="ctr"/>
          <a:lstStyle/>
          <a:p>
            <a:pPr marL="0" indent="0">
              <a:buNone/>
            </a:pPr>
            <a:r>
              <a:rPr lang="en-US" sz="1203" b="1" kern="0" spc="300">
                <a:solidFill>
                  <a:srgbClr val="A9552F"/>
                </a:solidFill>
                <a:latin typeface="Segoe UI" pitchFamily="34" charset="0"/>
                <a:ea typeface="Segoe UI" pitchFamily="34" charset="-122"/>
                <a:cs typeface="Segoe UI" pitchFamily="34" charset="-120"/>
              </a:rPr>
              <a:t>SELF-PACED PRACTICE — 2:40 TO 5:00</a:t>
            </a:r>
            <a:endParaRPr lang="en-US" sz="1203"/>
          </a:p>
        </p:txBody>
      </p:sp>
      <p:sp>
        <p:nvSpPr>
          <p:cNvPr id="4" name="Text 2"/>
          <p:cNvSpPr/>
          <p:nvPr/>
        </p:nvSpPr>
        <p:spPr>
          <a:xfrm>
            <a:off x="530352" y="676656"/>
            <a:ext cx="7200000" cy="548640"/>
          </a:xfrm>
          <a:prstGeom prst="rect">
            <a:avLst/>
          </a:prstGeom>
          <a:noFill/>
          <a:ln/>
        </p:spPr>
        <p:txBody>
          <a:bodyPr wrap="square" lIns="0" tIns="0" rIns="0" bIns="0" rtlCol="0" anchor="ctr"/>
          <a:lstStyle/>
          <a:p>
            <a:pPr marL="0" indent="0">
              <a:buNone/>
            </a:pPr>
            <a:r>
              <a:rPr lang="en-US" sz="2600" b="1">
                <a:solidFill>
                  <a:srgbClr val="1F3557"/>
                </a:solidFill>
                <a:latin typeface="Georgia" pitchFamily="34" charset="0"/>
                <a:ea typeface="Georgia" pitchFamily="34" charset="-122"/>
                <a:cs typeface="Georgia" pitchFamily="34" charset="-120"/>
              </a:rPr>
              <a:t>Check your own work</a:t>
            </a:r>
            <a:endParaRPr lang="en-US" sz="3200"/>
          </a:p>
        </p:txBody>
      </p:sp>
      <p:sp>
        <p:nvSpPr>
          <p:cNvPr id="5" name="Shape 3"/>
          <p:cNvSpPr/>
          <p:nvPr/>
        </p:nvSpPr>
        <p:spPr>
          <a:xfrm>
            <a:off x="548640" y="1316736"/>
            <a:ext cx="1280160" cy="0"/>
          </a:xfrm>
          <a:prstGeom prst="line">
            <a:avLst/>
          </a:prstGeom>
          <a:noFill/>
          <a:ln w="28575">
            <a:solidFill>
              <a:srgbClr val="A9552F"/>
            </a:solidFill>
            <a:prstDash val="solid"/>
          </a:ln>
        </p:spPr>
        <p:txBody>
          <a:bodyPr/>
          <a:lstStyle/>
          <a:p>
            <a:endParaRPr lang="en-US"/>
          </a:p>
        </p:txBody>
      </p:sp>
      <p:sp>
        <p:nvSpPr>
          <p:cNvPr id="116" name="S116"/>
          <p:cNvSpPr/>
          <p:nvPr/>
        </p:nvSpPr>
        <p:spPr>
          <a:xfrm>
            <a:off x="548640" y="1508760"/>
            <a:ext cx="8046720" cy="3410712"/>
          </a:xfrm>
          <a:prstGeom prst="roundRect">
            <a:avLst>
              <a:gd name="adj" fmla="val 3175"/>
            </a:avLst>
          </a:prstGeom>
          <a:solidFill>
            <a:srgbClr val="EFE7D6"/>
          </a:solidFill>
          <a:ln/>
        </p:spPr>
        <p:txBody>
          <a:bodyPr/>
          <a:lstStyle/>
          <a:p>
            <a:endParaRPr lang="en-US"/>
          </a:p>
        </p:txBody>
      </p:sp>
      <p:sp>
        <p:nvSpPr>
          <p:cNvPr id="117" name="T117"/>
          <p:cNvSpPr/>
          <p:nvPr/>
        </p:nvSpPr>
        <p:spPr>
          <a:xfrm>
            <a:off x="822960" y="1739189"/>
            <a:ext cx="7498079" cy="200000"/>
          </a:xfrm>
          <a:prstGeom prst="rect">
            <a:avLst/>
          </a:prstGeom>
          <a:noFill/>
          <a:ln/>
        </p:spPr>
        <p:txBody>
          <a:bodyPr wrap="square" lIns="0" tIns="0" rIns="0" bIns="0" rtlCol="0" anchor="t"/>
          <a:lstStyle/>
          <a:p>
            <a:pPr marL="0" indent="0">
              <a:lnSpc>
                <a:spcPts val="1000"/>
              </a:lnSpc>
              <a:buNone/>
            </a:pPr>
            <a:r>
              <a:rPr lang="en-US" sz="1203" b="1" spc="150">
                <a:solidFill>
                  <a:srgbClr val="A9552F"/>
                </a:solidFill>
                <a:latin typeface="Segoe UI" pitchFamily="34" charset="0"/>
                <a:ea typeface="Segoe UI" pitchFamily="34" charset="-122"/>
                <a:cs typeface="Segoe UI" pitchFamily="34" charset="-120"/>
              </a:rPr>
              <a:t>CHECK YOUR OWN WORK</a:t>
            </a:r>
          </a:p>
        </p:txBody>
      </p:sp>
      <p:sp>
        <p:nvSpPr>
          <p:cNvPr id="118" name="T118"/>
          <p:cNvSpPr/>
          <p:nvPr/>
        </p:nvSpPr>
        <p:spPr>
          <a:xfrm>
            <a:off x="822960" y="2029054"/>
            <a:ext cx="7498079" cy="1710842"/>
          </a:xfrm>
          <a:prstGeom prst="rect">
            <a:avLst/>
          </a:prstGeom>
          <a:noFill/>
          <a:ln/>
        </p:spPr>
        <p:txBody>
          <a:bodyPr wrap="square" lIns="0" tIns="0" rIns="0" bIns="0" rtlCol="0" anchor="t"/>
          <a:lstStyle/>
          <a:p>
            <a:pPr marL="228600" indent="-228600">
              <a:lnSpc>
                <a:spcPts val="1250"/>
              </a:lnSpc>
              <a:buSzPct val="100000"/>
              <a:buChar char="✓"/>
            </a:pPr>
            <a:r>
              <a:rPr lang="en-US" sz="1203">
                <a:solidFill>
                  <a:srgbClr val="1F3557"/>
                </a:solidFill>
                <a:latin typeface="Segoe UI" pitchFamily="34" charset="0"/>
                <a:ea typeface="Segoe UI" pitchFamily="34" charset="-122"/>
                <a:cs typeface="Segoe UI" pitchFamily="34" charset="-120"/>
              </a:rPr>
              <a:t>The file name matches the class name exactly.</a:t>
            </a:r>
          </a:p>
          <a:p>
            <a:pPr marL="228600" indent="-228600">
              <a:lnSpc>
                <a:spcPts val="1250"/>
              </a:lnSpc>
              <a:buSzPct val="100000"/>
              <a:buChar char="✓"/>
            </a:pPr>
            <a:r>
              <a:rPr lang="en-US" sz="1203">
                <a:solidFill>
                  <a:srgbClr val="1F3557"/>
                </a:solidFill>
                <a:latin typeface="Segoe UI" pitchFamily="34" charset="0"/>
                <a:ea typeface="Segoe UI" pitchFamily="34" charset="-122"/>
                <a:cs typeface="Segoe UI" pitchFamily="34" charset="-120"/>
              </a:rPr>
              <a:t>javac finishes with no message at all.</a:t>
            </a:r>
          </a:p>
          <a:p>
            <a:pPr marL="228600" indent="-228600">
              <a:lnSpc>
                <a:spcPts val="1250"/>
              </a:lnSpc>
              <a:buSzPct val="100000"/>
              <a:buChar char="✓"/>
            </a:pPr>
            <a:r>
              <a:rPr lang="en-US" sz="1203">
                <a:solidFill>
                  <a:srgbClr val="1F3557"/>
                </a:solidFill>
                <a:latin typeface="Segoe UI" pitchFamily="34" charset="0"/>
                <a:ea typeface="Segoe UI" pitchFamily="34" charset="-122"/>
                <a:cs typeface="Segoe UI" pitchFamily="34" charset="-120"/>
              </a:rPr>
              <a:t>java prints every line you expected, in order.</a:t>
            </a:r>
          </a:p>
          <a:p>
            <a:pPr marL="228600" indent="-228600">
              <a:lnSpc>
                <a:spcPts val="1250"/>
              </a:lnSpc>
              <a:buSzPct val="100000"/>
              <a:buChar char="✓"/>
            </a:pPr>
            <a:r>
              <a:rPr lang="en-US" sz="1203">
                <a:solidFill>
                  <a:srgbClr val="1F3557"/>
                </a:solidFill>
                <a:latin typeface="Segoe UI" pitchFamily="34" charset="0"/>
                <a:ea typeface="Segoe UI" pitchFamily="34" charset="-122"/>
                <a:cs typeface="Segoe UI" pitchFamily="34" charset="-120"/>
              </a:rPr>
              <a:t>Each line ends with a semicolon.</a:t>
            </a:r>
          </a:p>
          <a:p>
            <a:pPr marL="228600" indent="-228600">
              <a:lnSpc>
                <a:spcPts val="1250"/>
              </a:lnSpc>
              <a:buSzPct val="100000"/>
              <a:buChar char="✓"/>
            </a:pPr>
            <a:r>
              <a:rPr lang="en-US" sz="1203">
                <a:solidFill>
                  <a:srgbClr val="1F3557"/>
                </a:solidFill>
                <a:latin typeface="Segoe UI" pitchFamily="34" charset="0"/>
                <a:ea typeface="Segoe UI" pitchFamily="34" charset="-122"/>
                <a:cs typeface="Segoe UI" pitchFamily="34" charset="-120"/>
              </a:rPr>
              <a:t>Text inside quotes reads the way you want it on screen.</a:t>
            </a:r>
          </a:p>
        </p:txBody>
      </p:sp>
      <p:sp>
        <p:nvSpPr>
          <p:cNvPr id="119" name="S119"/>
          <p:cNvSpPr/>
          <p:nvPr/>
        </p:nvSpPr>
        <p:spPr>
          <a:xfrm>
            <a:off x="822960" y="3674974"/>
            <a:ext cx="7498079" cy="84125"/>
          </a:xfrm>
          <a:prstGeom prst="rect">
            <a:avLst/>
          </a:prstGeom>
          <a:solidFill>
            <a:srgbClr val="A9552F"/>
          </a:solidFill>
          <a:ln/>
        </p:spPr>
        <p:txBody>
          <a:bodyPr/>
          <a:lstStyle/>
          <a:p>
            <a:endParaRPr lang="en-US"/>
          </a:p>
        </p:txBody>
      </p:sp>
      <p:sp>
        <p:nvSpPr>
          <p:cNvPr id="120" name="T120"/>
          <p:cNvSpPr/>
          <p:nvPr/>
        </p:nvSpPr>
        <p:spPr>
          <a:xfrm>
            <a:off x="822960" y="3824021"/>
            <a:ext cx="7498079" cy="1095451"/>
          </a:xfrm>
          <a:prstGeom prst="rect">
            <a:avLst/>
          </a:prstGeom>
          <a:noFill/>
          <a:ln/>
        </p:spPr>
        <p:txBody>
          <a:bodyPr wrap="square" lIns="0" tIns="0" rIns="0" bIns="0" rtlCol="0" anchor="t"/>
          <a:lstStyle/>
          <a:p>
            <a:pPr marL="0" indent="0">
              <a:lnSpc>
                <a:spcPts val="1000"/>
              </a:lnSpc>
              <a:buNone/>
            </a:pPr>
            <a:r>
              <a:rPr lang="en-US" sz="1203" b="1" spc="150">
                <a:solidFill>
                  <a:srgbClr val="A9552F"/>
                </a:solidFill>
                <a:latin typeface="Segoe UI" pitchFamily="34" charset="0"/>
                <a:ea typeface="Segoe UI" pitchFamily="34" charset="-122"/>
                <a:cs typeface="Segoe UI" pitchFamily="34" charset="-120"/>
              </a:rPr>
              <a:t>STUCK?</a:t>
            </a:r>
          </a:p>
          <a:p>
            <a:pPr marL="0" indent="0">
              <a:lnSpc>
                <a:spcPts val="1100"/>
              </a:lnSpc>
              <a:buNone/>
            </a:pPr>
            <a:r>
              <a:rPr lang="en-US" sz="1203">
                <a:solidFill>
                  <a:srgbClr val="6B6255"/>
                </a:solidFill>
                <a:latin typeface="Segoe UI" pitchFamily="34" charset="0"/>
                <a:ea typeface="Segoe UI" pitchFamily="34" charset="-122"/>
                <a:cs typeface="Segoe UI" pitchFamily="34" charset="-120"/>
              </a:rPr>
              <a:t>Read the error, find the line number it names, fix that one line, then compile again. I am circulating the whole time.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
    <p:bg>
      <p:bgPr>
        <a:solidFill>
          <a:srgbClr val="F5EFE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EFE2"/>
          </a:solidFill>
          <a:ln w="3175">
            <a:solidFill>
              <a:srgbClr val="F5EFE2"/>
            </a:solidFill>
            <a:prstDash val="solid"/>
          </a:ln>
        </p:spPr>
        <p:txBody>
          <a:bodyPr/>
          <a:lstStyle/>
          <a:p>
            <a:endParaRPr lang="en-US"/>
          </a:p>
        </p:txBody>
      </p:sp>
      <p:sp>
        <p:nvSpPr>
          <p:cNvPr id="3" name="Text 1"/>
          <p:cNvSpPr/>
          <p:nvPr/>
        </p:nvSpPr>
        <p:spPr>
          <a:xfrm>
            <a:off x="548640" y="384048"/>
            <a:ext cx="5943600" cy="274320"/>
          </a:xfrm>
          <a:prstGeom prst="rect">
            <a:avLst/>
          </a:prstGeom>
          <a:noFill/>
          <a:ln/>
        </p:spPr>
        <p:txBody>
          <a:bodyPr wrap="square" lIns="0" tIns="0" rIns="0" bIns="0" rtlCol="0" anchor="ctr"/>
          <a:lstStyle/>
          <a:p>
            <a:pPr marL="0" indent="0">
              <a:buNone/>
            </a:pPr>
            <a:r>
              <a:rPr lang="en-US" sz="1150" b="1" kern="0" spc="300">
                <a:solidFill>
                  <a:srgbClr val="A9552F"/>
                </a:solidFill>
                <a:latin typeface="Segoe UI" pitchFamily="34" charset="0"/>
                <a:ea typeface="Segoe UI" pitchFamily="34" charset="-122"/>
                <a:cs typeface="Segoe UI" pitchFamily="34" charset="-120"/>
              </a:rPr>
              <a:t>EXERCISE 2 — BUILD IT YOURSELF</a:t>
            </a:r>
            <a:endParaRPr lang="en-US" sz="1150"/>
          </a:p>
        </p:txBody>
      </p:sp>
      <p:sp>
        <p:nvSpPr>
          <p:cNvPr id="4" name="Text 2"/>
          <p:cNvSpPr/>
          <p:nvPr/>
        </p:nvSpPr>
        <p:spPr>
          <a:xfrm>
            <a:off x="530352" y="676656"/>
            <a:ext cx="7200900" cy="548640"/>
          </a:xfrm>
          <a:prstGeom prst="rect">
            <a:avLst/>
          </a:prstGeom>
          <a:noFill/>
          <a:ln/>
        </p:spPr>
        <p:txBody>
          <a:bodyPr wrap="square" lIns="0" tIns="0" rIns="0" bIns="0" rtlCol="0" anchor="ctr"/>
          <a:lstStyle/>
          <a:p>
            <a:pPr marL="0" indent="0">
              <a:buNone/>
            </a:pPr>
            <a:r>
              <a:rPr lang="en-US" sz="2600" b="1" dirty="0">
                <a:solidFill>
                  <a:srgbClr val="1F3557"/>
                </a:solidFill>
                <a:latin typeface="Georgia" pitchFamily="34" charset="0"/>
                <a:ea typeface="Georgia" pitchFamily="34" charset="-122"/>
                <a:cs typeface="Georgia" pitchFamily="34" charset="-120"/>
              </a:rPr>
              <a:t>WelcomeReport</a:t>
            </a:r>
            <a:r>
              <a:rPr lang="en-US" sz="2600" b="1">
                <a:solidFill>
                  <a:srgbClr val="1F3557"/>
                </a:solidFill>
                <a:latin typeface="Georgia" pitchFamily="34" charset="0"/>
                <a:ea typeface="Georgia" pitchFamily="34" charset="-122"/>
                <a:cs typeface="Georgia" pitchFamily="34" charset="-120"/>
              </a:rPr>
              <a:t>: your six checkpoints</a:t>
            </a:r>
            <a:endParaRPr lang="en-US" sz="3200" dirty="0"/>
          </a:p>
        </p:txBody>
      </p:sp>
      <p:sp>
        <p:nvSpPr>
          <p:cNvPr id="5" name="Shape 3"/>
          <p:cNvSpPr/>
          <p:nvPr/>
        </p:nvSpPr>
        <p:spPr>
          <a:xfrm>
            <a:off x="548640" y="1316736"/>
            <a:ext cx="1280160" cy="0"/>
          </a:xfrm>
          <a:prstGeom prst="line">
            <a:avLst/>
          </a:prstGeom>
          <a:noFill/>
          <a:ln w="28575">
            <a:solidFill>
              <a:srgbClr val="A9552F"/>
            </a:solidFill>
            <a:prstDash val="solid"/>
          </a:ln>
        </p:spPr>
        <p:txBody>
          <a:bodyPr/>
          <a:lstStyle/>
          <a:p>
            <a:endParaRPr lang="en-US"/>
          </a:p>
        </p:txBody>
      </p:sp>
      <p:sp>
        <p:nvSpPr>
          <p:cNvPr id="6" name="Shape 4"/>
          <p:cNvSpPr/>
          <p:nvPr/>
        </p:nvSpPr>
        <p:spPr>
          <a:xfrm>
            <a:off x="548640" y="1651000"/>
            <a:ext cx="8046720" cy="2819400"/>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7" name="Text 5"/>
          <p:cNvSpPr/>
          <p:nvPr/>
        </p:nvSpPr>
        <p:spPr>
          <a:xfrm>
            <a:off x="1028246" y="1866900"/>
            <a:ext cx="7087508" cy="279400"/>
          </a:xfrm>
          <a:prstGeom prst="rect">
            <a:avLst/>
          </a:prstGeom>
          <a:noFill/>
          <a:ln/>
        </p:spPr>
        <p:txBody>
          <a:bodyPr wrap="square" lIns="0" tIns="0" rIns="0" bIns="0" rtlCol="0" anchor="ctr"/>
          <a:lstStyle/>
          <a:p>
            <a:pPr marL="0" indent="0">
              <a:buNone/>
            </a:pPr>
            <a:r>
              <a:rPr lang="en-US" sz="1650" b="1">
                <a:solidFill>
                  <a:srgbClr val="1F3557"/>
                </a:solidFill>
                <a:latin typeface="Georgia" pitchFamily="34" charset="0"/>
                <a:ea typeface="Georgia" pitchFamily="34" charset="-122"/>
                <a:cs typeface="Georgia" pitchFamily="34" charset="-120"/>
              </a:rPr>
              <a:t>Your six checkpoints</a:t>
            </a:r>
            <a:endParaRPr lang="en-US" sz="1650"/>
          </a:p>
        </p:txBody>
      </p:sp>
      <p:sp>
        <p:nvSpPr>
          <p:cNvPr id="8" name="Text 6"/>
          <p:cNvSpPr/>
          <p:nvPr/>
        </p:nvSpPr>
        <p:spPr>
          <a:xfrm>
            <a:off x="1028246" y="2235200"/>
            <a:ext cx="7087508" cy="2159000"/>
          </a:xfrm>
          <a:prstGeom prst="rect">
            <a:avLst/>
          </a:prstGeom>
          <a:noFill/>
          <a:ln/>
        </p:spPr>
        <p:txBody>
          <a:bodyPr wrap="square" lIns="0" tIns="0" rIns="0" bIns="0" rtlCol="0" anchor="t"/>
          <a:lstStyle/>
          <a:p>
            <a:pPr marL="171450" indent="-171450">
              <a:lnSpc>
                <a:spcPts val="1600"/>
              </a:lnSpc>
              <a:buSzPct val="100000"/>
              <a:buChar char="•"/>
            </a:pPr>
            <a:r>
              <a:rPr lang="en-US" sz="1150">
                <a:solidFill>
                  <a:srgbClr val="6B6255"/>
                </a:solidFill>
                <a:latin typeface="Segoe UI" pitchFamily="34" charset="0"/>
                <a:ea typeface="Segoe UI" pitchFamily="34" charset="-122"/>
                <a:cs typeface="Segoe UI" pitchFamily="34" charset="-120"/>
              </a:rPr>
              <a:t>Close the demo code. Start from an empty WelcomeReport.java.</a:t>
            </a:r>
            <a:endParaRPr lang="en-US" sz="1150"/>
          </a:p>
          <a:p>
            <a:pPr marL="171450" indent="-171450">
              <a:lnSpc>
                <a:spcPts val="1600"/>
              </a:lnSpc>
              <a:buSzPct val="100000"/>
              <a:buChar char="•"/>
            </a:pPr>
            <a:r>
              <a:rPr lang="en-US" sz="1150">
                <a:solidFill>
                  <a:srgbClr val="6B6255"/>
                </a:solidFill>
                <a:latin typeface="Segoe UI" pitchFamily="34" charset="0"/>
                <a:ea typeface="Segoe UI" pitchFamily="34" charset="-122"/>
                <a:cs typeface="Segoe UI" pitchFamily="34" charset="-120"/>
              </a:rPr>
              <a:t>Type the class shell and main from memory.</a:t>
            </a:r>
            <a:endParaRPr lang="en-US" sz="1150"/>
          </a:p>
          <a:p>
            <a:pPr marL="171450" indent="-171450">
              <a:lnSpc>
                <a:spcPts val="1600"/>
              </a:lnSpc>
              <a:buSzPct val="100000"/>
              <a:buChar char="•"/>
            </a:pPr>
            <a:r>
              <a:rPr lang="en-US" sz="1150">
                <a:solidFill>
                  <a:srgbClr val="6B6255"/>
                </a:solidFill>
                <a:latin typeface="Segoe UI" pitchFamily="34" charset="0"/>
                <a:ea typeface="Segoe UI" pitchFamily="34" charset="-122"/>
                <a:cs typeface="Segoe UI" pitchFamily="34" charset="-120"/>
              </a:rPr>
              <a:t>Declare studentName (String), today (String), daysUntilQuarterEnd (int).</a:t>
            </a:r>
            <a:endParaRPr lang="en-US" sz="1150"/>
          </a:p>
          <a:p>
            <a:pPr marL="171450" indent="-171450">
              <a:lnSpc>
                <a:spcPts val="1600"/>
              </a:lnSpc>
              <a:buSzPct val="100000"/>
              <a:buChar char="•"/>
            </a:pPr>
            <a:r>
              <a:rPr lang="en-US" sz="1150">
                <a:solidFill>
                  <a:srgbClr val="6B6255"/>
                </a:solidFill>
                <a:latin typeface="Segoe UI" pitchFamily="34" charset="0"/>
                <a:ea typeface="Segoe UI" pitchFamily="34" charset="-122"/>
                <a:cs typeface="Segoe UI" pitchFamily="34" charset="-120"/>
              </a:rPr>
              <a:t>Use your own made-up values — no real personal data.</a:t>
            </a:r>
            <a:endParaRPr lang="en-US" sz="1150"/>
          </a:p>
          <a:p>
            <a:pPr marL="171450" indent="-171450">
              <a:lnSpc>
                <a:spcPts val="1600"/>
              </a:lnSpc>
              <a:buSzPct val="100000"/>
              <a:buChar char="•"/>
            </a:pPr>
            <a:r>
              <a:rPr lang="en-US" sz="1150">
                <a:solidFill>
                  <a:srgbClr val="6B6255"/>
                </a:solidFill>
                <a:latin typeface="Segoe UI" pitchFamily="34" charset="0"/>
                <a:ea typeface="Segoe UI" pitchFamily="34" charset="-122"/>
                <a:cs typeface="Segoe UI" pitchFamily="34" charset="-120"/>
              </a:rPr>
              <a:t>Print three labeled lines with println and +.</a:t>
            </a:r>
            <a:endParaRPr lang="en-US" sz="1150"/>
          </a:p>
          <a:p>
            <a:pPr marL="171450" indent="-171450">
              <a:lnSpc>
                <a:spcPts val="1600"/>
              </a:lnSpc>
              <a:buSzPct val="100000"/>
              <a:buChar char="•"/>
            </a:pPr>
            <a:r>
              <a:rPr lang="en-US" sz="1150">
                <a:solidFill>
                  <a:srgbClr val="6B6255"/>
                </a:solidFill>
                <a:latin typeface="Segoe UI" pitchFamily="34" charset="0"/>
                <a:ea typeface="Segoe UI" pitchFamily="34" charset="-122"/>
                <a:cs typeface="Segoe UI" pitchFamily="34" charset="-120"/>
              </a:rPr>
              <a:t>Compile and run from the terminal, then from VS Code.</a:t>
            </a:r>
            <a:endParaRPr lang="en-US" sz="1150"/>
          </a:p>
        </p:txBody>
      </p:sp>
    </p:spTree>
    <p:extLst>
      <p:ext uri="{BB962C8B-B14F-4D97-AF65-F5344CB8AC3E}">
        <p14:creationId xmlns:p14="http://schemas.microsoft.com/office/powerpoint/2010/main" val="41344736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
    <p:bg>
      <p:bgPr>
        <a:solidFill>
          <a:srgbClr val="F5EFE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EFE2"/>
          </a:solidFill>
          <a:ln w="3175">
            <a:solidFill>
              <a:srgbClr val="F5EFE2"/>
            </a:solidFill>
            <a:prstDash val="solid"/>
          </a:ln>
        </p:spPr>
        <p:txBody>
          <a:bodyPr/>
          <a:lstStyle/>
          <a:p>
            <a:endParaRPr lang="en-US"/>
          </a:p>
        </p:txBody>
      </p:sp>
      <p:sp>
        <p:nvSpPr>
          <p:cNvPr id="3" name="Text 1"/>
          <p:cNvSpPr/>
          <p:nvPr/>
        </p:nvSpPr>
        <p:spPr>
          <a:xfrm>
            <a:off x="548640" y="384048"/>
            <a:ext cx="5943600" cy="274320"/>
          </a:xfrm>
          <a:prstGeom prst="rect">
            <a:avLst/>
          </a:prstGeom>
          <a:noFill/>
          <a:ln/>
        </p:spPr>
        <p:txBody>
          <a:bodyPr wrap="square" lIns="0" tIns="0" rIns="0" bIns="0" rtlCol="0" anchor="ctr"/>
          <a:lstStyle/>
          <a:p>
            <a:pPr marL="0" indent="0">
              <a:buNone/>
            </a:pPr>
            <a:r>
              <a:rPr lang="en-US" sz="1150" b="1" kern="0" spc="300">
                <a:solidFill>
                  <a:srgbClr val="A9552F"/>
                </a:solidFill>
                <a:latin typeface="Segoe UI" pitchFamily="34" charset="0"/>
                <a:ea typeface="Segoe UI" pitchFamily="34" charset="-122"/>
                <a:cs typeface="Segoe UI" pitchFamily="34" charset="-120"/>
              </a:rPr>
              <a:t>EXERCISE 2 — BUILD IT YOURSELF</a:t>
            </a:r>
            <a:endParaRPr lang="en-US" sz="1150"/>
          </a:p>
        </p:txBody>
      </p:sp>
      <p:sp>
        <p:nvSpPr>
          <p:cNvPr id="4" name="Text 2"/>
          <p:cNvSpPr/>
          <p:nvPr/>
        </p:nvSpPr>
        <p:spPr>
          <a:xfrm>
            <a:off x="530352" y="676656"/>
            <a:ext cx="7200900" cy="548640"/>
          </a:xfrm>
          <a:prstGeom prst="rect">
            <a:avLst/>
          </a:prstGeom>
          <a:noFill/>
          <a:ln/>
        </p:spPr>
        <p:txBody>
          <a:bodyPr wrap="square" lIns="0" tIns="0" rIns="0" bIns="0" rtlCol="0" anchor="ctr"/>
          <a:lstStyle/>
          <a:p>
            <a:pPr marL="0" indent="0">
              <a:buNone/>
            </a:pPr>
            <a:r>
              <a:rPr lang="en-US" sz="2600" b="1">
                <a:solidFill>
                  <a:srgbClr val="1F3557"/>
                </a:solidFill>
                <a:latin typeface="Georgia" pitchFamily="34" charset="0"/>
                <a:ea typeface="Georgia" pitchFamily="34" charset="-122"/>
                <a:cs typeface="Georgia" pitchFamily="34" charset="-120"/>
              </a:rPr>
              <a:t>WelcomeReport: you are done when</a:t>
            </a:r>
            <a:endParaRPr lang="en-US" sz="3200"/>
          </a:p>
        </p:txBody>
      </p:sp>
      <p:sp>
        <p:nvSpPr>
          <p:cNvPr id="5" name="Shape 3"/>
          <p:cNvSpPr/>
          <p:nvPr/>
        </p:nvSpPr>
        <p:spPr>
          <a:xfrm>
            <a:off x="548640" y="1316736"/>
            <a:ext cx="1280160" cy="0"/>
          </a:xfrm>
          <a:prstGeom prst="line">
            <a:avLst/>
          </a:prstGeom>
          <a:noFill/>
          <a:ln w="28575">
            <a:solidFill>
              <a:srgbClr val="A9552F"/>
            </a:solidFill>
            <a:prstDash val="solid"/>
          </a:ln>
        </p:spPr>
        <p:txBody>
          <a:bodyPr/>
          <a:lstStyle/>
          <a:p>
            <a:endParaRPr lang="en-US"/>
          </a:p>
        </p:txBody>
      </p:sp>
      <p:sp>
        <p:nvSpPr>
          <p:cNvPr id="9" name="Shape 7"/>
          <p:cNvSpPr/>
          <p:nvPr/>
        </p:nvSpPr>
        <p:spPr>
          <a:xfrm>
            <a:off x="548640" y="1651000"/>
            <a:ext cx="8046720" cy="2819400"/>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10" name="Text 8"/>
          <p:cNvSpPr/>
          <p:nvPr/>
        </p:nvSpPr>
        <p:spPr>
          <a:xfrm>
            <a:off x="1028246" y="1866900"/>
            <a:ext cx="7087508" cy="279400"/>
          </a:xfrm>
          <a:prstGeom prst="rect">
            <a:avLst/>
          </a:prstGeom>
          <a:noFill/>
          <a:ln/>
        </p:spPr>
        <p:txBody>
          <a:bodyPr wrap="square" lIns="0" tIns="0" rIns="0" bIns="0" rtlCol="0" anchor="ctr"/>
          <a:lstStyle/>
          <a:p>
            <a:pPr marL="0" indent="0">
              <a:buNone/>
            </a:pPr>
            <a:r>
              <a:rPr lang="en-US" sz="1650" b="1">
                <a:solidFill>
                  <a:srgbClr val="1F3557"/>
                </a:solidFill>
                <a:latin typeface="Georgia" pitchFamily="34" charset="0"/>
                <a:ea typeface="Georgia" pitchFamily="34" charset="-122"/>
                <a:cs typeface="Georgia" pitchFamily="34" charset="-120"/>
              </a:rPr>
              <a:t>You are done when</a:t>
            </a:r>
            <a:endParaRPr lang="en-US" sz="1650"/>
          </a:p>
        </p:txBody>
      </p:sp>
      <p:sp>
        <p:nvSpPr>
          <p:cNvPr id="11" name="Text 9"/>
          <p:cNvSpPr/>
          <p:nvPr/>
        </p:nvSpPr>
        <p:spPr>
          <a:xfrm>
            <a:off x="1028246" y="2235200"/>
            <a:ext cx="7087508" cy="2159000"/>
          </a:xfrm>
          <a:prstGeom prst="rect">
            <a:avLst/>
          </a:prstGeom>
          <a:noFill/>
          <a:ln/>
        </p:spPr>
        <p:txBody>
          <a:bodyPr wrap="square" lIns="0" tIns="0" rIns="0" bIns="0" rtlCol="0" anchor="t"/>
          <a:lstStyle/>
          <a:p>
            <a:pPr marL="171450" indent="-171450">
              <a:lnSpc>
                <a:spcPts val="1600"/>
              </a:lnSpc>
              <a:buSzPct val="100000"/>
              <a:buChar char="•"/>
            </a:pPr>
            <a:r>
              <a:rPr lang="en-US" sz="1150">
                <a:solidFill>
                  <a:srgbClr val="6B6255"/>
                </a:solidFill>
                <a:latin typeface="Segoe UI" pitchFamily="34" charset="0"/>
                <a:ea typeface="Segoe UI" pitchFamily="34" charset="-122"/>
                <a:cs typeface="Segoe UI" pitchFamily="34" charset="-120"/>
              </a:rPr>
              <a:t>It compiles: javac finishes and a .class file appears.</a:t>
            </a:r>
            <a:endParaRPr lang="en-US" sz="1150"/>
          </a:p>
          <a:p>
            <a:pPr marL="171450" indent="-171450">
              <a:lnSpc>
                <a:spcPts val="1600"/>
              </a:lnSpc>
              <a:buSzPct val="100000"/>
              <a:buChar char="•"/>
            </a:pPr>
            <a:r>
              <a:rPr lang="en-US" sz="1150">
                <a:solidFill>
                  <a:srgbClr val="6B6255"/>
                </a:solidFill>
                <a:latin typeface="Segoe UI" pitchFamily="34" charset="0"/>
                <a:ea typeface="Segoe UI" pitchFamily="34" charset="-122"/>
                <a:cs typeface="Segoe UI" pitchFamily="34" charset="-120"/>
              </a:rPr>
              <a:t>It runs: java WelcomeReport — no file extension.</a:t>
            </a:r>
            <a:endParaRPr lang="en-US" sz="1150"/>
          </a:p>
          <a:p>
            <a:pPr marL="171450" indent="-171450">
              <a:lnSpc>
                <a:spcPts val="1600"/>
              </a:lnSpc>
              <a:buSzPct val="100000"/>
              <a:buChar char="•"/>
            </a:pPr>
            <a:r>
              <a:rPr lang="en-US" sz="1150">
                <a:solidFill>
                  <a:srgbClr val="6B6255"/>
                </a:solidFill>
                <a:latin typeface="Segoe UI" pitchFamily="34" charset="0"/>
                <a:ea typeface="Segoe UI" pitchFamily="34" charset="-122"/>
                <a:cs typeface="Segoe UI" pitchFamily="34" charset="-120"/>
              </a:rPr>
              <a:t>Three readable lines print, each with a label and a value.</a:t>
            </a:r>
            <a:endParaRPr lang="en-US" sz="1150"/>
          </a:p>
          <a:p>
            <a:pPr marL="171450" indent="-171450">
              <a:lnSpc>
                <a:spcPts val="1600"/>
              </a:lnSpc>
              <a:buSzPct val="100000"/>
              <a:buChar char="•"/>
            </a:pPr>
            <a:r>
              <a:rPr lang="en-US" sz="1150">
                <a:solidFill>
                  <a:srgbClr val="6B6255"/>
                </a:solidFill>
                <a:latin typeface="Segoe UI" pitchFamily="34" charset="0"/>
                <a:ea typeface="Segoe UI" pitchFamily="34" charset="-122"/>
                <a:cs typeface="Segoe UI" pitchFamily="34" charset="-120"/>
              </a:rPr>
              <a:t>The values are the ones you declared.</a:t>
            </a:r>
            <a:endParaRPr lang="en-US" sz="1150"/>
          </a:p>
          <a:p>
            <a:pPr marL="171450" indent="-171450">
              <a:lnSpc>
                <a:spcPts val="1600"/>
              </a:lnSpc>
              <a:buSzPct val="100000"/>
              <a:buChar char="•"/>
            </a:pPr>
            <a:r>
              <a:rPr lang="en-US" sz="1150">
                <a:solidFill>
                  <a:srgbClr val="6B6255"/>
                </a:solidFill>
                <a:latin typeface="Segoe UI" pitchFamily="34" charset="0"/>
                <a:ea typeface="Segoe UI" pitchFamily="34" charset="-122"/>
                <a:cs typeface="Segoe UI" pitchFamily="34" charset="-120"/>
              </a:rPr>
              <a:t>Strings are quoted; the int is not.</a:t>
            </a:r>
            <a:endParaRPr lang="en-US" sz="1150"/>
          </a:p>
        </p:txBody>
      </p:sp>
    </p:spTree>
    <p:extLst>
      <p:ext uri="{BB962C8B-B14F-4D97-AF65-F5344CB8AC3E}">
        <p14:creationId xmlns:p14="http://schemas.microsoft.com/office/powerpoint/2010/main" val="20674902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
    <p:bg>
      <p:bgPr>
        <a:solidFill>
          <a:srgbClr val="F5EFE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EFE2"/>
          </a:solidFill>
          <a:ln w="3175">
            <a:solidFill>
              <a:srgbClr val="F5EFE2"/>
            </a:solidFill>
            <a:prstDash val="solid"/>
          </a:ln>
        </p:spPr>
        <p:txBody>
          <a:bodyPr/>
          <a:lstStyle/>
          <a:p>
            <a:endParaRPr lang="en-US"/>
          </a:p>
        </p:txBody>
      </p:sp>
      <p:sp>
        <p:nvSpPr>
          <p:cNvPr id="3" name="Text 1"/>
          <p:cNvSpPr/>
          <p:nvPr/>
        </p:nvSpPr>
        <p:spPr>
          <a:xfrm>
            <a:off x="548640" y="384048"/>
            <a:ext cx="5943600" cy="274320"/>
          </a:xfrm>
          <a:prstGeom prst="rect">
            <a:avLst/>
          </a:prstGeom>
          <a:noFill/>
          <a:ln/>
        </p:spPr>
        <p:txBody>
          <a:bodyPr wrap="square" lIns="0" tIns="0" rIns="0" bIns="0" rtlCol="0" anchor="ctr"/>
          <a:lstStyle/>
          <a:p>
            <a:pPr marL="0" indent="0">
              <a:buNone/>
            </a:pPr>
            <a:r>
              <a:rPr lang="en-US" sz="1300" b="1" kern="0" spc="300">
                <a:solidFill>
                  <a:srgbClr val="A9552F"/>
                </a:solidFill>
                <a:latin typeface="Segoe UI" pitchFamily="34" charset="0"/>
                <a:ea typeface="Segoe UI" pitchFamily="34" charset="-122"/>
                <a:cs typeface="Segoe UI" pitchFamily="34" charset="-120"/>
              </a:rPr>
              <a:t>EXERCISE 3 — ADD A VARIABLE</a:t>
            </a:r>
            <a:endParaRPr lang="en-US" sz="1300"/>
          </a:p>
        </p:txBody>
      </p:sp>
      <p:sp>
        <p:nvSpPr>
          <p:cNvPr id="4" name="Text 2"/>
          <p:cNvSpPr/>
          <p:nvPr/>
        </p:nvSpPr>
        <p:spPr>
          <a:xfrm>
            <a:off x="530352" y="676656"/>
            <a:ext cx="7200900" cy="548640"/>
          </a:xfrm>
          <a:prstGeom prst="rect">
            <a:avLst/>
          </a:prstGeom>
          <a:noFill/>
          <a:ln/>
        </p:spPr>
        <p:txBody>
          <a:bodyPr wrap="square" lIns="0" tIns="0" rIns="0" bIns="0" rtlCol="0" anchor="ctr"/>
          <a:lstStyle/>
          <a:p>
            <a:pPr marL="0" indent="0">
              <a:buNone/>
            </a:pPr>
            <a:r>
              <a:rPr lang="en-US" sz="2600" b="1" dirty="0">
                <a:solidFill>
                  <a:srgbClr val="1F3557"/>
                </a:solidFill>
                <a:latin typeface="Georgia" pitchFamily="34" charset="0"/>
                <a:ea typeface="Georgia" pitchFamily="34" charset="-122"/>
                <a:cs typeface="Georgia" pitchFamily="34" charset="-120"/>
              </a:rPr>
              <a:t>MemberWelcomeReport</a:t>
            </a:r>
            <a:r>
              <a:rPr lang="en-US" sz="2600" b="1">
                <a:solidFill>
                  <a:srgbClr val="1F3557"/>
                </a:solidFill>
                <a:latin typeface="Georgia" pitchFamily="34" charset="0"/>
                <a:ea typeface="Georgia" pitchFamily="34" charset="-122"/>
                <a:cs typeface="Georgia" pitchFamily="34" charset="-120"/>
              </a:rPr>
              <a:t>: requirements</a:t>
            </a:r>
            <a:endParaRPr lang="en-US" sz="3200" dirty="0"/>
          </a:p>
        </p:txBody>
      </p:sp>
      <p:sp>
        <p:nvSpPr>
          <p:cNvPr id="5" name="Shape 3"/>
          <p:cNvSpPr/>
          <p:nvPr/>
        </p:nvSpPr>
        <p:spPr>
          <a:xfrm>
            <a:off x="548640" y="1316736"/>
            <a:ext cx="1280160" cy="0"/>
          </a:xfrm>
          <a:prstGeom prst="line">
            <a:avLst/>
          </a:prstGeom>
          <a:noFill/>
          <a:ln w="28575">
            <a:solidFill>
              <a:srgbClr val="A9552F"/>
            </a:solidFill>
            <a:prstDash val="solid"/>
          </a:ln>
        </p:spPr>
        <p:txBody>
          <a:bodyPr/>
          <a:lstStyle/>
          <a:p>
            <a:endParaRPr lang="en-US"/>
          </a:p>
        </p:txBody>
      </p:sp>
      <p:sp>
        <p:nvSpPr>
          <p:cNvPr id="6" name="Shape 4"/>
          <p:cNvSpPr/>
          <p:nvPr/>
        </p:nvSpPr>
        <p:spPr>
          <a:xfrm>
            <a:off x="548640" y="1651000"/>
            <a:ext cx="8046720" cy="3213202"/>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7" name="Text 5"/>
          <p:cNvSpPr/>
          <p:nvPr/>
        </p:nvSpPr>
        <p:spPr>
          <a:xfrm>
            <a:off x="1028246" y="1866900"/>
            <a:ext cx="7087508" cy="279400"/>
          </a:xfrm>
          <a:prstGeom prst="rect">
            <a:avLst/>
          </a:prstGeom>
          <a:noFill/>
          <a:ln/>
        </p:spPr>
        <p:txBody>
          <a:bodyPr wrap="square" lIns="0" tIns="0" rIns="0" bIns="0" rtlCol="0" anchor="ctr"/>
          <a:lstStyle/>
          <a:p>
            <a:pPr marL="0" indent="0">
              <a:buNone/>
            </a:pPr>
            <a:r>
              <a:rPr lang="en-US" sz="1650" b="1">
                <a:solidFill>
                  <a:srgbClr val="1F3557"/>
                </a:solidFill>
                <a:latin typeface="Georgia" pitchFamily="34" charset="0"/>
                <a:ea typeface="Georgia" pitchFamily="34" charset="-122"/>
                <a:cs typeface="Georgia" pitchFamily="34" charset="-120"/>
              </a:rPr>
              <a:t>Requirements</a:t>
            </a:r>
            <a:endParaRPr lang="en-US" sz="1650"/>
          </a:p>
        </p:txBody>
      </p:sp>
      <p:sp>
        <p:nvSpPr>
          <p:cNvPr id="8" name="Text 6"/>
          <p:cNvSpPr/>
          <p:nvPr/>
        </p:nvSpPr>
        <p:spPr>
          <a:xfrm>
            <a:off x="1028246" y="2235200"/>
            <a:ext cx="7087508" cy="2629814"/>
          </a:xfrm>
          <a:prstGeom prst="rect">
            <a:avLst/>
          </a:prstGeom>
          <a:noFill/>
          <a:ln/>
        </p:spPr>
        <p:txBody>
          <a:bodyPr wrap="square" lIns="0" tIns="0" rIns="0" bIns="0" rtlCol="0" anchor="t"/>
          <a:lstStyle/>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File and public class must both be MemberWelcomeReport.</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Declare memberName and planName as String.</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Declare groupNumber and enrollmentYear as int.</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Print each value on its own labeled line.</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Add one welcome sentence joining memberName and enrollmentYear.</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Use fictional data only — never a real member, plan, or claim.</a:t>
            </a:r>
            <a:endParaRPr lang="en-US" sz="1350"/>
          </a:p>
        </p:txBody>
      </p:sp>
    </p:spTree>
    <p:extLst>
      <p:ext uri="{BB962C8B-B14F-4D97-AF65-F5344CB8AC3E}">
        <p14:creationId xmlns:p14="http://schemas.microsoft.com/office/powerpoint/2010/main" val="26182031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
    <p:bg>
      <p:bgPr>
        <a:solidFill>
          <a:srgbClr val="F5EFE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EFE2"/>
          </a:solidFill>
          <a:ln w="3175">
            <a:solidFill>
              <a:srgbClr val="F5EFE2"/>
            </a:solidFill>
            <a:prstDash val="solid"/>
          </a:ln>
        </p:spPr>
        <p:txBody>
          <a:bodyPr/>
          <a:lstStyle/>
          <a:p>
            <a:endParaRPr lang="en-US"/>
          </a:p>
        </p:txBody>
      </p:sp>
      <p:sp>
        <p:nvSpPr>
          <p:cNvPr id="3" name="Text 1"/>
          <p:cNvSpPr/>
          <p:nvPr/>
        </p:nvSpPr>
        <p:spPr>
          <a:xfrm>
            <a:off x="548640" y="384048"/>
            <a:ext cx="5943600" cy="274320"/>
          </a:xfrm>
          <a:prstGeom prst="rect">
            <a:avLst/>
          </a:prstGeom>
          <a:noFill/>
          <a:ln/>
        </p:spPr>
        <p:txBody>
          <a:bodyPr wrap="square" lIns="0" tIns="0" rIns="0" bIns="0" rtlCol="0" anchor="ctr"/>
          <a:lstStyle/>
          <a:p>
            <a:pPr marL="0" indent="0">
              <a:buNone/>
            </a:pPr>
            <a:r>
              <a:rPr lang="en-US" sz="1300" b="1" kern="0" spc="300">
                <a:solidFill>
                  <a:srgbClr val="A9552F"/>
                </a:solidFill>
                <a:latin typeface="Segoe UI" pitchFamily="34" charset="0"/>
                <a:ea typeface="Segoe UI" pitchFamily="34" charset="-122"/>
                <a:cs typeface="Segoe UI" pitchFamily="34" charset="-120"/>
              </a:rPr>
              <a:t>EXERCISE 3 — ADD A VARIABLE</a:t>
            </a:r>
            <a:endParaRPr lang="en-US" sz="1300"/>
          </a:p>
        </p:txBody>
      </p:sp>
      <p:sp>
        <p:nvSpPr>
          <p:cNvPr id="4" name="Text 2"/>
          <p:cNvSpPr/>
          <p:nvPr/>
        </p:nvSpPr>
        <p:spPr>
          <a:xfrm>
            <a:off x="530352" y="676656"/>
            <a:ext cx="7200900" cy="548640"/>
          </a:xfrm>
          <a:prstGeom prst="rect">
            <a:avLst/>
          </a:prstGeom>
          <a:noFill/>
          <a:ln/>
        </p:spPr>
        <p:txBody>
          <a:bodyPr wrap="square" lIns="0" tIns="0" rIns="0" bIns="0" rtlCol="0" anchor="ctr"/>
          <a:lstStyle/>
          <a:p>
            <a:pPr marL="0" indent="0">
              <a:buNone/>
            </a:pPr>
            <a:r>
              <a:rPr lang="en-US" sz="2600" b="1">
                <a:solidFill>
                  <a:srgbClr val="1F3557"/>
                </a:solidFill>
                <a:latin typeface="Georgia" pitchFamily="34" charset="0"/>
                <a:ea typeface="Georgia" pitchFamily="34" charset="-122"/>
                <a:cs typeface="Georgia" pitchFamily="34" charset="-120"/>
              </a:rPr>
              <a:t>You are done when</a:t>
            </a:r>
            <a:endParaRPr lang="en-US" sz="3200"/>
          </a:p>
        </p:txBody>
      </p:sp>
      <p:sp>
        <p:nvSpPr>
          <p:cNvPr id="5" name="Shape 3"/>
          <p:cNvSpPr/>
          <p:nvPr/>
        </p:nvSpPr>
        <p:spPr>
          <a:xfrm>
            <a:off x="548640" y="1316736"/>
            <a:ext cx="1280160" cy="0"/>
          </a:xfrm>
          <a:prstGeom prst="line">
            <a:avLst/>
          </a:prstGeom>
          <a:noFill/>
          <a:ln w="28575">
            <a:solidFill>
              <a:srgbClr val="A9552F"/>
            </a:solidFill>
            <a:prstDash val="solid"/>
          </a:ln>
        </p:spPr>
        <p:txBody>
          <a:bodyPr/>
          <a:lstStyle/>
          <a:p>
            <a:endParaRPr lang="en-US"/>
          </a:p>
        </p:txBody>
      </p:sp>
      <p:sp>
        <p:nvSpPr>
          <p:cNvPr id="9" name="Shape 7"/>
          <p:cNvSpPr/>
          <p:nvPr/>
        </p:nvSpPr>
        <p:spPr>
          <a:xfrm>
            <a:off x="548640" y="1651000"/>
            <a:ext cx="8046720" cy="3213202"/>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10" name="Text 8"/>
          <p:cNvSpPr/>
          <p:nvPr/>
        </p:nvSpPr>
        <p:spPr>
          <a:xfrm>
            <a:off x="1028246" y="1866900"/>
            <a:ext cx="7087508" cy="279400"/>
          </a:xfrm>
          <a:prstGeom prst="rect">
            <a:avLst/>
          </a:prstGeom>
          <a:noFill/>
          <a:ln/>
        </p:spPr>
        <p:txBody>
          <a:bodyPr wrap="square" lIns="0" tIns="0" rIns="0" bIns="0" rtlCol="0" anchor="ctr"/>
          <a:lstStyle/>
          <a:p>
            <a:pPr marL="0" indent="0">
              <a:buNone/>
            </a:pPr>
            <a:r>
              <a:rPr lang="en-US" sz="1650" b="1">
                <a:solidFill>
                  <a:srgbClr val="1F3557"/>
                </a:solidFill>
                <a:latin typeface="Georgia" pitchFamily="34" charset="0"/>
                <a:ea typeface="Georgia" pitchFamily="34" charset="-122"/>
                <a:cs typeface="Georgia" pitchFamily="34" charset="-120"/>
              </a:rPr>
              <a:t>You are done when</a:t>
            </a:r>
            <a:endParaRPr lang="en-US" sz="1650"/>
          </a:p>
        </p:txBody>
      </p:sp>
      <p:sp>
        <p:nvSpPr>
          <p:cNvPr id="11" name="Text 9"/>
          <p:cNvSpPr/>
          <p:nvPr/>
        </p:nvSpPr>
        <p:spPr>
          <a:xfrm>
            <a:off x="1028246" y="2235200"/>
            <a:ext cx="7087508" cy="2629814"/>
          </a:xfrm>
          <a:prstGeom prst="rect">
            <a:avLst/>
          </a:prstGeom>
          <a:noFill/>
          <a:ln/>
        </p:spPr>
        <p:txBody>
          <a:bodyPr wrap="square" lIns="0" tIns="0" rIns="0" bIns="0" rtlCol="0" anchor="t"/>
          <a:lstStyle/>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Five lines print: four labeled values plus the sentence.</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Numbers appear without quotation marks.</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Every declaration and println ends in a semicolon.</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Compile and run before you add the final sentence.</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Then run it once more to confirm nothing broke.</a:t>
            </a:r>
            <a:endParaRPr lang="en-US" sz="1350"/>
          </a:p>
        </p:txBody>
      </p:sp>
    </p:spTree>
    <p:extLst>
      <p:ext uri="{BB962C8B-B14F-4D97-AF65-F5344CB8AC3E}">
        <p14:creationId xmlns:p14="http://schemas.microsoft.com/office/powerpoint/2010/main" val="29573982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
    <p:bg>
      <p:bgPr>
        <a:solidFill>
          <a:srgbClr val="F5EFE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EFE2"/>
          </a:solidFill>
          <a:ln w="3175">
            <a:solidFill>
              <a:srgbClr val="F5EFE2"/>
            </a:solidFill>
            <a:prstDash val="solid"/>
          </a:ln>
        </p:spPr>
        <p:txBody>
          <a:bodyPr/>
          <a:lstStyle/>
          <a:p>
            <a:endParaRPr lang="en-US"/>
          </a:p>
        </p:txBody>
      </p:sp>
      <p:sp>
        <p:nvSpPr>
          <p:cNvPr id="3" name="Text 1"/>
          <p:cNvSpPr/>
          <p:nvPr/>
        </p:nvSpPr>
        <p:spPr>
          <a:xfrm>
            <a:off x="548640" y="384048"/>
            <a:ext cx="5943600" cy="274320"/>
          </a:xfrm>
          <a:prstGeom prst="rect">
            <a:avLst/>
          </a:prstGeom>
          <a:noFill/>
          <a:ln/>
        </p:spPr>
        <p:txBody>
          <a:bodyPr wrap="square" lIns="0" tIns="0" rIns="0" bIns="0" rtlCol="0" anchor="ctr"/>
          <a:lstStyle/>
          <a:p>
            <a:pPr marL="0" indent="0">
              <a:buNone/>
            </a:pPr>
            <a:r>
              <a:rPr lang="en-US" sz="1300" b="1" kern="0" spc="300">
                <a:solidFill>
                  <a:srgbClr val="A9552F"/>
                </a:solidFill>
                <a:latin typeface="Segoe UI" pitchFamily="34" charset="0"/>
                <a:ea typeface="Segoe UI" pitchFamily="34" charset="-122"/>
                <a:cs typeface="Segoe UI" pitchFamily="34" charset="-120"/>
              </a:rPr>
              <a:t>CHECKPOINT — NO STARTER, TRY IT UNAIDED</a:t>
            </a:r>
            <a:endParaRPr lang="en-US" sz="1300"/>
          </a:p>
        </p:txBody>
      </p:sp>
      <p:sp>
        <p:nvSpPr>
          <p:cNvPr id="4" name="Text 2"/>
          <p:cNvSpPr/>
          <p:nvPr/>
        </p:nvSpPr>
        <p:spPr>
          <a:xfrm>
            <a:off x="530352" y="676656"/>
            <a:ext cx="7200900" cy="548640"/>
          </a:xfrm>
          <a:prstGeom prst="rect">
            <a:avLst/>
          </a:prstGeom>
          <a:noFill/>
          <a:ln/>
        </p:spPr>
        <p:txBody>
          <a:bodyPr wrap="square" lIns="0" tIns="0" rIns="0" bIns="0" rtlCol="0" anchor="ctr"/>
          <a:lstStyle/>
          <a:p>
            <a:pPr marL="0" indent="0">
              <a:buNone/>
            </a:pPr>
            <a:r>
              <a:rPr lang="en-US" sz="2600" b="1" dirty="0">
                <a:solidFill>
                  <a:srgbClr val="1F3557"/>
                </a:solidFill>
                <a:latin typeface="Georgia" pitchFamily="34" charset="0"/>
                <a:ea typeface="Georgia" pitchFamily="34" charset="-122"/>
                <a:cs typeface="Georgia" pitchFamily="34" charset="-120"/>
              </a:rPr>
              <a:t>ClaimStatusReport, on your own</a:t>
            </a:r>
            <a:endParaRPr lang="en-US" sz="3200" dirty="0"/>
          </a:p>
        </p:txBody>
      </p:sp>
      <p:sp>
        <p:nvSpPr>
          <p:cNvPr id="5" name="Shape 3"/>
          <p:cNvSpPr/>
          <p:nvPr/>
        </p:nvSpPr>
        <p:spPr>
          <a:xfrm>
            <a:off x="548640" y="1316736"/>
            <a:ext cx="1280160" cy="0"/>
          </a:xfrm>
          <a:prstGeom prst="line">
            <a:avLst/>
          </a:prstGeom>
          <a:noFill/>
          <a:ln w="28575">
            <a:solidFill>
              <a:srgbClr val="A9552F"/>
            </a:solidFill>
            <a:prstDash val="solid"/>
          </a:ln>
        </p:spPr>
        <p:txBody>
          <a:bodyPr/>
          <a:lstStyle/>
          <a:p>
            <a:endParaRPr lang="en-US"/>
          </a:p>
        </p:txBody>
      </p:sp>
      <p:sp>
        <p:nvSpPr>
          <p:cNvPr id="6" name="Shape 4"/>
          <p:cNvSpPr/>
          <p:nvPr/>
        </p:nvSpPr>
        <p:spPr>
          <a:xfrm>
            <a:off x="546100" y="1651000"/>
            <a:ext cx="3835400" cy="2819400"/>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7" name="Text 5"/>
          <p:cNvSpPr/>
          <p:nvPr/>
        </p:nvSpPr>
        <p:spPr>
          <a:xfrm>
            <a:off x="774700" y="1866900"/>
            <a:ext cx="3378200" cy="279400"/>
          </a:xfrm>
          <a:prstGeom prst="rect">
            <a:avLst/>
          </a:prstGeom>
          <a:noFill/>
          <a:ln/>
        </p:spPr>
        <p:txBody>
          <a:bodyPr wrap="square" lIns="0" tIns="0" rIns="0" bIns="0" rtlCol="0" anchor="ctr"/>
          <a:lstStyle/>
          <a:p>
            <a:pPr marL="0" indent="0">
              <a:buNone/>
            </a:pPr>
            <a:r>
              <a:rPr lang="en-US" sz="1650" b="1">
                <a:solidFill>
                  <a:srgbClr val="1F3557"/>
                </a:solidFill>
                <a:latin typeface="Georgia" pitchFamily="34" charset="0"/>
                <a:ea typeface="Georgia" pitchFamily="34" charset="-122"/>
                <a:cs typeface="Georgia" pitchFamily="34" charset="-120"/>
              </a:rPr>
              <a:t>The prompt</a:t>
            </a:r>
            <a:endParaRPr lang="en-US" sz="1650"/>
          </a:p>
        </p:txBody>
      </p:sp>
      <p:sp>
        <p:nvSpPr>
          <p:cNvPr id="8" name="Text 6"/>
          <p:cNvSpPr/>
          <p:nvPr/>
        </p:nvSpPr>
        <p:spPr>
          <a:xfrm>
            <a:off x="774700" y="2235200"/>
            <a:ext cx="3378200" cy="2159000"/>
          </a:xfrm>
          <a:prstGeom prst="rect">
            <a:avLst/>
          </a:prstGeom>
          <a:noFill/>
          <a:ln/>
        </p:spPr>
        <p:txBody>
          <a:bodyPr wrap="square" lIns="0" tIns="0" rIns="0" bIns="0" rtlCol="0" anchor="t"/>
          <a:lstStyle/>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Create ClaimStatusReport.java from a blank file.</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Declare a String for a claim number, e.g. CLM-TRAIN-1042.</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Declare an int for the number of days the claim has been open.</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Print one sentence that combines both values.</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Compile and run it. Diagnose any error yourself first.</a:t>
            </a:r>
            <a:endParaRPr lang="en-US" sz="1350"/>
          </a:p>
        </p:txBody>
      </p:sp>
      <p:sp>
        <p:nvSpPr>
          <p:cNvPr id="9" name="Shape 7"/>
          <p:cNvSpPr/>
          <p:nvPr/>
        </p:nvSpPr>
        <p:spPr>
          <a:xfrm>
            <a:off x="4762500" y="1651000"/>
            <a:ext cx="3835400" cy="2819400"/>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10" name="Text 8"/>
          <p:cNvSpPr/>
          <p:nvPr/>
        </p:nvSpPr>
        <p:spPr>
          <a:xfrm>
            <a:off x="4991100" y="1866900"/>
            <a:ext cx="3378200" cy="279400"/>
          </a:xfrm>
          <a:prstGeom prst="rect">
            <a:avLst/>
          </a:prstGeom>
          <a:noFill/>
          <a:ln/>
        </p:spPr>
        <p:txBody>
          <a:bodyPr wrap="square" lIns="0" tIns="0" rIns="0" bIns="0" rtlCol="0" anchor="ctr"/>
          <a:lstStyle/>
          <a:p>
            <a:pPr marL="0" indent="0">
              <a:buNone/>
            </a:pPr>
            <a:r>
              <a:rPr lang="en-US" sz="1650" b="1">
                <a:solidFill>
                  <a:srgbClr val="1F3557"/>
                </a:solidFill>
                <a:latin typeface="Georgia" pitchFamily="34" charset="0"/>
                <a:ea typeface="Georgia" pitchFamily="34" charset="-122"/>
                <a:cs typeface="Georgia" pitchFamily="34" charset="-120"/>
              </a:rPr>
              <a:t>Expected output</a:t>
            </a:r>
            <a:endParaRPr lang="en-US" sz="1650"/>
          </a:p>
        </p:txBody>
      </p:sp>
      <p:sp>
        <p:nvSpPr>
          <p:cNvPr id="11" name="Text 9"/>
          <p:cNvSpPr/>
          <p:nvPr/>
        </p:nvSpPr>
        <p:spPr>
          <a:xfrm>
            <a:off x="4991100" y="2235200"/>
            <a:ext cx="3378200" cy="2159000"/>
          </a:xfrm>
          <a:prstGeom prst="rect">
            <a:avLst/>
          </a:prstGeom>
          <a:noFill/>
          <a:ln/>
        </p:spPr>
        <p:txBody>
          <a:bodyPr wrap="square" lIns="0" tIns="0" rIns="0" bIns="0" rtlCol="0" anchor="t"/>
          <a:lstStyle/>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Claim CLM-TRAIN-1042 has been open for 12 days.</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This is ungraded — it shows whether the pattern is sticking.</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Stuck for more than five minutes? Raise your hand.</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Finished early? Add a second claim and print both.</a:t>
            </a:r>
            <a:endParaRPr lang="en-US" sz="1350"/>
          </a:p>
        </p:txBody>
      </p:sp>
    </p:spTree>
    <p:extLst>
      <p:ext uri="{BB962C8B-B14F-4D97-AF65-F5344CB8AC3E}">
        <p14:creationId xmlns:p14="http://schemas.microsoft.com/office/powerpoint/2010/main" val="11603478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
    <p:bg>
      <p:bgPr>
        <a:solidFill>
          <a:srgbClr val="F5EFE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EFE2"/>
          </a:solidFill>
          <a:ln w="3175">
            <a:solidFill>
              <a:srgbClr val="F5EFE2"/>
            </a:solidFill>
            <a:prstDash val="solid"/>
          </a:ln>
        </p:spPr>
        <p:txBody>
          <a:bodyPr/>
          <a:lstStyle/>
          <a:p>
            <a:endParaRPr lang="en-US"/>
          </a:p>
        </p:txBody>
      </p:sp>
      <p:sp>
        <p:nvSpPr>
          <p:cNvPr id="3" name="Text 1"/>
          <p:cNvSpPr/>
          <p:nvPr/>
        </p:nvSpPr>
        <p:spPr>
          <a:xfrm>
            <a:off x="548640" y="384048"/>
            <a:ext cx="5943600" cy="274320"/>
          </a:xfrm>
          <a:prstGeom prst="rect">
            <a:avLst/>
          </a:prstGeom>
          <a:noFill/>
          <a:ln/>
        </p:spPr>
        <p:txBody>
          <a:bodyPr wrap="square" lIns="0" tIns="0" rIns="0" bIns="0" rtlCol="0" anchor="ctr"/>
          <a:lstStyle/>
          <a:p>
            <a:pPr marL="0" indent="0">
              <a:buNone/>
            </a:pPr>
            <a:r>
              <a:rPr lang="en-US" sz="1300" b="1" kern="0" spc="300">
                <a:solidFill>
                  <a:srgbClr val="A9552F"/>
                </a:solidFill>
                <a:latin typeface="Segoe UI" pitchFamily="34" charset="0"/>
                <a:ea typeface="Segoe UI" pitchFamily="34" charset="-122"/>
                <a:cs typeface="Segoe UI" pitchFamily="34" charset="-120"/>
              </a:rPr>
              <a:t>AFTERNOON PROJECT — 2:40 TO 5:00</a:t>
            </a:r>
            <a:endParaRPr lang="en-US" sz="1300"/>
          </a:p>
        </p:txBody>
      </p:sp>
      <p:sp>
        <p:nvSpPr>
          <p:cNvPr id="4" name="Text 2"/>
          <p:cNvSpPr/>
          <p:nvPr/>
        </p:nvSpPr>
        <p:spPr>
          <a:xfrm>
            <a:off x="530352" y="676656"/>
            <a:ext cx="7200900" cy="548640"/>
          </a:xfrm>
          <a:prstGeom prst="rect">
            <a:avLst/>
          </a:prstGeom>
          <a:noFill/>
          <a:ln/>
        </p:spPr>
        <p:txBody>
          <a:bodyPr wrap="square" lIns="0" tIns="0" rIns="0" bIns="0" rtlCol="0" anchor="ctr"/>
          <a:lstStyle/>
          <a:p>
            <a:pPr marL="0" indent="0">
              <a:buNone/>
            </a:pPr>
            <a:r>
              <a:rPr lang="en-US" sz="2600" b="1" dirty="0">
                <a:solidFill>
                  <a:srgbClr val="1F3557"/>
                </a:solidFill>
                <a:latin typeface="Georgia" pitchFamily="34" charset="0"/>
                <a:ea typeface="Georgia" pitchFamily="34" charset="-122"/>
                <a:cs typeface="Georgia" pitchFamily="34" charset="-120"/>
              </a:rPr>
              <a:t>Member Benefits Summary Report</a:t>
            </a:r>
            <a:endParaRPr lang="en-US" sz="3200" dirty="0"/>
          </a:p>
        </p:txBody>
      </p:sp>
      <p:sp>
        <p:nvSpPr>
          <p:cNvPr id="5" name="Shape 3"/>
          <p:cNvSpPr/>
          <p:nvPr/>
        </p:nvSpPr>
        <p:spPr>
          <a:xfrm>
            <a:off x="548640" y="1316736"/>
            <a:ext cx="1280160" cy="0"/>
          </a:xfrm>
          <a:prstGeom prst="line">
            <a:avLst/>
          </a:prstGeom>
          <a:noFill/>
          <a:ln w="28575">
            <a:solidFill>
              <a:srgbClr val="A9552F"/>
            </a:solidFill>
            <a:prstDash val="solid"/>
          </a:ln>
        </p:spPr>
        <p:txBody>
          <a:bodyPr/>
          <a:lstStyle/>
          <a:p>
            <a:endParaRPr lang="en-US"/>
          </a:p>
        </p:txBody>
      </p:sp>
      <p:sp>
        <p:nvSpPr>
          <p:cNvPr id="6" name="Shape 4"/>
          <p:cNvSpPr/>
          <p:nvPr/>
        </p:nvSpPr>
        <p:spPr>
          <a:xfrm>
            <a:off x="548640" y="1651000"/>
            <a:ext cx="8046720" cy="2819400"/>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7" name="Text 5"/>
          <p:cNvSpPr/>
          <p:nvPr/>
        </p:nvSpPr>
        <p:spPr>
          <a:xfrm>
            <a:off x="1028246" y="1866900"/>
            <a:ext cx="7087508" cy="279400"/>
          </a:xfrm>
          <a:prstGeom prst="rect">
            <a:avLst/>
          </a:prstGeom>
          <a:noFill/>
          <a:ln/>
        </p:spPr>
        <p:txBody>
          <a:bodyPr wrap="square" lIns="0" tIns="0" rIns="0" bIns="0" rtlCol="0" anchor="ctr"/>
          <a:lstStyle/>
          <a:p>
            <a:pPr marL="0" indent="0">
              <a:buNone/>
            </a:pPr>
            <a:r>
              <a:rPr lang="en-US" sz="1650" b="1">
                <a:solidFill>
                  <a:srgbClr val="1F3557"/>
                </a:solidFill>
                <a:latin typeface="Georgia" pitchFamily="34" charset="0"/>
                <a:ea typeface="Georgia" pitchFamily="34" charset="-122"/>
                <a:cs typeface="Georgia" pitchFamily="34" charset="-120"/>
              </a:rPr>
              <a:t>What you are building</a:t>
            </a:r>
            <a:endParaRPr lang="en-US" sz="1650"/>
          </a:p>
        </p:txBody>
      </p:sp>
      <p:sp>
        <p:nvSpPr>
          <p:cNvPr id="8" name="Text 6"/>
          <p:cNvSpPr/>
          <p:nvPr/>
        </p:nvSpPr>
        <p:spPr>
          <a:xfrm>
            <a:off x="1028246" y="2235200"/>
            <a:ext cx="7087508" cy="2159000"/>
          </a:xfrm>
          <a:prstGeom prst="rect">
            <a:avLst/>
          </a:prstGeom>
          <a:noFill/>
          <a:ln/>
        </p:spPr>
        <p:txBody>
          <a:bodyPr wrap="square" lIns="0" tIns="0" rIns="0" bIns="0" rtlCol="0" anchor="t"/>
          <a:lstStyle/>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A single console program that prints a clean, readable benefits summary for one fictional member.</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It is the first working piece of the Benefits Estimate Calculator we build over this course.</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Day 1 tools only: String and int variables, println, comments, and + concatenation.</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No keyboard input, no decimals, no if statements, no loops, no extra methods.</a:t>
            </a:r>
            <a:endParaRPr lang="en-US" sz="1350"/>
          </a:p>
        </p:txBody>
      </p:sp>
    </p:spTree>
    <p:extLst>
      <p:ext uri="{BB962C8B-B14F-4D97-AF65-F5344CB8AC3E}">
        <p14:creationId xmlns:p14="http://schemas.microsoft.com/office/powerpoint/2010/main" val="635249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
    <p:bg>
      <p:bgPr>
        <a:solidFill>
          <a:srgbClr val="F5EFE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EFE2"/>
          </a:solidFill>
          <a:ln w="3175">
            <a:solidFill>
              <a:srgbClr val="F5EFE2"/>
            </a:solidFill>
            <a:prstDash val="solid"/>
          </a:ln>
        </p:spPr>
        <p:txBody>
          <a:bodyPr/>
          <a:lstStyle/>
          <a:p>
            <a:endParaRPr lang="en-US"/>
          </a:p>
        </p:txBody>
      </p:sp>
      <p:sp>
        <p:nvSpPr>
          <p:cNvPr id="3" name="Text 1"/>
          <p:cNvSpPr/>
          <p:nvPr/>
        </p:nvSpPr>
        <p:spPr>
          <a:xfrm>
            <a:off x="548640" y="384048"/>
            <a:ext cx="5943600" cy="274320"/>
          </a:xfrm>
          <a:prstGeom prst="rect">
            <a:avLst/>
          </a:prstGeom>
          <a:noFill/>
          <a:ln/>
        </p:spPr>
        <p:txBody>
          <a:bodyPr wrap="square" lIns="0" tIns="0" rIns="0" bIns="0" rtlCol="0" anchor="ctr"/>
          <a:lstStyle/>
          <a:p>
            <a:pPr marL="0" indent="0">
              <a:buNone/>
            </a:pPr>
            <a:r>
              <a:rPr lang="en-US" sz="1300" b="1" kern="0" spc="300">
                <a:solidFill>
                  <a:srgbClr val="A9552F"/>
                </a:solidFill>
                <a:latin typeface="Segoe UI" pitchFamily="34" charset="0"/>
                <a:ea typeface="Segoe UI" pitchFamily="34" charset="-122"/>
                <a:cs typeface="Segoe UI" pitchFamily="34" charset="-120"/>
              </a:rPr>
              <a:t>AFTERNOON PROJECT — 2:40 TO 5:00</a:t>
            </a:r>
            <a:endParaRPr lang="en-US" sz="1300"/>
          </a:p>
        </p:txBody>
      </p:sp>
      <p:sp>
        <p:nvSpPr>
          <p:cNvPr id="4" name="Text 2"/>
          <p:cNvSpPr/>
          <p:nvPr/>
        </p:nvSpPr>
        <p:spPr>
          <a:xfrm>
            <a:off x="530352" y="676656"/>
            <a:ext cx="7200900" cy="548640"/>
          </a:xfrm>
          <a:prstGeom prst="rect">
            <a:avLst/>
          </a:prstGeom>
          <a:noFill/>
          <a:ln/>
        </p:spPr>
        <p:txBody>
          <a:bodyPr wrap="square" lIns="0" tIns="0" rIns="0" bIns="0" rtlCol="0" anchor="ctr"/>
          <a:lstStyle/>
          <a:p>
            <a:pPr marL="0" indent="0">
              <a:buNone/>
            </a:pPr>
            <a:r>
              <a:rPr lang="en-US" sz="2600" b="1">
                <a:solidFill>
                  <a:srgbClr val="1F3557"/>
                </a:solidFill>
                <a:latin typeface="Georgia" pitchFamily="34" charset="0"/>
                <a:ea typeface="Georgia" pitchFamily="34" charset="-122"/>
                <a:cs typeface="Georgia" pitchFamily="34" charset="-120"/>
              </a:rPr>
              <a:t>Why the project matters</a:t>
            </a:r>
            <a:endParaRPr lang="en-US" sz="3200"/>
          </a:p>
        </p:txBody>
      </p:sp>
      <p:sp>
        <p:nvSpPr>
          <p:cNvPr id="5" name="Shape 3"/>
          <p:cNvSpPr/>
          <p:nvPr/>
        </p:nvSpPr>
        <p:spPr>
          <a:xfrm>
            <a:off x="548640" y="1316736"/>
            <a:ext cx="1280160" cy="0"/>
          </a:xfrm>
          <a:prstGeom prst="line">
            <a:avLst/>
          </a:prstGeom>
          <a:noFill/>
          <a:ln w="28575">
            <a:solidFill>
              <a:srgbClr val="A9552F"/>
            </a:solidFill>
            <a:prstDash val="solid"/>
          </a:ln>
        </p:spPr>
        <p:txBody>
          <a:bodyPr/>
          <a:lstStyle/>
          <a:p>
            <a:endParaRPr lang="en-US"/>
          </a:p>
        </p:txBody>
      </p:sp>
      <p:sp>
        <p:nvSpPr>
          <p:cNvPr id="9" name="Shape 7"/>
          <p:cNvSpPr/>
          <p:nvPr/>
        </p:nvSpPr>
        <p:spPr>
          <a:xfrm>
            <a:off x="548640" y="1651000"/>
            <a:ext cx="8046720" cy="2819400"/>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10" name="Text 8"/>
          <p:cNvSpPr/>
          <p:nvPr/>
        </p:nvSpPr>
        <p:spPr>
          <a:xfrm>
            <a:off x="1028246" y="1866900"/>
            <a:ext cx="7087508" cy="279400"/>
          </a:xfrm>
          <a:prstGeom prst="rect">
            <a:avLst/>
          </a:prstGeom>
          <a:noFill/>
          <a:ln/>
        </p:spPr>
        <p:txBody>
          <a:bodyPr wrap="square" lIns="0" tIns="0" rIns="0" bIns="0" rtlCol="0" anchor="ctr"/>
          <a:lstStyle/>
          <a:p>
            <a:pPr marL="0" indent="0">
              <a:buNone/>
            </a:pPr>
            <a:r>
              <a:rPr lang="en-US" sz="1650" b="1">
                <a:solidFill>
                  <a:srgbClr val="1F3557"/>
                </a:solidFill>
                <a:latin typeface="Georgia" pitchFamily="34" charset="0"/>
                <a:ea typeface="Georgia" pitchFamily="34" charset="-122"/>
                <a:cs typeface="Georgia" pitchFamily="34" charset="-120"/>
              </a:rPr>
              <a:t>Why it matters</a:t>
            </a:r>
            <a:endParaRPr lang="en-US" sz="1650"/>
          </a:p>
        </p:txBody>
      </p:sp>
      <p:sp>
        <p:nvSpPr>
          <p:cNvPr id="11" name="Text 9"/>
          <p:cNvSpPr/>
          <p:nvPr/>
        </p:nvSpPr>
        <p:spPr>
          <a:xfrm>
            <a:off x="1028246" y="2235200"/>
            <a:ext cx="7087508" cy="2159000"/>
          </a:xfrm>
          <a:prstGeom prst="rect">
            <a:avLst/>
          </a:prstGeom>
          <a:noFill/>
          <a:ln/>
        </p:spPr>
        <p:txBody>
          <a:bodyPr wrap="square" lIns="0" tIns="0" rIns="0" bIns="0" rtlCol="0" anchor="t"/>
          <a:lstStyle/>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Everything you practiced today has to work together, unprompted.</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You choose the variable names, the labels, and the layout of the output.</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Tomorrow this same program starts accepting input and calculating.</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Keep the file — we open it again on Day 2.</a:t>
            </a:r>
            <a:endParaRPr lang="en-US" sz="1350"/>
          </a:p>
        </p:txBody>
      </p:sp>
    </p:spTree>
    <p:extLst>
      <p:ext uri="{BB962C8B-B14F-4D97-AF65-F5344CB8AC3E}">
        <p14:creationId xmlns:p14="http://schemas.microsoft.com/office/powerpoint/2010/main" val="24219918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2">
    <p:bg>
      <p:bgPr>
        <a:solidFill>
          <a:srgbClr val="F5EFE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EFE2"/>
          </a:solidFill>
          <a:ln w="3175">
            <a:solidFill>
              <a:srgbClr val="F5EFE2"/>
            </a:solidFill>
            <a:prstDash val="solid"/>
          </a:ln>
        </p:spPr>
        <p:txBody>
          <a:bodyPr/>
          <a:lstStyle/>
          <a:p>
            <a:endParaRPr lang="en-US"/>
          </a:p>
        </p:txBody>
      </p:sp>
      <p:sp>
        <p:nvSpPr>
          <p:cNvPr id="3" name="Text 1"/>
          <p:cNvSpPr/>
          <p:nvPr/>
        </p:nvSpPr>
        <p:spPr>
          <a:xfrm>
            <a:off x="548640" y="384048"/>
            <a:ext cx="5943600" cy="274320"/>
          </a:xfrm>
          <a:prstGeom prst="rect">
            <a:avLst/>
          </a:prstGeom>
          <a:noFill/>
          <a:ln/>
        </p:spPr>
        <p:txBody>
          <a:bodyPr wrap="square" lIns="0" tIns="0" rIns="0" bIns="0" rtlCol="0" anchor="ctr"/>
          <a:lstStyle/>
          <a:p>
            <a:pPr marL="0" indent="0">
              <a:buNone/>
            </a:pPr>
            <a:r>
              <a:rPr lang="en-US" sz="1300" b="1" kern="0" spc="300">
                <a:solidFill>
                  <a:srgbClr val="A9552F"/>
                </a:solidFill>
                <a:latin typeface="Segoe UI" pitchFamily="34" charset="0"/>
                <a:ea typeface="Segoe UI" pitchFamily="34" charset="-122"/>
                <a:cs typeface="Segoe UI" pitchFamily="34" charset="-120"/>
              </a:rPr>
              <a:t>PROJECT SPECIFICATION</a:t>
            </a:r>
            <a:endParaRPr lang="en-US" sz="1300"/>
          </a:p>
        </p:txBody>
      </p:sp>
      <p:sp>
        <p:nvSpPr>
          <p:cNvPr id="4" name="Text 2"/>
          <p:cNvSpPr/>
          <p:nvPr/>
        </p:nvSpPr>
        <p:spPr>
          <a:xfrm>
            <a:off x="530352" y="676656"/>
            <a:ext cx="7200900" cy="548640"/>
          </a:xfrm>
          <a:prstGeom prst="rect">
            <a:avLst/>
          </a:prstGeom>
          <a:noFill/>
          <a:ln/>
        </p:spPr>
        <p:txBody>
          <a:bodyPr wrap="square" lIns="0" tIns="0" rIns="0" bIns="0" rtlCol="0" anchor="ctr"/>
          <a:lstStyle/>
          <a:p>
            <a:pPr marL="0" indent="0">
              <a:buNone/>
            </a:pPr>
            <a:r>
              <a:rPr lang="en-US" sz="2600" b="1">
                <a:solidFill>
                  <a:srgbClr val="1F3557"/>
                </a:solidFill>
                <a:latin typeface="Georgia" pitchFamily="34" charset="0"/>
                <a:ea typeface="Georgia" pitchFamily="34" charset="-122"/>
                <a:cs typeface="Georgia" pitchFamily="34" charset="-120"/>
              </a:rPr>
              <a:t>Project requirements</a:t>
            </a:r>
            <a:endParaRPr lang="en-US" sz="3200" dirty="0"/>
          </a:p>
        </p:txBody>
      </p:sp>
      <p:sp>
        <p:nvSpPr>
          <p:cNvPr id="5" name="Shape 3"/>
          <p:cNvSpPr/>
          <p:nvPr/>
        </p:nvSpPr>
        <p:spPr>
          <a:xfrm>
            <a:off x="548640" y="1316736"/>
            <a:ext cx="1280160" cy="0"/>
          </a:xfrm>
          <a:prstGeom prst="line">
            <a:avLst/>
          </a:prstGeom>
          <a:noFill/>
          <a:ln w="28575">
            <a:solidFill>
              <a:srgbClr val="A9552F"/>
            </a:solidFill>
            <a:prstDash val="solid"/>
          </a:ln>
        </p:spPr>
        <p:txBody>
          <a:bodyPr/>
          <a:lstStyle/>
          <a:p>
            <a:endParaRPr lang="en-US"/>
          </a:p>
        </p:txBody>
      </p:sp>
      <p:sp>
        <p:nvSpPr>
          <p:cNvPr id="6" name="Shape 4"/>
          <p:cNvSpPr/>
          <p:nvPr/>
        </p:nvSpPr>
        <p:spPr>
          <a:xfrm>
            <a:off x="548640" y="1651000"/>
            <a:ext cx="8046720" cy="3213202"/>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7" name="Text 5"/>
          <p:cNvSpPr/>
          <p:nvPr/>
        </p:nvSpPr>
        <p:spPr>
          <a:xfrm>
            <a:off x="1028246" y="1866900"/>
            <a:ext cx="7087508" cy="279400"/>
          </a:xfrm>
          <a:prstGeom prst="rect">
            <a:avLst/>
          </a:prstGeom>
          <a:noFill/>
          <a:ln/>
        </p:spPr>
        <p:txBody>
          <a:bodyPr wrap="square" lIns="0" tIns="0" rIns="0" bIns="0" rtlCol="0" anchor="ctr"/>
          <a:lstStyle/>
          <a:p>
            <a:pPr marL="0" indent="0">
              <a:buNone/>
            </a:pPr>
            <a:r>
              <a:rPr lang="en-US" sz="1650" b="1">
                <a:solidFill>
                  <a:srgbClr val="1F3557"/>
                </a:solidFill>
                <a:latin typeface="Georgia" pitchFamily="34" charset="0"/>
                <a:ea typeface="Georgia" pitchFamily="34" charset="-122"/>
                <a:cs typeface="Georgia" pitchFamily="34" charset="-120"/>
              </a:rPr>
              <a:t>Requirements</a:t>
            </a:r>
            <a:endParaRPr lang="en-US" sz="1650"/>
          </a:p>
        </p:txBody>
      </p:sp>
      <p:sp>
        <p:nvSpPr>
          <p:cNvPr id="8" name="Text 6"/>
          <p:cNvSpPr/>
          <p:nvPr/>
        </p:nvSpPr>
        <p:spPr>
          <a:xfrm>
            <a:off x="1028246" y="2235200"/>
            <a:ext cx="7087508" cy="2629814"/>
          </a:xfrm>
          <a:prstGeom prst="rect">
            <a:avLst/>
          </a:prstGeom>
          <a:noFill/>
          <a:ln/>
        </p:spPr>
        <p:txBody>
          <a:bodyPr wrap="square" lIns="0" tIns="0" rIns="0" bIns="0" rtlCol="0" anchor="t"/>
          <a:lstStyle/>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File and public class: MemberBenefitsSummary</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Strings: memberName, memberId, planName, effectiveDate</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Ints: groupNumber, planYear, deductibleDollars, visitsUsed</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A header line and a divider line of dashes.</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One labeled output line per value.</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One closing sentence joining the name, plan, and plan year.</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Comments naming each section of your code.</a:t>
            </a:r>
            <a:endParaRPr lang="en-US" sz="1350"/>
          </a:p>
        </p:txBody>
      </p:sp>
    </p:spTree>
    <p:extLst>
      <p:ext uri="{BB962C8B-B14F-4D97-AF65-F5344CB8AC3E}">
        <p14:creationId xmlns:p14="http://schemas.microsoft.com/office/powerpoint/2010/main" val="34414056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2">
    <p:bg>
      <p:bgPr>
        <a:solidFill>
          <a:srgbClr val="F5EFE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EFE2"/>
          </a:solidFill>
          <a:ln w="3175">
            <a:solidFill>
              <a:srgbClr val="F5EFE2"/>
            </a:solidFill>
            <a:prstDash val="solid"/>
          </a:ln>
        </p:spPr>
        <p:txBody>
          <a:bodyPr/>
          <a:lstStyle/>
          <a:p>
            <a:endParaRPr lang="en-US"/>
          </a:p>
        </p:txBody>
      </p:sp>
      <p:sp>
        <p:nvSpPr>
          <p:cNvPr id="3" name="Text 1"/>
          <p:cNvSpPr/>
          <p:nvPr/>
        </p:nvSpPr>
        <p:spPr>
          <a:xfrm>
            <a:off x="548640" y="384048"/>
            <a:ext cx="5943600" cy="274320"/>
          </a:xfrm>
          <a:prstGeom prst="rect">
            <a:avLst/>
          </a:prstGeom>
          <a:noFill/>
          <a:ln/>
        </p:spPr>
        <p:txBody>
          <a:bodyPr wrap="square" lIns="0" tIns="0" rIns="0" bIns="0" rtlCol="0" anchor="ctr"/>
          <a:lstStyle/>
          <a:p>
            <a:pPr marL="0" indent="0">
              <a:buNone/>
            </a:pPr>
            <a:r>
              <a:rPr lang="en-US" sz="1300" b="1" kern="0" spc="300">
                <a:solidFill>
                  <a:srgbClr val="A9552F"/>
                </a:solidFill>
                <a:latin typeface="Segoe UI" pitchFamily="34" charset="0"/>
                <a:ea typeface="Segoe UI" pitchFamily="34" charset="-122"/>
                <a:cs typeface="Segoe UI" pitchFamily="34" charset="-120"/>
              </a:rPr>
              <a:t>PROJECT SPECIFICATION</a:t>
            </a:r>
            <a:endParaRPr lang="en-US" sz="1300"/>
          </a:p>
        </p:txBody>
      </p:sp>
      <p:sp>
        <p:nvSpPr>
          <p:cNvPr id="4" name="Text 2"/>
          <p:cNvSpPr/>
          <p:nvPr/>
        </p:nvSpPr>
        <p:spPr>
          <a:xfrm>
            <a:off x="530352" y="676656"/>
            <a:ext cx="7200900" cy="548640"/>
          </a:xfrm>
          <a:prstGeom prst="rect">
            <a:avLst/>
          </a:prstGeom>
          <a:noFill/>
          <a:ln/>
        </p:spPr>
        <p:txBody>
          <a:bodyPr wrap="square" lIns="0" tIns="0" rIns="0" bIns="0" rtlCol="0" anchor="ctr"/>
          <a:lstStyle/>
          <a:p>
            <a:pPr marL="0" indent="0">
              <a:buNone/>
            </a:pPr>
            <a:r>
              <a:rPr lang="en-US" sz="2600" b="1">
                <a:solidFill>
                  <a:srgbClr val="1F3557"/>
                </a:solidFill>
                <a:latin typeface="Georgia" pitchFamily="34" charset="0"/>
                <a:ea typeface="Georgia" pitchFamily="34" charset="-122"/>
                <a:cs typeface="Georgia" pitchFamily="34" charset="-120"/>
              </a:rPr>
              <a:t>Use this fictional data</a:t>
            </a:r>
            <a:endParaRPr lang="en-US" sz="3200"/>
          </a:p>
        </p:txBody>
      </p:sp>
      <p:sp>
        <p:nvSpPr>
          <p:cNvPr id="5" name="Shape 3"/>
          <p:cNvSpPr/>
          <p:nvPr/>
        </p:nvSpPr>
        <p:spPr>
          <a:xfrm>
            <a:off x="548640" y="1316736"/>
            <a:ext cx="1280160" cy="0"/>
          </a:xfrm>
          <a:prstGeom prst="line">
            <a:avLst/>
          </a:prstGeom>
          <a:noFill/>
          <a:ln w="28575">
            <a:solidFill>
              <a:srgbClr val="A9552F"/>
            </a:solidFill>
            <a:prstDash val="solid"/>
          </a:ln>
        </p:spPr>
        <p:txBody>
          <a:bodyPr/>
          <a:lstStyle/>
          <a:p>
            <a:endParaRPr lang="en-US"/>
          </a:p>
        </p:txBody>
      </p:sp>
      <p:sp>
        <p:nvSpPr>
          <p:cNvPr id="9" name="Shape 7"/>
          <p:cNvSpPr/>
          <p:nvPr/>
        </p:nvSpPr>
        <p:spPr>
          <a:xfrm>
            <a:off x="548640" y="1651000"/>
            <a:ext cx="8046720" cy="3213202"/>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10" name="Text 8"/>
          <p:cNvSpPr/>
          <p:nvPr/>
        </p:nvSpPr>
        <p:spPr>
          <a:xfrm>
            <a:off x="1028246" y="1866900"/>
            <a:ext cx="7087508" cy="279400"/>
          </a:xfrm>
          <a:prstGeom prst="rect">
            <a:avLst/>
          </a:prstGeom>
          <a:noFill/>
          <a:ln/>
        </p:spPr>
        <p:txBody>
          <a:bodyPr wrap="square" lIns="0" tIns="0" rIns="0" bIns="0" rtlCol="0" anchor="ctr"/>
          <a:lstStyle/>
          <a:p>
            <a:pPr marL="0" indent="0">
              <a:buNone/>
            </a:pPr>
            <a:r>
              <a:rPr lang="en-US" sz="1650" b="1">
                <a:solidFill>
                  <a:srgbClr val="1F3557"/>
                </a:solidFill>
                <a:latin typeface="Georgia" pitchFamily="34" charset="0"/>
                <a:ea typeface="Georgia" pitchFamily="34" charset="-122"/>
                <a:cs typeface="Georgia" pitchFamily="34" charset="-120"/>
              </a:rPr>
              <a:t>Use this fictional data</a:t>
            </a:r>
            <a:endParaRPr lang="en-US" sz="1650"/>
          </a:p>
        </p:txBody>
      </p:sp>
      <p:sp>
        <p:nvSpPr>
          <p:cNvPr id="11" name="Text 9"/>
          <p:cNvSpPr/>
          <p:nvPr/>
        </p:nvSpPr>
        <p:spPr>
          <a:xfrm>
            <a:off x="1028246" y="2235200"/>
            <a:ext cx="7087508" cy="2629814"/>
          </a:xfrm>
          <a:prstGeom prst="rect">
            <a:avLst/>
          </a:prstGeom>
          <a:noFill/>
          <a:ln/>
        </p:spPr>
        <p:txBody>
          <a:bodyPr wrap="square" lIns="0" tIns="0" rIns="0" bIns="0" rtlCol="0" anchor="t"/>
          <a:lstStyle/>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Avery Chen · MBR-TRAIN-88214</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Blue Choice Training Plan · Group 41027</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Effective January 1, 2026 · Plan year 2026</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Deductible 1500 · Visits used 4</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Or invent your own — fictional data only.</a:t>
            </a:r>
            <a:endParaRPr lang="en-US" sz="1350"/>
          </a:p>
        </p:txBody>
      </p:sp>
    </p:spTree>
    <p:extLst>
      <p:ext uri="{BB962C8B-B14F-4D97-AF65-F5344CB8AC3E}">
        <p14:creationId xmlns:p14="http://schemas.microsoft.com/office/powerpoint/2010/main" val="21237420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Course application">
    <p:bg>
      <p:bgPr>
        <a:solidFill>
          <a:srgbClr val="F5EFE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EFE2"/>
          </a:solidFill>
          <a:ln w="3175">
            <a:solidFill>
              <a:srgbClr val="F5EFE2"/>
            </a:solidFill>
            <a:prstDash val="solid"/>
          </a:ln>
        </p:spPr>
        <p:txBody>
          <a:bodyPr/>
          <a:lstStyle/>
          <a:p>
            <a:endParaRPr lang="en-US"/>
          </a:p>
        </p:txBody>
      </p:sp>
      <p:sp>
        <p:nvSpPr>
          <p:cNvPr id="3" name="Text 1"/>
          <p:cNvSpPr/>
          <p:nvPr/>
        </p:nvSpPr>
        <p:spPr>
          <a:xfrm>
            <a:off x="548640" y="384048"/>
            <a:ext cx="5943600" cy="274320"/>
          </a:xfrm>
          <a:prstGeom prst="rect">
            <a:avLst/>
          </a:prstGeom>
          <a:noFill/>
          <a:ln/>
        </p:spPr>
        <p:txBody>
          <a:bodyPr wrap="square" lIns="0" tIns="0" rIns="0" bIns="0" rtlCol="0" anchor="ctr"/>
          <a:lstStyle/>
          <a:p>
            <a:pPr marL="0" indent="0">
              <a:buNone/>
            </a:pPr>
            <a:r>
              <a:rPr lang="en-US" sz="1300" b="1" kern="0" spc="300">
                <a:solidFill>
                  <a:srgbClr val="A9552F"/>
                </a:solidFill>
                <a:latin typeface="Segoe UI" pitchFamily="34" charset="0"/>
                <a:ea typeface="Segoe UI" pitchFamily="34" charset="-122"/>
                <a:cs typeface="Segoe UI" pitchFamily="34" charset="-120"/>
              </a:rPr>
              <a:t>HOW TO SPEND THE TIME</a:t>
            </a:r>
            <a:endParaRPr lang="en-US" sz="1300"/>
          </a:p>
        </p:txBody>
      </p:sp>
      <p:sp>
        <p:nvSpPr>
          <p:cNvPr id="4" name="Text 2"/>
          <p:cNvSpPr/>
          <p:nvPr/>
        </p:nvSpPr>
        <p:spPr>
          <a:xfrm>
            <a:off x="530352" y="676656"/>
            <a:ext cx="7200000" cy="548640"/>
          </a:xfrm>
          <a:prstGeom prst="rect">
            <a:avLst/>
          </a:prstGeom>
          <a:noFill/>
          <a:ln/>
        </p:spPr>
        <p:txBody>
          <a:bodyPr wrap="square" lIns="0" tIns="0" rIns="0" bIns="0" rtlCol="0" anchor="ctr"/>
          <a:lstStyle/>
          <a:p>
            <a:pPr marL="0" indent="0">
              <a:buNone/>
            </a:pPr>
            <a:r>
              <a:rPr lang="en-US" sz="2600" b="1">
                <a:solidFill>
                  <a:srgbClr val="1F3557"/>
                </a:solidFill>
                <a:latin typeface="Georgia" pitchFamily="34" charset="0"/>
                <a:ea typeface="Georgia" pitchFamily="34" charset="-122"/>
                <a:cs typeface="Georgia" pitchFamily="34" charset="-120"/>
              </a:rPr>
              <a:t>Project milestones</a:t>
            </a:r>
            <a:endParaRPr lang="en-US" sz="3200"/>
          </a:p>
        </p:txBody>
      </p:sp>
      <p:sp>
        <p:nvSpPr>
          <p:cNvPr id="5" name="Shape 3"/>
          <p:cNvSpPr/>
          <p:nvPr/>
        </p:nvSpPr>
        <p:spPr>
          <a:xfrm>
            <a:off x="548640" y="1316736"/>
            <a:ext cx="1280160" cy="0"/>
          </a:xfrm>
          <a:prstGeom prst="line">
            <a:avLst/>
          </a:prstGeom>
          <a:noFill/>
          <a:ln w="28575">
            <a:solidFill>
              <a:srgbClr val="A9552F"/>
            </a:solidFill>
            <a:prstDash val="solid"/>
          </a:ln>
        </p:spPr>
        <p:txBody>
          <a:bodyPr/>
          <a:lstStyle/>
          <a:p>
            <a:endParaRPr lang="en-US"/>
          </a:p>
        </p:txBody>
      </p:sp>
      <p:sp>
        <p:nvSpPr>
          <p:cNvPr id="6" name="Lede"/>
          <p:cNvSpPr/>
          <p:nvPr/>
        </p:nvSpPr>
        <p:spPr>
          <a:xfrm>
            <a:off x="548640" y="1600200"/>
            <a:ext cx="8046720" cy="420000"/>
          </a:xfrm>
          <a:prstGeom prst="rect">
            <a:avLst/>
          </a:prstGeom>
          <a:noFill/>
          <a:ln/>
        </p:spPr>
        <p:txBody>
          <a:bodyPr wrap="square" lIns="0" tIns="0" rIns="0" bIns="0" rtlCol="0" anchor="ctr"/>
          <a:lstStyle/>
          <a:p>
            <a:pPr marL="0" indent="0">
              <a:lnSpc>
                <a:spcPts val="1500"/>
              </a:lnSpc>
              <a:buNone/>
            </a:pPr>
            <a:r>
              <a:rPr lang="en-US" sz="1400">
                <a:solidFill>
                  <a:srgbClr val="6B6255"/>
                </a:solidFill>
                <a:latin typeface="Segoe UI" pitchFamily="34" charset="0"/>
                <a:ea typeface="Segoe UI" pitchFamily="34" charset="-122"/>
                <a:cs typeface="Segoe UI" pitchFamily="34" charset="-120"/>
              </a:rPr>
              <a:t>Work at your own pace, but check yourself against these four marks. I circulate the whole time — flag me early rather than stalling.</a:t>
            </a:r>
          </a:p>
        </p:txBody>
      </p:sp>
      <p:sp>
        <p:nvSpPr>
          <p:cNvPr id="7" name="Card 1"/>
          <p:cNvSpPr/>
          <p:nvPr/>
        </p:nvSpPr>
        <p:spPr>
          <a:xfrm>
            <a:off x="548640" y="2200000"/>
            <a:ext cx="1897380" cy="2100000"/>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8" name="Cap 1"/>
          <p:cNvSpPr/>
          <p:nvPr/>
        </p:nvSpPr>
        <p:spPr>
          <a:xfrm>
            <a:off x="548640" y="2200000"/>
            <a:ext cx="1897380" cy="68580"/>
          </a:xfrm>
          <a:prstGeom prst="rect">
            <a:avLst/>
          </a:prstGeom>
          <a:solidFill>
            <a:srgbClr val="A9552F"/>
          </a:solidFill>
          <a:ln/>
        </p:spPr>
        <p:txBody>
          <a:bodyPr/>
          <a:lstStyle/>
          <a:p>
            <a:endParaRPr lang="en-US"/>
          </a:p>
        </p:txBody>
      </p:sp>
      <p:sp>
        <p:nvSpPr>
          <p:cNvPr id="9" name="Stage 1"/>
          <p:cNvSpPr/>
          <p:nvPr/>
        </p:nvSpPr>
        <p:spPr>
          <a:xfrm>
            <a:off x="754380" y="2405740"/>
            <a:ext cx="1485900" cy="240000"/>
          </a:xfrm>
          <a:prstGeom prst="rect">
            <a:avLst/>
          </a:prstGeom>
          <a:noFill/>
          <a:ln/>
        </p:spPr>
        <p:txBody>
          <a:bodyPr wrap="square" lIns="0" tIns="0" rIns="0" bIns="0" rtlCol="0" anchor="ctr"/>
          <a:lstStyle/>
          <a:p>
            <a:pPr marL="0" indent="0">
              <a:lnSpc>
                <a:spcPts val="1200"/>
              </a:lnSpc>
              <a:buNone/>
            </a:pPr>
            <a:r>
              <a:rPr lang="en-US" sz="1200" b="1" spc="200">
                <a:solidFill>
                  <a:srgbClr val="A9552F"/>
                </a:solidFill>
                <a:latin typeface="Segoe UI" pitchFamily="34" charset="0"/>
                <a:ea typeface="Segoe UI" pitchFamily="34" charset="-122"/>
                <a:cs typeface="Segoe UI" pitchFamily="34" charset="-120"/>
              </a:rPr>
              <a:t>2:40 – 3:30</a:t>
            </a:r>
          </a:p>
        </p:txBody>
      </p:sp>
      <p:sp>
        <p:nvSpPr>
          <p:cNvPr id="10" name="Head 1"/>
          <p:cNvSpPr/>
          <p:nvPr/>
        </p:nvSpPr>
        <p:spPr>
          <a:xfrm>
            <a:off x="754380" y="2680060"/>
            <a:ext cx="1485900" cy="560000"/>
          </a:xfrm>
          <a:prstGeom prst="rect">
            <a:avLst/>
          </a:prstGeom>
          <a:noFill/>
          <a:ln/>
        </p:spPr>
        <p:txBody>
          <a:bodyPr wrap="square" lIns="0" tIns="0" rIns="0" bIns="0" rtlCol="0" anchor="t"/>
          <a:lstStyle/>
          <a:p>
            <a:pPr marL="0" indent="0">
              <a:lnSpc>
                <a:spcPts val="1550"/>
              </a:lnSpc>
              <a:buNone/>
            </a:pPr>
            <a:r>
              <a:rPr lang="en-US" sz="1500" b="1">
                <a:solidFill>
                  <a:srgbClr val="1F3557"/>
                </a:solidFill>
                <a:latin typeface="Georgia" pitchFamily="34" charset="0"/>
                <a:ea typeface="Georgia" pitchFamily="34" charset="-122"/>
                <a:cs typeface="Georgia" pitchFamily="34" charset="-120"/>
              </a:rPr>
              <a:t>Get it printing</a:t>
            </a:r>
          </a:p>
        </p:txBody>
      </p:sp>
      <p:sp>
        <p:nvSpPr>
          <p:cNvPr id="11" name="Desc 1"/>
          <p:cNvSpPr/>
          <p:nvPr/>
        </p:nvSpPr>
        <p:spPr>
          <a:xfrm>
            <a:off x="754380" y="3260000"/>
            <a:ext cx="1485900" cy="850000"/>
          </a:xfrm>
          <a:prstGeom prst="rect">
            <a:avLst/>
          </a:prstGeom>
          <a:noFill/>
          <a:ln/>
        </p:spPr>
        <p:txBody>
          <a:bodyPr wrap="square" lIns="0" tIns="0" rIns="0" bIns="0" rtlCol="0" anchor="t"/>
          <a:lstStyle/>
          <a:p>
            <a:pPr marL="0" indent="0">
              <a:lnSpc>
                <a:spcPts val="1300"/>
              </a:lnSpc>
              <a:buNone/>
            </a:pPr>
            <a:r>
              <a:rPr lang="en-US" sz="1250">
                <a:solidFill>
                  <a:srgbClr val="6B6255"/>
                </a:solidFill>
                <a:latin typeface="Segoe UI" pitchFamily="34" charset="0"/>
                <a:ea typeface="Segoe UI" pitchFamily="34" charset="-122"/>
                <a:cs typeface="Segoe UI" pitchFamily="34" charset="-120"/>
              </a:rPr>
              <a:t>File, class, main, and the four String variables printing on labeled lines.</a:t>
            </a:r>
          </a:p>
        </p:txBody>
      </p:sp>
      <p:sp>
        <p:nvSpPr>
          <p:cNvPr id="12" name="Card 2"/>
          <p:cNvSpPr/>
          <p:nvPr/>
        </p:nvSpPr>
        <p:spPr>
          <a:xfrm>
            <a:off x="2598420" y="2200000"/>
            <a:ext cx="1897380" cy="2100000"/>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13" name="Cap 2"/>
          <p:cNvSpPr/>
          <p:nvPr/>
        </p:nvSpPr>
        <p:spPr>
          <a:xfrm>
            <a:off x="2598420" y="2200000"/>
            <a:ext cx="1897380" cy="68580"/>
          </a:xfrm>
          <a:prstGeom prst="rect">
            <a:avLst/>
          </a:prstGeom>
          <a:solidFill>
            <a:srgbClr val="1F3557"/>
          </a:solidFill>
          <a:ln/>
        </p:spPr>
        <p:txBody>
          <a:bodyPr/>
          <a:lstStyle/>
          <a:p>
            <a:endParaRPr lang="en-US"/>
          </a:p>
        </p:txBody>
      </p:sp>
      <p:sp>
        <p:nvSpPr>
          <p:cNvPr id="14" name="Stage 2"/>
          <p:cNvSpPr/>
          <p:nvPr/>
        </p:nvSpPr>
        <p:spPr>
          <a:xfrm>
            <a:off x="2804160" y="2405740"/>
            <a:ext cx="1485900" cy="240000"/>
          </a:xfrm>
          <a:prstGeom prst="rect">
            <a:avLst/>
          </a:prstGeom>
          <a:noFill/>
          <a:ln/>
        </p:spPr>
        <p:txBody>
          <a:bodyPr wrap="square" lIns="0" tIns="0" rIns="0" bIns="0" rtlCol="0" anchor="ctr"/>
          <a:lstStyle/>
          <a:p>
            <a:pPr marL="0" indent="0">
              <a:lnSpc>
                <a:spcPts val="1200"/>
              </a:lnSpc>
              <a:buNone/>
            </a:pPr>
            <a:r>
              <a:rPr lang="en-US" sz="1200" b="1" spc="200">
                <a:solidFill>
                  <a:srgbClr val="1F3557"/>
                </a:solidFill>
                <a:latin typeface="Segoe UI" pitchFamily="34" charset="0"/>
                <a:ea typeface="Segoe UI" pitchFamily="34" charset="-122"/>
                <a:cs typeface="Segoe UI" pitchFamily="34" charset="-120"/>
              </a:rPr>
              <a:t>3:30 – 4:15</a:t>
            </a:r>
          </a:p>
        </p:txBody>
      </p:sp>
      <p:sp>
        <p:nvSpPr>
          <p:cNvPr id="15" name="Head 2"/>
          <p:cNvSpPr/>
          <p:nvPr/>
        </p:nvSpPr>
        <p:spPr>
          <a:xfrm>
            <a:off x="2804160" y="2680060"/>
            <a:ext cx="1485900" cy="560000"/>
          </a:xfrm>
          <a:prstGeom prst="rect">
            <a:avLst/>
          </a:prstGeom>
          <a:noFill/>
          <a:ln/>
        </p:spPr>
        <p:txBody>
          <a:bodyPr wrap="square" lIns="0" tIns="0" rIns="0" bIns="0" rtlCol="0" anchor="t"/>
          <a:lstStyle/>
          <a:p>
            <a:pPr marL="0" indent="0">
              <a:lnSpc>
                <a:spcPts val="1550"/>
              </a:lnSpc>
              <a:buNone/>
            </a:pPr>
            <a:r>
              <a:rPr lang="en-US" sz="1500" b="1">
                <a:solidFill>
                  <a:srgbClr val="1F3557"/>
                </a:solidFill>
                <a:latin typeface="Georgia" pitchFamily="34" charset="0"/>
                <a:ea typeface="Georgia" pitchFamily="34" charset="-122"/>
                <a:cs typeface="Georgia" pitchFamily="34" charset="-120"/>
              </a:rPr>
              <a:t>Add the numbers</a:t>
            </a:r>
          </a:p>
        </p:txBody>
      </p:sp>
      <p:sp>
        <p:nvSpPr>
          <p:cNvPr id="16" name="Desc 2"/>
          <p:cNvSpPr/>
          <p:nvPr/>
        </p:nvSpPr>
        <p:spPr>
          <a:xfrm>
            <a:off x="2804160" y="3260000"/>
            <a:ext cx="1485900" cy="850000"/>
          </a:xfrm>
          <a:prstGeom prst="rect">
            <a:avLst/>
          </a:prstGeom>
          <a:noFill/>
          <a:ln/>
        </p:spPr>
        <p:txBody>
          <a:bodyPr wrap="square" lIns="0" tIns="0" rIns="0" bIns="0" rtlCol="0" anchor="t"/>
          <a:lstStyle/>
          <a:p>
            <a:pPr marL="0" indent="0">
              <a:lnSpc>
                <a:spcPts val="1300"/>
              </a:lnSpc>
              <a:buNone/>
            </a:pPr>
            <a:r>
              <a:rPr lang="en-US" sz="1250">
                <a:solidFill>
                  <a:srgbClr val="6B6255"/>
                </a:solidFill>
                <a:latin typeface="Segoe UI" pitchFamily="34" charset="0"/>
                <a:ea typeface="Segoe UI" pitchFamily="34" charset="-122"/>
                <a:cs typeface="Segoe UI" pitchFamily="34" charset="-120"/>
              </a:rPr>
              <a:t>Add the four int values, the header, and the divider line of dashes.</a:t>
            </a:r>
          </a:p>
        </p:txBody>
      </p:sp>
      <p:sp>
        <p:nvSpPr>
          <p:cNvPr id="17" name="Card 3"/>
          <p:cNvSpPr/>
          <p:nvPr/>
        </p:nvSpPr>
        <p:spPr>
          <a:xfrm>
            <a:off x="4648200" y="2200000"/>
            <a:ext cx="1897380" cy="2100000"/>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18" name="Cap 3"/>
          <p:cNvSpPr/>
          <p:nvPr/>
        </p:nvSpPr>
        <p:spPr>
          <a:xfrm>
            <a:off x="4648200" y="2200000"/>
            <a:ext cx="1897380" cy="68580"/>
          </a:xfrm>
          <a:prstGeom prst="rect">
            <a:avLst/>
          </a:prstGeom>
          <a:solidFill>
            <a:srgbClr val="1F3557"/>
          </a:solidFill>
          <a:ln/>
        </p:spPr>
        <p:txBody>
          <a:bodyPr/>
          <a:lstStyle/>
          <a:p>
            <a:endParaRPr lang="en-US"/>
          </a:p>
        </p:txBody>
      </p:sp>
      <p:sp>
        <p:nvSpPr>
          <p:cNvPr id="19" name="Stage 3"/>
          <p:cNvSpPr/>
          <p:nvPr/>
        </p:nvSpPr>
        <p:spPr>
          <a:xfrm>
            <a:off x="4853940" y="2405740"/>
            <a:ext cx="1485900" cy="240000"/>
          </a:xfrm>
          <a:prstGeom prst="rect">
            <a:avLst/>
          </a:prstGeom>
          <a:noFill/>
          <a:ln/>
        </p:spPr>
        <p:txBody>
          <a:bodyPr wrap="square" lIns="0" tIns="0" rIns="0" bIns="0" rtlCol="0" anchor="ctr"/>
          <a:lstStyle/>
          <a:p>
            <a:pPr marL="0" indent="0">
              <a:lnSpc>
                <a:spcPts val="1200"/>
              </a:lnSpc>
              <a:buNone/>
            </a:pPr>
            <a:r>
              <a:rPr lang="en-US" sz="1200" b="1" spc="200">
                <a:solidFill>
                  <a:srgbClr val="1F3557"/>
                </a:solidFill>
                <a:latin typeface="Segoe UI" pitchFamily="34" charset="0"/>
                <a:ea typeface="Segoe UI" pitchFamily="34" charset="-122"/>
                <a:cs typeface="Segoe UI" pitchFamily="34" charset="-120"/>
              </a:rPr>
              <a:t>4:15 – 4:45</a:t>
            </a:r>
          </a:p>
        </p:txBody>
      </p:sp>
      <p:sp>
        <p:nvSpPr>
          <p:cNvPr id="20" name="Head 3"/>
          <p:cNvSpPr/>
          <p:nvPr/>
        </p:nvSpPr>
        <p:spPr>
          <a:xfrm>
            <a:off x="4853940" y="2680060"/>
            <a:ext cx="1485900" cy="560000"/>
          </a:xfrm>
          <a:prstGeom prst="rect">
            <a:avLst/>
          </a:prstGeom>
          <a:noFill/>
          <a:ln/>
        </p:spPr>
        <p:txBody>
          <a:bodyPr wrap="square" lIns="0" tIns="0" rIns="0" bIns="0" rtlCol="0" anchor="t"/>
          <a:lstStyle/>
          <a:p>
            <a:pPr marL="0" indent="0">
              <a:lnSpc>
                <a:spcPts val="1550"/>
              </a:lnSpc>
              <a:buNone/>
            </a:pPr>
            <a:r>
              <a:rPr lang="en-US" sz="1500" b="1">
                <a:solidFill>
                  <a:srgbClr val="1F3557"/>
                </a:solidFill>
                <a:latin typeface="Georgia" pitchFamily="34" charset="0"/>
                <a:ea typeface="Georgia" pitchFamily="34" charset="-122"/>
                <a:cs typeface="Georgia" pitchFamily="34" charset="-120"/>
              </a:rPr>
              <a:t>Make it readable</a:t>
            </a:r>
          </a:p>
        </p:txBody>
      </p:sp>
      <p:sp>
        <p:nvSpPr>
          <p:cNvPr id="21" name="Desc 3"/>
          <p:cNvSpPr/>
          <p:nvPr/>
        </p:nvSpPr>
        <p:spPr>
          <a:xfrm>
            <a:off x="4853940" y="3260000"/>
            <a:ext cx="1485900" cy="850000"/>
          </a:xfrm>
          <a:prstGeom prst="rect">
            <a:avLst/>
          </a:prstGeom>
          <a:noFill/>
          <a:ln/>
        </p:spPr>
        <p:txBody>
          <a:bodyPr wrap="square" lIns="0" tIns="0" rIns="0" bIns="0" rtlCol="0" anchor="t"/>
          <a:lstStyle/>
          <a:p>
            <a:pPr marL="0" indent="0">
              <a:lnSpc>
                <a:spcPts val="1300"/>
              </a:lnSpc>
              <a:buNone/>
            </a:pPr>
            <a:r>
              <a:rPr lang="en-US" sz="1250">
                <a:solidFill>
                  <a:srgbClr val="6B6255"/>
                </a:solidFill>
                <a:latin typeface="Segoe UI" pitchFamily="34" charset="0"/>
                <a:ea typeface="Segoe UI" pitchFamily="34" charset="-122"/>
                <a:cs typeface="Segoe UI" pitchFamily="34" charset="-120"/>
              </a:rPr>
              <a:t>Closing sentence, section comments, and tidy label spacing.</a:t>
            </a:r>
          </a:p>
        </p:txBody>
      </p:sp>
      <p:sp>
        <p:nvSpPr>
          <p:cNvPr id="22" name="Card 4"/>
          <p:cNvSpPr/>
          <p:nvPr/>
        </p:nvSpPr>
        <p:spPr>
          <a:xfrm>
            <a:off x="6697980" y="2200000"/>
            <a:ext cx="1897380" cy="2100000"/>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23" name="Cap 4"/>
          <p:cNvSpPr/>
          <p:nvPr/>
        </p:nvSpPr>
        <p:spPr>
          <a:xfrm>
            <a:off x="6697980" y="2200000"/>
            <a:ext cx="1897380" cy="68580"/>
          </a:xfrm>
          <a:prstGeom prst="rect">
            <a:avLst/>
          </a:prstGeom>
          <a:solidFill>
            <a:srgbClr val="1F3557"/>
          </a:solidFill>
          <a:ln/>
        </p:spPr>
        <p:txBody>
          <a:bodyPr/>
          <a:lstStyle/>
          <a:p>
            <a:endParaRPr lang="en-US"/>
          </a:p>
        </p:txBody>
      </p:sp>
      <p:sp>
        <p:nvSpPr>
          <p:cNvPr id="24" name="Stage 4"/>
          <p:cNvSpPr/>
          <p:nvPr/>
        </p:nvSpPr>
        <p:spPr>
          <a:xfrm>
            <a:off x="6903720" y="2405740"/>
            <a:ext cx="1485900" cy="240000"/>
          </a:xfrm>
          <a:prstGeom prst="rect">
            <a:avLst/>
          </a:prstGeom>
          <a:noFill/>
          <a:ln/>
        </p:spPr>
        <p:txBody>
          <a:bodyPr wrap="square" lIns="0" tIns="0" rIns="0" bIns="0" rtlCol="0" anchor="ctr"/>
          <a:lstStyle/>
          <a:p>
            <a:pPr marL="0" indent="0">
              <a:lnSpc>
                <a:spcPts val="1200"/>
              </a:lnSpc>
              <a:buNone/>
            </a:pPr>
            <a:r>
              <a:rPr lang="en-US" sz="1200" b="1" spc="200">
                <a:solidFill>
                  <a:srgbClr val="1F3557"/>
                </a:solidFill>
                <a:latin typeface="Segoe UI" pitchFamily="34" charset="0"/>
                <a:ea typeface="Segoe UI" pitchFamily="34" charset="-122"/>
                <a:cs typeface="Segoe UI" pitchFamily="34" charset="-120"/>
              </a:rPr>
              <a:t>4:45 – 5:00</a:t>
            </a:r>
          </a:p>
        </p:txBody>
      </p:sp>
      <p:sp>
        <p:nvSpPr>
          <p:cNvPr id="25" name="Head 4"/>
          <p:cNvSpPr/>
          <p:nvPr/>
        </p:nvSpPr>
        <p:spPr>
          <a:xfrm>
            <a:off x="6903720" y="2680060"/>
            <a:ext cx="1485900" cy="560000"/>
          </a:xfrm>
          <a:prstGeom prst="rect">
            <a:avLst/>
          </a:prstGeom>
          <a:noFill/>
          <a:ln/>
        </p:spPr>
        <p:txBody>
          <a:bodyPr wrap="square" lIns="0" tIns="0" rIns="0" bIns="0" rtlCol="0" anchor="t"/>
          <a:lstStyle/>
          <a:p>
            <a:pPr marL="0" indent="0">
              <a:lnSpc>
                <a:spcPts val="1550"/>
              </a:lnSpc>
              <a:buNone/>
            </a:pPr>
            <a:r>
              <a:rPr lang="en-US" sz="1500" b="1">
                <a:solidFill>
                  <a:srgbClr val="1F3557"/>
                </a:solidFill>
                <a:latin typeface="Georgia" pitchFamily="34" charset="0"/>
                <a:ea typeface="Georgia" pitchFamily="34" charset="-122"/>
                <a:cs typeface="Georgia" pitchFamily="34" charset="-120"/>
              </a:rPr>
              <a:t>Show and save</a:t>
            </a:r>
          </a:p>
        </p:txBody>
      </p:sp>
      <p:sp>
        <p:nvSpPr>
          <p:cNvPr id="26" name="Desc 4"/>
          <p:cNvSpPr/>
          <p:nvPr/>
        </p:nvSpPr>
        <p:spPr>
          <a:xfrm>
            <a:off x="6903720" y="3260000"/>
            <a:ext cx="1485900" cy="850000"/>
          </a:xfrm>
          <a:prstGeom prst="rect">
            <a:avLst/>
          </a:prstGeom>
          <a:noFill/>
          <a:ln/>
        </p:spPr>
        <p:txBody>
          <a:bodyPr wrap="square" lIns="0" tIns="0" rIns="0" bIns="0" rtlCol="0" anchor="t"/>
          <a:lstStyle/>
          <a:p>
            <a:pPr marL="0" indent="0">
              <a:lnSpc>
                <a:spcPts val="1300"/>
              </a:lnSpc>
              <a:buNone/>
            </a:pPr>
            <a:r>
              <a:rPr lang="en-US" sz="1250">
                <a:solidFill>
                  <a:srgbClr val="6B6255"/>
                </a:solidFill>
                <a:latin typeface="Segoe UI" pitchFamily="34" charset="0"/>
                <a:ea typeface="Segoe UI" pitchFamily="34" charset="-122"/>
                <a:cs typeface="Segoe UI" pitchFamily="34" charset="-120"/>
              </a:rPr>
              <a:t>Run it once clean, then save the file for Day 2.</a:t>
            </a:r>
          </a:p>
        </p:txBody>
      </p:sp>
      <p:sp>
        <p:nvSpPr>
          <p:cNvPr id="27" name="Footer"/>
          <p:cNvSpPr/>
          <p:nvPr/>
        </p:nvSpPr>
        <p:spPr>
          <a:xfrm>
            <a:off x="548640" y="4560000"/>
            <a:ext cx="8046720" cy="320000"/>
          </a:xfrm>
          <a:prstGeom prst="rect">
            <a:avLst/>
          </a:prstGeom>
          <a:noFill/>
          <a:ln/>
        </p:spPr>
        <p:txBody>
          <a:bodyPr wrap="square" lIns="0" tIns="0" rIns="0" bIns="0" rtlCol="0" anchor="ctr"/>
          <a:lstStyle/>
          <a:p>
            <a:pPr marL="0" indent="0">
              <a:lnSpc>
                <a:spcPts val="1300"/>
              </a:lnSpc>
              <a:buNone/>
            </a:pPr>
            <a:r>
              <a:rPr lang="en-US" sz="1250" i="1">
                <a:solidFill>
                  <a:srgbClr val="1F3557"/>
                </a:solidFill>
                <a:latin typeface="Segoe UI" pitchFamily="34" charset="0"/>
                <a:ea typeface="Segoe UI" pitchFamily="34" charset="-122"/>
                <a:cs typeface="Segoe UI" pitchFamily="34" charset="-120"/>
              </a:rPr>
              <a:t>Break when you need one. Finished early? Take the stretch goals on the next slide.</a:t>
            </a:r>
          </a:p>
        </p:txBody>
      </p:sp>
    </p:spTree>
    <p:extLst>
      <p:ext uri="{BB962C8B-B14F-4D97-AF65-F5344CB8AC3E}">
        <p14:creationId xmlns:p14="http://schemas.microsoft.com/office/powerpoint/2010/main" val="14669653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2">
    <p:bg>
      <p:bgPr>
        <a:solidFill>
          <a:srgbClr val="F5EFE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EFE2"/>
          </a:solidFill>
          <a:ln w="3175">
            <a:solidFill>
              <a:srgbClr val="F5EFE2"/>
            </a:solidFill>
            <a:prstDash val="solid"/>
          </a:ln>
        </p:spPr>
        <p:txBody>
          <a:bodyPr/>
          <a:lstStyle/>
          <a:p>
            <a:endParaRPr lang="en-US"/>
          </a:p>
        </p:txBody>
      </p:sp>
      <p:sp>
        <p:nvSpPr>
          <p:cNvPr id="3" name="Text 1"/>
          <p:cNvSpPr/>
          <p:nvPr/>
        </p:nvSpPr>
        <p:spPr>
          <a:xfrm>
            <a:off x="548640" y="384048"/>
            <a:ext cx="5943600" cy="274320"/>
          </a:xfrm>
          <a:prstGeom prst="rect">
            <a:avLst/>
          </a:prstGeom>
          <a:noFill/>
          <a:ln/>
        </p:spPr>
        <p:txBody>
          <a:bodyPr wrap="square" lIns="0" tIns="0" rIns="0" bIns="0" rtlCol="0" anchor="ctr"/>
          <a:lstStyle/>
          <a:p>
            <a:pPr marL="0" indent="0">
              <a:buNone/>
            </a:pPr>
            <a:r>
              <a:rPr lang="en-US" sz="1300" b="1" kern="0" spc="300">
                <a:solidFill>
                  <a:srgbClr val="A9552F"/>
                </a:solidFill>
                <a:latin typeface="Segoe UI" pitchFamily="34" charset="0"/>
                <a:ea typeface="Segoe UI" pitchFamily="34" charset="-122"/>
                <a:cs typeface="Segoe UI" pitchFamily="34" charset="-120"/>
              </a:rPr>
              <a:t>BEFORE YOU CALL IT DONE</a:t>
            </a:r>
            <a:endParaRPr lang="en-US" sz="1300"/>
          </a:p>
        </p:txBody>
      </p:sp>
      <p:sp>
        <p:nvSpPr>
          <p:cNvPr id="4" name="Text 2"/>
          <p:cNvSpPr/>
          <p:nvPr/>
        </p:nvSpPr>
        <p:spPr>
          <a:xfrm>
            <a:off x="530352" y="676656"/>
            <a:ext cx="7200900" cy="548640"/>
          </a:xfrm>
          <a:prstGeom prst="rect">
            <a:avLst/>
          </a:prstGeom>
          <a:noFill/>
          <a:ln/>
        </p:spPr>
        <p:txBody>
          <a:bodyPr wrap="square" lIns="0" tIns="0" rIns="0" bIns="0" rtlCol="0" anchor="ctr"/>
          <a:lstStyle/>
          <a:p>
            <a:pPr marL="0" indent="0">
              <a:buNone/>
            </a:pPr>
            <a:r>
              <a:rPr lang="en-US" sz="2600" b="1" dirty="0">
                <a:solidFill>
                  <a:srgbClr val="1F3557"/>
                </a:solidFill>
                <a:latin typeface="Georgia" pitchFamily="34" charset="0"/>
                <a:ea typeface="Georgia" pitchFamily="34" charset="-122"/>
                <a:cs typeface="Georgia" pitchFamily="34" charset="-120"/>
              </a:rPr>
              <a:t>Acceptance check</a:t>
            </a:r>
            <a:endParaRPr lang="en-US" sz="3200" dirty="0"/>
          </a:p>
        </p:txBody>
      </p:sp>
      <p:sp>
        <p:nvSpPr>
          <p:cNvPr id="5" name="Shape 3"/>
          <p:cNvSpPr/>
          <p:nvPr/>
        </p:nvSpPr>
        <p:spPr>
          <a:xfrm>
            <a:off x="548640" y="1316736"/>
            <a:ext cx="1280160" cy="0"/>
          </a:xfrm>
          <a:prstGeom prst="line">
            <a:avLst/>
          </a:prstGeom>
          <a:noFill/>
          <a:ln w="28575">
            <a:solidFill>
              <a:srgbClr val="A9552F"/>
            </a:solidFill>
            <a:prstDash val="solid"/>
          </a:ln>
        </p:spPr>
        <p:txBody>
          <a:bodyPr/>
          <a:lstStyle/>
          <a:p>
            <a:endParaRPr lang="en-US"/>
          </a:p>
        </p:txBody>
      </p:sp>
      <p:sp>
        <p:nvSpPr>
          <p:cNvPr id="6" name="Shape 4"/>
          <p:cNvSpPr/>
          <p:nvPr/>
        </p:nvSpPr>
        <p:spPr>
          <a:xfrm>
            <a:off x="548640" y="1651000"/>
            <a:ext cx="8046720" cy="2819400"/>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7" name="Text 5"/>
          <p:cNvSpPr/>
          <p:nvPr/>
        </p:nvSpPr>
        <p:spPr>
          <a:xfrm>
            <a:off x="1028246" y="1866900"/>
            <a:ext cx="7087508" cy="279400"/>
          </a:xfrm>
          <a:prstGeom prst="rect">
            <a:avLst/>
          </a:prstGeom>
          <a:noFill/>
          <a:ln/>
        </p:spPr>
        <p:txBody>
          <a:bodyPr wrap="square" lIns="0" tIns="0" rIns="0" bIns="0" rtlCol="0" anchor="ctr"/>
          <a:lstStyle/>
          <a:p>
            <a:pPr marL="0" indent="0">
              <a:buNone/>
            </a:pPr>
            <a:r>
              <a:rPr lang="en-US" sz="1650" b="1">
                <a:solidFill>
                  <a:srgbClr val="1F3557"/>
                </a:solidFill>
                <a:latin typeface="Georgia" pitchFamily="34" charset="0"/>
                <a:ea typeface="Georgia" pitchFamily="34" charset="-122"/>
                <a:cs typeface="Georgia" pitchFamily="34" charset="-120"/>
              </a:rPr>
              <a:t>Acceptance check</a:t>
            </a:r>
            <a:endParaRPr lang="en-US" sz="1650"/>
          </a:p>
        </p:txBody>
      </p:sp>
      <p:sp>
        <p:nvSpPr>
          <p:cNvPr id="8" name="Text 6"/>
          <p:cNvSpPr/>
          <p:nvPr/>
        </p:nvSpPr>
        <p:spPr>
          <a:xfrm>
            <a:off x="1028246" y="2235200"/>
            <a:ext cx="7087508" cy="2159000"/>
          </a:xfrm>
          <a:prstGeom prst="rect">
            <a:avLst/>
          </a:prstGeom>
          <a:noFill/>
          <a:ln/>
        </p:spPr>
        <p:txBody>
          <a:bodyPr wrap="square" lIns="0" tIns="0" rIns="0" bIns="0" rtlCol="0" anchor="t"/>
          <a:lstStyle/>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The file name and public class name match exactly.</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It compiles with no errors and produces a .class file.</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Every String is quoted; no int is quoted.</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Every declaration and println ends with a semicolon.</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The output has a header, labeled lines, and a closing sentence.</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All data is fictional.</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You can explain every line out loud.</a:t>
            </a:r>
            <a:endParaRPr lang="en-US" sz="1350"/>
          </a:p>
        </p:txBody>
      </p:sp>
    </p:spTree>
    <p:extLst>
      <p:ext uri="{BB962C8B-B14F-4D97-AF65-F5344CB8AC3E}">
        <p14:creationId xmlns:p14="http://schemas.microsoft.com/office/powerpoint/2010/main" val="7292040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2">
    <p:bg>
      <p:bgPr>
        <a:solidFill>
          <a:srgbClr val="F5EFE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EFE2"/>
          </a:solidFill>
          <a:ln w="3175">
            <a:solidFill>
              <a:srgbClr val="F5EFE2"/>
            </a:solidFill>
            <a:prstDash val="solid"/>
          </a:ln>
        </p:spPr>
        <p:txBody>
          <a:bodyPr/>
          <a:lstStyle/>
          <a:p>
            <a:endParaRPr lang="en-US"/>
          </a:p>
        </p:txBody>
      </p:sp>
      <p:sp>
        <p:nvSpPr>
          <p:cNvPr id="3" name="Text 1"/>
          <p:cNvSpPr/>
          <p:nvPr/>
        </p:nvSpPr>
        <p:spPr>
          <a:xfrm>
            <a:off x="548640" y="384048"/>
            <a:ext cx="5943600" cy="274320"/>
          </a:xfrm>
          <a:prstGeom prst="rect">
            <a:avLst/>
          </a:prstGeom>
          <a:noFill/>
          <a:ln/>
        </p:spPr>
        <p:txBody>
          <a:bodyPr wrap="square" lIns="0" tIns="0" rIns="0" bIns="0" rtlCol="0" anchor="ctr"/>
          <a:lstStyle/>
          <a:p>
            <a:pPr marL="0" indent="0">
              <a:buNone/>
            </a:pPr>
            <a:r>
              <a:rPr lang="en-US" sz="1300" b="1" kern="0" spc="300">
                <a:solidFill>
                  <a:srgbClr val="A9552F"/>
                </a:solidFill>
                <a:latin typeface="Segoe UI" pitchFamily="34" charset="0"/>
                <a:ea typeface="Segoe UI" pitchFamily="34" charset="-122"/>
                <a:cs typeface="Segoe UI" pitchFamily="34" charset="-120"/>
              </a:rPr>
              <a:t>BEFORE YOU CALL IT DONE</a:t>
            </a:r>
            <a:endParaRPr lang="en-US" sz="1300"/>
          </a:p>
        </p:txBody>
      </p:sp>
      <p:sp>
        <p:nvSpPr>
          <p:cNvPr id="4" name="Text 2"/>
          <p:cNvSpPr/>
          <p:nvPr/>
        </p:nvSpPr>
        <p:spPr>
          <a:xfrm>
            <a:off x="530352" y="676656"/>
            <a:ext cx="7200900" cy="548640"/>
          </a:xfrm>
          <a:prstGeom prst="rect">
            <a:avLst/>
          </a:prstGeom>
          <a:noFill/>
          <a:ln/>
        </p:spPr>
        <p:txBody>
          <a:bodyPr wrap="square" lIns="0" tIns="0" rIns="0" bIns="0" rtlCol="0" anchor="ctr"/>
          <a:lstStyle/>
          <a:p>
            <a:pPr marL="0" indent="0">
              <a:buNone/>
            </a:pPr>
            <a:r>
              <a:rPr lang="en-US" sz="2600" b="1">
                <a:solidFill>
                  <a:srgbClr val="1F3557"/>
                </a:solidFill>
                <a:latin typeface="Georgia" pitchFamily="34" charset="0"/>
                <a:ea typeface="Georgia" pitchFamily="34" charset="-122"/>
                <a:cs typeface="Georgia" pitchFamily="34" charset="-120"/>
              </a:rPr>
              <a:t>Finished early? Stretch goals</a:t>
            </a:r>
            <a:endParaRPr lang="en-US" sz="3200"/>
          </a:p>
        </p:txBody>
      </p:sp>
      <p:sp>
        <p:nvSpPr>
          <p:cNvPr id="5" name="Shape 3"/>
          <p:cNvSpPr/>
          <p:nvPr/>
        </p:nvSpPr>
        <p:spPr>
          <a:xfrm>
            <a:off x="548640" y="1316736"/>
            <a:ext cx="1280160" cy="0"/>
          </a:xfrm>
          <a:prstGeom prst="line">
            <a:avLst/>
          </a:prstGeom>
          <a:noFill/>
          <a:ln w="28575">
            <a:solidFill>
              <a:srgbClr val="A9552F"/>
            </a:solidFill>
            <a:prstDash val="solid"/>
          </a:ln>
        </p:spPr>
        <p:txBody>
          <a:bodyPr/>
          <a:lstStyle/>
          <a:p>
            <a:endParaRPr lang="en-US"/>
          </a:p>
        </p:txBody>
      </p:sp>
      <p:sp>
        <p:nvSpPr>
          <p:cNvPr id="9" name="Shape 7"/>
          <p:cNvSpPr/>
          <p:nvPr/>
        </p:nvSpPr>
        <p:spPr>
          <a:xfrm>
            <a:off x="548640" y="1651000"/>
            <a:ext cx="8046720" cy="2819400"/>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10" name="Text 8"/>
          <p:cNvSpPr/>
          <p:nvPr/>
        </p:nvSpPr>
        <p:spPr>
          <a:xfrm>
            <a:off x="1028246" y="1866900"/>
            <a:ext cx="7087508" cy="279400"/>
          </a:xfrm>
          <a:prstGeom prst="rect">
            <a:avLst/>
          </a:prstGeom>
          <a:noFill/>
          <a:ln/>
        </p:spPr>
        <p:txBody>
          <a:bodyPr wrap="square" lIns="0" tIns="0" rIns="0" bIns="0" rtlCol="0" anchor="ctr"/>
          <a:lstStyle/>
          <a:p>
            <a:pPr marL="0" indent="0">
              <a:buNone/>
            </a:pPr>
            <a:r>
              <a:rPr lang="en-US" sz="1650" b="1">
                <a:solidFill>
                  <a:srgbClr val="1F3557"/>
                </a:solidFill>
                <a:latin typeface="Georgia" pitchFamily="34" charset="0"/>
                <a:ea typeface="Georgia" pitchFamily="34" charset="-122"/>
                <a:cs typeface="Georgia" pitchFamily="34" charset="-120"/>
              </a:rPr>
              <a:t>Finished early? Stretch</a:t>
            </a:r>
            <a:endParaRPr lang="en-US" sz="1650"/>
          </a:p>
        </p:txBody>
      </p:sp>
      <p:sp>
        <p:nvSpPr>
          <p:cNvPr id="11" name="Text 9"/>
          <p:cNvSpPr/>
          <p:nvPr/>
        </p:nvSpPr>
        <p:spPr>
          <a:xfrm>
            <a:off x="1028246" y="2235200"/>
            <a:ext cx="7087508" cy="2159000"/>
          </a:xfrm>
          <a:prstGeom prst="rect">
            <a:avLst/>
          </a:prstGeom>
          <a:noFill/>
          <a:ln/>
        </p:spPr>
        <p:txBody>
          <a:bodyPr wrap="square" lIns="0" tIns="0" rIns="0" bIns="0" rtlCol="0" anchor="t"/>
          <a:lstStyle/>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Print a second member without deleting the first.</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Add a total line using + arithmetic between two ints.</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Right-align your labels using spaces so values line up.</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Rewrite one println as three print calls with the same result.</a:t>
            </a:r>
            <a:endParaRPr lang="en-US" sz="1350"/>
          </a:p>
          <a:p>
            <a:pPr marL="171450" indent="-171450">
              <a:lnSpc>
                <a:spcPts val="1600"/>
              </a:lnSpc>
              <a:buSzPct val="100000"/>
              <a:buChar char="•"/>
            </a:pPr>
            <a:r>
              <a:rPr lang="en-US" sz="1350">
                <a:solidFill>
                  <a:srgbClr val="6B6255"/>
                </a:solidFill>
                <a:latin typeface="Segoe UI" pitchFamily="34" charset="0"/>
                <a:ea typeface="Segoe UI" pitchFamily="34" charset="-122"/>
                <a:cs typeface="Segoe UI" pitchFamily="34" charset="-120"/>
              </a:rPr>
              <a:t>Add a comment block at the top: file, author, purpose.</a:t>
            </a:r>
            <a:endParaRPr lang="en-US" sz="1350"/>
          </a:p>
        </p:txBody>
      </p:sp>
    </p:spTree>
    <p:extLst>
      <p:ext uri="{BB962C8B-B14F-4D97-AF65-F5344CB8AC3E}">
        <p14:creationId xmlns:p14="http://schemas.microsoft.com/office/powerpoint/2010/main" val="20026845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Day 2 bridge">
    <p:bg>
      <p:bgPr>
        <a:solidFill>
          <a:srgbClr val="F5EFE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EFE2"/>
          </a:solidFill>
          <a:ln w="3175">
            <a:solidFill>
              <a:srgbClr val="F5EFE2"/>
            </a:solidFill>
            <a:prstDash val="solid"/>
          </a:ln>
        </p:spPr>
        <p:txBody>
          <a:bodyPr/>
          <a:lstStyle/>
          <a:p>
            <a:endParaRPr lang="en-US"/>
          </a:p>
        </p:txBody>
      </p:sp>
      <p:sp>
        <p:nvSpPr>
          <p:cNvPr id="3" name="Text 1"/>
          <p:cNvSpPr/>
          <p:nvPr/>
        </p:nvSpPr>
        <p:spPr>
          <a:xfrm>
            <a:off x="548640" y="384048"/>
            <a:ext cx="5943600" cy="274320"/>
          </a:xfrm>
          <a:prstGeom prst="rect">
            <a:avLst/>
          </a:prstGeom>
          <a:noFill/>
          <a:ln/>
        </p:spPr>
        <p:txBody>
          <a:bodyPr wrap="square" lIns="0" tIns="0" rIns="0" bIns="0" rtlCol="0" anchor="ctr"/>
          <a:lstStyle/>
          <a:p>
            <a:pPr marL="0" indent="0">
              <a:buNone/>
            </a:pPr>
            <a:r>
              <a:rPr lang="en-US" sz="1300" b="1" kern="0" spc="300">
                <a:solidFill>
                  <a:srgbClr val="A9552F"/>
                </a:solidFill>
                <a:latin typeface="Segoe UI" pitchFamily="34" charset="0"/>
                <a:ea typeface="Segoe UI" pitchFamily="34" charset="-122"/>
                <a:cs typeface="Segoe UI" pitchFamily="34" charset="-120"/>
              </a:rPr>
              <a:t>CHECKPOINT AND CLOSE</a:t>
            </a:r>
            <a:endParaRPr lang="en-US" sz="1300"/>
          </a:p>
        </p:txBody>
      </p:sp>
      <p:sp>
        <p:nvSpPr>
          <p:cNvPr id="4" name="Text 2"/>
          <p:cNvSpPr/>
          <p:nvPr/>
        </p:nvSpPr>
        <p:spPr>
          <a:xfrm>
            <a:off x="530352" y="676656"/>
            <a:ext cx="7200000" cy="548640"/>
          </a:xfrm>
          <a:prstGeom prst="rect">
            <a:avLst/>
          </a:prstGeom>
          <a:noFill/>
          <a:ln/>
        </p:spPr>
        <p:txBody>
          <a:bodyPr wrap="square" lIns="0" tIns="0" rIns="0" bIns="0" rtlCol="0" anchor="ctr"/>
          <a:lstStyle/>
          <a:p>
            <a:pPr marL="0" indent="0">
              <a:buNone/>
            </a:pPr>
            <a:r>
              <a:rPr lang="en-US" sz="2600" b="1">
                <a:solidFill>
                  <a:srgbClr val="1F3557"/>
                </a:solidFill>
                <a:latin typeface="Georgia" pitchFamily="34" charset="0"/>
                <a:ea typeface="Georgia" pitchFamily="34" charset="-122"/>
                <a:cs typeface="Georgia" pitchFamily="34" charset="-120"/>
              </a:rPr>
              <a:t>Before you leave</a:t>
            </a:r>
            <a:endParaRPr lang="en-US" sz="3200"/>
          </a:p>
        </p:txBody>
      </p:sp>
      <p:sp>
        <p:nvSpPr>
          <p:cNvPr id="5" name="Shape 3"/>
          <p:cNvSpPr/>
          <p:nvPr/>
        </p:nvSpPr>
        <p:spPr>
          <a:xfrm>
            <a:off x="548640" y="1316736"/>
            <a:ext cx="1280160" cy="0"/>
          </a:xfrm>
          <a:prstGeom prst="line">
            <a:avLst/>
          </a:prstGeom>
          <a:noFill/>
          <a:ln w="28575">
            <a:solidFill>
              <a:srgbClr val="A9552F"/>
            </a:solidFill>
            <a:prstDash val="solid"/>
          </a:ln>
        </p:spPr>
        <p:txBody>
          <a:bodyPr/>
          <a:lstStyle/>
          <a:p>
            <a:endParaRPr lang="en-US"/>
          </a:p>
        </p:txBody>
      </p:sp>
      <p:sp>
        <p:nvSpPr>
          <p:cNvPr id="125" name="T125"/>
          <p:cNvSpPr/>
          <p:nvPr/>
        </p:nvSpPr>
        <p:spPr>
          <a:xfrm>
            <a:off x="548640" y="1600200"/>
            <a:ext cx="8046720" cy="220000"/>
          </a:xfrm>
          <a:prstGeom prst="rect">
            <a:avLst/>
          </a:prstGeom>
          <a:noFill/>
          <a:ln/>
        </p:spPr>
        <p:txBody>
          <a:bodyPr wrap="square" lIns="0" tIns="0" rIns="0" bIns="0" rtlCol="0" anchor="t"/>
          <a:lstStyle/>
          <a:p>
            <a:pPr marL="0" indent="0">
              <a:lnSpc>
                <a:spcPts val="1000"/>
              </a:lnSpc>
              <a:buNone/>
            </a:pPr>
            <a:r>
              <a:rPr lang="en-US" sz="1120" b="1" spc="150">
                <a:solidFill>
                  <a:srgbClr val="A9552F"/>
                </a:solidFill>
                <a:latin typeface="Segoe UI" pitchFamily="34" charset="0"/>
                <a:ea typeface="Segoe UI" pitchFamily="34" charset="-122"/>
                <a:cs typeface="Segoe UI" pitchFamily="34" charset="-120"/>
              </a:rPr>
              <a:t>BEFORE YOU LEAVE</a:t>
            </a:r>
          </a:p>
        </p:txBody>
      </p:sp>
      <p:sp>
        <p:nvSpPr>
          <p:cNvPr id="126" name="T126"/>
          <p:cNvSpPr/>
          <p:nvPr/>
        </p:nvSpPr>
        <p:spPr>
          <a:xfrm>
            <a:off x="548640" y="1900000"/>
            <a:ext cx="8046720" cy="1400000"/>
          </a:xfrm>
          <a:prstGeom prst="rect">
            <a:avLst/>
          </a:prstGeom>
          <a:noFill/>
          <a:ln/>
        </p:spPr>
        <p:txBody>
          <a:bodyPr wrap="square" lIns="0" tIns="0" rIns="0" bIns="0" rtlCol="0" anchor="t"/>
          <a:lstStyle/>
          <a:p>
            <a:pPr marL="228600" indent="-228600">
              <a:lnSpc>
                <a:spcPts val="1350"/>
              </a:lnSpc>
              <a:buSzPct val="100000"/>
              <a:buChar char="✓"/>
            </a:pPr>
            <a:r>
              <a:rPr lang="en-US" sz="1250">
                <a:solidFill>
                  <a:srgbClr val="1F3557"/>
                </a:solidFill>
                <a:latin typeface="Segoe UI" pitchFamily="34" charset="0"/>
                <a:ea typeface="Segoe UI" pitchFamily="34" charset="-122"/>
                <a:cs typeface="Segoe UI" pitchFamily="34" charset="-120"/>
              </a:rPr>
              <a:t>Your learning folder holds every file you wrote today.</a:t>
            </a:r>
          </a:p>
          <a:p>
            <a:pPr marL="228600" indent="-228600">
              <a:lnSpc>
                <a:spcPts val="1350"/>
              </a:lnSpc>
              <a:buSzPct val="100000"/>
              <a:buChar char="✓"/>
            </a:pPr>
            <a:r>
              <a:rPr lang="en-US" sz="1250">
                <a:solidFill>
                  <a:srgbClr val="1F3557"/>
                </a:solidFill>
                <a:latin typeface="Segoe UI" pitchFamily="34" charset="0"/>
                <a:ea typeface="Segoe UI" pitchFamily="34" charset="-122"/>
                <a:cs typeface="Segoe UI" pitchFamily="34" charset="-120"/>
              </a:rPr>
              <a:t>HelloJava.java, WelcomeReport.java and MemberWelcomeReport.java all compile and run clean.</a:t>
            </a:r>
          </a:p>
          <a:p>
            <a:pPr marL="228600" indent="-228600">
              <a:lnSpc>
                <a:spcPts val="1350"/>
              </a:lnSpc>
              <a:buSzPct val="100000"/>
              <a:buChar char="✓"/>
            </a:pPr>
            <a:r>
              <a:rPr lang="en-US" sz="1250">
                <a:solidFill>
                  <a:srgbClr val="1F3557"/>
                </a:solidFill>
                <a:latin typeface="Segoe UI" pitchFamily="34" charset="0"/>
                <a:ea typeface="Segoe UI" pitchFamily="34" charset="-122"/>
                <a:cs typeface="Segoe UI" pitchFamily="34" charset="-120"/>
              </a:rPr>
              <a:t>ClaimStatusReport.java is finished — you built it with no starter.</a:t>
            </a:r>
          </a:p>
          <a:p>
            <a:pPr marL="228600" indent="-228600">
              <a:lnSpc>
                <a:spcPts val="1350"/>
              </a:lnSpc>
              <a:buSzPct val="100000"/>
              <a:buChar char="✓"/>
            </a:pPr>
            <a:r>
              <a:rPr lang="en-US" sz="1250">
                <a:solidFill>
                  <a:srgbClr val="1F3557"/>
                </a:solidFill>
                <a:latin typeface="Segoe UI" pitchFamily="34" charset="0"/>
                <a:ea typeface="Segoe UI" pitchFamily="34" charset="-122"/>
                <a:cs typeface="Segoe UI" pitchFamily="34" charset="-120"/>
              </a:rPr>
              <a:t>MemberBenefitsSummary.java prints a full labeled report.</a:t>
            </a:r>
          </a:p>
        </p:txBody>
      </p:sp>
      <p:sp>
        <p:nvSpPr>
          <p:cNvPr id="127" name="S127"/>
          <p:cNvSpPr/>
          <p:nvPr/>
        </p:nvSpPr>
        <p:spPr>
          <a:xfrm>
            <a:off x="548640" y="3273552"/>
            <a:ext cx="8046720" cy="154534"/>
          </a:xfrm>
          <a:prstGeom prst="rect">
            <a:avLst/>
          </a:prstGeom>
          <a:solidFill>
            <a:srgbClr val="A9552F"/>
          </a:solidFill>
          <a:ln/>
        </p:spPr>
        <p:txBody>
          <a:bodyPr/>
          <a:lstStyle/>
          <a:p>
            <a:endParaRPr lang="en-US"/>
          </a:p>
        </p:txBody>
      </p:sp>
      <p:sp>
        <p:nvSpPr>
          <p:cNvPr id="128" name="T128"/>
          <p:cNvSpPr/>
          <p:nvPr/>
        </p:nvSpPr>
        <p:spPr>
          <a:xfrm>
            <a:off x="548640" y="3675888"/>
            <a:ext cx="8046720" cy="1564538"/>
          </a:xfrm>
          <a:prstGeom prst="rect">
            <a:avLst/>
          </a:prstGeom>
          <a:noFill/>
          <a:ln/>
        </p:spPr>
        <p:txBody>
          <a:bodyPr wrap="square" lIns="0" tIns="0" rIns="0" bIns="0" rtlCol="0" anchor="t"/>
          <a:lstStyle/>
          <a:p>
            <a:pPr marL="0" indent="0">
              <a:lnSpc>
                <a:spcPts val="1000"/>
              </a:lnSpc>
              <a:buNone/>
            </a:pPr>
            <a:r>
              <a:rPr lang="en-US" sz="1120" b="1" spc="150">
                <a:solidFill>
                  <a:srgbClr val="A9552F"/>
                </a:solidFill>
                <a:latin typeface="Segoe UI" pitchFamily="34" charset="0"/>
                <a:ea typeface="Segoe UI" pitchFamily="34" charset="-122"/>
                <a:cs typeface="Segoe UI" pitchFamily="34" charset="-120"/>
              </a:rPr>
              <a:t>You started from an empty folder this morning. You now write a program, compile it, run it, and read the error when it goes wrong. That loop does not change for the rest of the course.</a:t>
            </a:r>
          </a:p>
        </p:txBody>
      </p:sp>
    </p:spTree>
    <p:extLst>
      <p:ext uri="{BB962C8B-B14F-4D97-AF65-F5344CB8AC3E}">
        <p14:creationId xmlns:p14="http://schemas.microsoft.com/office/powerpoint/2010/main" val="12235397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Day 2 bridge">
    <p:bg>
      <p:bgPr>
        <a:solidFill>
          <a:srgbClr val="F5EFE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EFE2"/>
          </a:solidFill>
          <a:ln w="3175">
            <a:solidFill>
              <a:srgbClr val="F5EFE2"/>
            </a:solidFill>
            <a:prstDash val="solid"/>
          </a:ln>
        </p:spPr>
        <p:txBody>
          <a:bodyPr/>
          <a:lstStyle/>
          <a:p>
            <a:endParaRPr lang="en-US"/>
          </a:p>
        </p:txBody>
      </p:sp>
      <p:sp>
        <p:nvSpPr>
          <p:cNvPr id="3" name="Text 1"/>
          <p:cNvSpPr/>
          <p:nvPr/>
        </p:nvSpPr>
        <p:spPr>
          <a:xfrm>
            <a:off x="548640" y="384048"/>
            <a:ext cx="5943600" cy="274320"/>
          </a:xfrm>
          <a:prstGeom prst="rect">
            <a:avLst/>
          </a:prstGeom>
          <a:noFill/>
          <a:ln/>
        </p:spPr>
        <p:txBody>
          <a:bodyPr wrap="square" lIns="0" tIns="0" rIns="0" bIns="0" rtlCol="0" anchor="ctr"/>
          <a:lstStyle/>
          <a:p>
            <a:pPr marL="0" indent="0">
              <a:buNone/>
            </a:pPr>
            <a:r>
              <a:rPr lang="en-US" sz="1300" b="1" kern="0" spc="300">
                <a:solidFill>
                  <a:srgbClr val="A9552F"/>
                </a:solidFill>
                <a:latin typeface="Segoe UI" pitchFamily="34" charset="0"/>
                <a:ea typeface="Segoe UI" pitchFamily="34" charset="-122"/>
                <a:cs typeface="Segoe UI" pitchFamily="34" charset="-120"/>
              </a:rPr>
              <a:t>CHECKPOINT AND CLOSE</a:t>
            </a:r>
            <a:endParaRPr lang="en-US" sz="1300"/>
          </a:p>
        </p:txBody>
      </p:sp>
      <p:sp>
        <p:nvSpPr>
          <p:cNvPr id="4" name="Text 2"/>
          <p:cNvSpPr/>
          <p:nvPr/>
        </p:nvSpPr>
        <p:spPr>
          <a:xfrm>
            <a:off x="530352" y="676656"/>
            <a:ext cx="7200000" cy="548640"/>
          </a:xfrm>
          <a:prstGeom prst="rect">
            <a:avLst/>
          </a:prstGeom>
          <a:noFill/>
          <a:ln/>
        </p:spPr>
        <p:txBody>
          <a:bodyPr wrap="square" lIns="0" tIns="0" rIns="0" bIns="0" rtlCol="0" anchor="ctr"/>
          <a:lstStyle/>
          <a:p>
            <a:pPr marL="0" indent="0">
              <a:buNone/>
            </a:pPr>
            <a:r>
              <a:rPr lang="en-US" sz="2600" b="1">
                <a:solidFill>
                  <a:srgbClr val="1F3557"/>
                </a:solidFill>
                <a:latin typeface="Georgia" pitchFamily="34" charset="0"/>
                <a:ea typeface="Georgia" pitchFamily="34" charset="-122"/>
                <a:cs typeface="Georgia" pitchFamily="34" charset="-120"/>
              </a:rPr>
              <a:t>Where we go next</a:t>
            </a:r>
            <a:endParaRPr lang="en-US" sz="3200"/>
          </a:p>
        </p:txBody>
      </p:sp>
      <p:sp>
        <p:nvSpPr>
          <p:cNvPr id="5" name="Shape 3"/>
          <p:cNvSpPr/>
          <p:nvPr/>
        </p:nvSpPr>
        <p:spPr>
          <a:xfrm>
            <a:off x="548640" y="1316736"/>
            <a:ext cx="1280160" cy="0"/>
          </a:xfrm>
          <a:prstGeom prst="line">
            <a:avLst/>
          </a:prstGeom>
          <a:noFill/>
          <a:ln w="28575">
            <a:solidFill>
              <a:srgbClr val="A9552F"/>
            </a:solidFill>
            <a:prstDash val="solid"/>
          </a:ln>
        </p:spPr>
        <p:txBody>
          <a:bodyPr/>
          <a:lstStyle/>
          <a:p>
            <a:endParaRPr lang="en-US"/>
          </a:p>
        </p:txBody>
      </p:sp>
      <p:sp>
        <p:nvSpPr>
          <p:cNvPr id="129" name="S129"/>
          <p:cNvSpPr/>
          <p:nvPr/>
        </p:nvSpPr>
        <p:spPr>
          <a:xfrm>
            <a:off x="548640" y="1600200"/>
            <a:ext cx="8046720" cy="3264408"/>
          </a:xfrm>
          <a:prstGeom prst="roundRect">
            <a:avLst>
              <a:gd name="adj" fmla="val 3175"/>
            </a:avLst>
          </a:prstGeom>
          <a:solidFill>
            <a:srgbClr val="EFE7D6"/>
          </a:solidFill>
          <a:ln/>
        </p:spPr>
        <p:txBody>
          <a:bodyPr/>
          <a:lstStyle/>
          <a:p>
            <a:endParaRPr lang="en-US"/>
          </a:p>
        </p:txBody>
      </p:sp>
      <p:sp>
        <p:nvSpPr>
          <p:cNvPr id="130" name="T130"/>
          <p:cNvSpPr/>
          <p:nvPr/>
        </p:nvSpPr>
        <p:spPr>
          <a:xfrm>
            <a:off x="1188211" y="1830000"/>
            <a:ext cx="6767579" cy="200000"/>
          </a:xfrm>
          <a:prstGeom prst="rect">
            <a:avLst/>
          </a:prstGeom>
          <a:noFill/>
          <a:ln/>
        </p:spPr>
        <p:txBody>
          <a:bodyPr wrap="square" lIns="0" tIns="0" rIns="0" bIns="0" rtlCol="0" anchor="t"/>
          <a:lstStyle/>
          <a:p>
            <a:pPr marL="0" indent="0">
              <a:lnSpc>
                <a:spcPts val="1000"/>
              </a:lnSpc>
              <a:buNone/>
            </a:pPr>
            <a:r>
              <a:rPr lang="en-US" sz="1120" b="1" spc="150">
                <a:solidFill>
                  <a:srgbClr val="A9552F"/>
                </a:solidFill>
                <a:latin typeface="Segoe UI" pitchFamily="34" charset="0"/>
                <a:ea typeface="Segoe UI" pitchFamily="34" charset="-122"/>
                <a:cs typeface="Segoe UI" pitchFamily="34" charset="-120"/>
              </a:rPr>
              <a:t>TOMORROW</a:t>
            </a:r>
          </a:p>
        </p:txBody>
      </p:sp>
      <p:sp>
        <p:nvSpPr>
          <p:cNvPr id="131" name="T131"/>
          <p:cNvSpPr/>
          <p:nvPr/>
        </p:nvSpPr>
        <p:spPr>
          <a:xfrm>
            <a:off x="1188211" y="2090000"/>
            <a:ext cx="6767579" cy="614477"/>
          </a:xfrm>
          <a:prstGeom prst="rect">
            <a:avLst/>
          </a:prstGeom>
          <a:noFill/>
          <a:ln/>
        </p:spPr>
        <p:txBody>
          <a:bodyPr wrap="square" lIns="0" tIns="0" rIns="0" bIns="0" rtlCol="0" anchor="t"/>
          <a:lstStyle/>
          <a:p>
            <a:pPr marL="0" indent="0">
              <a:lnSpc>
                <a:spcPts val="1700"/>
              </a:lnSpc>
              <a:buNone/>
            </a:pPr>
            <a:r>
              <a:rPr lang="en-US" sz="1650" b="1">
                <a:solidFill>
                  <a:srgbClr val="1F3557"/>
                </a:solidFill>
                <a:latin typeface="Georgia" pitchFamily="34" charset="0"/>
                <a:ea typeface="Georgia" pitchFamily="34" charset="-122"/>
                <a:cs typeface="Georgia" pitchFamily="34" charset="-120"/>
              </a:rPr>
              <a:t>Day 2: input and the first real calculation</a:t>
            </a:r>
          </a:p>
        </p:txBody>
      </p:sp>
      <p:sp>
        <p:nvSpPr>
          <p:cNvPr id="132" name="T132"/>
          <p:cNvSpPr/>
          <p:nvPr/>
        </p:nvSpPr>
        <p:spPr>
          <a:xfrm>
            <a:off x="1188211" y="2750000"/>
            <a:ext cx="6767579" cy="2115007"/>
          </a:xfrm>
          <a:prstGeom prst="rect">
            <a:avLst/>
          </a:prstGeom>
          <a:noFill/>
          <a:ln/>
        </p:spPr>
        <p:txBody>
          <a:bodyPr wrap="square" lIns="0" tIns="0" rIns="0" bIns="0" rtlCol="0" anchor="t"/>
          <a:lstStyle/>
          <a:p>
            <a:pPr marL="228600" indent="-228600">
              <a:lnSpc>
                <a:spcPts val="1250"/>
              </a:lnSpc>
              <a:buSzPct val="100000"/>
              <a:buChar char="•"/>
            </a:pPr>
            <a:r>
              <a:rPr lang="en-US" sz="1200">
                <a:solidFill>
                  <a:srgbClr val="6B6255"/>
                </a:solidFill>
                <a:latin typeface="Segoe UI" pitchFamily="34" charset="0"/>
                <a:ea typeface="Segoe UI" pitchFamily="34" charset="-122"/>
                <a:cs typeface="Segoe UI" pitchFamily="34" charset="-120"/>
              </a:rPr>
              <a:t>Ask the user for values instead of hard-coding them.</a:t>
            </a:r>
          </a:p>
          <a:p>
            <a:pPr marL="228600" indent="-228600">
              <a:lnSpc>
                <a:spcPts val="1250"/>
              </a:lnSpc>
              <a:buSzPct val="100000"/>
              <a:buChar char="•"/>
            </a:pPr>
            <a:r>
              <a:rPr lang="en-US" sz="1200">
                <a:solidFill>
                  <a:srgbClr val="6B6255"/>
                </a:solidFill>
                <a:latin typeface="Segoe UI" pitchFamily="34" charset="0"/>
                <a:ea typeface="Segoe UI" pitchFamily="34" charset="-122"/>
                <a:cs typeface="Segoe UI" pitchFamily="34" charset="-120"/>
              </a:rPr>
              <a:t>Work with decimal numbers and money.</a:t>
            </a:r>
          </a:p>
          <a:p>
            <a:pPr marL="228600" indent="-228600">
              <a:lnSpc>
                <a:spcPts val="1250"/>
              </a:lnSpc>
              <a:buSzPct val="100000"/>
              <a:buChar char="•"/>
            </a:pPr>
            <a:r>
              <a:rPr lang="en-US" sz="1200">
                <a:solidFill>
                  <a:srgbClr val="6B6255"/>
                </a:solidFill>
                <a:latin typeface="Segoe UI" pitchFamily="34" charset="0"/>
                <a:ea typeface="Segoe UI" pitchFamily="34" charset="-122"/>
                <a:cs typeface="Segoe UI" pitchFamily="34" charset="-120"/>
              </a:rPr>
              <a:t>Make the program decide and repeat.</a:t>
            </a:r>
          </a:p>
          <a:p>
            <a:pPr marL="228600" indent="-228600">
              <a:lnSpc>
                <a:spcPts val="1250"/>
              </a:lnSpc>
              <a:buSzPct val="100000"/>
              <a:buChar char="•"/>
            </a:pPr>
            <a:r>
              <a:rPr lang="en-US" sz="1200">
                <a:solidFill>
                  <a:srgbClr val="6B6255"/>
                </a:solidFill>
                <a:latin typeface="Segoe UI" pitchFamily="34" charset="0"/>
                <a:ea typeface="Segoe UI" pitchFamily="34" charset="-122"/>
                <a:cs typeface="Segoe UI" pitchFamily="34" charset="-120"/>
              </a:rPr>
              <a:t>MemberBenefitsSummary is where it starts, so keep your files.</a:t>
            </a:r>
          </a:p>
        </p:txBody>
      </p:sp>
    </p:spTree>
    <p:extLst>
      <p:ext uri="{BB962C8B-B14F-4D97-AF65-F5344CB8AC3E}">
        <p14:creationId xmlns:p14="http://schemas.microsoft.com/office/powerpoint/2010/main" val="102109887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1">
    <p:bg>
      <p:bgPr>
        <a:solidFill>
          <a:srgbClr val="F5EFE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EFE2"/>
          </a:solidFill>
          <a:ln w="3175">
            <a:solidFill>
              <a:srgbClr val="F5EFE2"/>
            </a:solidFill>
            <a:prstDash val="solid"/>
          </a:ln>
        </p:spPr>
        <p:txBody>
          <a:bodyPr/>
          <a:lstStyle/>
          <a:p>
            <a:endParaRPr lang="en-US"/>
          </a:p>
        </p:txBody>
      </p:sp>
      <p:pic>
        <p:nvPicPr>
          <p:cNvPr id="3" name="Image 0"/>
          <p:cNvPicPr>
            <a:picLocks noChangeAspect="1"/>
          </p:cNvPicPr>
          <p:nvPr/>
        </p:nvPicPr>
        <p:blipFill>
          <a:blip r:embed="rId3"/>
          <a:srcRect t="1299" b="1299"/>
          <a:stretch/>
        </p:blipFill>
        <p:spPr>
          <a:xfrm>
            <a:off x="5623560" y="0"/>
            <a:ext cx="3520440" cy="5143500"/>
          </a:xfrm>
          <a:prstGeom prst="rect">
            <a:avLst/>
          </a:prstGeom>
        </p:spPr>
      </p:pic>
      <p:sp>
        <p:nvSpPr>
          <p:cNvPr id="4" name="Shape 1"/>
          <p:cNvSpPr/>
          <p:nvPr/>
        </p:nvSpPr>
        <p:spPr>
          <a:xfrm>
            <a:off x="5623560" y="0"/>
            <a:ext cx="18288" cy="5143500"/>
          </a:xfrm>
          <a:prstGeom prst="rect">
            <a:avLst/>
          </a:prstGeom>
          <a:solidFill>
            <a:srgbClr val="1F3557"/>
          </a:solidFill>
          <a:ln/>
        </p:spPr>
        <p:txBody>
          <a:bodyPr/>
          <a:lstStyle/>
          <a:p>
            <a:endParaRPr lang="en-US"/>
          </a:p>
        </p:txBody>
      </p:sp>
      <p:sp>
        <p:nvSpPr>
          <p:cNvPr id="5" name="Text 2"/>
          <p:cNvSpPr/>
          <p:nvPr/>
        </p:nvSpPr>
        <p:spPr>
          <a:xfrm>
            <a:off x="685800" y="685800"/>
            <a:ext cx="4663440" cy="274320"/>
          </a:xfrm>
          <a:prstGeom prst="rect">
            <a:avLst/>
          </a:prstGeom>
          <a:noFill/>
          <a:ln/>
        </p:spPr>
        <p:txBody>
          <a:bodyPr wrap="square" lIns="0" tIns="0" rIns="0" bIns="0" rtlCol="0" anchor="ctr"/>
          <a:lstStyle/>
          <a:p>
            <a:pPr marL="0" indent="0">
              <a:buNone/>
            </a:pPr>
            <a:r>
              <a:rPr lang="en-US" sz="1350" b="1" kern="0" spc="300">
                <a:solidFill>
                  <a:srgbClr val="A9552F"/>
                </a:solidFill>
                <a:latin typeface="Segoe UI" pitchFamily="34" charset="0"/>
                <a:ea typeface="Segoe UI" pitchFamily="34" charset="-122"/>
                <a:cs typeface="Segoe UI" pitchFamily="34" charset="-120"/>
              </a:rPr>
              <a:t>INSTRUCTOR REFERENCE — NOT FOR DISTRIBUTION</a:t>
            </a:r>
            <a:endParaRPr lang="en-US" sz="1350"/>
          </a:p>
        </p:txBody>
      </p:sp>
      <p:sp>
        <p:nvSpPr>
          <p:cNvPr id="6" name="Text 3"/>
          <p:cNvSpPr/>
          <p:nvPr/>
        </p:nvSpPr>
        <p:spPr>
          <a:xfrm>
            <a:off x="658368" y="1097280"/>
            <a:ext cx="4754880" cy="1737360"/>
          </a:xfrm>
          <a:prstGeom prst="rect">
            <a:avLst/>
          </a:prstGeom>
          <a:noFill/>
          <a:ln/>
        </p:spPr>
        <p:txBody>
          <a:bodyPr wrap="square" lIns="0" tIns="0" rIns="0" bIns="0" rtlCol="0" anchor="ctr"/>
          <a:lstStyle/>
          <a:p>
            <a:pPr marL="0" indent="0">
              <a:lnSpc>
                <a:spcPts val="5000"/>
              </a:lnSpc>
              <a:buNone/>
            </a:pPr>
            <a:r>
              <a:rPr lang="en-US" sz="4600" b="1" dirty="0">
                <a:solidFill>
                  <a:srgbClr val="1F3557"/>
                </a:solidFill>
                <a:latin typeface="Georgia" pitchFamily="34" charset="0"/>
                <a:ea typeface="Georgia" pitchFamily="34" charset="-122"/>
                <a:cs typeface="Georgia" pitchFamily="34" charset="-120"/>
              </a:rPr>
              <a:t>Answer keys</a:t>
            </a:r>
            <a:endParaRPr lang="en-US" sz="4600" dirty="0"/>
          </a:p>
        </p:txBody>
      </p:sp>
      <p:sp>
        <p:nvSpPr>
          <p:cNvPr id="7" name="Shape 4"/>
          <p:cNvSpPr/>
          <p:nvPr/>
        </p:nvSpPr>
        <p:spPr>
          <a:xfrm>
            <a:off x="685800" y="2971800"/>
            <a:ext cx="1463040" cy="0"/>
          </a:xfrm>
          <a:prstGeom prst="line">
            <a:avLst/>
          </a:prstGeom>
          <a:noFill/>
          <a:ln w="28575">
            <a:solidFill>
              <a:srgbClr val="A9552F"/>
            </a:solidFill>
            <a:prstDash val="solid"/>
          </a:ln>
        </p:spPr>
        <p:txBody>
          <a:bodyPr/>
          <a:lstStyle/>
          <a:p>
            <a:endParaRPr lang="en-US"/>
          </a:p>
        </p:txBody>
      </p:sp>
      <p:sp>
        <p:nvSpPr>
          <p:cNvPr id="8" name="Text 5"/>
          <p:cNvSpPr/>
          <p:nvPr/>
        </p:nvSpPr>
        <p:spPr>
          <a:xfrm>
            <a:off x="658368" y="3246120"/>
            <a:ext cx="4572000" cy="594350"/>
          </a:xfrm>
          <a:prstGeom prst="rect">
            <a:avLst/>
          </a:prstGeom>
          <a:noFill/>
          <a:ln/>
        </p:spPr>
        <p:txBody>
          <a:bodyPr wrap="square" lIns="0" tIns="0" rIns="0" bIns="0" rtlCol="0" anchor="t"/>
          <a:lstStyle/>
          <a:p>
            <a:pPr marL="0" indent="0">
              <a:lnSpc>
                <a:spcPts val="2000"/>
              </a:lnSpc>
              <a:buNone/>
            </a:pPr>
            <a:r>
              <a:rPr lang="en-US" sz="1500">
                <a:solidFill>
                  <a:srgbClr val="6B6255"/>
                </a:solidFill>
                <a:latin typeface="Segoe UI" pitchFamily="34" charset="0"/>
                <a:ea typeface="Segoe UI" pitchFamily="34" charset="-122"/>
                <a:cs typeface="Segoe UI" pitchFamily="34" charset="-120"/>
              </a:rPr>
              <a:t>Known-good versions of every Day 1 exercise and the afternoon project.</a:t>
            </a:r>
            <a:endParaRPr lang="en-US" sz="1500"/>
          </a:p>
        </p:txBody>
      </p:sp>
      <p:sp>
        <p:nvSpPr>
          <p:cNvPr id="9" name="Shape 6"/>
          <p:cNvSpPr/>
          <p:nvPr/>
        </p:nvSpPr>
        <p:spPr>
          <a:xfrm>
            <a:off x="685800" y="4038600"/>
            <a:ext cx="3683000" cy="508000"/>
          </a:xfrm>
          <a:prstGeom prst="roundRect">
            <a:avLst>
              <a:gd name="adj" fmla="val 23333"/>
            </a:avLst>
          </a:prstGeom>
          <a:solidFill>
            <a:srgbClr val="F5EFE2"/>
          </a:solidFill>
          <a:ln w="12700">
            <a:solidFill>
              <a:srgbClr val="1F3557"/>
            </a:solidFill>
            <a:prstDash val="solid"/>
          </a:ln>
        </p:spPr>
        <p:txBody>
          <a:bodyPr/>
          <a:lstStyle/>
          <a:p>
            <a:endParaRPr lang="en-US"/>
          </a:p>
        </p:txBody>
      </p:sp>
      <p:sp>
        <p:nvSpPr>
          <p:cNvPr id="10" name="Text 7"/>
          <p:cNvSpPr/>
          <p:nvPr/>
        </p:nvSpPr>
        <p:spPr>
          <a:xfrm>
            <a:off x="685800" y="4038600"/>
            <a:ext cx="3683000" cy="508000"/>
          </a:xfrm>
          <a:prstGeom prst="rect">
            <a:avLst/>
          </a:prstGeom>
          <a:noFill/>
          <a:ln/>
        </p:spPr>
        <p:txBody>
          <a:bodyPr wrap="square" lIns="0" tIns="0" rIns="0" bIns="0" rtlCol="0" anchor="ctr"/>
          <a:lstStyle/>
          <a:p>
            <a:pPr marL="0" indent="0" algn="ctr">
              <a:buNone/>
            </a:pPr>
            <a:r>
              <a:rPr lang="en-US" sz="1500" b="1">
                <a:solidFill>
                  <a:srgbClr val="1F3557"/>
                </a:solidFill>
                <a:latin typeface="Segoe UI" pitchFamily="34" charset="0"/>
                <a:ea typeface="Segoe UI" pitchFamily="34" charset="-122"/>
                <a:cs typeface="Segoe UI" pitchFamily="34" charset="-120"/>
              </a:rPr>
              <a:t>Keep hidden until students have tried</a:t>
            </a:r>
            <a:endParaRPr lang="en-US" sz="1500"/>
          </a:p>
        </p:txBody>
      </p:sp>
    </p:spTree>
    <p:extLst>
      <p:ext uri="{BB962C8B-B14F-4D97-AF65-F5344CB8AC3E}">
        <p14:creationId xmlns:p14="http://schemas.microsoft.com/office/powerpoint/2010/main" val="28697975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2">
    <p:bg>
      <p:bgPr>
        <a:solidFill>
          <a:srgbClr val="F5EFE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EFE2"/>
          </a:solidFill>
          <a:ln w="3175">
            <a:solidFill>
              <a:srgbClr val="F5EFE2"/>
            </a:solidFill>
            <a:prstDash val="solid"/>
          </a:ln>
        </p:spPr>
        <p:txBody>
          <a:bodyPr/>
          <a:lstStyle/>
          <a:p>
            <a:endParaRPr lang="en-US"/>
          </a:p>
        </p:txBody>
      </p:sp>
      <p:sp>
        <p:nvSpPr>
          <p:cNvPr id="3" name="Text 1"/>
          <p:cNvSpPr/>
          <p:nvPr/>
        </p:nvSpPr>
        <p:spPr>
          <a:xfrm>
            <a:off x="548640" y="384048"/>
            <a:ext cx="5943600" cy="274320"/>
          </a:xfrm>
          <a:prstGeom prst="rect">
            <a:avLst/>
          </a:prstGeom>
          <a:noFill/>
          <a:ln/>
        </p:spPr>
        <p:txBody>
          <a:bodyPr wrap="square" lIns="0" tIns="0" rIns="0" bIns="0" rtlCol="0" anchor="ctr"/>
          <a:lstStyle/>
          <a:p>
            <a:pPr marL="0" indent="0">
              <a:buNone/>
            </a:pPr>
            <a:r>
              <a:rPr lang="en-US" sz="1300" b="1" kern="0" spc="300">
                <a:solidFill>
                  <a:srgbClr val="A9552F"/>
                </a:solidFill>
                <a:latin typeface="Segoe UI" pitchFamily="34" charset="0"/>
                <a:ea typeface="Segoe UI" pitchFamily="34" charset="-122"/>
                <a:cs typeface="Segoe UI" pitchFamily="34" charset="-120"/>
              </a:rPr>
              <a:t>ANSWER KEY — EXERCISE 1</a:t>
            </a:r>
            <a:endParaRPr lang="en-US" sz="1300"/>
          </a:p>
        </p:txBody>
      </p:sp>
      <p:sp>
        <p:nvSpPr>
          <p:cNvPr id="4" name="Text 2"/>
          <p:cNvSpPr/>
          <p:nvPr/>
        </p:nvSpPr>
        <p:spPr>
          <a:xfrm>
            <a:off x="530352" y="676656"/>
            <a:ext cx="7200900" cy="548640"/>
          </a:xfrm>
          <a:prstGeom prst="rect">
            <a:avLst/>
          </a:prstGeom>
          <a:noFill/>
          <a:ln/>
        </p:spPr>
        <p:txBody>
          <a:bodyPr wrap="square" lIns="0" tIns="0" rIns="0" bIns="0" rtlCol="0" anchor="ctr"/>
          <a:lstStyle/>
          <a:p>
            <a:pPr marL="0" indent="0">
              <a:buNone/>
            </a:pPr>
            <a:r>
              <a:rPr lang="en-US" sz="2600" b="1" dirty="0">
                <a:solidFill>
                  <a:srgbClr val="1F3557"/>
                </a:solidFill>
                <a:latin typeface="Georgia" pitchFamily="34" charset="0"/>
                <a:ea typeface="Georgia" pitchFamily="34" charset="-122"/>
                <a:cs typeface="Georgia" pitchFamily="34" charset="-120"/>
              </a:rPr>
              <a:t>HelloJava.java</a:t>
            </a:r>
            <a:endParaRPr lang="en-US" sz="3200" dirty="0"/>
          </a:p>
        </p:txBody>
      </p:sp>
      <p:sp>
        <p:nvSpPr>
          <p:cNvPr id="5" name="Shape 3"/>
          <p:cNvSpPr/>
          <p:nvPr/>
        </p:nvSpPr>
        <p:spPr>
          <a:xfrm>
            <a:off x="548640" y="1316736"/>
            <a:ext cx="1280160" cy="0"/>
          </a:xfrm>
          <a:prstGeom prst="line">
            <a:avLst/>
          </a:prstGeom>
          <a:noFill/>
          <a:ln w="28575">
            <a:solidFill>
              <a:srgbClr val="A9552F"/>
            </a:solidFill>
            <a:prstDash val="solid"/>
          </a:ln>
        </p:spPr>
        <p:txBody>
          <a:bodyPr/>
          <a:lstStyle/>
          <a:p>
            <a:endParaRPr lang="en-US"/>
          </a:p>
        </p:txBody>
      </p:sp>
      <p:sp>
        <p:nvSpPr>
          <p:cNvPr id="6" name="Shape 4"/>
          <p:cNvSpPr/>
          <p:nvPr/>
        </p:nvSpPr>
        <p:spPr>
          <a:xfrm>
            <a:off x="546100" y="1447800"/>
            <a:ext cx="8051800" cy="3225800"/>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7" name="Text 5"/>
          <p:cNvSpPr/>
          <p:nvPr/>
        </p:nvSpPr>
        <p:spPr>
          <a:xfrm>
            <a:off x="774700" y="1651000"/>
            <a:ext cx="7594600" cy="279400"/>
          </a:xfrm>
          <a:prstGeom prst="rect">
            <a:avLst/>
          </a:prstGeom>
          <a:noFill/>
          <a:ln/>
        </p:spPr>
        <p:txBody>
          <a:bodyPr wrap="square" lIns="0" tIns="0" rIns="0" bIns="0" rtlCol="0" anchor="ctr"/>
          <a:lstStyle/>
          <a:p>
            <a:pPr marL="0" indent="0">
              <a:buNone/>
            </a:pPr>
            <a:r>
              <a:rPr lang="en-US" sz="1650" b="1">
                <a:solidFill>
                  <a:srgbClr val="1F3557"/>
                </a:solidFill>
                <a:latin typeface="Georgia" pitchFamily="34" charset="0"/>
                <a:ea typeface="Georgia" pitchFamily="34" charset="-122"/>
                <a:cs typeface="Georgia" pitchFamily="34" charset="-120"/>
              </a:rPr>
              <a:t>Known-good version — output: Hello, Java!</a:t>
            </a:r>
            <a:endParaRPr lang="en-US" sz="1050"/>
          </a:p>
        </p:txBody>
      </p:sp>
      <p:sp>
        <p:nvSpPr>
          <p:cNvPr id="8" name="Text 6"/>
          <p:cNvSpPr/>
          <p:nvPr/>
        </p:nvSpPr>
        <p:spPr>
          <a:xfrm>
            <a:off x="774700" y="1981200"/>
            <a:ext cx="7594600" cy="2819400"/>
          </a:xfrm>
          <a:prstGeom prst="rect">
            <a:avLst/>
          </a:prstGeom>
          <a:noFill/>
          <a:ln/>
        </p:spPr>
        <p:txBody>
          <a:bodyPr wrap="square" lIns="0" tIns="0" rIns="0" bIns="0" rtlCol="0" anchor="t"/>
          <a:lstStyle/>
          <a:p>
            <a:pPr marL="0" indent="0" algn="l">
              <a:lnSpc>
                <a:spcPct val="100000"/>
              </a:lnSpc>
              <a:spcBef>
                <a:spcPts val="0"/>
              </a:spcBef>
              <a:spcAft>
                <a:spcPts val="0"/>
              </a:spcAft>
              <a:buNone/>
            </a:pPr>
            <a:r>
              <a:rPr lang="en-US" sz="1050">
                <a:latin typeface="Consolas"/>
              </a:rPr>
              <a:t>public class HelloJava {</a:t>
            </a:r>
          </a:p>
          <a:p>
            <a:pPr marL="0" indent="0" algn="l">
              <a:lnSpc>
                <a:spcPct val="100000"/>
              </a:lnSpc>
              <a:spcBef>
                <a:spcPts val="0"/>
              </a:spcBef>
              <a:spcAft>
                <a:spcPts val="0"/>
              </a:spcAft>
              <a:buNone/>
            </a:pPr>
            <a:r>
              <a:rPr lang="en-US" sz="1050">
                <a:latin typeface="Consolas"/>
              </a:rPr>
              <a:t>    public static void main(String[] args) {</a:t>
            </a:r>
          </a:p>
          <a:p>
            <a:pPr marL="0" indent="0" algn="l">
              <a:lnSpc>
                <a:spcPct val="100000"/>
              </a:lnSpc>
              <a:spcBef>
                <a:spcPts val="0"/>
              </a:spcBef>
              <a:spcAft>
                <a:spcPts val="0"/>
              </a:spcAft>
              <a:buNone/>
            </a:pPr>
            <a:r>
              <a:rPr lang="en-US" sz="1050">
                <a:latin typeface="Consolas"/>
              </a:rPr>
              <a:t>        System.out.println("Hello, Java!");</a:t>
            </a:r>
          </a:p>
          <a:p>
            <a:pPr marL="0" indent="0" algn="l">
              <a:lnSpc>
                <a:spcPct val="100000"/>
              </a:lnSpc>
              <a:spcBef>
                <a:spcPts val="0"/>
              </a:spcBef>
              <a:spcAft>
                <a:spcPts val="0"/>
              </a:spcAft>
              <a:buNone/>
            </a:pPr>
            <a:r>
              <a:rPr lang="en-US" sz="1050">
                <a:latin typeface="Consolas"/>
              </a:rPr>
              <a:t>    }</a:t>
            </a:r>
          </a:p>
          <a:p>
            <a:pPr marL="0" indent="0" algn="l">
              <a:lnSpc>
                <a:spcPct val="100000"/>
              </a:lnSpc>
              <a:spcBef>
                <a:spcPts val="0"/>
              </a:spcBef>
              <a:spcAft>
                <a:spcPts val="0"/>
              </a:spcAft>
              <a:buNone/>
            </a:pPr>
            <a:r>
              <a:rPr lang="en-US" sz="1050">
                <a:latin typeface="Consolas"/>
              </a:rPr>
              <a:t>}</a:t>
            </a:r>
          </a:p>
          <a:p>
            <a:pPr marL="0" indent="0" algn="l">
              <a:lnSpc>
                <a:spcPct val="100000"/>
              </a:lnSpc>
              <a:spcBef>
                <a:spcPts val="0"/>
              </a:spcBef>
              <a:spcAft>
                <a:spcPts val="0"/>
              </a:spcAft>
              <a:buNone/>
            </a:pPr>
            <a:endParaRPr lang="en-US" sz="1050">
              <a:latin typeface="Consolas"/>
            </a:endParaRPr>
          </a:p>
          <a:p>
            <a:pPr marL="0" indent="0" algn="l">
              <a:lnSpc>
                <a:spcPct val="100000"/>
              </a:lnSpc>
              <a:spcBef>
                <a:spcPts val="0"/>
              </a:spcBef>
              <a:spcAft>
                <a:spcPts val="0"/>
              </a:spcAft>
              <a:buNone/>
            </a:pPr>
            <a:r>
              <a:rPr lang="en-US" sz="1050">
                <a:latin typeface="Consolas"/>
              </a:rPr>
              <a:t>javac HelloJava.java</a:t>
            </a:r>
          </a:p>
          <a:p>
            <a:pPr marL="0" indent="0" algn="l">
              <a:lnSpc>
                <a:spcPct val="100000"/>
              </a:lnSpc>
              <a:spcBef>
                <a:spcPts val="0"/>
              </a:spcBef>
              <a:spcAft>
                <a:spcPts val="0"/>
              </a:spcAft>
              <a:buNone/>
            </a:pPr>
            <a:r>
              <a:rPr lang="en-US" sz="1050">
                <a:latin typeface="Consolas"/>
              </a:rPr>
              <a:t>java HelloJava</a:t>
            </a:r>
          </a:p>
        </p:txBody>
      </p:sp>
    </p:spTree>
    <p:extLst>
      <p:ext uri="{BB962C8B-B14F-4D97-AF65-F5344CB8AC3E}">
        <p14:creationId xmlns:p14="http://schemas.microsoft.com/office/powerpoint/2010/main" val="6516954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2">
    <p:bg>
      <p:bgPr>
        <a:solidFill>
          <a:srgbClr val="F5EFE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EFE2"/>
          </a:solidFill>
          <a:ln w="3175">
            <a:solidFill>
              <a:srgbClr val="F5EFE2"/>
            </a:solidFill>
            <a:prstDash val="solid"/>
          </a:ln>
        </p:spPr>
        <p:txBody>
          <a:bodyPr/>
          <a:lstStyle/>
          <a:p>
            <a:endParaRPr lang="en-US"/>
          </a:p>
        </p:txBody>
      </p:sp>
      <p:sp>
        <p:nvSpPr>
          <p:cNvPr id="3" name="Text 1"/>
          <p:cNvSpPr/>
          <p:nvPr/>
        </p:nvSpPr>
        <p:spPr>
          <a:xfrm>
            <a:off x="548640" y="384048"/>
            <a:ext cx="5943600" cy="274320"/>
          </a:xfrm>
          <a:prstGeom prst="rect">
            <a:avLst/>
          </a:prstGeom>
          <a:noFill/>
          <a:ln/>
        </p:spPr>
        <p:txBody>
          <a:bodyPr wrap="square" lIns="0" tIns="0" rIns="0" bIns="0" rtlCol="0" anchor="ctr"/>
          <a:lstStyle/>
          <a:p>
            <a:pPr marL="0" indent="0">
              <a:buNone/>
            </a:pPr>
            <a:r>
              <a:rPr lang="en-US" sz="1300" b="1" kern="0" spc="300">
                <a:solidFill>
                  <a:srgbClr val="A9552F"/>
                </a:solidFill>
                <a:latin typeface="Segoe UI" pitchFamily="34" charset="0"/>
                <a:ea typeface="Segoe UI" pitchFamily="34" charset="-122"/>
                <a:cs typeface="Segoe UI" pitchFamily="34" charset="-120"/>
              </a:rPr>
              <a:t>ANSWER KEY — EXERCISE 2</a:t>
            </a:r>
            <a:endParaRPr lang="en-US" sz="1300"/>
          </a:p>
        </p:txBody>
      </p:sp>
      <p:sp>
        <p:nvSpPr>
          <p:cNvPr id="4" name="Text 2"/>
          <p:cNvSpPr/>
          <p:nvPr/>
        </p:nvSpPr>
        <p:spPr>
          <a:xfrm>
            <a:off x="530352" y="676656"/>
            <a:ext cx="7200900" cy="548640"/>
          </a:xfrm>
          <a:prstGeom prst="rect">
            <a:avLst/>
          </a:prstGeom>
          <a:noFill/>
          <a:ln/>
        </p:spPr>
        <p:txBody>
          <a:bodyPr wrap="square" lIns="0" tIns="0" rIns="0" bIns="0" rtlCol="0" anchor="ctr"/>
          <a:lstStyle/>
          <a:p>
            <a:pPr marL="0" indent="0">
              <a:buNone/>
            </a:pPr>
            <a:r>
              <a:rPr lang="en-US" sz="2600" b="1" dirty="0">
                <a:solidFill>
                  <a:srgbClr val="1F3557"/>
                </a:solidFill>
                <a:latin typeface="Georgia" pitchFamily="34" charset="0"/>
                <a:ea typeface="Georgia" pitchFamily="34" charset="-122"/>
                <a:cs typeface="Georgia" pitchFamily="34" charset="-120"/>
              </a:rPr>
              <a:t>WelcomeReport.java</a:t>
            </a:r>
            <a:endParaRPr lang="en-US" sz="3200" dirty="0"/>
          </a:p>
        </p:txBody>
      </p:sp>
      <p:sp>
        <p:nvSpPr>
          <p:cNvPr id="5" name="Shape 3"/>
          <p:cNvSpPr/>
          <p:nvPr/>
        </p:nvSpPr>
        <p:spPr>
          <a:xfrm>
            <a:off x="548640" y="1316736"/>
            <a:ext cx="1280160" cy="0"/>
          </a:xfrm>
          <a:prstGeom prst="line">
            <a:avLst/>
          </a:prstGeom>
          <a:noFill/>
          <a:ln w="28575">
            <a:solidFill>
              <a:srgbClr val="A9552F"/>
            </a:solidFill>
            <a:prstDash val="solid"/>
          </a:ln>
        </p:spPr>
        <p:txBody>
          <a:bodyPr/>
          <a:lstStyle/>
          <a:p>
            <a:endParaRPr lang="en-US"/>
          </a:p>
        </p:txBody>
      </p:sp>
      <p:sp>
        <p:nvSpPr>
          <p:cNvPr id="6" name="Shape 4"/>
          <p:cNvSpPr/>
          <p:nvPr/>
        </p:nvSpPr>
        <p:spPr>
          <a:xfrm>
            <a:off x="546100" y="1447800"/>
            <a:ext cx="8051800" cy="3417113"/>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7" name="Text 5"/>
          <p:cNvSpPr/>
          <p:nvPr/>
        </p:nvSpPr>
        <p:spPr>
          <a:xfrm>
            <a:off x="774700" y="1651000"/>
            <a:ext cx="7594600" cy="279400"/>
          </a:xfrm>
          <a:prstGeom prst="rect">
            <a:avLst/>
          </a:prstGeom>
          <a:noFill/>
          <a:ln/>
        </p:spPr>
        <p:txBody>
          <a:bodyPr wrap="square" lIns="0" tIns="0" rIns="0" bIns="0" rtlCol="0" anchor="ctr"/>
          <a:lstStyle/>
          <a:p>
            <a:pPr marL="0" indent="0">
              <a:buNone/>
            </a:pPr>
            <a:r>
              <a:rPr lang="en-US" sz="1650" b="1">
                <a:solidFill>
                  <a:srgbClr val="1F3557"/>
                </a:solidFill>
                <a:latin typeface="Georgia" pitchFamily="34" charset="0"/>
                <a:ea typeface="Georgia" pitchFamily="34" charset="-122"/>
                <a:cs typeface="Georgia" pitchFamily="34" charset="-120"/>
              </a:rPr>
              <a:t>Known-good version — three labeled lines</a:t>
            </a:r>
            <a:endParaRPr lang="en-US" sz="1050"/>
          </a:p>
        </p:txBody>
      </p:sp>
      <p:sp>
        <p:nvSpPr>
          <p:cNvPr id="8" name="Text 6"/>
          <p:cNvSpPr/>
          <p:nvPr/>
        </p:nvSpPr>
        <p:spPr>
          <a:xfrm>
            <a:off x="774700" y="1981200"/>
            <a:ext cx="7594600" cy="2883103"/>
          </a:xfrm>
          <a:prstGeom prst="rect">
            <a:avLst/>
          </a:prstGeom>
          <a:noFill/>
          <a:ln/>
        </p:spPr>
        <p:txBody>
          <a:bodyPr wrap="square" lIns="0" tIns="0" rIns="0" bIns="0" rtlCol="0" anchor="t"/>
          <a:lstStyle/>
          <a:p>
            <a:pPr marL="0" indent="0" algn="l">
              <a:lnSpc>
                <a:spcPct val="100000"/>
              </a:lnSpc>
              <a:spcBef>
                <a:spcPts val="0"/>
              </a:spcBef>
              <a:spcAft>
                <a:spcPts val="0"/>
              </a:spcAft>
              <a:buNone/>
            </a:pPr>
            <a:r>
              <a:rPr lang="en-US" sz="1050">
                <a:latin typeface="Consolas"/>
              </a:rPr>
              <a:t>public class WelcomeReport {</a:t>
            </a:r>
          </a:p>
          <a:p>
            <a:pPr marL="0" indent="0" algn="l">
              <a:lnSpc>
                <a:spcPct val="100000"/>
              </a:lnSpc>
              <a:spcBef>
                <a:spcPts val="0"/>
              </a:spcBef>
              <a:spcAft>
                <a:spcPts val="0"/>
              </a:spcAft>
              <a:buNone/>
            </a:pPr>
            <a:r>
              <a:rPr lang="en-US" sz="1050">
                <a:latin typeface="Consolas"/>
              </a:rPr>
              <a:t>    public static void main(String[] args) {</a:t>
            </a:r>
          </a:p>
          <a:p>
            <a:pPr marL="0" indent="0" algn="l">
              <a:lnSpc>
                <a:spcPct val="100000"/>
              </a:lnSpc>
              <a:spcBef>
                <a:spcPts val="0"/>
              </a:spcBef>
              <a:spcAft>
                <a:spcPts val="0"/>
              </a:spcAft>
              <a:buNone/>
            </a:pPr>
            <a:r>
              <a:rPr lang="en-US" sz="1050">
                <a:latin typeface="Consolas"/>
              </a:rPr>
              <a:t>        String studentName = "Jordan Smith";</a:t>
            </a:r>
          </a:p>
          <a:p>
            <a:pPr marL="0" indent="0" algn="l">
              <a:lnSpc>
                <a:spcPct val="100000"/>
              </a:lnSpc>
              <a:spcBef>
                <a:spcPts val="0"/>
              </a:spcBef>
              <a:spcAft>
                <a:spcPts val="0"/>
              </a:spcAft>
              <a:buNone/>
            </a:pPr>
            <a:r>
              <a:rPr lang="en-US" sz="1050">
                <a:latin typeface="Consolas"/>
              </a:rPr>
              <a:t>        String today = "August 17, 2026";</a:t>
            </a:r>
          </a:p>
          <a:p>
            <a:pPr marL="0" indent="0" algn="l">
              <a:lnSpc>
                <a:spcPct val="100000"/>
              </a:lnSpc>
              <a:spcBef>
                <a:spcPts val="0"/>
              </a:spcBef>
              <a:spcAft>
                <a:spcPts val="0"/>
              </a:spcAft>
              <a:buNone/>
            </a:pPr>
            <a:r>
              <a:rPr lang="en-US" sz="1050">
                <a:latin typeface="Consolas"/>
              </a:rPr>
              <a:t>        int daysUntilQuarterEnd = 45;</a:t>
            </a:r>
          </a:p>
          <a:p>
            <a:pPr marL="0" indent="0" algn="l">
              <a:lnSpc>
                <a:spcPct val="100000"/>
              </a:lnSpc>
              <a:spcBef>
                <a:spcPts val="0"/>
              </a:spcBef>
              <a:spcAft>
                <a:spcPts val="0"/>
              </a:spcAft>
              <a:buNone/>
            </a:pPr>
            <a:endParaRPr lang="en-US" sz="1050">
              <a:latin typeface="Consolas"/>
            </a:endParaRPr>
          </a:p>
          <a:p>
            <a:pPr marL="0" indent="0" algn="l">
              <a:lnSpc>
                <a:spcPct val="100000"/>
              </a:lnSpc>
              <a:spcBef>
                <a:spcPts val="0"/>
              </a:spcBef>
              <a:spcAft>
                <a:spcPts val="0"/>
              </a:spcAft>
              <a:buNone/>
            </a:pPr>
            <a:r>
              <a:rPr lang="en-US" sz="1050">
                <a:latin typeface="Consolas"/>
              </a:rPr>
              <a:t>        System.out.println("Name: " + studentName);</a:t>
            </a:r>
          </a:p>
          <a:p>
            <a:pPr marL="0" indent="0" algn="l">
              <a:lnSpc>
                <a:spcPct val="100000"/>
              </a:lnSpc>
              <a:spcBef>
                <a:spcPts val="0"/>
              </a:spcBef>
              <a:spcAft>
                <a:spcPts val="0"/>
              </a:spcAft>
              <a:buNone/>
            </a:pPr>
            <a:r>
              <a:rPr lang="en-US" sz="1050">
                <a:latin typeface="Consolas"/>
              </a:rPr>
              <a:t>        System.out.println("Date: " + today);</a:t>
            </a:r>
          </a:p>
          <a:p>
            <a:pPr marL="0" indent="0" algn="l">
              <a:lnSpc>
                <a:spcPct val="100000"/>
              </a:lnSpc>
              <a:spcBef>
                <a:spcPts val="0"/>
              </a:spcBef>
              <a:spcAft>
                <a:spcPts val="0"/>
              </a:spcAft>
              <a:buNone/>
            </a:pPr>
            <a:r>
              <a:rPr lang="en-US" sz="1050">
                <a:latin typeface="Consolas"/>
              </a:rPr>
              <a:t>        System.out.println("Days left: " + daysUntilQuarterEnd);</a:t>
            </a:r>
          </a:p>
          <a:p>
            <a:pPr marL="0" indent="0" algn="l">
              <a:lnSpc>
                <a:spcPct val="100000"/>
              </a:lnSpc>
              <a:spcBef>
                <a:spcPts val="0"/>
              </a:spcBef>
              <a:spcAft>
                <a:spcPts val="0"/>
              </a:spcAft>
              <a:buNone/>
            </a:pPr>
            <a:r>
              <a:rPr lang="en-US" sz="1050">
                <a:latin typeface="Consolas"/>
              </a:rPr>
              <a:t>    }</a:t>
            </a:r>
          </a:p>
          <a:p>
            <a:pPr marL="0" indent="0" algn="l">
              <a:lnSpc>
                <a:spcPct val="100000"/>
              </a:lnSpc>
              <a:spcBef>
                <a:spcPts val="0"/>
              </a:spcBef>
              <a:spcAft>
                <a:spcPts val="0"/>
              </a:spcAft>
              <a:buNone/>
            </a:pPr>
            <a:r>
              <a:rPr lang="en-US" sz="1050">
                <a:latin typeface="Consolas"/>
              </a:rPr>
              <a:t>}</a:t>
            </a:r>
          </a:p>
          <a:p>
            <a:pPr marL="0" indent="0" algn="l">
              <a:lnSpc>
                <a:spcPct val="100000"/>
              </a:lnSpc>
              <a:spcBef>
                <a:spcPts val="0"/>
              </a:spcBef>
              <a:spcAft>
                <a:spcPts val="0"/>
              </a:spcAft>
              <a:buNone/>
            </a:pPr>
            <a:endParaRPr lang="en-US" sz="1050">
              <a:latin typeface="Consolas"/>
            </a:endParaRPr>
          </a:p>
          <a:p>
            <a:pPr marL="0" indent="0" algn="l">
              <a:lnSpc>
                <a:spcPct val="100000"/>
              </a:lnSpc>
              <a:spcBef>
                <a:spcPts val="0"/>
              </a:spcBef>
              <a:spcAft>
                <a:spcPts val="0"/>
              </a:spcAft>
              <a:buNone/>
            </a:pPr>
            <a:r>
              <a:rPr lang="en-US" sz="1050">
                <a:latin typeface="Consolas"/>
              </a:rPr>
              <a:t>Output:  Name: Jordan Smith / Date: August 17, 2026 / Days left: 45</a:t>
            </a:r>
          </a:p>
        </p:txBody>
      </p:sp>
    </p:spTree>
    <p:extLst>
      <p:ext uri="{BB962C8B-B14F-4D97-AF65-F5344CB8AC3E}">
        <p14:creationId xmlns:p14="http://schemas.microsoft.com/office/powerpoint/2010/main" val="33188615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2">
    <p:bg>
      <p:bgPr>
        <a:solidFill>
          <a:srgbClr val="F5EFE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EFE2"/>
          </a:solidFill>
          <a:ln w="3175">
            <a:solidFill>
              <a:srgbClr val="F5EFE2"/>
            </a:solidFill>
            <a:prstDash val="solid"/>
          </a:ln>
        </p:spPr>
        <p:txBody>
          <a:bodyPr/>
          <a:lstStyle/>
          <a:p>
            <a:endParaRPr lang="en-US"/>
          </a:p>
        </p:txBody>
      </p:sp>
      <p:sp>
        <p:nvSpPr>
          <p:cNvPr id="3" name="Text 1"/>
          <p:cNvSpPr/>
          <p:nvPr/>
        </p:nvSpPr>
        <p:spPr>
          <a:xfrm>
            <a:off x="548640" y="384048"/>
            <a:ext cx="5943600" cy="274320"/>
          </a:xfrm>
          <a:prstGeom prst="rect">
            <a:avLst/>
          </a:prstGeom>
          <a:noFill/>
          <a:ln/>
        </p:spPr>
        <p:txBody>
          <a:bodyPr wrap="square" lIns="0" tIns="0" rIns="0" bIns="0" rtlCol="0" anchor="ctr"/>
          <a:lstStyle/>
          <a:p>
            <a:pPr marL="0" indent="0">
              <a:buNone/>
            </a:pPr>
            <a:r>
              <a:rPr lang="en-US" sz="1300" b="1" kern="0" spc="300">
                <a:solidFill>
                  <a:srgbClr val="A9552F"/>
                </a:solidFill>
                <a:latin typeface="Segoe UI" pitchFamily="34" charset="0"/>
                <a:ea typeface="Segoe UI" pitchFamily="34" charset="-122"/>
                <a:cs typeface="Segoe UI" pitchFamily="34" charset="-120"/>
              </a:rPr>
              <a:t>ANSWER KEY — EXERCISE 3</a:t>
            </a:r>
            <a:endParaRPr lang="en-US" sz="1300"/>
          </a:p>
        </p:txBody>
      </p:sp>
      <p:sp>
        <p:nvSpPr>
          <p:cNvPr id="4" name="Text 2"/>
          <p:cNvSpPr/>
          <p:nvPr/>
        </p:nvSpPr>
        <p:spPr>
          <a:xfrm>
            <a:off x="530352" y="676656"/>
            <a:ext cx="7200900" cy="548640"/>
          </a:xfrm>
          <a:prstGeom prst="rect">
            <a:avLst/>
          </a:prstGeom>
          <a:noFill/>
          <a:ln/>
        </p:spPr>
        <p:txBody>
          <a:bodyPr wrap="square" lIns="0" tIns="0" rIns="0" bIns="0" rtlCol="0" anchor="ctr"/>
          <a:lstStyle/>
          <a:p>
            <a:pPr marL="0" indent="0">
              <a:buNone/>
            </a:pPr>
            <a:r>
              <a:rPr lang="en-US" sz="2600" b="1" dirty="0">
                <a:solidFill>
                  <a:srgbClr val="1F3557"/>
                </a:solidFill>
                <a:latin typeface="Georgia" pitchFamily="34" charset="0"/>
                <a:ea typeface="Georgia" pitchFamily="34" charset="-122"/>
                <a:cs typeface="Georgia" pitchFamily="34" charset="-120"/>
              </a:rPr>
              <a:t>MemberWelcomeReport.java</a:t>
            </a:r>
            <a:endParaRPr lang="en-US" sz="3200" dirty="0"/>
          </a:p>
        </p:txBody>
      </p:sp>
      <p:sp>
        <p:nvSpPr>
          <p:cNvPr id="5" name="Shape 3"/>
          <p:cNvSpPr/>
          <p:nvPr/>
        </p:nvSpPr>
        <p:spPr>
          <a:xfrm>
            <a:off x="548640" y="1316736"/>
            <a:ext cx="1280160" cy="0"/>
          </a:xfrm>
          <a:prstGeom prst="line">
            <a:avLst/>
          </a:prstGeom>
          <a:noFill/>
          <a:ln w="28575">
            <a:solidFill>
              <a:srgbClr val="A9552F"/>
            </a:solidFill>
            <a:prstDash val="solid"/>
          </a:ln>
        </p:spPr>
        <p:txBody>
          <a:bodyPr/>
          <a:lstStyle/>
          <a:p>
            <a:endParaRPr lang="en-US"/>
          </a:p>
        </p:txBody>
      </p:sp>
      <p:sp>
        <p:nvSpPr>
          <p:cNvPr id="6" name="Shape 4"/>
          <p:cNvSpPr/>
          <p:nvPr/>
        </p:nvSpPr>
        <p:spPr>
          <a:xfrm>
            <a:off x="546100" y="1447800"/>
            <a:ext cx="8051800" cy="3417113"/>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7" name="Text 5"/>
          <p:cNvSpPr/>
          <p:nvPr/>
        </p:nvSpPr>
        <p:spPr>
          <a:xfrm>
            <a:off x="774700" y="1651000"/>
            <a:ext cx="7594600" cy="279400"/>
          </a:xfrm>
          <a:prstGeom prst="rect">
            <a:avLst/>
          </a:prstGeom>
          <a:noFill/>
          <a:ln/>
        </p:spPr>
        <p:txBody>
          <a:bodyPr wrap="square" lIns="0" tIns="0" rIns="0" bIns="0" rtlCol="0" anchor="ctr"/>
          <a:lstStyle/>
          <a:p>
            <a:pPr marL="0" indent="0">
              <a:buNone/>
            </a:pPr>
            <a:r>
              <a:rPr lang="en-US" sz="1650" b="1">
                <a:solidFill>
                  <a:srgbClr val="1F3557"/>
                </a:solidFill>
                <a:latin typeface="Georgia" pitchFamily="34" charset="0"/>
                <a:ea typeface="Georgia" pitchFamily="34" charset="-122"/>
                <a:cs typeface="Georgia" pitchFamily="34" charset="-120"/>
              </a:rPr>
              <a:t>Known-good version — five output lines</a:t>
            </a:r>
            <a:endParaRPr lang="en-US" sz="1050"/>
          </a:p>
        </p:txBody>
      </p:sp>
      <p:sp>
        <p:nvSpPr>
          <p:cNvPr id="8" name="Text 6"/>
          <p:cNvSpPr/>
          <p:nvPr/>
        </p:nvSpPr>
        <p:spPr>
          <a:xfrm>
            <a:off x="774700" y="1981200"/>
            <a:ext cx="7594600" cy="2883103"/>
          </a:xfrm>
          <a:prstGeom prst="rect">
            <a:avLst/>
          </a:prstGeom>
          <a:noFill/>
          <a:ln/>
        </p:spPr>
        <p:txBody>
          <a:bodyPr wrap="square" lIns="0" tIns="0" rIns="0" bIns="0" rtlCol="0" anchor="t"/>
          <a:lstStyle/>
          <a:p>
            <a:pPr marL="0" indent="0" algn="l">
              <a:lnSpc>
                <a:spcPct val="100000"/>
              </a:lnSpc>
              <a:spcBef>
                <a:spcPts val="0"/>
              </a:spcBef>
              <a:spcAft>
                <a:spcPts val="0"/>
              </a:spcAft>
              <a:buNone/>
            </a:pPr>
            <a:r>
              <a:rPr lang="en-US" sz="1050">
                <a:latin typeface="Consolas"/>
              </a:rPr>
              <a:t>public class MemberWelcomeReport {</a:t>
            </a:r>
          </a:p>
          <a:p>
            <a:pPr marL="0" indent="0" algn="l">
              <a:lnSpc>
                <a:spcPct val="100000"/>
              </a:lnSpc>
              <a:spcBef>
                <a:spcPts val="0"/>
              </a:spcBef>
              <a:spcAft>
                <a:spcPts val="0"/>
              </a:spcAft>
              <a:buNone/>
            </a:pPr>
            <a:r>
              <a:rPr lang="en-US" sz="1050">
                <a:latin typeface="Consolas"/>
              </a:rPr>
              <a:t>    public static void main(String[] args) {</a:t>
            </a:r>
          </a:p>
          <a:p>
            <a:pPr marL="0" indent="0" algn="l">
              <a:lnSpc>
                <a:spcPct val="100000"/>
              </a:lnSpc>
              <a:spcBef>
                <a:spcPts val="0"/>
              </a:spcBef>
              <a:spcAft>
                <a:spcPts val="0"/>
              </a:spcAft>
              <a:buNone/>
            </a:pPr>
            <a:r>
              <a:rPr lang="en-US" sz="1050">
                <a:latin typeface="Consolas"/>
              </a:rPr>
              <a:t>        String memberName = "Avery Chen";</a:t>
            </a:r>
          </a:p>
          <a:p>
            <a:pPr marL="0" indent="0" algn="l">
              <a:lnSpc>
                <a:spcPct val="100000"/>
              </a:lnSpc>
              <a:spcBef>
                <a:spcPts val="0"/>
              </a:spcBef>
              <a:spcAft>
                <a:spcPts val="0"/>
              </a:spcAft>
              <a:buNone/>
            </a:pPr>
            <a:r>
              <a:rPr lang="en-US" sz="1050">
                <a:latin typeface="Consolas"/>
              </a:rPr>
              <a:t>        String planName = "Blue Choice Training Plan";</a:t>
            </a:r>
          </a:p>
          <a:p>
            <a:pPr marL="0" indent="0" algn="l">
              <a:lnSpc>
                <a:spcPct val="100000"/>
              </a:lnSpc>
              <a:spcBef>
                <a:spcPts val="0"/>
              </a:spcBef>
              <a:spcAft>
                <a:spcPts val="0"/>
              </a:spcAft>
              <a:buNone/>
            </a:pPr>
            <a:r>
              <a:rPr lang="en-US" sz="1050">
                <a:latin typeface="Consolas"/>
              </a:rPr>
              <a:t>        int groupNumber = 41027;</a:t>
            </a:r>
          </a:p>
          <a:p>
            <a:pPr marL="0" indent="0" algn="l">
              <a:lnSpc>
                <a:spcPct val="100000"/>
              </a:lnSpc>
              <a:spcBef>
                <a:spcPts val="0"/>
              </a:spcBef>
              <a:spcAft>
                <a:spcPts val="0"/>
              </a:spcAft>
              <a:buNone/>
            </a:pPr>
            <a:r>
              <a:rPr lang="en-US" sz="1050">
                <a:latin typeface="Consolas"/>
              </a:rPr>
              <a:t>        int enrollmentYear = 2026;</a:t>
            </a:r>
          </a:p>
          <a:p>
            <a:pPr marL="0" indent="0" algn="l">
              <a:lnSpc>
                <a:spcPct val="100000"/>
              </a:lnSpc>
              <a:spcBef>
                <a:spcPts val="0"/>
              </a:spcBef>
              <a:spcAft>
                <a:spcPts val="0"/>
              </a:spcAft>
              <a:buNone/>
            </a:pPr>
            <a:endParaRPr lang="en-US" sz="1050">
              <a:latin typeface="Consolas"/>
            </a:endParaRPr>
          </a:p>
          <a:p>
            <a:pPr marL="0" indent="0" algn="l">
              <a:lnSpc>
                <a:spcPct val="100000"/>
              </a:lnSpc>
              <a:spcBef>
                <a:spcPts val="0"/>
              </a:spcBef>
              <a:spcAft>
                <a:spcPts val="0"/>
              </a:spcAft>
              <a:buNone/>
            </a:pPr>
            <a:r>
              <a:rPr lang="en-US" sz="1050">
                <a:latin typeface="Consolas"/>
              </a:rPr>
              <a:t>        System.out.println("Member: " + memberName);</a:t>
            </a:r>
          </a:p>
          <a:p>
            <a:pPr marL="0" indent="0" algn="l">
              <a:lnSpc>
                <a:spcPct val="100000"/>
              </a:lnSpc>
              <a:spcBef>
                <a:spcPts val="0"/>
              </a:spcBef>
              <a:spcAft>
                <a:spcPts val="0"/>
              </a:spcAft>
              <a:buNone/>
            </a:pPr>
            <a:r>
              <a:rPr lang="en-US" sz="1050">
                <a:latin typeface="Consolas"/>
              </a:rPr>
              <a:t>        System.out.println("Plan: " + planName);</a:t>
            </a:r>
          </a:p>
          <a:p>
            <a:pPr marL="0" indent="0" algn="l">
              <a:lnSpc>
                <a:spcPct val="100000"/>
              </a:lnSpc>
              <a:spcBef>
                <a:spcPts val="0"/>
              </a:spcBef>
              <a:spcAft>
                <a:spcPts val="0"/>
              </a:spcAft>
              <a:buNone/>
            </a:pPr>
            <a:r>
              <a:rPr lang="en-US" sz="1050">
                <a:latin typeface="Consolas"/>
              </a:rPr>
              <a:t>        System.out.println("Group: " + groupNumber);</a:t>
            </a:r>
          </a:p>
          <a:p>
            <a:pPr marL="0" indent="0" algn="l">
              <a:lnSpc>
                <a:spcPct val="100000"/>
              </a:lnSpc>
              <a:spcBef>
                <a:spcPts val="0"/>
              </a:spcBef>
              <a:spcAft>
                <a:spcPts val="0"/>
              </a:spcAft>
              <a:buNone/>
            </a:pPr>
            <a:r>
              <a:rPr lang="en-US" sz="1050">
                <a:latin typeface="Consolas"/>
              </a:rPr>
              <a:t>        System.out.println("Enrollment year: " + enrollmentYear);</a:t>
            </a:r>
          </a:p>
          <a:p>
            <a:pPr marL="0" indent="0" algn="l">
              <a:lnSpc>
                <a:spcPct val="100000"/>
              </a:lnSpc>
              <a:spcBef>
                <a:spcPts val="0"/>
              </a:spcBef>
              <a:spcAft>
                <a:spcPts val="0"/>
              </a:spcAft>
              <a:buNone/>
            </a:pPr>
            <a:r>
              <a:rPr lang="en-US" sz="1050">
                <a:latin typeface="Consolas"/>
              </a:rPr>
              <a:t>        System.out.println("Welcome, " + memberName</a:t>
            </a:r>
          </a:p>
          <a:p>
            <a:pPr marL="0" indent="0" algn="l">
              <a:lnSpc>
                <a:spcPct val="100000"/>
              </a:lnSpc>
              <a:spcBef>
                <a:spcPts val="0"/>
              </a:spcBef>
              <a:spcAft>
                <a:spcPts val="0"/>
              </a:spcAft>
              <a:buNone/>
            </a:pPr>
            <a:r>
              <a:rPr lang="en-US" sz="1050">
                <a:latin typeface="Consolas"/>
              </a:rPr>
              <a:t>                + "! You enrolled in " + enrollmentYear + ".");</a:t>
            </a:r>
          </a:p>
          <a:p>
            <a:pPr marL="0" indent="0" algn="l">
              <a:lnSpc>
                <a:spcPct val="100000"/>
              </a:lnSpc>
              <a:spcBef>
                <a:spcPts val="0"/>
              </a:spcBef>
              <a:spcAft>
                <a:spcPts val="0"/>
              </a:spcAft>
              <a:buNone/>
            </a:pPr>
            <a:r>
              <a:rPr lang="en-US" sz="1050">
                <a:latin typeface="Consolas"/>
              </a:rPr>
              <a:t>    }</a:t>
            </a:r>
          </a:p>
          <a:p>
            <a:pPr marL="0" indent="0" algn="l">
              <a:lnSpc>
                <a:spcPct val="100000"/>
              </a:lnSpc>
              <a:spcBef>
                <a:spcPts val="0"/>
              </a:spcBef>
              <a:spcAft>
                <a:spcPts val="0"/>
              </a:spcAft>
              <a:buNone/>
            </a:pPr>
            <a:r>
              <a:rPr lang="en-US" sz="1050">
                <a:latin typeface="Consolas"/>
              </a:rPr>
              <a:t>}</a:t>
            </a:r>
          </a:p>
        </p:txBody>
      </p:sp>
    </p:spTree>
    <p:extLst>
      <p:ext uri="{BB962C8B-B14F-4D97-AF65-F5344CB8AC3E}">
        <p14:creationId xmlns:p14="http://schemas.microsoft.com/office/powerpoint/2010/main" val="31777018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2">
    <p:bg>
      <p:bgPr>
        <a:solidFill>
          <a:srgbClr val="F5EFE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EFE2"/>
          </a:solidFill>
          <a:ln w="3175">
            <a:solidFill>
              <a:srgbClr val="F5EFE2"/>
            </a:solidFill>
            <a:prstDash val="solid"/>
          </a:ln>
        </p:spPr>
        <p:txBody>
          <a:bodyPr/>
          <a:lstStyle/>
          <a:p>
            <a:endParaRPr lang="en-US"/>
          </a:p>
        </p:txBody>
      </p:sp>
      <p:sp>
        <p:nvSpPr>
          <p:cNvPr id="3" name="Text 1"/>
          <p:cNvSpPr/>
          <p:nvPr/>
        </p:nvSpPr>
        <p:spPr>
          <a:xfrm>
            <a:off x="548640" y="384048"/>
            <a:ext cx="5943600" cy="274320"/>
          </a:xfrm>
          <a:prstGeom prst="rect">
            <a:avLst/>
          </a:prstGeom>
          <a:noFill/>
          <a:ln/>
        </p:spPr>
        <p:txBody>
          <a:bodyPr wrap="square" lIns="0" tIns="0" rIns="0" bIns="0" rtlCol="0" anchor="ctr"/>
          <a:lstStyle/>
          <a:p>
            <a:pPr marL="0" indent="0">
              <a:buNone/>
            </a:pPr>
            <a:r>
              <a:rPr lang="en-US" sz="1300" b="1" kern="0" spc="300">
                <a:solidFill>
                  <a:srgbClr val="A9552F"/>
                </a:solidFill>
                <a:latin typeface="Segoe UI" pitchFamily="34" charset="0"/>
                <a:ea typeface="Segoe UI" pitchFamily="34" charset="-122"/>
                <a:cs typeface="Segoe UI" pitchFamily="34" charset="-120"/>
              </a:rPr>
              <a:t>ANSWER KEY — CHECKPOINT</a:t>
            </a:r>
            <a:endParaRPr lang="en-US" sz="1300"/>
          </a:p>
        </p:txBody>
      </p:sp>
      <p:sp>
        <p:nvSpPr>
          <p:cNvPr id="4" name="Text 2"/>
          <p:cNvSpPr/>
          <p:nvPr/>
        </p:nvSpPr>
        <p:spPr>
          <a:xfrm>
            <a:off x="530352" y="676656"/>
            <a:ext cx="7200900" cy="548640"/>
          </a:xfrm>
          <a:prstGeom prst="rect">
            <a:avLst/>
          </a:prstGeom>
          <a:noFill/>
          <a:ln/>
        </p:spPr>
        <p:txBody>
          <a:bodyPr wrap="square" lIns="0" tIns="0" rIns="0" bIns="0" rtlCol="0" anchor="ctr"/>
          <a:lstStyle/>
          <a:p>
            <a:pPr marL="0" indent="0">
              <a:buNone/>
            </a:pPr>
            <a:r>
              <a:rPr lang="en-US" sz="2600" b="1" dirty="0">
                <a:solidFill>
                  <a:srgbClr val="1F3557"/>
                </a:solidFill>
                <a:latin typeface="Georgia" pitchFamily="34" charset="0"/>
                <a:ea typeface="Georgia" pitchFamily="34" charset="-122"/>
                <a:cs typeface="Georgia" pitchFamily="34" charset="-120"/>
              </a:rPr>
              <a:t>ClaimStatusReport.java</a:t>
            </a:r>
            <a:endParaRPr lang="en-US" sz="3200" dirty="0"/>
          </a:p>
        </p:txBody>
      </p:sp>
      <p:sp>
        <p:nvSpPr>
          <p:cNvPr id="5" name="Shape 3"/>
          <p:cNvSpPr/>
          <p:nvPr/>
        </p:nvSpPr>
        <p:spPr>
          <a:xfrm>
            <a:off x="548640" y="1316736"/>
            <a:ext cx="1280160" cy="0"/>
          </a:xfrm>
          <a:prstGeom prst="line">
            <a:avLst/>
          </a:prstGeom>
          <a:noFill/>
          <a:ln w="28575">
            <a:solidFill>
              <a:srgbClr val="A9552F"/>
            </a:solidFill>
            <a:prstDash val="solid"/>
          </a:ln>
        </p:spPr>
        <p:txBody>
          <a:bodyPr/>
          <a:lstStyle/>
          <a:p>
            <a:endParaRPr lang="en-US"/>
          </a:p>
        </p:txBody>
      </p:sp>
      <p:sp>
        <p:nvSpPr>
          <p:cNvPr id="6" name="Shape 4"/>
          <p:cNvSpPr/>
          <p:nvPr/>
        </p:nvSpPr>
        <p:spPr>
          <a:xfrm>
            <a:off x="546100" y="1447800"/>
            <a:ext cx="8051800" cy="3225800"/>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7" name="Text 5"/>
          <p:cNvSpPr/>
          <p:nvPr/>
        </p:nvSpPr>
        <p:spPr>
          <a:xfrm>
            <a:off x="774700" y="1651000"/>
            <a:ext cx="7594600" cy="279400"/>
          </a:xfrm>
          <a:prstGeom prst="rect">
            <a:avLst/>
          </a:prstGeom>
          <a:noFill/>
          <a:ln/>
        </p:spPr>
        <p:txBody>
          <a:bodyPr wrap="square" lIns="0" tIns="0" rIns="0" bIns="0" rtlCol="0" anchor="ctr"/>
          <a:lstStyle/>
          <a:p>
            <a:pPr marL="0" indent="0">
              <a:buNone/>
            </a:pPr>
            <a:r>
              <a:rPr lang="en-US" sz="1650" b="1">
                <a:solidFill>
                  <a:srgbClr val="1F3557"/>
                </a:solidFill>
                <a:latin typeface="Georgia" pitchFamily="34" charset="0"/>
                <a:ea typeface="Georgia" pitchFamily="34" charset="-122"/>
                <a:cs typeface="Georgia" pitchFamily="34" charset="-120"/>
              </a:rPr>
              <a:t>Known-good version — one combined sentence</a:t>
            </a:r>
            <a:endParaRPr lang="en-US" sz="1050"/>
          </a:p>
        </p:txBody>
      </p:sp>
      <p:sp>
        <p:nvSpPr>
          <p:cNvPr id="8" name="Text 6"/>
          <p:cNvSpPr/>
          <p:nvPr/>
        </p:nvSpPr>
        <p:spPr>
          <a:xfrm>
            <a:off x="774700" y="1981200"/>
            <a:ext cx="7594600" cy="2819400"/>
          </a:xfrm>
          <a:prstGeom prst="rect">
            <a:avLst/>
          </a:prstGeom>
          <a:noFill/>
          <a:ln/>
        </p:spPr>
        <p:txBody>
          <a:bodyPr wrap="square" lIns="0" tIns="0" rIns="0" bIns="0" rtlCol="0" anchor="t"/>
          <a:lstStyle/>
          <a:p>
            <a:pPr marL="0" indent="0" algn="l">
              <a:lnSpc>
                <a:spcPct val="100000"/>
              </a:lnSpc>
              <a:spcBef>
                <a:spcPts val="0"/>
              </a:spcBef>
              <a:spcAft>
                <a:spcPts val="0"/>
              </a:spcAft>
              <a:buNone/>
            </a:pPr>
            <a:r>
              <a:rPr lang="en-US" sz="1050">
                <a:latin typeface="Consolas"/>
              </a:rPr>
              <a:t>public class ClaimStatusReport {</a:t>
            </a:r>
          </a:p>
          <a:p>
            <a:pPr marL="0" indent="0" algn="l">
              <a:lnSpc>
                <a:spcPct val="100000"/>
              </a:lnSpc>
              <a:spcBef>
                <a:spcPts val="0"/>
              </a:spcBef>
              <a:spcAft>
                <a:spcPts val="0"/>
              </a:spcAft>
              <a:buNone/>
            </a:pPr>
            <a:r>
              <a:rPr lang="en-US" sz="1050">
                <a:latin typeface="Consolas"/>
              </a:rPr>
              <a:t>    public static void main(String[] args) {</a:t>
            </a:r>
          </a:p>
          <a:p>
            <a:pPr marL="0" indent="0" algn="l">
              <a:lnSpc>
                <a:spcPct val="100000"/>
              </a:lnSpc>
              <a:spcBef>
                <a:spcPts val="0"/>
              </a:spcBef>
              <a:spcAft>
                <a:spcPts val="0"/>
              </a:spcAft>
              <a:buNone/>
            </a:pPr>
            <a:r>
              <a:rPr lang="en-US" sz="1050">
                <a:latin typeface="Consolas"/>
              </a:rPr>
              <a:t>        String claimNumber = "CLM-TRAIN-1042";</a:t>
            </a:r>
          </a:p>
          <a:p>
            <a:pPr marL="0" indent="0" algn="l">
              <a:lnSpc>
                <a:spcPct val="100000"/>
              </a:lnSpc>
              <a:spcBef>
                <a:spcPts val="0"/>
              </a:spcBef>
              <a:spcAft>
                <a:spcPts val="0"/>
              </a:spcAft>
              <a:buNone/>
            </a:pPr>
            <a:r>
              <a:rPr lang="en-US" sz="1050">
                <a:latin typeface="Consolas"/>
              </a:rPr>
              <a:t>        int daysOpen = 12;</a:t>
            </a:r>
          </a:p>
          <a:p>
            <a:pPr marL="0" indent="0" algn="l">
              <a:lnSpc>
                <a:spcPct val="100000"/>
              </a:lnSpc>
              <a:spcBef>
                <a:spcPts val="0"/>
              </a:spcBef>
              <a:spcAft>
                <a:spcPts val="0"/>
              </a:spcAft>
              <a:buNone/>
            </a:pPr>
            <a:endParaRPr lang="en-US" sz="1050">
              <a:latin typeface="Consolas"/>
            </a:endParaRPr>
          </a:p>
          <a:p>
            <a:pPr marL="0" indent="0" algn="l">
              <a:lnSpc>
                <a:spcPct val="100000"/>
              </a:lnSpc>
              <a:spcBef>
                <a:spcPts val="0"/>
              </a:spcBef>
              <a:spcAft>
                <a:spcPts val="0"/>
              </a:spcAft>
              <a:buNone/>
            </a:pPr>
            <a:r>
              <a:rPr lang="en-US" sz="1050">
                <a:latin typeface="Consolas"/>
              </a:rPr>
              <a:t>        System.out.println("Claim " + claimNumber</a:t>
            </a:r>
          </a:p>
          <a:p>
            <a:pPr marL="0" indent="0" algn="l">
              <a:lnSpc>
                <a:spcPct val="100000"/>
              </a:lnSpc>
              <a:spcBef>
                <a:spcPts val="0"/>
              </a:spcBef>
              <a:spcAft>
                <a:spcPts val="0"/>
              </a:spcAft>
              <a:buNone/>
            </a:pPr>
            <a:r>
              <a:rPr lang="en-US" sz="1050">
                <a:latin typeface="Consolas"/>
              </a:rPr>
              <a:t>                + " has been open for " + daysOpen + " days.");</a:t>
            </a:r>
          </a:p>
          <a:p>
            <a:pPr marL="0" indent="0" algn="l">
              <a:lnSpc>
                <a:spcPct val="100000"/>
              </a:lnSpc>
              <a:spcBef>
                <a:spcPts val="0"/>
              </a:spcBef>
              <a:spcAft>
                <a:spcPts val="0"/>
              </a:spcAft>
              <a:buNone/>
            </a:pPr>
            <a:r>
              <a:rPr lang="en-US" sz="1050">
                <a:latin typeface="Consolas"/>
              </a:rPr>
              <a:t>    }</a:t>
            </a:r>
          </a:p>
          <a:p>
            <a:pPr marL="0" indent="0" algn="l">
              <a:lnSpc>
                <a:spcPct val="100000"/>
              </a:lnSpc>
              <a:spcBef>
                <a:spcPts val="0"/>
              </a:spcBef>
              <a:spcAft>
                <a:spcPts val="0"/>
              </a:spcAft>
              <a:buNone/>
            </a:pPr>
            <a:r>
              <a:rPr lang="en-US" sz="1050">
                <a:latin typeface="Consolas"/>
              </a:rPr>
              <a:t>}</a:t>
            </a:r>
          </a:p>
          <a:p>
            <a:pPr marL="0" indent="0" algn="l">
              <a:lnSpc>
                <a:spcPct val="100000"/>
              </a:lnSpc>
              <a:spcBef>
                <a:spcPts val="0"/>
              </a:spcBef>
              <a:spcAft>
                <a:spcPts val="0"/>
              </a:spcAft>
              <a:buNone/>
            </a:pPr>
            <a:endParaRPr lang="en-US" sz="1050">
              <a:latin typeface="Consolas"/>
            </a:endParaRPr>
          </a:p>
          <a:p>
            <a:pPr marL="0" indent="0" algn="l">
              <a:lnSpc>
                <a:spcPct val="100000"/>
              </a:lnSpc>
              <a:spcBef>
                <a:spcPts val="0"/>
              </a:spcBef>
              <a:spcAft>
                <a:spcPts val="0"/>
              </a:spcAft>
              <a:buNone/>
            </a:pPr>
            <a:r>
              <a:rPr lang="en-US" sz="1050">
                <a:latin typeface="Consolas"/>
              </a:rPr>
              <a:t>Output:  Claim CLM-TRAIN-1042 has been open for 12 days.</a:t>
            </a:r>
          </a:p>
        </p:txBody>
      </p:sp>
    </p:spTree>
    <p:extLst>
      <p:ext uri="{BB962C8B-B14F-4D97-AF65-F5344CB8AC3E}">
        <p14:creationId xmlns:p14="http://schemas.microsoft.com/office/powerpoint/2010/main" val="8207913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2">
    <p:bg>
      <p:bgPr>
        <a:solidFill>
          <a:srgbClr val="F5EFE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EFE2"/>
          </a:solidFill>
          <a:ln w="3175">
            <a:solidFill>
              <a:srgbClr val="F5EFE2"/>
            </a:solidFill>
            <a:prstDash val="solid"/>
          </a:ln>
        </p:spPr>
        <p:txBody>
          <a:bodyPr/>
          <a:lstStyle/>
          <a:p>
            <a:endParaRPr lang="en-US"/>
          </a:p>
        </p:txBody>
      </p:sp>
      <p:sp>
        <p:nvSpPr>
          <p:cNvPr id="3" name="Text 1"/>
          <p:cNvSpPr/>
          <p:nvPr/>
        </p:nvSpPr>
        <p:spPr>
          <a:xfrm>
            <a:off x="548640" y="384048"/>
            <a:ext cx="5943600" cy="274320"/>
          </a:xfrm>
          <a:prstGeom prst="rect">
            <a:avLst/>
          </a:prstGeom>
          <a:noFill/>
          <a:ln/>
        </p:spPr>
        <p:txBody>
          <a:bodyPr wrap="square" lIns="0" tIns="0" rIns="0" bIns="0" rtlCol="0" anchor="ctr"/>
          <a:lstStyle/>
          <a:p>
            <a:pPr marL="0" indent="0">
              <a:buNone/>
            </a:pPr>
            <a:r>
              <a:rPr lang="en-US" sz="1300" b="1" kern="0" spc="300">
                <a:solidFill>
                  <a:srgbClr val="A9552F"/>
                </a:solidFill>
                <a:latin typeface="Segoe UI" pitchFamily="34" charset="0"/>
                <a:ea typeface="Segoe UI" pitchFamily="34" charset="-122"/>
                <a:cs typeface="Segoe UI" pitchFamily="34" charset="-120"/>
              </a:rPr>
              <a:t>ANSWER KEY — PROJECT, PART 1 OF 2</a:t>
            </a:r>
            <a:endParaRPr lang="en-US" sz="1300"/>
          </a:p>
        </p:txBody>
      </p:sp>
      <p:sp>
        <p:nvSpPr>
          <p:cNvPr id="4" name="Text 2"/>
          <p:cNvSpPr/>
          <p:nvPr/>
        </p:nvSpPr>
        <p:spPr>
          <a:xfrm>
            <a:off x="530352" y="676656"/>
            <a:ext cx="7200900" cy="548640"/>
          </a:xfrm>
          <a:prstGeom prst="rect">
            <a:avLst/>
          </a:prstGeom>
          <a:noFill/>
          <a:ln/>
        </p:spPr>
        <p:txBody>
          <a:bodyPr wrap="square" lIns="0" tIns="0" rIns="0" bIns="0" rtlCol="0" anchor="ctr"/>
          <a:lstStyle/>
          <a:p>
            <a:pPr marL="0" indent="0">
              <a:buNone/>
            </a:pPr>
            <a:r>
              <a:rPr lang="en-US" sz="2600" b="1" dirty="0">
                <a:solidFill>
                  <a:srgbClr val="1F3557"/>
                </a:solidFill>
                <a:latin typeface="Georgia" pitchFamily="34" charset="0"/>
                <a:ea typeface="Georgia" pitchFamily="34" charset="-122"/>
                <a:cs typeface="Georgia" pitchFamily="34" charset="-120"/>
              </a:rPr>
              <a:t>MemberBenefitsSummary.java — setup</a:t>
            </a:r>
            <a:endParaRPr lang="en-US" sz="3200" dirty="0"/>
          </a:p>
        </p:txBody>
      </p:sp>
      <p:sp>
        <p:nvSpPr>
          <p:cNvPr id="5" name="Shape 3"/>
          <p:cNvSpPr/>
          <p:nvPr/>
        </p:nvSpPr>
        <p:spPr>
          <a:xfrm>
            <a:off x="548640" y="1316736"/>
            <a:ext cx="1280160" cy="0"/>
          </a:xfrm>
          <a:prstGeom prst="line">
            <a:avLst/>
          </a:prstGeom>
          <a:noFill/>
          <a:ln w="28575">
            <a:solidFill>
              <a:srgbClr val="A9552F"/>
            </a:solidFill>
            <a:prstDash val="solid"/>
          </a:ln>
        </p:spPr>
        <p:txBody>
          <a:bodyPr/>
          <a:lstStyle/>
          <a:p>
            <a:endParaRPr lang="en-US"/>
          </a:p>
        </p:txBody>
      </p:sp>
      <p:sp>
        <p:nvSpPr>
          <p:cNvPr id="6" name="Shape 4"/>
          <p:cNvSpPr/>
          <p:nvPr/>
        </p:nvSpPr>
        <p:spPr>
          <a:xfrm>
            <a:off x="546100" y="1447800"/>
            <a:ext cx="8051800" cy="3417113"/>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7" name="Text 5"/>
          <p:cNvSpPr/>
          <p:nvPr/>
        </p:nvSpPr>
        <p:spPr>
          <a:xfrm>
            <a:off x="774700" y="1651000"/>
            <a:ext cx="7594600" cy="279400"/>
          </a:xfrm>
          <a:prstGeom prst="rect">
            <a:avLst/>
          </a:prstGeom>
          <a:noFill/>
          <a:ln/>
        </p:spPr>
        <p:txBody>
          <a:bodyPr wrap="square" lIns="0" tIns="0" rIns="0" bIns="0" rtlCol="0" anchor="ctr"/>
          <a:lstStyle/>
          <a:p>
            <a:pPr marL="0" indent="0">
              <a:buNone/>
            </a:pPr>
            <a:r>
              <a:rPr lang="en-US" sz="1650" b="1">
                <a:solidFill>
                  <a:srgbClr val="1F3557"/>
                </a:solidFill>
                <a:latin typeface="Georgia" pitchFamily="34" charset="0"/>
                <a:ea typeface="Georgia" pitchFamily="34" charset="-122"/>
                <a:cs typeface="Georgia" pitchFamily="34" charset="-120"/>
              </a:rPr>
              <a:t>Class shell and the eight declarations</a:t>
            </a:r>
            <a:endParaRPr lang="en-US" sz="1050"/>
          </a:p>
        </p:txBody>
      </p:sp>
      <p:sp>
        <p:nvSpPr>
          <p:cNvPr id="8" name="Text 6"/>
          <p:cNvSpPr/>
          <p:nvPr/>
        </p:nvSpPr>
        <p:spPr>
          <a:xfrm>
            <a:off x="774700" y="1981200"/>
            <a:ext cx="7594600" cy="2883103"/>
          </a:xfrm>
          <a:prstGeom prst="rect">
            <a:avLst/>
          </a:prstGeom>
          <a:noFill/>
          <a:ln/>
        </p:spPr>
        <p:txBody>
          <a:bodyPr wrap="square" lIns="0" tIns="0" rIns="0" bIns="0" rtlCol="0" anchor="t"/>
          <a:lstStyle/>
          <a:p>
            <a:pPr marL="0" indent="0" algn="l">
              <a:lnSpc>
                <a:spcPct val="100000"/>
              </a:lnSpc>
              <a:spcBef>
                <a:spcPts val="0"/>
              </a:spcBef>
              <a:spcAft>
                <a:spcPts val="0"/>
              </a:spcAft>
              <a:buNone/>
            </a:pPr>
            <a:r>
              <a:rPr lang="en-US" sz="1050">
                <a:latin typeface="Consolas"/>
              </a:rPr>
              <a:t>public class MemberBenefitsSummary {</a:t>
            </a:r>
          </a:p>
          <a:p>
            <a:pPr marL="0" indent="0" algn="l">
              <a:lnSpc>
                <a:spcPct val="100000"/>
              </a:lnSpc>
              <a:spcBef>
                <a:spcPts val="0"/>
              </a:spcBef>
              <a:spcAft>
                <a:spcPts val="0"/>
              </a:spcAft>
              <a:buNone/>
            </a:pPr>
            <a:r>
              <a:rPr lang="en-US" sz="1050">
                <a:latin typeface="Consolas"/>
              </a:rPr>
              <a:t>    public static void main(String[] args) {</a:t>
            </a:r>
          </a:p>
          <a:p>
            <a:pPr marL="0" indent="0" algn="l">
              <a:lnSpc>
                <a:spcPct val="100000"/>
              </a:lnSpc>
              <a:spcBef>
                <a:spcPts val="0"/>
              </a:spcBef>
              <a:spcAft>
                <a:spcPts val="0"/>
              </a:spcAft>
              <a:buNone/>
            </a:pPr>
            <a:r>
              <a:rPr lang="en-US" sz="1050">
                <a:latin typeface="Consolas"/>
              </a:rPr>
              <a:t>        // Member identity</a:t>
            </a:r>
          </a:p>
          <a:p>
            <a:pPr marL="0" indent="0" algn="l">
              <a:lnSpc>
                <a:spcPct val="100000"/>
              </a:lnSpc>
              <a:spcBef>
                <a:spcPts val="0"/>
              </a:spcBef>
              <a:spcAft>
                <a:spcPts val="0"/>
              </a:spcAft>
              <a:buNone/>
            </a:pPr>
            <a:r>
              <a:rPr lang="en-US" sz="1050">
                <a:latin typeface="Consolas"/>
              </a:rPr>
              <a:t>        String memberName = "Avery Chen";</a:t>
            </a:r>
          </a:p>
          <a:p>
            <a:pPr marL="0" indent="0" algn="l">
              <a:lnSpc>
                <a:spcPct val="100000"/>
              </a:lnSpc>
              <a:spcBef>
                <a:spcPts val="0"/>
              </a:spcBef>
              <a:spcAft>
                <a:spcPts val="0"/>
              </a:spcAft>
              <a:buNone/>
            </a:pPr>
            <a:r>
              <a:rPr lang="en-US" sz="1050">
                <a:latin typeface="Consolas"/>
              </a:rPr>
              <a:t>        String memberId = "MBR-TRAIN-88214";</a:t>
            </a:r>
          </a:p>
          <a:p>
            <a:pPr marL="0" indent="0" algn="l">
              <a:lnSpc>
                <a:spcPct val="100000"/>
              </a:lnSpc>
              <a:spcBef>
                <a:spcPts val="0"/>
              </a:spcBef>
              <a:spcAft>
                <a:spcPts val="0"/>
              </a:spcAft>
              <a:buNone/>
            </a:pPr>
            <a:r>
              <a:rPr lang="en-US" sz="1050">
                <a:latin typeface="Consolas"/>
              </a:rPr>
              <a:t>        String planName = "Blue Choice Training Plan";</a:t>
            </a:r>
          </a:p>
          <a:p>
            <a:pPr marL="0" indent="0" algn="l">
              <a:lnSpc>
                <a:spcPct val="100000"/>
              </a:lnSpc>
              <a:spcBef>
                <a:spcPts val="0"/>
              </a:spcBef>
              <a:spcAft>
                <a:spcPts val="0"/>
              </a:spcAft>
              <a:buNone/>
            </a:pPr>
            <a:r>
              <a:rPr lang="en-US" sz="1050">
                <a:latin typeface="Consolas"/>
              </a:rPr>
              <a:t>        String effectiveDate = "January 1, 2026";</a:t>
            </a:r>
          </a:p>
          <a:p>
            <a:pPr marL="0" indent="0" algn="l">
              <a:lnSpc>
                <a:spcPct val="100000"/>
              </a:lnSpc>
              <a:spcBef>
                <a:spcPts val="0"/>
              </a:spcBef>
              <a:spcAft>
                <a:spcPts val="0"/>
              </a:spcAft>
              <a:buNone/>
            </a:pPr>
            <a:endParaRPr lang="en-US" sz="1050">
              <a:latin typeface="Consolas"/>
            </a:endParaRPr>
          </a:p>
          <a:p>
            <a:pPr marL="0" indent="0" algn="l">
              <a:lnSpc>
                <a:spcPct val="100000"/>
              </a:lnSpc>
              <a:spcBef>
                <a:spcPts val="0"/>
              </a:spcBef>
              <a:spcAft>
                <a:spcPts val="0"/>
              </a:spcAft>
              <a:buNone/>
            </a:pPr>
            <a:r>
              <a:rPr lang="en-US" sz="1050">
                <a:latin typeface="Consolas"/>
              </a:rPr>
              <a:t>        // Plan facts</a:t>
            </a:r>
          </a:p>
          <a:p>
            <a:pPr marL="0" indent="0" algn="l">
              <a:lnSpc>
                <a:spcPct val="100000"/>
              </a:lnSpc>
              <a:spcBef>
                <a:spcPts val="0"/>
              </a:spcBef>
              <a:spcAft>
                <a:spcPts val="0"/>
              </a:spcAft>
              <a:buNone/>
            </a:pPr>
            <a:r>
              <a:rPr lang="en-US" sz="1050">
                <a:latin typeface="Consolas"/>
              </a:rPr>
              <a:t>        int groupNumber = 41027;</a:t>
            </a:r>
          </a:p>
          <a:p>
            <a:pPr marL="0" indent="0" algn="l">
              <a:lnSpc>
                <a:spcPct val="100000"/>
              </a:lnSpc>
              <a:spcBef>
                <a:spcPts val="0"/>
              </a:spcBef>
              <a:spcAft>
                <a:spcPts val="0"/>
              </a:spcAft>
              <a:buNone/>
            </a:pPr>
            <a:r>
              <a:rPr lang="en-US" sz="1050">
                <a:latin typeface="Consolas"/>
              </a:rPr>
              <a:t>        int planYear = 2026;</a:t>
            </a:r>
          </a:p>
          <a:p>
            <a:pPr marL="0" indent="0" algn="l">
              <a:lnSpc>
                <a:spcPct val="100000"/>
              </a:lnSpc>
              <a:spcBef>
                <a:spcPts val="0"/>
              </a:spcBef>
              <a:spcAft>
                <a:spcPts val="0"/>
              </a:spcAft>
              <a:buNone/>
            </a:pPr>
            <a:r>
              <a:rPr lang="en-US" sz="1050">
                <a:latin typeface="Consolas"/>
              </a:rPr>
              <a:t>        int deductibleDollars = 1500;</a:t>
            </a:r>
          </a:p>
          <a:p>
            <a:pPr marL="0" indent="0" algn="l">
              <a:lnSpc>
                <a:spcPct val="100000"/>
              </a:lnSpc>
              <a:spcBef>
                <a:spcPts val="0"/>
              </a:spcBef>
              <a:spcAft>
                <a:spcPts val="0"/>
              </a:spcAft>
              <a:buNone/>
            </a:pPr>
            <a:r>
              <a:rPr lang="en-US" sz="1050">
                <a:latin typeface="Consolas"/>
              </a:rPr>
              <a:t>        int visitsUsed = 4;</a:t>
            </a:r>
          </a:p>
        </p:txBody>
      </p:sp>
    </p:spTree>
    <p:extLst>
      <p:ext uri="{BB962C8B-B14F-4D97-AF65-F5344CB8AC3E}">
        <p14:creationId xmlns:p14="http://schemas.microsoft.com/office/powerpoint/2010/main" val="33632826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2">
    <p:bg>
      <p:bgPr>
        <a:solidFill>
          <a:srgbClr val="F5EFE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EFE2"/>
          </a:solidFill>
          <a:ln w="3175">
            <a:solidFill>
              <a:srgbClr val="F5EFE2"/>
            </a:solidFill>
            <a:prstDash val="solid"/>
          </a:ln>
        </p:spPr>
        <p:txBody>
          <a:bodyPr/>
          <a:lstStyle/>
          <a:p>
            <a:endParaRPr lang="en-US"/>
          </a:p>
        </p:txBody>
      </p:sp>
      <p:sp>
        <p:nvSpPr>
          <p:cNvPr id="3" name="Text 1"/>
          <p:cNvSpPr/>
          <p:nvPr/>
        </p:nvSpPr>
        <p:spPr>
          <a:xfrm>
            <a:off x="548640" y="384048"/>
            <a:ext cx="5943600" cy="274320"/>
          </a:xfrm>
          <a:prstGeom prst="rect">
            <a:avLst/>
          </a:prstGeom>
          <a:noFill/>
          <a:ln/>
        </p:spPr>
        <p:txBody>
          <a:bodyPr wrap="square" lIns="0" tIns="0" rIns="0" bIns="0" rtlCol="0" anchor="ctr"/>
          <a:lstStyle/>
          <a:p>
            <a:pPr marL="0" indent="0">
              <a:buNone/>
            </a:pPr>
            <a:r>
              <a:rPr lang="en-US" sz="1300" b="1" kern="0" spc="300">
                <a:solidFill>
                  <a:srgbClr val="A9552F"/>
                </a:solidFill>
                <a:latin typeface="Segoe UI" pitchFamily="34" charset="0"/>
                <a:ea typeface="Segoe UI" pitchFamily="34" charset="-122"/>
                <a:cs typeface="Segoe UI" pitchFamily="34" charset="-120"/>
              </a:rPr>
              <a:t>ANSWER KEY — PROJECT, PART 2 OF 2</a:t>
            </a:r>
            <a:endParaRPr lang="en-US" sz="1300"/>
          </a:p>
        </p:txBody>
      </p:sp>
      <p:sp>
        <p:nvSpPr>
          <p:cNvPr id="4" name="Text 2"/>
          <p:cNvSpPr/>
          <p:nvPr/>
        </p:nvSpPr>
        <p:spPr>
          <a:xfrm>
            <a:off x="530352" y="676656"/>
            <a:ext cx="7200900" cy="548640"/>
          </a:xfrm>
          <a:prstGeom prst="rect">
            <a:avLst/>
          </a:prstGeom>
          <a:noFill/>
          <a:ln/>
        </p:spPr>
        <p:txBody>
          <a:bodyPr wrap="square" lIns="0" tIns="0" rIns="0" bIns="0" rtlCol="0" anchor="ctr"/>
          <a:lstStyle/>
          <a:p>
            <a:pPr marL="0" indent="0">
              <a:buNone/>
            </a:pPr>
            <a:r>
              <a:rPr lang="en-US" sz="2600" b="1" dirty="0">
                <a:solidFill>
                  <a:srgbClr val="1F3557"/>
                </a:solidFill>
                <a:latin typeface="Georgia" pitchFamily="34" charset="0"/>
                <a:ea typeface="Georgia" pitchFamily="34" charset="-122"/>
                <a:cs typeface="Georgia" pitchFamily="34" charset="-120"/>
              </a:rPr>
              <a:t>MemberBenefitsSummary.java — output</a:t>
            </a:r>
            <a:endParaRPr lang="en-US" sz="3200" dirty="0"/>
          </a:p>
        </p:txBody>
      </p:sp>
      <p:sp>
        <p:nvSpPr>
          <p:cNvPr id="5" name="Shape 3"/>
          <p:cNvSpPr/>
          <p:nvPr/>
        </p:nvSpPr>
        <p:spPr>
          <a:xfrm>
            <a:off x="548640" y="1316736"/>
            <a:ext cx="1280160" cy="0"/>
          </a:xfrm>
          <a:prstGeom prst="line">
            <a:avLst/>
          </a:prstGeom>
          <a:noFill/>
          <a:ln w="28575">
            <a:solidFill>
              <a:srgbClr val="A9552F"/>
            </a:solidFill>
            <a:prstDash val="solid"/>
          </a:ln>
        </p:spPr>
        <p:txBody>
          <a:bodyPr/>
          <a:lstStyle/>
          <a:p>
            <a:endParaRPr lang="en-US"/>
          </a:p>
        </p:txBody>
      </p:sp>
      <p:sp>
        <p:nvSpPr>
          <p:cNvPr id="6" name="Shape 4"/>
          <p:cNvSpPr/>
          <p:nvPr/>
        </p:nvSpPr>
        <p:spPr>
          <a:xfrm>
            <a:off x="546100" y="1447800"/>
            <a:ext cx="8051800" cy="3417113"/>
          </a:xfrm>
          <a:prstGeom prst="roundRect">
            <a:avLst>
              <a:gd name="adj" fmla="val 3175"/>
            </a:avLst>
          </a:prstGeom>
          <a:solidFill>
            <a:srgbClr val="F5EFE2"/>
          </a:solidFill>
          <a:ln w="9525">
            <a:solidFill>
              <a:srgbClr val="1F3557"/>
            </a:solidFill>
            <a:prstDash val="solid"/>
          </a:ln>
        </p:spPr>
        <p:txBody>
          <a:bodyPr/>
          <a:lstStyle/>
          <a:p>
            <a:endParaRPr lang="en-US"/>
          </a:p>
        </p:txBody>
      </p:sp>
      <p:sp>
        <p:nvSpPr>
          <p:cNvPr id="7" name="Text 5"/>
          <p:cNvSpPr/>
          <p:nvPr/>
        </p:nvSpPr>
        <p:spPr>
          <a:xfrm>
            <a:off x="774700" y="1651000"/>
            <a:ext cx="7594600" cy="279400"/>
          </a:xfrm>
          <a:prstGeom prst="rect">
            <a:avLst/>
          </a:prstGeom>
          <a:noFill/>
          <a:ln/>
        </p:spPr>
        <p:txBody>
          <a:bodyPr wrap="square" lIns="0" tIns="0" rIns="0" bIns="0" rtlCol="0" anchor="ctr"/>
          <a:lstStyle/>
          <a:p>
            <a:pPr marL="0" indent="0">
              <a:buNone/>
            </a:pPr>
            <a:r>
              <a:rPr lang="en-US" sz="1650" b="1">
                <a:solidFill>
                  <a:srgbClr val="1F3557"/>
                </a:solidFill>
                <a:latin typeface="Georgia" pitchFamily="34" charset="0"/>
                <a:ea typeface="Georgia" pitchFamily="34" charset="-122"/>
                <a:cs typeface="Georgia" pitchFamily="34" charset="-120"/>
              </a:rPr>
              <a:t>Header, labeled lines, and closing sentence</a:t>
            </a:r>
            <a:endParaRPr lang="en-US" sz="1050"/>
          </a:p>
        </p:txBody>
      </p:sp>
      <p:sp>
        <p:nvSpPr>
          <p:cNvPr id="8" name="Text 6"/>
          <p:cNvSpPr/>
          <p:nvPr/>
        </p:nvSpPr>
        <p:spPr>
          <a:xfrm>
            <a:off x="774700" y="1981200"/>
            <a:ext cx="7594600" cy="2883103"/>
          </a:xfrm>
          <a:prstGeom prst="rect">
            <a:avLst/>
          </a:prstGeom>
          <a:noFill/>
          <a:ln/>
        </p:spPr>
        <p:txBody>
          <a:bodyPr wrap="square" lIns="0" tIns="0" rIns="0" bIns="0" rtlCol="0" anchor="t"/>
          <a:lstStyle/>
          <a:p>
            <a:pPr marL="0" indent="0" algn="l">
              <a:lnSpc>
                <a:spcPct val="100000"/>
              </a:lnSpc>
              <a:spcBef>
                <a:spcPts val="0"/>
              </a:spcBef>
              <a:spcAft>
                <a:spcPts val="0"/>
              </a:spcAft>
              <a:buNone/>
            </a:pPr>
            <a:r>
              <a:rPr lang="en-US" sz="1050">
                <a:latin typeface="Consolas"/>
              </a:rPr>
              <a:t>        // Report body</a:t>
            </a:r>
          </a:p>
          <a:p>
            <a:pPr marL="0" indent="0" algn="l">
              <a:lnSpc>
                <a:spcPct val="100000"/>
              </a:lnSpc>
              <a:spcBef>
                <a:spcPts val="0"/>
              </a:spcBef>
              <a:spcAft>
                <a:spcPts val="0"/>
              </a:spcAft>
              <a:buNone/>
            </a:pPr>
            <a:r>
              <a:rPr lang="en-US" sz="1050">
                <a:latin typeface="Consolas"/>
              </a:rPr>
              <a:t>        System.out.println("MEMBER BENEFITS SUMMARY");</a:t>
            </a:r>
          </a:p>
          <a:p>
            <a:pPr marL="0" indent="0" algn="l">
              <a:lnSpc>
                <a:spcPct val="100000"/>
              </a:lnSpc>
              <a:spcBef>
                <a:spcPts val="0"/>
              </a:spcBef>
              <a:spcAft>
                <a:spcPts val="0"/>
              </a:spcAft>
              <a:buNone/>
            </a:pPr>
            <a:r>
              <a:rPr lang="en-US" sz="1050">
                <a:latin typeface="Consolas"/>
              </a:rPr>
              <a:t>        System.out.println("-----------------------");</a:t>
            </a:r>
          </a:p>
          <a:p>
            <a:pPr marL="0" indent="0" algn="l">
              <a:lnSpc>
                <a:spcPct val="100000"/>
              </a:lnSpc>
              <a:spcBef>
                <a:spcPts val="0"/>
              </a:spcBef>
              <a:spcAft>
                <a:spcPts val="0"/>
              </a:spcAft>
              <a:buNone/>
            </a:pPr>
            <a:r>
              <a:rPr lang="en-US" sz="1050">
                <a:latin typeface="Consolas"/>
              </a:rPr>
              <a:t>        System.out.println("Member: " + memberName);</a:t>
            </a:r>
          </a:p>
          <a:p>
            <a:pPr marL="0" indent="0" algn="l">
              <a:lnSpc>
                <a:spcPct val="100000"/>
              </a:lnSpc>
              <a:spcBef>
                <a:spcPts val="0"/>
              </a:spcBef>
              <a:spcAft>
                <a:spcPts val="0"/>
              </a:spcAft>
              <a:buNone/>
            </a:pPr>
            <a:r>
              <a:rPr lang="en-US" sz="1050">
                <a:latin typeface="Consolas"/>
              </a:rPr>
              <a:t>        System.out.println("ID: " + memberId);</a:t>
            </a:r>
          </a:p>
          <a:p>
            <a:pPr marL="0" indent="0" algn="l">
              <a:lnSpc>
                <a:spcPct val="100000"/>
              </a:lnSpc>
              <a:spcBef>
                <a:spcPts val="0"/>
              </a:spcBef>
              <a:spcAft>
                <a:spcPts val="0"/>
              </a:spcAft>
              <a:buNone/>
            </a:pPr>
            <a:r>
              <a:rPr lang="en-US" sz="1050">
                <a:latin typeface="Consolas"/>
              </a:rPr>
              <a:t>        System.out.println("Plan: " + planName);</a:t>
            </a:r>
          </a:p>
          <a:p>
            <a:pPr marL="0" indent="0" algn="l">
              <a:lnSpc>
                <a:spcPct val="100000"/>
              </a:lnSpc>
              <a:spcBef>
                <a:spcPts val="0"/>
              </a:spcBef>
              <a:spcAft>
                <a:spcPts val="0"/>
              </a:spcAft>
              <a:buNone/>
            </a:pPr>
            <a:r>
              <a:rPr lang="en-US" sz="1050">
                <a:latin typeface="Consolas"/>
              </a:rPr>
              <a:t>        System.out.println("Group: " + groupNumber);</a:t>
            </a:r>
          </a:p>
          <a:p>
            <a:pPr marL="0" indent="0" algn="l">
              <a:lnSpc>
                <a:spcPct val="100000"/>
              </a:lnSpc>
              <a:spcBef>
                <a:spcPts val="0"/>
              </a:spcBef>
              <a:spcAft>
                <a:spcPts val="0"/>
              </a:spcAft>
              <a:buNone/>
            </a:pPr>
            <a:r>
              <a:rPr lang="en-US" sz="1050">
                <a:latin typeface="Consolas"/>
              </a:rPr>
              <a:t>        System.out.println("Effective: " + effectiveDate);</a:t>
            </a:r>
          </a:p>
          <a:p>
            <a:pPr marL="0" indent="0" algn="l">
              <a:lnSpc>
                <a:spcPct val="100000"/>
              </a:lnSpc>
              <a:spcBef>
                <a:spcPts val="0"/>
              </a:spcBef>
              <a:spcAft>
                <a:spcPts val="0"/>
              </a:spcAft>
              <a:buNone/>
            </a:pPr>
            <a:r>
              <a:rPr lang="en-US" sz="1050">
                <a:latin typeface="Consolas"/>
              </a:rPr>
              <a:t>        System.out.println("Deductible: $" + deductibleDollars);</a:t>
            </a:r>
          </a:p>
          <a:p>
            <a:pPr marL="0" indent="0" algn="l">
              <a:lnSpc>
                <a:spcPct val="100000"/>
              </a:lnSpc>
              <a:spcBef>
                <a:spcPts val="0"/>
              </a:spcBef>
              <a:spcAft>
                <a:spcPts val="0"/>
              </a:spcAft>
              <a:buNone/>
            </a:pPr>
            <a:r>
              <a:rPr lang="en-US" sz="1050">
                <a:latin typeface="Consolas"/>
              </a:rPr>
              <a:t>        System.out.println("Visits used: " + visitsUsed);</a:t>
            </a:r>
          </a:p>
          <a:p>
            <a:pPr marL="0" indent="0" algn="l">
              <a:lnSpc>
                <a:spcPct val="100000"/>
              </a:lnSpc>
              <a:spcBef>
                <a:spcPts val="0"/>
              </a:spcBef>
              <a:spcAft>
                <a:spcPts val="0"/>
              </a:spcAft>
              <a:buNone/>
            </a:pPr>
            <a:r>
              <a:rPr lang="en-US" sz="1050">
                <a:latin typeface="Consolas"/>
              </a:rPr>
              <a:t>        System.out.println(memberName + " is enrolled for " + planYear + ".");</a:t>
            </a:r>
          </a:p>
          <a:p>
            <a:pPr marL="0" indent="0" algn="l">
              <a:lnSpc>
                <a:spcPct val="100000"/>
              </a:lnSpc>
              <a:spcBef>
                <a:spcPts val="0"/>
              </a:spcBef>
              <a:spcAft>
                <a:spcPts val="0"/>
              </a:spcAft>
              <a:buNone/>
            </a:pPr>
            <a:r>
              <a:rPr lang="en-US" sz="1050">
                <a:latin typeface="Consolas"/>
              </a:rPr>
              <a:t>    }</a:t>
            </a:r>
          </a:p>
          <a:p>
            <a:pPr marL="0" indent="0" algn="l">
              <a:lnSpc>
                <a:spcPct val="100000"/>
              </a:lnSpc>
              <a:spcBef>
                <a:spcPts val="0"/>
              </a:spcBef>
              <a:spcAft>
                <a:spcPts val="0"/>
              </a:spcAft>
              <a:buNone/>
            </a:pPr>
            <a:r>
              <a:rPr lang="en-US" sz="1050">
                <a:latin typeface="Consolas"/>
              </a:rPr>
              <a:t>}</a:t>
            </a:r>
          </a:p>
        </p:txBody>
      </p:sp>
    </p:spTree>
    <p:extLst>
      <p:ext uri="{BB962C8B-B14F-4D97-AF65-F5344CB8AC3E}">
        <p14:creationId xmlns:p14="http://schemas.microsoft.com/office/powerpoint/2010/main" val="5575066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C5FD5AD2-E693-B94C-BD61-1B24C196C5DF}">
  <we:reference id="wa200010725" version="1.0.0.1" store="en-US" storeType="OMEX"/>
  <we:alternateReferences>
    <we:reference id="WA200010725" version="1.0.0.1" store="" storeType="OMEX"/>
  </we:alternateReferences>
  <we:properties>
    <we:property name="claude.fileId" value="&quot;6dcb84de-ec27-49cd-b407-c06958f8d742&quot;"/>
  </we:properties>
  <we:bindings/>
  <we:snapshot xmlns:r="http://schemas.openxmlformats.org/officeDocument/2006/relationships"/>
</we:webextension>
</file>

<file path=ppt/webextensions/webextension2.xml><?xml version="1.0" encoding="utf-8"?>
<we:webextension xmlns:we="http://schemas.microsoft.com/office/webextensions/webextension/2010/11" id="{8974147A-465A-3F4D-8F28-BE1B16E7AC46}">
  <we:reference id="wa200010001" version="1.0.0.1" store="en-US" storeType="OMEX"/>
  <we:alternateReferences>
    <we:reference id="WA200010001" version="1.0.0.1" store="" storeType="OMEX"/>
  </we:alternateReferences>
  <we:properties>
    <we:property name="claude.fileId" value="&quot;59345c71-edc5-451e-8132-fa4e2a0d98ba&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259</TotalTime>
  <Words>6993</Words>
  <Application>Microsoft Office PowerPoint</Application>
  <PresentationFormat>On-screen Show (16:9)</PresentationFormat>
  <Paragraphs>654</Paragraphs>
  <Slides>51</Slides>
  <Notes>36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51</vt:i4>
      </vt:variant>
    </vt:vector>
  </HeadingPairs>
  <TitlesOfParts>
    <vt:vector size="57" baseType="lpstr">
      <vt:lpstr>Arial</vt:lpstr>
      <vt:lpstr>Calibri</vt:lpstr>
      <vt:lpstr>Consolas</vt:lpstr>
      <vt:lpstr>Georgia</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Jeff Salter</dc:creator>
  <cp:lastModifiedBy>Jeff Salter</cp:lastModifiedBy>
  <cp:revision>5</cp:revision>
  <dcterms:created xsi:type="dcterms:W3CDTF">2026-08-15T01:18:30Z</dcterms:created>
  <dcterms:modified xsi:type="dcterms:W3CDTF">2026-08-16T18:13:24Z</dcterms:modified>
</cp:coreProperties>
</file>