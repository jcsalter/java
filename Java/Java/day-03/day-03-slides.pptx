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5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646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646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C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465C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257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7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WEEK 1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— Day 3</a:t>
            </a:r>
            <a:endParaRPr lang="en-US" sz="4400" dirty="0"/>
          </a:p>
        </p:txBody>
      </p:sp>
      <p:sp>
        <p:nvSpPr>
          <p:cNvPr id="5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743200"/>
            <a:ext cx="1005840" cy="457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C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Math · Runtime Errors · Stack Traces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9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Instructor: 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 Name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79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Fundamentals Program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Today Takes You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 objectives</a:t>
            </a:r>
            <a:endParaRPr lang="en-US" sz="1300" dirty="0"/>
          </a:p>
        </p:txBody>
      </p:sp>
      <p:sp>
        <p:nvSpPr>
          <p:cNvPr id="8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7863840" cy="44074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64008" cy="44074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645920"/>
            <a:ext cx="54864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645920"/>
            <a:ext cx="685800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arithmetic with double</a:t>
            </a:r>
            <a:endParaRPr lang="en-US" sz="1600" dirty="0"/>
          </a:p>
        </p:txBody>
      </p:sp>
      <p:sp>
        <p:nvSpPr>
          <p:cNvPr id="12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232965"/>
            <a:ext cx="7863840" cy="44074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232965"/>
            <a:ext cx="64008" cy="44074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232965"/>
            <a:ext cx="54864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232965"/>
            <a:ext cx="685800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programs crash</a:t>
            </a:r>
            <a:endParaRPr lang="en-US" sz="1600" dirty="0"/>
          </a:p>
        </p:txBody>
      </p:sp>
      <p:sp>
        <p:nvSpPr>
          <p:cNvPr id="16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820010"/>
            <a:ext cx="7863840" cy="44074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820010"/>
            <a:ext cx="64008" cy="44074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2820010"/>
            <a:ext cx="54864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820010"/>
            <a:ext cx="685800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runtime errors</a:t>
            </a:r>
            <a:endParaRPr lang="en-US" sz="1600" dirty="0"/>
          </a:p>
        </p:txBody>
      </p:sp>
      <p:sp>
        <p:nvSpPr>
          <p:cNvPr id="20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7054"/>
            <a:ext cx="7863840" cy="44074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7054"/>
            <a:ext cx="64008" cy="44074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3407054"/>
            <a:ext cx="54864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407054"/>
            <a:ext cx="685800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stack traces</a:t>
            </a:r>
            <a:endParaRPr lang="en-US" sz="1600" dirty="0"/>
          </a:p>
        </p:txBody>
      </p:sp>
      <p:sp>
        <p:nvSpPr>
          <p:cNvPr id="24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94099"/>
            <a:ext cx="7863840" cy="44074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94099"/>
            <a:ext cx="64008" cy="44074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3994099"/>
            <a:ext cx="54864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3994099"/>
            <a:ext cx="685800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Expanding MemberBenefitsSummary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Flow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day is structured</a:t>
            </a:r>
            <a:endParaRPr lang="en-US" sz="1300" dirty="0"/>
          </a:p>
        </p:txBody>
      </p:sp>
      <p:sp>
        <p:nvSpPr>
          <p:cNvPr id="8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1411834" cy="246888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1411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1228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</a:t>
            </a:r>
            <a:endParaRPr lang="en-US" sz="1500" dirty="0"/>
          </a:p>
        </p:txBody>
      </p:sp>
      <p:sp>
        <p:nvSpPr>
          <p:cNvPr id="11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3082" y="1645920"/>
            <a:ext cx="1411834" cy="246888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53082" y="1965960"/>
            <a:ext cx="1411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44522" y="2514600"/>
            <a:ext cx="1228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</a:t>
            </a:r>
            <a:endParaRPr lang="en-US" sz="1500" dirty="0"/>
          </a:p>
        </p:txBody>
      </p:sp>
      <p:sp>
        <p:nvSpPr>
          <p:cNvPr id="14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66083" y="1645920"/>
            <a:ext cx="1411834" cy="246888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66083" y="1965960"/>
            <a:ext cx="1411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57523" y="2514600"/>
            <a:ext cx="1228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500" dirty="0"/>
          </a:p>
        </p:txBody>
      </p:sp>
      <p:sp>
        <p:nvSpPr>
          <p:cNvPr id="17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79085" y="1645920"/>
            <a:ext cx="1411834" cy="246888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79085" y="1965960"/>
            <a:ext cx="1411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70525" y="2514600"/>
            <a:ext cx="1228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</a:t>
            </a:r>
            <a:endParaRPr lang="en-US" sz="1500" dirty="0"/>
          </a:p>
        </p:txBody>
      </p:sp>
      <p:sp>
        <p:nvSpPr>
          <p:cNvPr id="20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92086" y="1645920"/>
            <a:ext cx="1411834" cy="246888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92086" y="1965960"/>
            <a:ext cx="1411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83526" y="2514600"/>
            <a:ext cx="1228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of Day 2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covered yesterday</a:t>
            </a:r>
            <a:endParaRPr lang="en-US" sz="1300" dirty="0"/>
          </a:p>
        </p:txBody>
      </p:sp>
      <p:sp>
        <p:nvSpPr>
          <p:cNvPr id="8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7863840" cy="44074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64008" cy="44074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645920"/>
            <a:ext cx="54864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645920"/>
            <a:ext cx="685800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Scanner — reading input from the user</a:t>
            </a:r>
            <a:endParaRPr lang="en-US" sz="1600" dirty="0"/>
          </a:p>
        </p:txBody>
      </p:sp>
      <p:sp>
        <p:nvSpPr>
          <p:cNvPr id="12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232965"/>
            <a:ext cx="7863840" cy="44074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232965"/>
            <a:ext cx="64008" cy="44074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232965"/>
            <a:ext cx="54864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232965"/>
            <a:ext cx="685800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 — storing decimal values</a:t>
            </a:r>
            <a:endParaRPr lang="en-US" sz="1600" dirty="0"/>
          </a:p>
        </p:txBody>
      </p:sp>
      <p:sp>
        <p:nvSpPr>
          <p:cNvPr id="16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820010"/>
            <a:ext cx="7863840" cy="44074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820010"/>
            <a:ext cx="64008" cy="44074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2820010"/>
            <a:ext cx="54864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820010"/>
            <a:ext cx="685800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NumberFormat — displaying money</a:t>
            </a:r>
            <a:endParaRPr lang="en-US" sz="1600" dirty="0"/>
          </a:p>
        </p:txBody>
      </p:sp>
      <p:sp>
        <p:nvSpPr>
          <p:cNvPr id="20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7054"/>
            <a:ext cx="7863840" cy="44074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07054"/>
            <a:ext cx="64008" cy="44074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3407054"/>
            <a:ext cx="54864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407054"/>
            <a:ext cx="685800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calculation</a:t>
            </a:r>
            <a:endParaRPr lang="en-US" sz="1600" dirty="0"/>
          </a:p>
        </p:txBody>
      </p:sp>
      <p:sp>
        <p:nvSpPr>
          <p:cNvPr id="24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94099"/>
            <a:ext cx="7863840" cy="44074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94099"/>
            <a:ext cx="64008" cy="44074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3994099"/>
            <a:ext cx="54864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3994099"/>
            <a:ext cx="685800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bad input crashes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Compiler vs Runtime Errors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colum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47088"/>
            <a:ext cx="3794760" cy="2157984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lumn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47088"/>
            <a:ext cx="3794760" cy="45720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18470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Compiler errors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2395728"/>
            <a:ext cx="329184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javac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Caught before the program runs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never becomes a class file</a:t>
            </a:r>
            <a:endParaRPr lang="en-US" sz="1400" dirty="0"/>
          </a:p>
        </p:txBody>
      </p:sp>
      <p:sp>
        <p:nvSpPr>
          <p:cNvPr id="11" name="colum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847088"/>
            <a:ext cx="3794760" cy="2157984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olumn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847088"/>
            <a:ext cx="3794760" cy="45720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0328" y="18470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errors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5192" y="2395728"/>
            <a:ext cx="329184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java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Happen after the program starts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 on the data you feed 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Causes Runtime Errors?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7863840" cy="644652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64008" cy="644652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54864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417320"/>
            <a:ext cx="685800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input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208276"/>
            <a:ext cx="7863840" cy="644652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208276"/>
            <a:ext cx="64008" cy="644652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208276"/>
            <a:ext cx="54864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208276"/>
            <a:ext cx="685800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Unexpected values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99232"/>
            <a:ext cx="7863840" cy="644652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99232"/>
            <a:ext cx="64008" cy="644652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999232"/>
            <a:ext cx="54864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2999232"/>
            <a:ext cx="685800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Invalid conversions</a:t>
            </a:r>
            <a:endParaRPr lang="en-US" sz="1600" dirty="0"/>
          </a:p>
        </p:txBody>
      </p:sp>
      <p:sp>
        <p:nvSpPr>
          <p:cNvPr id="19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90188"/>
            <a:ext cx="7863840" cy="644652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90188"/>
            <a:ext cx="64008" cy="644652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3790188"/>
            <a:ext cx="54864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790188"/>
            <a:ext cx="685800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mistakes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NumberFormatException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Happens when converting text → number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"abc" → Double.parseDouble()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today — we will trigger it on purpose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Crash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code 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13916"/>
            <a:ext cx="7863840" cy="347472"/>
          </a:xfrm>
          <a:prstGeom prst="rect">
            <a:avLst/>
          </a:prstGeom>
          <a:solidFill>
            <a:srgbClr val="3E2C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1391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ParseFail.java</a:t>
            </a:r>
            <a:endParaRPr lang="en-US" sz="120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1388"/>
            <a:ext cx="7863840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116836"/>
            <a:ext cx="74066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1C7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"abc"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5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Exception in thread "main"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5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java.lang.NumberFormatException: For input string: "abc"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7810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program compiles fine — it fails only when it runs.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We Crash on Purpose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to read stack traces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to diagnose errors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to stay calm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Idea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tatem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82296" cy="237744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“Runtime errors are part of normal development.”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2999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professional developer reads stack traces every single day.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Stack Trace?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report of what went wrong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file + line number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error type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Trace Structure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line: the error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 lines: the call stack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line: your file + line number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Stack Trace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code 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37944"/>
            <a:ext cx="7863840" cy="347472"/>
          </a:xfrm>
          <a:prstGeom prst="rect">
            <a:avLst/>
          </a:prstGeom>
          <a:solidFill>
            <a:srgbClr val="3E2C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83794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output</a:t>
            </a:r>
            <a:endParaRPr lang="en-US" sz="120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185416"/>
            <a:ext cx="78638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340864"/>
            <a:ext cx="7406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1C7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"main"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NumberFormatException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50" dirty="0">
                <a:solidFill>
                  <a:srgbClr val="1C7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50" dirty="0">
                <a:solidFill>
                  <a:srgbClr val="0F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792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CrashDemo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CrashDemo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50" dirty="0">
                <a:solidFill>
                  <a:srgbClr val="0F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55701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last line is yours: CrashDemo.java, line 12.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Read It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error type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bad input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your line number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wrong line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Ignoring the first message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Trying to fix everything at once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Mindset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habits that make debugging work</a:t>
            </a:r>
            <a:endParaRPr lang="en-US" sz="1300" dirty="0"/>
          </a:p>
        </p:txBody>
      </p:sp>
      <p:sp>
        <p:nvSpPr>
          <p:cNvPr id="8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2487168" cy="246888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</a:t>
            </a:r>
            <a:endParaRPr lang="en-US" sz="1500" dirty="0"/>
          </a:p>
        </p:txBody>
      </p:sp>
      <p:sp>
        <p:nvSpPr>
          <p:cNvPr id="11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1645920"/>
            <a:ext cx="2487168" cy="246888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8416" y="19659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19856" y="251460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Calm</a:t>
            </a:r>
            <a:endParaRPr lang="en-US" sz="1500" dirty="0"/>
          </a:p>
        </p:txBody>
      </p:sp>
      <p:sp>
        <p:nvSpPr>
          <p:cNvPr id="14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6752" y="1645920"/>
            <a:ext cx="2487168" cy="246888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6752" y="19659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08192" y="251460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change at a time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double Matters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Decimal values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Calculations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Calculations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Remaining deductible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 owed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spent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— Remaining Deductible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code 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173986"/>
            <a:ext cx="7863840" cy="347472"/>
          </a:xfrm>
          <a:prstGeom prst="rect">
            <a:avLst/>
          </a:prstGeom>
          <a:solidFill>
            <a:srgbClr val="3E2C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7398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Calculation.java</a:t>
            </a:r>
            <a:endParaRPr lang="en-US" sz="120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21458"/>
            <a:ext cx="786384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676906"/>
            <a:ext cx="74066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deductible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amountPaid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22097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Subtract what has already been paid from the full deductible.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— Amount Owed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code 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173986"/>
            <a:ext cx="7863840" cy="347472"/>
          </a:xfrm>
          <a:prstGeom prst="rect">
            <a:avLst/>
          </a:prstGeom>
          <a:solidFill>
            <a:srgbClr val="3E2C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7398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Calculation.java</a:t>
            </a:r>
            <a:endParaRPr lang="en-US" sz="120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21458"/>
            <a:ext cx="786384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676906"/>
            <a:ext cx="74066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owed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visitCost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copay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22097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left after the copay is applied.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— Total Spent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code 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173986"/>
            <a:ext cx="7863840" cy="347472"/>
          </a:xfrm>
          <a:prstGeom prst="rect">
            <a:avLst/>
          </a:prstGeom>
          <a:solidFill>
            <a:srgbClr val="3E2C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7398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Calculation.java</a:t>
            </a:r>
            <a:endParaRPr lang="en-US" sz="120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21458"/>
            <a:ext cx="786384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676906"/>
            <a:ext cx="74066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totalSpent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amountPaid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copay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22097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the member has paid so far.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+ with text (concatenation, not addition)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Forgetting to parse input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Typing $ in input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NumberFormat Refresher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code 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49958"/>
            <a:ext cx="7863840" cy="347472"/>
          </a:xfrm>
          <a:prstGeom prst="rect">
            <a:avLst/>
          </a:prstGeom>
          <a:solidFill>
            <a:srgbClr val="3E2C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4995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Formatting.java</a:t>
            </a:r>
            <a:endParaRPr lang="en-US" sz="120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297430"/>
            <a:ext cx="7863840" cy="1001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452878"/>
            <a:ext cx="740664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getCurrencyInstance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44500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formatter, reused for every value on screen.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Formatting Values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code 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173986"/>
            <a:ext cx="7863840" cy="347472"/>
          </a:xfrm>
          <a:prstGeom prst="rect">
            <a:avLst/>
          </a:prstGeom>
          <a:solidFill>
            <a:srgbClr val="3E2C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7398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Formatting.java</a:t>
            </a:r>
            <a:endParaRPr lang="en-US" sz="120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21458"/>
            <a:ext cx="786384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676906"/>
            <a:ext cx="74066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22097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format() returns a String — it does not change the double.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Output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tatem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82296" cy="237744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$1,500.00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2999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 separators, two decimals, and a currency symbol — automatically.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Formatting Matters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output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Readable reports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display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Setup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for a number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letters instead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 the crash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Snippet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code 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81962"/>
            <a:ext cx="7863840" cy="347472"/>
          </a:xfrm>
          <a:prstGeom prst="rect">
            <a:avLst/>
          </a:prstGeom>
          <a:solidFill>
            <a:srgbClr val="3E2C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8196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CrashDemo.java</a:t>
            </a:r>
            <a:endParaRPr lang="en-US" sz="120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29434"/>
            <a:ext cx="7863840" cy="1449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484882"/>
            <a:ext cx="7406640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1C7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a number: "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1C7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entered: "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Crash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tatem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82296" cy="237744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NumberFormatException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2999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Thrown the moment parseDouble() meets text that isn't a number.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Stack Trace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at the first line — the error type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input string that caused it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line number in CrashDemo.java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Setup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7863840" cy="644652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64008" cy="644652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54864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417320"/>
            <a:ext cx="685800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cost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208276"/>
            <a:ext cx="7863840" cy="644652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208276"/>
            <a:ext cx="64008" cy="644652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208276"/>
            <a:ext cx="54864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208276"/>
            <a:ext cx="685800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Copay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99232"/>
            <a:ext cx="7863840" cy="644652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99232"/>
            <a:ext cx="64008" cy="644652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999232"/>
            <a:ext cx="54864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2999232"/>
            <a:ext cx="685800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Deductible</a:t>
            </a:r>
            <a:endParaRPr lang="en-US" sz="1600" dirty="0"/>
          </a:p>
        </p:txBody>
      </p:sp>
      <p:sp>
        <p:nvSpPr>
          <p:cNvPr id="19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90188"/>
            <a:ext cx="7863840" cy="644652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90188"/>
            <a:ext cx="64008" cy="644652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3790188"/>
            <a:ext cx="54864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790188"/>
            <a:ext cx="685800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 paid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Snippet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code 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81962"/>
            <a:ext cx="7863840" cy="347472"/>
          </a:xfrm>
          <a:prstGeom prst="rect">
            <a:avLst/>
          </a:prstGeom>
          <a:solidFill>
            <a:srgbClr val="3E2C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8196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MultiCalcDemo.java</a:t>
            </a:r>
            <a:endParaRPr lang="en-US" sz="120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29434"/>
            <a:ext cx="7863840" cy="1449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484882"/>
            <a:ext cx="7406640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1C7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"Visit cost: "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visitCost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1C7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"Copay: "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copay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Calculations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Remaining deductible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 owed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spent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Formatted Output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code head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49958"/>
            <a:ext cx="7863840" cy="347472"/>
          </a:xfrm>
          <a:prstGeom prst="rect">
            <a:avLst/>
          </a:prstGeom>
          <a:solidFill>
            <a:srgbClr val="3E2C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4995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MultiCalcDemo.java</a:t>
            </a:r>
            <a:endParaRPr lang="en-US" sz="1200" dirty="0"/>
          </a:p>
        </p:txBody>
      </p:sp>
      <p:sp>
        <p:nvSpPr>
          <p:cNvPr id="9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297430"/>
            <a:ext cx="7863840" cy="1001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452878"/>
            <a:ext cx="740664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getCurrencyInstance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1C7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"Owed: "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owed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1C7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"Total: "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384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totalSpent</a:t>
            </a:r>
            <a:r>
              <a:rPr lang="en-US" sz="1250" dirty="0">
                <a:solidFill>
                  <a:srgbClr val="5A6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44500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money value goes through the formatter.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Crash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tatem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82296" cy="237744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input → NumberFormatException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2999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non-numeric entry stops the program before the report prints.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Continuation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project stands</a:t>
            </a:r>
            <a:endParaRPr lang="en-US" sz="1300" dirty="0"/>
          </a:p>
        </p:txBody>
      </p:sp>
      <p:sp>
        <p:nvSpPr>
          <p:cNvPr id="8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2487168" cy="246888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</a:t>
            </a:r>
            <a:endParaRPr lang="en-US" sz="1500" dirty="0"/>
          </a:p>
        </p:txBody>
      </p:sp>
      <p:sp>
        <p:nvSpPr>
          <p:cNvPr id="11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1645920"/>
            <a:ext cx="2487168" cy="246888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8416" y="19659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19856" y="251460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</a:t>
            </a:r>
            <a:endParaRPr lang="en-US" sz="1500" dirty="0"/>
          </a:p>
        </p:txBody>
      </p:sp>
      <p:sp>
        <p:nvSpPr>
          <p:cNvPr id="14" name="ste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6752" y="1645920"/>
            <a:ext cx="2487168" cy="246888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6752" y="19659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08192" y="251460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Inputs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121408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121408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12140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cost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99232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99232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99923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Copay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Calculations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121408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121408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12140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 owed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99232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99232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99923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spent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Output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121408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121408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12140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Formatted values for every dollar amount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99232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99232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99923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single, readable member summary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Crash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tatem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82296" cy="237744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input → NumberFormatException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2999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no protection against bad data — that's tomorrow's job.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Tomorrow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tatem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82296" cy="237744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fix crashes with try/catch.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2999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project, but it survives bad input.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Steps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417320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first line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50085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50085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050085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050085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file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682850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682850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682850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2682850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line</a:t>
            </a:r>
            <a:endParaRPr lang="en-US" sz="1600" dirty="0"/>
          </a:p>
        </p:txBody>
      </p:sp>
      <p:sp>
        <p:nvSpPr>
          <p:cNvPr id="19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15614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15614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3315614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315614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Reproduce the error</a:t>
            </a:r>
            <a:endParaRPr lang="en-US" sz="1600" dirty="0"/>
          </a:p>
        </p:txBody>
      </p:sp>
      <p:sp>
        <p:nvSpPr>
          <p:cNvPr id="23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48379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48379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3948379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3948379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nothing yet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Works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panic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Improves accuracy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confidence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Pitfalls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82496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Fixing too much at once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Ignoring the first message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7863840" cy="731520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38144"/>
            <a:ext cx="64008" cy="73152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381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reproducing the error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Mindset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tatem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82296" cy="237744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Calm, slow, deliberate.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2999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fastest debuggers are the ones who slow down first.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Setup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statem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82296" cy="237744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MemberBenefitsSummary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2999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the new inputs, the new calculations, and currency formatting.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417320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for visit cost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50085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50085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050085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050085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for copay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682850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682850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682850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2682850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amount owed</a:t>
            </a:r>
            <a:endParaRPr lang="en-US" sz="1600" dirty="0"/>
          </a:p>
        </p:txBody>
      </p:sp>
      <p:sp>
        <p:nvSpPr>
          <p:cNvPr id="19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15614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15614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3315614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315614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total spent</a:t>
            </a:r>
            <a:endParaRPr lang="en-US" sz="1600" dirty="0"/>
          </a:p>
        </p:txBody>
      </p:sp>
      <p:sp>
        <p:nvSpPr>
          <p:cNvPr id="23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48379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48379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3948379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3948379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all values as currency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Work Time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tatem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82296" cy="237744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3:00 – 5:00 PM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2999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 available for help throughout the session.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Learned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417320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errors</a:t>
            </a:r>
            <a:endParaRPr lang="en-US" sz="16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50085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050085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050085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050085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traces</a:t>
            </a:r>
            <a:endParaRPr lang="en-US" sz="16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682850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682850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682850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2682850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math with double</a:t>
            </a:r>
            <a:endParaRPr lang="en-US" sz="1600" dirty="0"/>
          </a:p>
        </p:txBody>
      </p:sp>
      <p:sp>
        <p:nvSpPr>
          <p:cNvPr id="19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15614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15614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3315614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315614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formatting</a:t>
            </a:r>
            <a:endParaRPr lang="en-US" sz="1600" dirty="0"/>
          </a:p>
        </p:txBody>
      </p:sp>
      <p:sp>
        <p:nvSpPr>
          <p:cNvPr id="23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48379"/>
            <a:ext cx="7863840" cy="486461"/>
          </a:xfrm>
          <a:prstGeom prst="rect">
            <a:avLst/>
          </a:prstGeom>
          <a:solidFill>
            <a:srgbClr val="F3EDE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48379"/>
            <a:ext cx="64008" cy="486461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3948379"/>
            <a:ext cx="5486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3948379"/>
            <a:ext cx="6858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expanded project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46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Tomorrow</a:t>
            </a:r>
            <a:endParaRPr lang="en-US" sz="2800" dirty="0"/>
          </a:p>
        </p:txBody>
      </p:sp>
      <p:sp>
        <p:nvSpPr>
          <p:cNvPr id="3" name="titl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822960" cy="41148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681728"/>
            <a:ext cx="7863840" cy="0"/>
          </a:xfrm>
          <a:prstGeom prst="line">
            <a:avLst/>
          </a:prstGeom>
          <a:noFill/>
          <a:ln w="12700">
            <a:solidFill>
              <a:srgbClr val="DC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Basics · 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statem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solidFill>
            <a:srgbClr val="1646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anel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82296" cy="2377440"/>
          </a:xfrm>
          <a:prstGeom prst="rect">
            <a:avLst/>
          </a:prstGeom>
          <a:solidFill>
            <a:srgbClr val="E76F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4: try/catch + validation + reusable methods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2999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F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stop the crashes and start structuring the code.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1525</Words>
  <Application>Microsoft Office PowerPoint</Application>
  <PresentationFormat>On-screen Show (16:9)</PresentationFormat>
  <Paragraphs>473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Consolas</vt:lpstr>
      <vt:lpstr>Segoe UI</vt:lpstr>
      <vt:lpstr>Office Theme</vt:lpstr>
      <vt:lpstr>Java Basics — Day 3</vt:lpstr>
      <vt:lpstr>Where Today Takes You</vt:lpstr>
      <vt:lpstr>Today's Flow</vt:lpstr>
      <vt:lpstr>Review of Day 2</vt:lpstr>
      <vt:lpstr>Compiler vs Runtime Errors</vt:lpstr>
      <vt:lpstr>What Causes Runtime Errors?</vt:lpstr>
      <vt:lpstr>NumberFormatException</vt:lpstr>
      <vt:lpstr>Example Crash</vt:lpstr>
      <vt:lpstr>Why We Crash on Purpose</vt:lpstr>
      <vt:lpstr>Key Idea</vt:lpstr>
      <vt:lpstr>What Is a Stack Trace?</vt:lpstr>
      <vt:lpstr>Stack Trace Structure</vt:lpstr>
      <vt:lpstr>Example Stack Trace</vt:lpstr>
      <vt:lpstr>How to Read It</vt:lpstr>
      <vt:lpstr>Common Mistakes</vt:lpstr>
      <vt:lpstr>Debugging Mindset</vt:lpstr>
      <vt:lpstr>Why double Matters</vt:lpstr>
      <vt:lpstr>Common Calculations</vt:lpstr>
      <vt:lpstr>Example — Remaining Deductible</vt:lpstr>
      <vt:lpstr>Example — Amount Owed</vt:lpstr>
      <vt:lpstr>Example — Total Spent</vt:lpstr>
      <vt:lpstr>Common Mistakes</vt:lpstr>
      <vt:lpstr>NumberFormat Refresher</vt:lpstr>
      <vt:lpstr>Formatting Values</vt:lpstr>
      <vt:lpstr>Example Output</vt:lpstr>
      <vt:lpstr>Why Formatting Matters</vt:lpstr>
      <vt:lpstr>Demo Setup</vt:lpstr>
      <vt:lpstr>Code Snippet</vt:lpstr>
      <vt:lpstr>Expected Crash</vt:lpstr>
      <vt:lpstr>Reading the Stack Trace</vt:lpstr>
      <vt:lpstr>Demo Setup</vt:lpstr>
      <vt:lpstr>Code Snippet</vt:lpstr>
      <vt:lpstr>Calculations</vt:lpstr>
      <vt:lpstr>Formatted Output</vt:lpstr>
      <vt:lpstr>Expected Crash</vt:lpstr>
      <vt:lpstr>Project Continuation</vt:lpstr>
      <vt:lpstr>New Inputs</vt:lpstr>
      <vt:lpstr>New Calculations</vt:lpstr>
      <vt:lpstr>Updated Output</vt:lpstr>
      <vt:lpstr>Expected Crash</vt:lpstr>
      <vt:lpstr>Tomorrow</vt:lpstr>
      <vt:lpstr>Debugging Steps</vt:lpstr>
      <vt:lpstr>Why This Works</vt:lpstr>
      <vt:lpstr>Common Pitfalls</vt:lpstr>
      <vt:lpstr>Debugging Mindset</vt:lpstr>
      <vt:lpstr>Project Setup</vt:lpstr>
      <vt:lpstr>Requirements</vt:lpstr>
      <vt:lpstr>Student Work Time</vt:lpstr>
      <vt:lpstr>What You Learned</vt:lpstr>
      <vt:lpstr>Tomorrow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Salter</dc:creator>
  <cp:lastModifiedBy>Jeff Salter</cp:lastModifiedBy>
  <cp:revision>1</cp:revision>
  <dcterms:created xsi:type="dcterms:W3CDTF">2026-08-17T01:59:23Z</dcterms:created>
  <dcterms:modified xsi:type="dcterms:W3CDTF">2026-08-17T02:08:19Z</dcterms:modified>
</cp:coreProperties>
</file>