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305" r:id="rId3"/>
    <p:sldId id="30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7"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99" d="100"/>
          <a:sy n="99" d="100"/>
        </p:scale>
        <p:origin x="192" y="7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330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message: keep the first few minutes calm. The chapter moves from single-class/procedural programs toward using multiple classes and objects to organize code. Emphasize that this is an organizational step, not a requirement to memorize everything at once.
[Sources]
- Chapter 7 source document provided by the instructor.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emphasis: these are the few ideas to keep in view while introducing the chapter. The chapter also covers constructors, getters and setters, static members, references, overloading, and this. Those details can be introduced as needed rather than presented as a wall of terms.
[Sources]
- Chapter 7 source document provided by the instructor.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C436A"/>
          </a:solidFill>
          <a:ln w="12700">
            <a:solidFill>
              <a:srgbClr val="0C436A"/>
            </a:solidFill>
            <a:prstDash val="solid"/>
          </a:ln>
        </p:spPr>
        <p:txBody>
          <a:bodyPr/>
          <a:lstStyle/>
          <a:p>
            <a:endParaRPr lang="en-US"/>
          </a:p>
        </p:txBody>
      </p:sp>
      <p:sp>
        <p:nvSpPr>
          <p:cNvPr id="3" name="Text 1"/>
          <p:cNvSpPr/>
          <p:nvPr/>
        </p:nvSpPr>
        <p:spPr>
          <a:xfrm>
            <a:off x="566928" y="6419088"/>
            <a:ext cx="2011680" cy="182880"/>
          </a:xfrm>
          <a:prstGeom prst="rect">
            <a:avLst/>
          </a:prstGeom>
          <a:noFill/>
          <a:ln/>
        </p:spPr>
        <p:txBody>
          <a:bodyPr wrap="square" lIns="0" tIns="0" rIns="0" bIns="0" rtlCol="0" anchor="ctr"/>
          <a:lstStyle/>
          <a:p>
            <a:pPr marL="0" indent="0">
              <a:buNone/>
            </a:pPr>
            <a:r>
              <a:rPr lang="en-US" sz="850" b="1">
                <a:solidFill>
                  <a:srgbClr val="96A0AA"/>
                </a:solidFill>
                <a:latin typeface="Aptos" pitchFamily="34" charset="0"/>
                <a:ea typeface="Aptos" pitchFamily="34" charset="-122"/>
                <a:cs typeface="Aptos" pitchFamily="34" charset="-120"/>
              </a:rPr>
              <a:t>INTRO TO JAVA</a:t>
            </a:r>
            <a:endParaRPr lang="en-US" sz="850"/>
          </a:p>
        </p:txBody>
      </p:sp>
      <p:sp>
        <p:nvSpPr>
          <p:cNvPr id="4" name="Text 2"/>
          <p:cNvSpPr/>
          <p:nvPr/>
        </p:nvSpPr>
        <p:spPr>
          <a:xfrm>
            <a:off x="9921240" y="6419088"/>
            <a:ext cx="1508760" cy="182880"/>
          </a:xfrm>
          <a:prstGeom prst="rect">
            <a:avLst/>
          </a:prstGeom>
          <a:noFill/>
          <a:ln/>
        </p:spPr>
        <p:txBody>
          <a:bodyPr wrap="square" lIns="0" tIns="0" rIns="0" bIns="0" rtlCol="0" anchor="ctr"/>
          <a:lstStyle/>
          <a:p>
            <a:pPr marL="0" indent="0" algn="r">
              <a:buNone/>
            </a:pPr>
            <a:r>
              <a:rPr lang="en-US" sz="850" b="1">
                <a:solidFill>
                  <a:srgbClr val="96A0AA"/>
                </a:solidFill>
                <a:latin typeface="Aptos" pitchFamily="34" charset="0"/>
                <a:ea typeface="Aptos" pitchFamily="34" charset="-122"/>
                <a:cs typeface="Aptos" pitchFamily="34" charset="-120"/>
              </a:rPr>
              <a:t>CHAPTER 7</a:t>
            </a:r>
            <a:endParaRPr lang="en-US" sz="850"/>
          </a:p>
        </p:txBody>
      </p:sp>
      <p:sp>
        <p:nvSpPr>
          <p:cNvPr id="25" name="Slide Number Placeholder 0"/>
          <p:cNvSpPr>
            <a:spLocks noGrp="1"/>
          </p:cNvSpPr>
          <p:nvPr>
            <p:ph type="sldNum" sz="quarter" idx="4294967295"/>
          </p:nvPr>
        </p:nvSpPr>
        <p:spPr>
          <a:xfrm>
            <a:off x="1156716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850">
                <a:solidFill>
                  <a:srgbClr val="A9B0B7"/>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4587354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32C6B"/>
          </a:solidFill>
          <a:ln/>
        </p:spPr>
        <p:txBody>
          <a:bodyPr/>
          <a:lstStyle/>
          <a:p>
            <a:endParaRPr lang="en-US"/>
          </a:p>
        </p:txBody>
      </p:sp>
      <p:sp>
        <p:nvSpPr>
          <p:cNvPr id="3" name="Shape 1"/>
          <p:cNvSpPr/>
          <p:nvPr/>
        </p:nvSpPr>
        <p:spPr>
          <a:xfrm>
            <a:off x="-1097280" y="4754880"/>
            <a:ext cx="2926080" cy="2926080"/>
          </a:xfrm>
          <a:prstGeom prst="ellipse">
            <a:avLst/>
          </a:prstGeom>
          <a:solidFill>
            <a:srgbClr val="141B4D"/>
          </a:solidFill>
          <a:ln/>
        </p:spPr>
        <p:txBody>
          <a:bodyPr/>
          <a:lstStyle/>
          <a:p>
            <a:endParaRPr lang="en-US"/>
          </a:p>
        </p:txBody>
      </p:sp>
      <p:sp>
        <p:nvSpPr>
          <p:cNvPr id="4" name="Text 2"/>
          <p:cNvSpPr/>
          <p:nvPr/>
        </p:nvSpPr>
        <p:spPr>
          <a:xfrm>
            <a:off x="548640" y="137160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HANDS-ON CODING COURSE</a:t>
            </a:r>
            <a:endParaRPr lang="en-US" sz="1200" dirty="0"/>
          </a:p>
        </p:txBody>
      </p:sp>
      <p:sp>
        <p:nvSpPr>
          <p:cNvPr id="5" name="Text 3"/>
          <p:cNvSpPr/>
          <p:nvPr/>
        </p:nvSpPr>
        <p:spPr>
          <a:xfrm>
            <a:off x="548640" y="1737360"/>
            <a:ext cx="8686800" cy="155448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Classes and Objects — The</a:t>
            </a:r>
            <a:endParaRPr lang="en-US" sz="3400" dirty="0"/>
          </a:p>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Script Becomes a Member Class</a:t>
            </a:r>
            <a:endParaRPr lang="en-US" sz="3400" dirty="0"/>
          </a:p>
        </p:txBody>
      </p:sp>
      <p:sp>
        <p:nvSpPr>
          <p:cNvPr id="6" name="Text 4"/>
          <p:cNvSpPr/>
          <p:nvPr/>
        </p:nvSpPr>
        <p:spPr>
          <a:xfrm>
            <a:off x="548640" y="3246120"/>
            <a:ext cx="6583680" cy="640080"/>
          </a:xfrm>
          <a:prstGeom prst="rect">
            <a:avLst/>
          </a:prstGeom>
          <a:noFill/>
          <a:ln/>
        </p:spPr>
        <p:txBody>
          <a:bodyPr wrap="square" lIns="0" tIns="0" rIns="0" bIns="0" rtlCol="0" anchor="ctr"/>
          <a:lstStyle/>
          <a:p>
            <a:pPr marL="0" indent="0">
              <a:lnSpc>
                <a:spcPct val="120000"/>
              </a:lnSpc>
              <a:buNone/>
            </a:pPr>
            <a:r>
              <a:rPr lang="en-US" sz="1800">
                <a:solidFill>
                  <a:srgbClr val="CADCFC"/>
                </a:solidFill>
                <a:latin typeface="Calibri" pitchFamily="34" charset="0"/>
                <a:ea typeface="Calibri" pitchFamily="34" charset="-122"/>
                <a:cs typeface="Calibri" pitchFamily="34" charset="-120"/>
              </a:rPr>
              <a:t>The single biggest jump in the course: grouping data and the behavior that acts on it into one reusable object.</a:t>
            </a:r>
            <a:endParaRPr lang="en-US" sz="1800"/>
          </a:p>
        </p:txBody>
      </p:sp>
      <p:sp>
        <p:nvSpPr>
          <p:cNvPr id="7" name="Text 5"/>
          <p:cNvSpPr/>
          <p:nvPr/>
        </p:nvSpPr>
        <p:spPr>
          <a:xfrm>
            <a:off x="548640" y="6263640"/>
            <a:ext cx="3657600" cy="27432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Friday, August 21,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548640" y="320040"/>
            <a:ext cx="7315200" cy="292608"/>
          </a:xfrm>
          <a:prstGeom prst="rect">
            <a:avLst/>
          </a:prstGeom>
          <a:noFill/>
          <a:ln/>
        </p:spPr>
        <p:txBody>
          <a:bodyPr wrap="square" lIns="0" tIns="0" rIns="0" bIns="0" rtlCol="0" anchor="ctr"/>
          <a:lstStyle/>
          <a:p>
            <a:pPr marL="0" indent="0">
              <a:lnSpc>
                <a:spcPct val="112000"/>
              </a:lnSpc>
              <a:spcAft>
                <a:spcPts val="0"/>
              </a:spcAft>
              <a:buNone/>
            </a:pPr>
            <a:r>
              <a:rPr lang="en-US" sz="1200" b="1" kern="0" spc="120">
                <a:solidFill>
                  <a:srgbClr val="868E96"/>
                </a:solidFill>
                <a:latin typeface="Calibri" pitchFamily="34" charset="0"/>
                <a:ea typeface="Calibri" pitchFamily="34" charset="-122"/>
                <a:cs typeface="Calibri" pitchFamily="34" charset="-120"/>
              </a:rPr>
              <a:t>CHAPTER 7 OVERVIEW</a:t>
            </a:r>
            <a:endParaRPr lang="en-US" sz="1200"/>
          </a:p>
        </p:txBody>
      </p:sp>
      <p:sp>
        <p:nvSpPr>
          <p:cNvPr id="3" name="Title"/>
          <p:cNvSpPr/>
          <p:nvPr/>
        </p:nvSpPr>
        <p:spPr>
          <a:xfrm>
            <a:off x="548640" y="566928"/>
            <a:ext cx="11094415" cy="566928"/>
          </a:xfrm>
          <a:prstGeom prst="rect">
            <a:avLst/>
          </a:prstGeom>
          <a:noFill/>
          <a:ln/>
        </p:spPr>
        <p:txBody>
          <a:bodyPr wrap="square" lIns="0" tIns="0" rIns="0" bIns="0" rtlCol="0" anchor="ctr"/>
          <a:lstStyle/>
          <a:p>
            <a:pPr marL="0" indent="0">
              <a:lnSpc>
                <a:spcPct val="112000"/>
              </a:lnSpc>
              <a:spcAft>
                <a:spcPts val="0"/>
              </a:spcAft>
              <a:buNone/>
            </a:pPr>
            <a:r>
              <a:rPr lang="en-US" sz="2600" b="1">
                <a:solidFill>
                  <a:srgbClr val="1E2761"/>
                </a:solidFill>
                <a:latin typeface="Cambria" pitchFamily="34" charset="0"/>
                <a:ea typeface="Cambria" pitchFamily="34" charset="-122"/>
                <a:cs typeface="Cambria" pitchFamily="34" charset="-120"/>
              </a:rPr>
              <a:t>A Different Way to Think About Java</a:t>
            </a:r>
            <a:endParaRPr lang="en-US" sz="2600"/>
          </a:p>
        </p:txBody>
      </p:sp>
      <p:sp>
        <p:nvSpPr>
          <p:cNvPr id="4" name="Rule"/>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Lede"/>
          <p:cNvSpPr/>
          <p:nvPr/>
        </p:nvSpPr>
        <p:spPr>
          <a:xfrm>
            <a:off x="548640" y="1417320"/>
            <a:ext cx="11094415" cy="640080"/>
          </a:xfrm>
          <a:prstGeom prst="rect">
            <a:avLst/>
          </a:prstGeom>
          <a:noFill/>
          <a:ln/>
        </p:spPr>
        <p:txBody>
          <a:bodyPr wrap="square" lIns="0" tIns="0" rIns="0" bIns="0" rtlCol="0" anchor="ctr"/>
          <a:lstStyle/>
          <a:p>
            <a:pPr marL="0" indent="0">
              <a:lnSpc>
                <a:spcPct val="112000"/>
              </a:lnSpc>
              <a:spcAft>
                <a:spcPts val="0"/>
              </a:spcAft>
              <a:buNone/>
            </a:pPr>
            <a:r>
              <a:rPr lang="en-US" sz="1800">
                <a:solidFill>
                  <a:srgbClr val="1E2761"/>
                </a:solidFill>
                <a:latin typeface="Cambria" pitchFamily="34" charset="0"/>
                <a:ea typeface="Cambria" pitchFamily="34" charset="-122"/>
                <a:cs typeface="Cambria" pitchFamily="34" charset="-120"/>
              </a:rPr>
              <a:t>You already know how to write Java. This chapter is about organizing it.</a:t>
            </a:r>
            <a:endParaRPr lang="en-US" sz="1800"/>
          </a:p>
        </p:txBody>
      </p:sp>
      <p:sp>
        <p:nvSpPr>
          <p:cNvPr id="6" name="LabelA"/>
          <p:cNvSpPr/>
          <p:nvPr/>
        </p:nvSpPr>
        <p:spPr>
          <a:xfrm>
            <a:off x="548640" y="2286000"/>
            <a:ext cx="5349240" cy="300000"/>
          </a:xfrm>
          <a:prstGeom prst="rect">
            <a:avLst/>
          </a:prstGeom>
          <a:noFill/>
          <a:ln/>
        </p:spPr>
        <p:txBody>
          <a:bodyPr wrap="square" lIns="0" tIns="0" rIns="0" bIns="0" rtlCol="0" anchor="ctr"/>
          <a:lstStyle/>
          <a:p>
            <a:pPr marL="0" indent="0">
              <a:lnSpc>
                <a:spcPct val="112000"/>
              </a:lnSpc>
              <a:spcAft>
                <a:spcPts val="0"/>
              </a:spcAft>
              <a:buNone/>
            </a:pPr>
            <a:r>
              <a:rPr lang="en-US" sz="1300" b="1" kern="0" spc="80">
                <a:solidFill>
                  <a:srgbClr val="868E96"/>
                </a:solidFill>
                <a:latin typeface="Calibri" pitchFamily="34" charset="0"/>
                <a:ea typeface="Calibri" pitchFamily="34" charset="-122"/>
                <a:cs typeface="Calibri" pitchFamily="34" charset="-120"/>
              </a:rPr>
              <a:t>WHERE WE HAVE BEEN</a:t>
            </a:r>
            <a:endParaRPr lang="en-US" sz="1300"/>
          </a:p>
        </p:txBody>
      </p:sp>
      <p:sp>
        <p:nvSpPr>
          <p:cNvPr id="7" name="ColA"/>
          <p:cNvSpPr/>
          <p:nvPr/>
        </p:nvSpPr>
        <p:spPr>
          <a:xfrm>
            <a:off x="548640" y="2712720"/>
            <a:ext cx="5349240" cy="2700000"/>
          </a:xfrm>
          <a:prstGeom prst="rect">
            <a:avLst/>
          </a:prstGeom>
          <a:noFill/>
          <a:ln/>
        </p:spPr>
        <p:txBody>
          <a:bodyPr wrap="square" lIns="0" tIns="0" rIns="0" bIns="0" rtlCol="0" anchor="t"/>
          <a:lstStyle/>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Most of our work has lived inside one class.</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One file did the reading, the math, and the printing.</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That works until the program grows.</a:t>
            </a:r>
            <a:endParaRPr lang="en-US" sz="1800"/>
          </a:p>
        </p:txBody>
      </p:sp>
      <p:sp>
        <p:nvSpPr>
          <p:cNvPr id="8" name="LabelB"/>
          <p:cNvSpPr/>
          <p:nvPr/>
        </p:nvSpPr>
        <p:spPr>
          <a:xfrm>
            <a:off x="6263640" y="2286000"/>
            <a:ext cx="5349240" cy="300000"/>
          </a:xfrm>
          <a:prstGeom prst="rect">
            <a:avLst/>
          </a:prstGeom>
          <a:noFill/>
          <a:ln/>
        </p:spPr>
        <p:txBody>
          <a:bodyPr wrap="square" lIns="0" tIns="0" rIns="0" bIns="0" rtlCol="0" anchor="ctr"/>
          <a:lstStyle/>
          <a:p>
            <a:pPr marL="0" indent="0">
              <a:lnSpc>
                <a:spcPct val="112000"/>
              </a:lnSpc>
              <a:spcAft>
                <a:spcPts val="0"/>
              </a:spcAft>
              <a:buNone/>
            </a:pPr>
            <a:r>
              <a:rPr lang="en-US" sz="1300" b="1" kern="0" spc="80">
                <a:solidFill>
                  <a:srgbClr val="868E96"/>
                </a:solidFill>
                <a:latin typeface="Calibri" pitchFamily="34" charset="0"/>
                <a:ea typeface="Calibri" pitchFamily="34" charset="-122"/>
                <a:cs typeface="Calibri" pitchFamily="34" charset="-120"/>
              </a:rPr>
              <a:t>WHERE THIS CHAPTER GOES</a:t>
            </a:r>
            <a:endParaRPr lang="en-US" sz="1300"/>
          </a:p>
        </p:txBody>
      </p:sp>
      <p:sp>
        <p:nvSpPr>
          <p:cNvPr id="9" name="ColB"/>
          <p:cNvSpPr/>
          <p:nvPr/>
        </p:nvSpPr>
        <p:spPr>
          <a:xfrm>
            <a:off x="6263640" y="2712720"/>
            <a:ext cx="5349240" cy="2700000"/>
          </a:xfrm>
          <a:prstGeom prst="rect">
            <a:avLst/>
          </a:prstGeom>
          <a:noFill/>
          <a:ln/>
        </p:spPr>
        <p:txBody>
          <a:bodyPr wrap="square" lIns="0" tIns="0" rIns="0" bIns="0" rtlCol="0" anchor="t"/>
          <a:lstStyle/>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We divide a program into smaller pieces.</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Each piece is given one clear job.</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That is the basic idea behind classes and objects.</a:t>
            </a:r>
            <a:endParaRPr lang="en-US" sz="1800"/>
          </a:p>
        </p:txBody>
      </p:sp>
      <p:sp>
        <p:nvSpPr>
          <p:cNvPr id="10" name="Rule"/>
          <p:cNvSpPr/>
          <p:nvPr/>
        </p:nvSpPr>
        <p:spPr>
          <a:xfrm>
            <a:off x="548640" y="5638800"/>
            <a:ext cx="11094415" cy="0"/>
          </a:xfrm>
          <a:prstGeom prst="line">
            <a:avLst/>
          </a:prstGeom>
          <a:noFill/>
          <a:ln w="12700">
            <a:solidFill>
              <a:srgbClr val="E4E7F0"/>
            </a:solidFill>
            <a:prstDash val="solid"/>
          </a:ln>
        </p:spPr>
        <p:txBody>
          <a:bodyPr/>
          <a:lstStyle/>
          <a:p>
            <a:endParaRPr lang="en-US"/>
          </a:p>
        </p:txBody>
      </p:sp>
      <p:sp>
        <p:nvSpPr>
          <p:cNvPr id="11" name="Close"/>
          <p:cNvSpPr/>
          <p:nvPr/>
        </p:nvSpPr>
        <p:spPr>
          <a:xfrm>
            <a:off x="548640" y="5852160"/>
            <a:ext cx="11094415" cy="500000"/>
          </a:xfrm>
          <a:prstGeom prst="rect">
            <a:avLst/>
          </a:prstGeom>
          <a:noFill/>
          <a:ln/>
        </p:spPr>
        <p:txBody>
          <a:bodyPr wrap="square" lIns="0" tIns="0" rIns="0" bIns="0" rtlCol="0" anchor="ctr"/>
          <a:lstStyle/>
          <a:p>
            <a:pPr marL="0" indent="0">
              <a:lnSpc>
                <a:spcPct val="112000"/>
              </a:lnSpc>
              <a:spcAft>
                <a:spcPts val="0"/>
              </a:spcAft>
              <a:buNone/>
            </a:pPr>
            <a:r>
              <a:rPr lang="en-US" sz="1600" b="1">
                <a:solidFill>
                  <a:srgbClr val="1E2761"/>
                </a:solidFill>
                <a:latin typeface="Cambria" pitchFamily="34" charset="0"/>
                <a:ea typeface="Cambria" pitchFamily="34" charset="-122"/>
                <a:cs typeface="Cambria" pitchFamily="34" charset="-120"/>
              </a:rPr>
              <a:t>You do not need to learn everything at once — we build this one idea at a time.</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p:bg>
      <p:bgPr>
        <a:solidFill>
          <a:srgbClr val="FFFFFF"/>
        </a:solidFill>
        <a:effectLst/>
      </p:bgPr>
    </p:bg>
    <p:spTree>
      <p:nvGrpSpPr>
        <p:cNvPr id="1" name=""/>
        <p:cNvGrpSpPr/>
        <p:nvPr/>
      </p:nvGrpSpPr>
      <p:grpSpPr>
        <a:xfrm>
          <a:off x="0" y="0"/>
          <a:ext cx="0" cy="0"/>
          <a:chOff x="0" y="0"/>
          <a:chExt cx="0" cy="0"/>
        </a:xfrm>
      </p:grpSpPr>
      <p:sp>
        <p:nvSpPr>
          <p:cNvPr id="2" name="Eyebrow"/>
          <p:cNvSpPr/>
          <p:nvPr/>
        </p:nvSpPr>
        <p:spPr>
          <a:xfrm>
            <a:off x="548640" y="320040"/>
            <a:ext cx="7315200" cy="292608"/>
          </a:xfrm>
          <a:prstGeom prst="rect">
            <a:avLst/>
          </a:prstGeom>
          <a:noFill/>
          <a:ln/>
        </p:spPr>
        <p:txBody>
          <a:bodyPr wrap="square" lIns="0" tIns="0" rIns="0" bIns="0" rtlCol="0" anchor="ctr"/>
          <a:lstStyle/>
          <a:p>
            <a:pPr marL="0" indent="0">
              <a:lnSpc>
                <a:spcPct val="112000"/>
              </a:lnSpc>
              <a:spcAft>
                <a:spcPts val="0"/>
              </a:spcAft>
              <a:buNone/>
            </a:pPr>
            <a:r>
              <a:rPr lang="en-US" sz="1200" b="1" kern="0" spc="120">
                <a:solidFill>
                  <a:srgbClr val="868E96"/>
                </a:solidFill>
                <a:latin typeface="Calibri" pitchFamily="34" charset="0"/>
                <a:ea typeface="Calibri" pitchFamily="34" charset="-122"/>
                <a:cs typeface="Calibri" pitchFamily="34" charset="-120"/>
              </a:rPr>
              <a:t>KEY TERMS</a:t>
            </a:r>
            <a:endParaRPr lang="en-US" sz="1200"/>
          </a:p>
        </p:txBody>
      </p:sp>
      <p:sp>
        <p:nvSpPr>
          <p:cNvPr id="3" name="Title"/>
          <p:cNvSpPr/>
          <p:nvPr/>
        </p:nvSpPr>
        <p:spPr>
          <a:xfrm>
            <a:off x="548640" y="566928"/>
            <a:ext cx="11094415" cy="566928"/>
          </a:xfrm>
          <a:prstGeom prst="rect">
            <a:avLst/>
          </a:prstGeom>
          <a:noFill/>
          <a:ln/>
        </p:spPr>
        <p:txBody>
          <a:bodyPr wrap="square" lIns="0" tIns="0" rIns="0" bIns="0" rtlCol="0" anchor="ctr"/>
          <a:lstStyle/>
          <a:p>
            <a:pPr marL="0" indent="0">
              <a:lnSpc>
                <a:spcPct val="112000"/>
              </a:lnSpc>
              <a:spcAft>
                <a:spcPts val="0"/>
              </a:spcAft>
              <a:buNone/>
            </a:pPr>
            <a:r>
              <a:rPr lang="en-US" sz="2600" b="1">
                <a:solidFill>
                  <a:srgbClr val="1E2761"/>
                </a:solidFill>
                <a:latin typeface="Cambria" pitchFamily="34" charset="0"/>
                <a:ea typeface="Cambria" pitchFamily="34" charset="-122"/>
                <a:cs typeface="Cambria" pitchFamily="34" charset="-120"/>
              </a:rPr>
              <a:t>The Pieces You Are About to Meet</a:t>
            </a:r>
            <a:endParaRPr lang="en-US" sz="2600"/>
          </a:p>
        </p:txBody>
      </p:sp>
      <p:sp>
        <p:nvSpPr>
          <p:cNvPr id="4" name="Rule"/>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Lede"/>
          <p:cNvSpPr/>
          <p:nvPr/>
        </p:nvSpPr>
        <p:spPr>
          <a:xfrm>
            <a:off x="548640" y="1417320"/>
            <a:ext cx="11094415" cy="500000"/>
          </a:xfrm>
          <a:prstGeom prst="rect">
            <a:avLst/>
          </a:prstGeom>
          <a:noFill/>
          <a:ln/>
        </p:spPr>
        <p:txBody>
          <a:bodyPr wrap="square" lIns="0" tIns="0" rIns="0" bIns="0" rtlCol="0" anchor="ctr"/>
          <a:lstStyle/>
          <a:p>
            <a:pPr marL="0" indent="0">
              <a:lnSpc>
                <a:spcPct val="112000"/>
              </a:lnSpc>
              <a:spcAft>
                <a:spcPts val="0"/>
              </a:spcAft>
              <a:buNone/>
            </a:pPr>
            <a:r>
              <a:rPr lang="en-US" sz="1800">
                <a:solidFill>
                  <a:srgbClr val="1E2761"/>
                </a:solidFill>
                <a:latin typeface="Cambria" pitchFamily="34" charset="0"/>
                <a:ea typeface="Cambria" pitchFamily="34" charset="-122"/>
                <a:cs typeface="Cambria" pitchFamily="34" charset="-120"/>
              </a:rPr>
              <a:t>There are several new terms, but they fit together in a simple way.</a:t>
            </a:r>
            <a:endParaRPr lang="en-US" sz="1800"/>
          </a:p>
        </p:txBody>
      </p:sp>
      <p:sp>
        <p:nvSpPr>
          <p:cNvPr id="6" name="Term0"/>
          <p:cNvSpPr/>
          <p:nvPr/>
        </p:nvSpPr>
        <p:spPr>
          <a:xfrm>
            <a:off x="548640" y="2103120"/>
            <a:ext cx="5349240" cy="340000"/>
          </a:xfrm>
          <a:prstGeom prst="rect">
            <a:avLst/>
          </a:prstGeom>
          <a:noFill/>
          <a:ln/>
        </p:spPr>
        <p:txBody>
          <a:bodyPr wrap="square" lIns="0" tIns="0" rIns="0" bIns="0" rtlCol="0" anchor="ctr"/>
          <a:lstStyle/>
          <a:p>
            <a:pPr marL="0" indent="0">
              <a:lnSpc>
                <a:spcPct val="112000"/>
              </a:lnSpc>
              <a:spcAft>
                <a:spcPts val="0"/>
              </a:spcAft>
              <a:buNone/>
            </a:pPr>
            <a:r>
              <a:rPr lang="en-US" sz="1800" b="1">
                <a:solidFill>
                  <a:srgbClr val="1E2761"/>
                </a:solidFill>
                <a:latin typeface="Cambria" pitchFamily="34" charset="0"/>
                <a:ea typeface="Cambria" pitchFamily="34" charset="-122"/>
                <a:cs typeface="Cambria" pitchFamily="34" charset="-120"/>
              </a:rPr>
              <a:t>CLASS</a:t>
            </a:r>
            <a:endParaRPr lang="en-US" sz="1800"/>
          </a:p>
        </p:txBody>
      </p:sp>
      <p:sp>
        <p:nvSpPr>
          <p:cNvPr id="7" name="Def0"/>
          <p:cNvSpPr/>
          <p:nvPr/>
        </p:nvSpPr>
        <p:spPr>
          <a:xfrm>
            <a:off x="548640" y="2503120"/>
            <a:ext cx="5349240" cy="1000000"/>
          </a:xfrm>
          <a:prstGeom prst="rect">
            <a:avLst/>
          </a:prstGeom>
          <a:noFill/>
          <a:ln/>
        </p:spPr>
        <p:txBody>
          <a:bodyPr wrap="square" lIns="0" tIns="0" rIns="0" bIns="0" rtlCol="0" anchor="t"/>
          <a:lstStyle/>
          <a:p>
            <a:pPr marL="0" indent="0">
              <a:lnSpc>
                <a:spcPct val="112000"/>
              </a:lnSpc>
              <a:spcAft>
                <a:spcPts val="0"/>
              </a:spcAft>
              <a:buNone/>
            </a:pPr>
            <a:r>
              <a:rPr lang="en-US" sz="1800">
                <a:solidFill>
                  <a:srgbClr val="22242E"/>
                </a:solidFill>
                <a:latin typeface="Calibri" pitchFamily="34" charset="0"/>
                <a:ea typeface="Calibri" pitchFamily="34" charset="-122"/>
                <a:cs typeface="Calibri" pitchFamily="34" charset="-120"/>
              </a:rPr>
              <a:t>A blueprint that describes what something contains and can do.</a:t>
            </a:r>
            <a:endParaRPr lang="en-US" sz="1800"/>
          </a:p>
        </p:txBody>
      </p:sp>
      <p:sp>
        <p:nvSpPr>
          <p:cNvPr id="8" name="Rule"/>
          <p:cNvSpPr/>
          <p:nvPr/>
        </p:nvSpPr>
        <p:spPr>
          <a:xfrm>
            <a:off x="548640" y="2463120"/>
            <a:ext cx="5349240" cy="0"/>
          </a:xfrm>
          <a:prstGeom prst="line">
            <a:avLst/>
          </a:prstGeom>
          <a:noFill/>
          <a:ln w="12700">
            <a:solidFill>
              <a:srgbClr val="E4E7F0"/>
            </a:solidFill>
            <a:prstDash val="solid"/>
          </a:ln>
        </p:spPr>
        <p:txBody>
          <a:bodyPr/>
          <a:lstStyle/>
          <a:p>
            <a:endParaRPr lang="en-US"/>
          </a:p>
        </p:txBody>
      </p:sp>
      <p:sp>
        <p:nvSpPr>
          <p:cNvPr id="9" name="Term1"/>
          <p:cNvSpPr/>
          <p:nvPr/>
        </p:nvSpPr>
        <p:spPr>
          <a:xfrm>
            <a:off x="6263640" y="2103120"/>
            <a:ext cx="5349240" cy="340000"/>
          </a:xfrm>
          <a:prstGeom prst="rect">
            <a:avLst/>
          </a:prstGeom>
          <a:noFill/>
          <a:ln/>
        </p:spPr>
        <p:txBody>
          <a:bodyPr wrap="square" lIns="0" tIns="0" rIns="0" bIns="0" rtlCol="0" anchor="ctr"/>
          <a:lstStyle/>
          <a:p>
            <a:pPr marL="0" indent="0">
              <a:lnSpc>
                <a:spcPct val="112000"/>
              </a:lnSpc>
              <a:spcAft>
                <a:spcPts val="0"/>
              </a:spcAft>
              <a:buNone/>
            </a:pPr>
            <a:r>
              <a:rPr lang="en-US" sz="1800" b="1">
                <a:solidFill>
                  <a:srgbClr val="1E2761"/>
                </a:solidFill>
                <a:latin typeface="Cambria" pitchFamily="34" charset="0"/>
                <a:ea typeface="Cambria" pitchFamily="34" charset="-122"/>
                <a:cs typeface="Cambria" pitchFamily="34" charset="-120"/>
              </a:rPr>
              <a:t>OBJECT</a:t>
            </a:r>
            <a:endParaRPr lang="en-US" sz="1800"/>
          </a:p>
        </p:txBody>
      </p:sp>
      <p:sp>
        <p:nvSpPr>
          <p:cNvPr id="10" name="Def1"/>
          <p:cNvSpPr/>
          <p:nvPr/>
        </p:nvSpPr>
        <p:spPr>
          <a:xfrm>
            <a:off x="6263640" y="2503120"/>
            <a:ext cx="5349240" cy="1000000"/>
          </a:xfrm>
          <a:prstGeom prst="rect">
            <a:avLst/>
          </a:prstGeom>
          <a:noFill/>
          <a:ln/>
        </p:spPr>
        <p:txBody>
          <a:bodyPr wrap="square" lIns="0" tIns="0" rIns="0" bIns="0" rtlCol="0" anchor="t"/>
          <a:lstStyle/>
          <a:p>
            <a:pPr marL="0" indent="0">
              <a:lnSpc>
                <a:spcPct val="112000"/>
              </a:lnSpc>
              <a:spcAft>
                <a:spcPts val="0"/>
              </a:spcAft>
              <a:buNone/>
            </a:pPr>
            <a:r>
              <a:rPr lang="en-US" sz="1800">
                <a:solidFill>
                  <a:srgbClr val="22242E"/>
                </a:solidFill>
                <a:latin typeface="Calibri" pitchFamily="34" charset="0"/>
                <a:ea typeface="Calibri" pitchFamily="34" charset="-122"/>
                <a:cs typeface="Calibri" pitchFamily="34" charset="-120"/>
              </a:rPr>
              <a:t>A real instance created from a class.</a:t>
            </a:r>
            <a:endParaRPr lang="en-US" sz="1800"/>
          </a:p>
        </p:txBody>
      </p:sp>
      <p:sp>
        <p:nvSpPr>
          <p:cNvPr id="11" name="Rule"/>
          <p:cNvSpPr/>
          <p:nvPr/>
        </p:nvSpPr>
        <p:spPr>
          <a:xfrm>
            <a:off x="6263640" y="2463120"/>
            <a:ext cx="5349240" cy="0"/>
          </a:xfrm>
          <a:prstGeom prst="line">
            <a:avLst/>
          </a:prstGeom>
          <a:noFill/>
          <a:ln w="12700">
            <a:solidFill>
              <a:srgbClr val="E4E7F0"/>
            </a:solidFill>
            <a:prstDash val="solid"/>
          </a:ln>
        </p:spPr>
        <p:txBody>
          <a:bodyPr/>
          <a:lstStyle/>
          <a:p>
            <a:endParaRPr lang="en-US"/>
          </a:p>
        </p:txBody>
      </p:sp>
      <p:sp>
        <p:nvSpPr>
          <p:cNvPr id="12" name="Term2"/>
          <p:cNvSpPr/>
          <p:nvPr/>
        </p:nvSpPr>
        <p:spPr>
          <a:xfrm>
            <a:off x="548640" y="3931920"/>
            <a:ext cx="5349240" cy="340000"/>
          </a:xfrm>
          <a:prstGeom prst="rect">
            <a:avLst/>
          </a:prstGeom>
          <a:noFill/>
          <a:ln/>
        </p:spPr>
        <p:txBody>
          <a:bodyPr wrap="square" lIns="0" tIns="0" rIns="0" bIns="0" rtlCol="0" anchor="ctr"/>
          <a:lstStyle/>
          <a:p>
            <a:pPr marL="0" indent="0">
              <a:lnSpc>
                <a:spcPct val="112000"/>
              </a:lnSpc>
              <a:spcAft>
                <a:spcPts val="0"/>
              </a:spcAft>
              <a:buNone/>
            </a:pPr>
            <a:r>
              <a:rPr lang="en-US" sz="1800" b="1">
                <a:solidFill>
                  <a:srgbClr val="1E2761"/>
                </a:solidFill>
                <a:latin typeface="Cambria" pitchFamily="34" charset="0"/>
                <a:ea typeface="Cambria" pitchFamily="34" charset="-122"/>
                <a:cs typeface="Cambria" pitchFamily="34" charset="-120"/>
              </a:rPr>
              <a:t>METHOD</a:t>
            </a:r>
            <a:endParaRPr lang="en-US" sz="1800"/>
          </a:p>
        </p:txBody>
      </p:sp>
      <p:sp>
        <p:nvSpPr>
          <p:cNvPr id="13" name="Def2"/>
          <p:cNvSpPr/>
          <p:nvPr/>
        </p:nvSpPr>
        <p:spPr>
          <a:xfrm>
            <a:off x="548640" y="4331920"/>
            <a:ext cx="5349240" cy="1000000"/>
          </a:xfrm>
          <a:prstGeom prst="rect">
            <a:avLst/>
          </a:prstGeom>
          <a:noFill/>
          <a:ln/>
        </p:spPr>
        <p:txBody>
          <a:bodyPr wrap="square" lIns="0" tIns="0" rIns="0" bIns="0" rtlCol="0" anchor="t"/>
          <a:lstStyle/>
          <a:p>
            <a:pPr marL="0" indent="0">
              <a:lnSpc>
                <a:spcPct val="112000"/>
              </a:lnSpc>
              <a:spcAft>
                <a:spcPts val="0"/>
              </a:spcAft>
              <a:buNone/>
            </a:pPr>
            <a:r>
              <a:rPr lang="en-US" sz="1800">
                <a:solidFill>
                  <a:srgbClr val="22242E"/>
                </a:solidFill>
                <a:latin typeface="Calibri" pitchFamily="34" charset="0"/>
                <a:ea typeface="Calibri" pitchFamily="34" charset="-122"/>
                <a:cs typeface="Calibri" pitchFamily="34" charset="-120"/>
              </a:rPr>
              <a:t>A piece of code that performs a job or returns information.</a:t>
            </a:r>
            <a:endParaRPr lang="en-US" sz="1800"/>
          </a:p>
        </p:txBody>
      </p:sp>
      <p:sp>
        <p:nvSpPr>
          <p:cNvPr id="14" name="Rule"/>
          <p:cNvSpPr/>
          <p:nvPr/>
        </p:nvSpPr>
        <p:spPr>
          <a:xfrm>
            <a:off x="548640" y="4291920"/>
            <a:ext cx="5349240" cy="0"/>
          </a:xfrm>
          <a:prstGeom prst="line">
            <a:avLst/>
          </a:prstGeom>
          <a:noFill/>
          <a:ln w="12700">
            <a:solidFill>
              <a:srgbClr val="E4E7F0"/>
            </a:solidFill>
            <a:prstDash val="solid"/>
          </a:ln>
        </p:spPr>
        <p:txBody>
          <a:bodyPr/>
          <a:lstStyle/>
          <a:p>
            <a:endParaRPr lang="en-US"/>
          </a:p>
        </p:txBody>
      </p:sp>
      <p:sp>
        <p:nvSpPr>
          <p:cNvPr id="15" name="Term3"/>
          <p:cNvSpPr/>
          <p:nvPr/>
        </p:nvSpPr>
        <p:spPr>
          <a:xfrm>
            <a:off x="6263640" y="3931920"/>
            <a:ext cx="5349240" cy="340000"/>
          </a:xfrm>
          <a:prstGeom prst="rect">
            <a:avLst/>
          </a:prstGeom>
          <a:noFill/>
          <a:ln/>
        </p:spPr>
        <p:txBody>
          <a:bodyPr wrap="square" lIns="0" tIns="0" rIns="0" bIns="0" rtlCol="0" anchor="ctr"/>
          <a:lstStyle/>
          <a:p>
            <a:pPr marL="0" indent="0">
              <a:lnSpc>
                <a:spcPct val="112000"/>
              </a:lnSpc>
              <a:spcAft>
                <a:spcPts val="0"/>
              </a:spcAft>
              <a:buNone/>
            </a:pPr>
            <a:r>
              <a:rPr lang="en-US" sz="1800" b="1">
                <a:solidFill>
                  <a:srgbClr val="1E2761"/>
                </a:solidFill>
                <a:latin typeface="Cambria" pitchFamily="34" charset="0"/>
                <a:ea typeface="Cambria" pitchFamily="34" charset="-122"/>
                <a:cs typeface="Cambria" pitchFamily="34" charset="-120"/>
              </a:rPr>
              <a:t>ENCAPSULATION</a:t>
            </a:r>
            <a:endParaRPr lang="en-US" sz="1800"/>
          </a:p>
        </p:txBody>
      </p:sp>
      <p:sp>
        <p:nvSpPr>
          <p:cNvPr id="16" name="Def3"/>
          <p:cNvSpPr/>
          <p:nvPr/>
        </p:nvSpPr>
        <p:spPr>
          <a:xfrm>
            <a:off x="6263640" y="4331920"/>
            <a:ext cx="5349240" cy="1000000"/>
          </a:xfrm>
          <a:prstGeom prst="rect">
            <a:avLst/>
          </a:prstGeom>
          <a:noFill/>
          <a:ln/>
        </p:spPr>
        <p:txBody>
          <a:bodyPr wrap="square" lIns="0" tIns="0" rIns="0" bIns="0" rtlCol="0" anchor="t"/>
          <a:lstStyle/>
          <a:p>
            <a:pPr marL="0" indent="0">
              <a:lnSpc>
                <a:spcPct val="112000"/>
              </a:lnSpc>
              <a:spcAft>
                <a:spcPts val="0"/>
              </a:spcAft>
              <a:buNone/>
            </a:pPr>
            <a:r>
              <a:rPr lang="en-US" sz="1800">
                <a:solidFill>
                  <a:srgbClr val="22242E"/>
                </a:solidFill>
                <a:latin typeface="Calibri" pitchFamily="34" charset="0"/>
                <a:ea typeface="Calibri" pitchFamily="34" charset="-122"/>
                <a:cs typeface="Calibri" pitchFamily="34" charset="-120"/>
              </a:rPr>
              <a:t>Keeping internal details protected, exposing only what is needed.</a:t>
            </a:r>
            <a:endParaRPr lang="en-US" sz="1800"/>
          </a:p>
        </p:txBody>
      </p:sp>
      <p:sp>
        <p:nvSpPr>
          <p:cNvPr id="17" name="Rule"/>
          <p:cNvSpPr/>
          <p:nvPr/>
        </p:nvSpPr>
        <p:spPr>
          <a:xfrm>
            <a:off x="6263640" y="4291920"/>
            <a:ext cx="5349240" cy="0"/>
          </a:xfrm>
          <a:prstGeom prst="line">
            <a:avLst/>
          </a:prstGeom>
          <a:noFill/>
          <a:ln w="12700">
            <a:solidFill>
              <a:srgbClr val="E4E7F0"/>
            </a:solidFill>
            <a:prstDash val="solid"/>
          </a:ln>
        </p:spPr>
        <p:txBody>
          <a:bodyPr/>
          <a:lstStyle/>
          <a:p>
            <a:endParaRPr lang="en-US"/>
          </a:p>
        </p:txBody>
      </p:sp>
      <p:sp>
        <p:nvSpPr>
          <p:cNvPr id="18" name="Rule"/>
          <p:cNvSpPr/>
          <p:nvPr/>
        </p:nvSpPr>
        <p:spPr>
          <a:xfrm>
            <a:off x="548640" y="5760720"/>
            <a:ext cx="11094415" cy="0"/>
          </a:xfrm>
          <a:prstGeom prst="line">
            <a:avLst/>
          </a:prstGeom>
          <a:noFill/>
          <a:ln w="12700">
            <a:solidFill>
              <a:srgbClr val="E4E7F0"/>
            </a:solidFill>
            <a:prstDash val="solid"/>
          </a:ln>
        </p:spPr>
        <p:txBody>
          <a:bodyPr/>
          <a:lstStyle/>
          <a:p>
            <a:endParaRPr lang="en-US"/>
          </a:p>
        </p:txBody>
      </p:sp>
      <p:sp>
        <p:nvSpPr>
          <p:cNvPr id="19" name="Close"/>
          <p:cNvSpPr/>
          <p:nvPr/>
        </p:nvSpPr>
        <p:spPr>
          <a:xfrm>
            <a:off x="548640" y="5943600"/>
            <a:ext cx="11094415" cy="500000"/>
          </a:xfrm>
          <a:prstGeom prst="rect">
            <a:avLst/>
          </a:prstGeom>
          <a:noFill/>
          <a:ln/>
        </p:spPr>
        <p:txBody>
          <a:bodyPr wrap="square" lIns="0" tIns="0" rIns="0" bIns="0" rtlCol="0" anchor="ctr"/>
          <a:lstStyle/>
          <a:p>
            <a:pPr marL="0" indent="0">
              <a:lnSpc>
                <a:spcPct val="112000"/>
              </a:lnSpc>
              <a:spcAft>
                <a:spcPts val="0"/>
              </a:spcAft>
              <a:buNone/>
            </a:pPr>
            <a:r>
              <a:rPr lang="en-US" sz="1600" b="1">
                <a:solidFill>
                  <a:srgbClr val="1E2761"/>
                </a:solidFill>
                <a:latin typeface="Cambria" pitchFamily="34" charset="0"/>
                <a:ea typeface="Cambria" pitchFamily="34" charset="-122"/>
                <a:cs typeface="Cambria" pitchFamily="34" charset="-120"/>
              </a:rPr>
              <a:t>The goal: break a big problem into smaller pieces, and give each piece a clear job.</a:t>
            </a:r>
            <a:endParaRPr 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Day 5 at a Glance</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5349240"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BY THE END OF TODAY YOU CAN</a:t>
            </a:r>
            <a:endParaRPr lang="en-US" sz="1100" dirty="0"/>
          </a:p>
        </p:txBody>
      </p:sp>
      <p:sp>
        <p:nvSpPr>
          <p:cNvPr id="6" name="Text 4"/>
          <p:cNvSpPr/>
          <p:nvPr/>
        </p:nvSpPr>
        <p:spPr>
          <a:xfrm>
            <a:off x="548640" y="1691640"/>
            <a:ext cx="5349240" cy="29260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Explain what an object is and how it differs from a class</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Write a class with instance variables, a constructor, and methods</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Explain encapsulation and why fields are declared private</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Use the this keyword correctly, in more than one role</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Create multiple objects from a single class definition</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Explain static vs. instance, using calculateCoinsuranceOwed()</a:t>
            </a:r>
            <a:endParaRPr lang="en-US" sz="1250" dirty="0"/>
          </a:p>
        </p:txBody>
      </p:sp>
      <p:sp>
        <p:nvSpPr>
          <p:cNvPr id="7" name="Text 5"/>
          <p:cNvSpPr/>
          <p:nvPr/>
        </p:nvSpPr>
        <p:spPr>
          <a:xfrm>
            <a:off x="6263640" y="1371600"/>
            <a:ext cx="5349240"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THE SHAPE OF THE DAY</a:t>
            </a:r>
            <a:endParaRPr lang="en-US" sz="1100" dirty="0"/>
          </a:p>
        </p:txBody>
      </p:sp>
      <p:sp>
        <p:nvSpPr>
          <p:cNvPr id="8" name="Shape 6"/>
          <p:cNvSpPr/>
          <p:nvPr/>
        </p:nvSpPr>
        <p:spPr>
          <a:xfrm>
            <a:off x="6263640" y="1691640"/>
            <a:ext cx="5349240" cy="310896"/>
          </a:xfrm>
          <a:prstGeom prst="rect">
            <a:avLst/>
          </a:prstGeom>
          <a:solidFill>
            <a:srgbClr val="1E2761"/>
          </a:solidFill>
          <a:ln/>
        </p:spPr>
        <p:txBody>
          <a:bodyPr/>
          <a:lstStyle/>
          <a:p>
            <a:endParaRPr lang="en-US"/>
          </a:p>
        </p:txBody>
      </p:sp>
      <p:sp>
        <p:nvSpPr>
          <p:cNvPr id="9" name="Text 7"/>
          <p:cNvSpPr/>
          <p:nvPr/>
        </p:nvSpPr>
        <p:spPr>
          <a:xfrm>
            <a:off x="6355080" y="1691640"/>
            <a:ext cx="676656"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Time</a:t>
            </a:r>
            <a:endParaRPr lang="en-US" sz="1150" dirty="0"/>
          </a:p>
        </p:txBody>
      </p:sp>
      <p:sp>
        <p:nvSpPr>
          <p:cNvPr id="10" name="Text 8"/>
          <p:cNvSpPr/>
          <p:nvPr/>
        </p:nvSpPr>
        <p:spPr>
          <a:xfrm>
            <a:off x="7178040" y="1691640"/>
            <a:ext cx="4379976" cy="310896"/>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Block</a:t>
            </a:r>
            <a:endParaRPr lang="en-US" sz="1400"/>
          </a:p>
        </p:txBody>
      </p:sp>
      <p:sp>
        <p:nvSpPr>
          <p:cNvPr id="11" name="Text 9"/>
          <p:cNvSpPr/>
          <p:nvPr/>
        </p:nvSpPr>
        <p:spPr>
          <a:xfrm>
            <a:off x="6355080" y="2002536"/>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8:45</a:t>
            </a:r>
            <a:endParaRPr lang="en-US" sz="1050" dirty="0"/>
          </a:p>
        </p:txBody>
      </p:sp>
      <p:sp>
        <p:nvSpPr>
          <p:cNvPr id="12" name="Text 10"/>
          <p:cNvSpPr/>
          <p:nvPr/>
        </p:nvSpPr>
        <p:spPr>
          <a:xfrm>
            <a:off x="7178040" y="2002536"/>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Continue — bring forward Day 4</a:t>
            </a:r>
            <a:endParaRPr lang="en-US" sz="1400"/>
          </a:p>
        </p:txBody>
      </p:sp>
      <p:sp>
        <p:nvSpPr>
          <p:cNvPr id="13" name="Shape 11"/>
          <p:cNvSpPr/>
          <p:nvPr/>
        </p:nvSpPr>
        <p:spPr>
          <a:xfrm>
            <a:off x="6263640" y="2295144"/>
            <a:ext cx="0" cy="292608"/>
          </a:xfrm>
          <a:prstGeom prst="rect">
            <a:avLst/>
          </a:prstGeom>
          <a:solidFill>
            <a:srgbClr val="F3F5FA"/>
          </a:solidFill>
          <a:ln/>
        </p:spPr>
        <p:txBody>
          <a:bodyPr/>
          <a:lstStyle/>
          <a:p>
            <a:endParaRPr lang="en-US"/>
          </a:p>
        </p:txBody>
      </p:sp>
      <p:sp>
        <p:nvSpPr>
          <p:cNvPr id="14" name="Text 12"/>
          <p:cNvSpPr/>
          <p:nvPr/>
        </p:nvSpPr>
        <p:spPr>
          <a:xfrm>
            <a:off x="6355080" y="2295144"/>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9:00</a:t>
            </a:r>
            <a:endParaRPr lang="en-US" sz="1050" dirty="0"/>
          </a:p>
        </p:txBody>
      </p:sp>
      <p:sp>
        <p:nvSpPr>
          <p:cNvPr id="15" name="Text 13"/>
          <p:cNvSpPr/>
          <p:nvPr/>
        </p:nvSpPr>
        <p:spPr>
          <a:xfrm>
            <a:off x="7178040" y="2295144"/>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Learn — why classes, anatomy, encapsulation</a:t>
            </a:r>
            <a:endParaRPr lang="en-US" sz="1400"/>
          </a:p>
        </p:txBody>
      </p:sp>
      <p:sp>
        <p:nvSpPr>
          <p:cNvPr id="16" name="Text 14"/>
          <p:cNvSpPr/>
          <p:nvPr/>
        </p:nvSpPr>
        <p:spPr>
          <a:xfrm>
            <a:off x="6355080" y="2587752"/>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9:45</a:t>
            </a:r>
            <a:endParaRPr lang="en-US" sz="1050" dirty="0"/>
          </a:p>
        </p:txBody>
      </p:sp>
      <p:sp>
        <p:nvSpPr>
          <p:cNvPr id="17" name="Text 15"/>
          <p:cNvSpPr/>
          <p:nvPr/>
        </p:nvSpPr>
        <p:spPr>
          <a:xfrm>
            <a:off x="7178040" y="2587752"/>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Learn — constructors, this, multiple objects</a:t>
            </a:r>
            <a:endParaRPr lang="en-US" sz="1400"/>
          </a:p>
        </p:txBody>
      </p:sp>
      <p:sp>
        <p:nvSpPr>
          <p:cNvPr id="18" name="Shape 16"/>
          <p:cNvSpPr/>
          <p:nvPr/>
        </p:nvSpPr>
        <p:spPr>
          <a:xfrm>
            <a:off x="6263640" y="2880360"/>
            <a:ext cx="0" cy="292608"/>
          </a:xfrm>
          <a:prstGeom prst="rect">
            <a:avLst/>
          </a:prstGeom>
          <a:solidFill>
            <a:srgbClr val="F3F5FA"/>
          </a:solidFill>
          <a:ln/>
        </p:spPr>
        <p:txBody>
          <a:bodyPr/>
          <a:lstStyle/>
          <a:p>
            <a:endParaRPr lang="en-US"/>
          </a:p>
        </p:txBody>
      </p:sp>
      <p:sp>
        <p:nvSpPr>
          <p:cNvPr id="19" name="Text 17"/>
          <p:cNvSpPr/>
          <p:nvPr/>
        </p:nvSpPr>
        <p:spPr>
          <a:xfrm>
            <a:off x="6355080" y="2880360"/>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10:40</a:t>
            </a:r>
            <a:endParaRPr lang="en-US" sz="1050" dirty="0"/>
          </a:p>
        </p:txBody>
      </p:sp>
      <p:sp>
        <p:nvSpPr>
          <p:cNvPr id="20" name="Text 18"/>
          <p:cNvSpPr/>
          <p:nvPr/>
        </p:nvSpPr>
        <p:spPr>
          <a:xfrm>
            <a:off x="7178040" y="2880360"/>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Learn — static vs. instance, overloading</a:t>
            </a:r>
            <a:endParaRPr lang="en-US" sz="1400"/>
          </a:p>
        </p:txBody>
      </p:sp>
      <p:sp>
        <p:nvSpPr>
          <p:cNvPr id="21" name="Text 19"/>
          <p:cNvSpPr/>
          <p:nvPr/>
        </p:nvSpPr>
        <p:spPr>
          <a:xfrm>
            <a:off x="6355080" y="3172968"/>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11:15</a:t>
            </a:r>
            <a:endParaRPr lang="en-US" sz="1050" dirty="0"/>
          </a:p>
        </p:txBody>
      </p:sp>
      <p:sp>
        <p:nvSpPr>
          <p:cNvPr id="22" name="Text 20"/>
          <p:cNvSpPr/>
          <p:nvPr/>
        </p:nvSpPr>
        <p:spPr>
          <a:xfrm>
            <a:off x="7178040" y="3172968"/>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Watch — live build of Visit + VisitDemo</a:t>
            </a:r>
            <a:endParaRPr lang="en-US" sz="1400"/>
          </a:p>
        </p:txBody>
      </p:sp>
      <p:sp>
        <p:nvSpPr>
          <p:cNvPr id="23" name="Shape 21"/>
          <p:cNvSpPr/>
          <p:nvPr/>
        </p:nvSpPr>
        <p:spPr>
          <a:xfrm>
            <a:off x="6263640" y="3465576"/>
            <a:ext cx="0" cy="292608"/>
          </a:xfrm>
          <a:prstGeom prst="rect">
            <a:avLst/>
          </a:prstGeom>
          <a:solidFill>
            <a:srgbClr val="F3F5FA"/>
          </a:solidFill>
          <a:ln/>
        </p:spPr>
        <p:txBody>
          <a:bodyPr/>
          <a:lstStyle/>
          <a:p>
            <a:endParaRPr lang="en-US"/>
          </a:p>
        </p:txBody>
      </p:sp>
      <p:sp>
        <p:nvSpPr>
          <p:cNvPr id="24" name="Text 22"/>
          <p:cNvSpPr/>
          <p:nvPr/>
        </p:nvSpPr>
        <p:spPr>
          <a:xfrm>
            <a:off x="6355080" y="3465576"/>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12:45</a:t>
            </a:r>
            <a:endParaRPr lang="en-US" sz="1050" dirty="0"/>
          </a:p>
        </p:txBody>
      </p:sp>
      <p:sp>
        <p:nvSpPr>
          <p:cNvPr id="25" name="Text 23"/>
          <p:cNvSpPr/>
          <p:nvPr/>
        </p:nvSpPr>
        <p:spPr>
          <a:xfrm>
            <a:off x="7178040" y="3465576"/>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Build — CopayCard exercise</a:t>
            </a:r>
            <a:endParaRPr lang="en-US" sz="1400"/>
          </a:p>
        </p:txBody>
      </p:sp>
      <p:sp>
        <p:nvSpPr>
          <p:cNvPr id="26" name="Text 24"/>
          <p:cNvSpPr/>
          <p:nvPr/>
        </p:nvSpPr>
        <p:spPr>
          <a:xfrm>
            <a:off x="6355080" y="3758184"/>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1:30</a:t>
            </a:r>
            <a:endParaRPr lang="en-US" sz="1050" dirty="0"/>
          </a:p>
        </p:txBody>
      </p:sp>
      <p:sp>
        <p:nvSpPr>
          <p:cNvPr id="27" name="Text 25"/>
          <p:cNvSpPr/>
          <p:nvPr/>
        </p:nvSpPr>
        <p:spPr>
          <a:xfrm>
            <a:off x="7178040" y="3758184"/>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Check — ClaimRecord, no starter</a:t>
            </a:r>
            <a:endParaRPr lang="en-US" sz="1400"/>
          </a:p>
        </p:txBody>
      </p:sp>
      <p:sp>
        <p:nvSpPr>
          <p:cNvPr id="28" name="Shape 26"/>
          <p:cNvSpPr/>
          <p:nvPr/>
        </p:nvSpPr>
        <p:spPr>
          <a:xfrm>
            <a:off x="6263640" y="4050792"/>
            <a:ext cx="0" cy="292608"/>
          </a:xfrm>
          <a:prstGeom prst="rect">
            <a:avLst/>
          </a:prstGeom>
          <a:solidFill>
            <a:srgbClr val="F3F5FA"/>
          </a:solidFill>
          <a:ln/>
        </p:spPr>
        <p:txBody>
          <a:bodyPr/>
          <a:lstStyle/>
          <a:p>
            <a:endParaRPr lang="en-US"/>
          </a:p>
        </p:txBody>
      </p:sp>
      <p:sp>
        <p:nvSpPr>
          <p:cNvPr id="29" name="Text 27"/>
          <p:cNvSpPr/>
          <p:nvPr/>
        </p:nvSpPr>
        <p:spPr>
          <a:xfrm>
            <a:off x="6355080" y="4050792"/>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2:00</a:t>
            </a:r>
            <a:endParaRPr lang="en-US" sz="1050" dirty="0"/>
          </a:p>
        </p:txBody>
      </p:sp>
      <p:sp>
        <p:nvSpPr>
          <p:cNvPr id="30" name="Text 28"/>
          <p:cNvSpPr/>
          <p:nvPr/>
        </p:nvSpPr>
        <p:spPr>
          <a:xfrm>
            <a:off x="7178040" y="4050792"/>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Check — break-it-on-purpose lab</a:t>
            </a:r>
            <a:endParaRPr lang="en-US" sz="1400"/>
          </a:p>
        </p:txBody>
      </p:sp>
      <p:sp>
        <p:nvSpPr>
          <p:cNvPr id="31" name="Text 29"/>
          <p:cNvSpPr/>
          <p:nvPr/>
        </p:nvSpPr>
        <p:spPr>
          <a:xfrm>
            <a:off x="6355080" y="4343400"/>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2:30</a:t>
            </a:r>
            <a:endParaRPr lang="en-US" sz="1050" dirty="0"/>
          </a:p>
        </p:txBody>
      </p:sp>
      <p:sp>
        <p:nvSpPr>
          <p:cNvPr id="32" name="Text 30"/>
          <p:cNvSpPr/>
          <p:nvPr/>
        </p:nvSpPr>
        <p:spPr>
          <a:xfrm>
            <a:off x="7178040" y="4343400"/>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Build — Member joins the calculator</a:t>
            </a:r>
            <a:endParaRPr lang="en-US" sz="1400"/>
          </a:p>
        </p:txBody>
      </p:sp>
      <p:sp>
        <p:nvSpPr>
          <p:cNvPr id="33" name="Shape 31"/>
          <p:cNvSpPr/>
          <p:nvPr/>
        </p:nvSpPr>
        <p:spPr>
          <a:xfrm>
            <a:off x="6263640" y="4636008"/>
            <a:ext cx="0" cy="292608"/>
          </a:xfrm>
          <a:prstGeom prst="rect">
            <a:avLst/>
          </a:prstGeom>
          <a:solidFill>
            <a:srgbClr val="F3F5FA"/>
          </a:solidFill>
          <a:ln/>
        </p:spPr>
        <p:txBody>
          <a:bodyPr/>
          <a:lstStyle/>
          <a:p>
            <a:endParaRPr lang="en-US"/>
          </a:p>
        </p:txBody>
      </p:sp>
      <p:sp>
        <p:nvSpPr>
          <p:cNvPr id="34" name="Text 32"/>
          <p:cNvSpPr/>
          <p:nvPr/>
        </p:nvSpPr>
        <p:spPr>
          <a:xfrm>
            <a:off x="6355080" y="4636008"/>
            <a:ext cx="676656" cy="29260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3:15</a:t>
            </a:r>
            <a:endParaRPr lang="en-US" sz="1050" dirty="0"/>
          </a:p>
        </p:txBody>
      </p:sp>
      <p:sp>
        <p:nvSpPr>
          <p:cNvPr id="35" name="Text 33"/>
          <p:cNvSpPr/>
          <p:nvPr/>
        </p:nvSpPr>
        <p:spPr>
          <a:xfrm>
            <a:off x="7178040" y="4636008"/>
            <a:ext cx="4379976" cy="292608"/>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Show and save — class ends 3:30/4:00</a:t>
            </a:r>
            <a:endParaRPr lang="en-US" sz="1400"/>
          </a:p>
        </p:txBody>
      </p:sp>
      <p:sp>
        <p:nvSpPr>
          <p:cNvPr id="36" name="Text 34"/>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SCOPE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Day 5 Does Not Include</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417320"/>
            <a:ext cx="5349240" cy="256032"/>
          </a:xfrm>
          <a:prstGeom prst="rect">
            <a:avLst/>
          </a:prstGeom>
          <a:noFill/>
          <a:ln/>
        </p:spPr>
        <p:txBody>
          <a:bodyPr wrap="square" lIns="0" tIns="0" rIns="0" bIns="0" rtlCol="0" anchor="ctr"/>
          <a:lstStyle/>
          <a:p>
            <a:pPr marL="0" indent="0">
              <a:buNone/>
            </a:pPr>
            <a:r>
              <a:rPr lang="en-US" sz="1100" b="1" kern="0" spc="80" dirty="0">
                <a:solidFill>
                  <a:srgbClr val="868E96"/>
                </a:solidFill>
                <a:latin typeface="Calibri" pitchFamily="34" charset="0"/>
                <a:ea typeface="Calibri" pitchFamily="34" charset="-122"/>
                <a:cs typeface="Calibri" pitchFamily="34" charset="-120"/>
              </a:rPr>
              <a:t>NOT TODAY</a:t>
            </a:r>
            <a:endParaRPr lang="en-US" sz="1100" dirty="0"/>
          </a:p>
        </p:txBody>
      </p:sp>
      <p:sp>
        <p:nvSpPr>
          <p:cNvPr id="6" name="Text 4"/>
          <p:cNvSpPr/>
          <p:nvPr/>
        </p:nvSpPr>
        <p:spPr>
          <a:xfrm>
            <a:off x="548640" y="1737360"/>
            <a:ext cx="5349240" cy="41148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Inheritance, subclasses, or the extends keyword</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Interfaces, enums, abstract classes, or records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Set methods on Member — it is immutable, on purpose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Copy constructors (the book covers these; we don't need one)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Arrays or collections of objects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Classes stored in separate packages</a:t>
            </a:r>
            <a:endParaRPr lang="en-US" sz="1800"/>
          </a:p>
        </p:txBody>
      </p:sp>
      <p:sp>
        <p:nvSpPr>
          <p:cNvPr id="7" name="Text 5"/>
          <p:cNvSpPr/>
          <p:nvPr/>
        </p:nvSpPr>
        <p:spPr>
          <a:xfrm>
            <a:off x="6263640" y="1417320"/>
            <a:ext cx="5349240" cy="256032"/>
          </a:xfrm>
          <a:prstGeom prst="rect">
            <a:avLst/>
          </a:prstGeom>
          <a:noFill/>
          <a:ln/>
        </p:spPr>
        <p:txBody>
          <a:bodyPr wrap="square" lIns="0" tIns="0" rIns="0" bIns="0" rtlCol="0" anchor="ctr"/>
          <a:lstStyle/>
          <a:p>
            <a:pPr marL="0" indent="0">
              <a:buNone/>
            </a:pPr>
            <a:r>
              <a:rPr lang="en-US" sz="1100" b="1" kern="0" spc="80" dirty="0">
                <a:solidFill>
                  <a:srgbClr val="868E96"/>
                </a:solidFill>
                <a:latin typeface="Calibri" pitchFamily="34" charset="0"/>
                <a:ea typeface="Calibri" pitchFamily="34" charset="-122"/>
                <a:cs typeface="Calibri" pitchFamily="34" charset="-120"/>
              </a:rPr>
              <a:t>IF YOU ARE REACHING FOR THESE</a:t>
            </a:r>
            <a:endParaRPr lang="en-US" sz="1100" dirty="0"/>
          </a:p>
        </p:txBody>
      </p:sp>
      <p:sp>
        <p:nvSpPr>
          <p:cNvPr id="8" name="Text 6"/>
          <p:cNvSpPr/>
          <p:nvPr/>
        </p:nvSpPr>
        <p:spPr>
          <a:xfrm>
            <a:off x="6263640" y="1737360"/>
            <a:ext cx="5349240" cy="41148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You are ahead of the lesson, not behind it</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Inheritance is Day 7 — today builds the foundation it needs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Write the idea down — it has its own lesson</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Want more to do? Take a stretch goal, not new syntax</a:t>
            </a:r>
            <a:endParaRPr lang="en-US" sz="180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CONTINUE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Before Any New Code: Continuing From Day 4</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54864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Nothing you wrote yesterday is thrown away. Today's folder starts by copying it forward — and today, for the first time, you'll add new files alongside it instead of only replacing it.</a:t>
            </a:r>
            <a:endParaRPr lang="en-US" sz="1800"/>
          </a:p>
        </p:txBody>
      </p:sp>
      <p:sp>
        <p:nvSpPr>
          <p:cNvPr id="6" name="Shape 4"/>
          <p:cNvSpPr/>
          <p:nvPr/>
        </p:nvSpPr>
        <p:spPr>
          <a:xfrm>
            <a:off x="548640" y="2103120"/>
            <a:ext cx="384048" cy="384048"/>
          </a:xfrm>
          <a:prstGeom prst="ellipse">
            <a:avLst/>
          </a:prstGeom>
          <a:solidFill>
            <a:srgbClr val="3AAFA9"/>
          </a:solidFill>
          <a:ln/>
        </p:spPr>
        <p:txBody>
          <a:bodyPr/>
          <a:lstStyle/>
          <a:p>
            <a:endParaRPr lang="en-US"/>
          </a:p>
        </p:txBody>
      </p:sp>
      <p:sp>
        <p:nvSpPr>
          <p:cNvPr id="7" name="Text 5"/>
          <p:cNvSpPr/>
          <p:nvPr/>
        </p:nvSpPr>
        <p:spPr>
          <a:xfrm>
            <a:off x="548640" y="2103120"/>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1</a:t>
            </a:r>
            <a:endParaRPr lang="en-US" sz="1800"/>
          </a:p>
        </p:txBody>
      </p:sp>
      <p:sp>
        <p:nvSpPr>
          <p:cNvPr id="8" name="Text 6"/>
          <p:cNvSpPr/>
          <p:nvPr/>
        </p:nvSpPr>
        <p:spPr>
          <a:xfrm>
            <a:off x="1097280" y="2084832"/>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Create the folder</a:t>
            </a:r>
            <a:endParaRPr lang="en-US" sz="1800"/>
          </a:p>
        </p:txBody>
      </p:sp>
      <p:sp>
        <p:nvSpPr>
          <p:cNvPr id="9" name="Text 7"/>
          <p:cNvSpPr/>
          <p:nvPr/>
        </p:nvSpPr>
        <p:spPr>
          <a:xfrm>
            <a:off x="1097280" y="2340864"/>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C:\JavaBasicsCourse\Day05\learning</a:t>
            </a:r>
            <a:endParaRPr lang="en-US" sz="1400"/>
          </a:p>
        </p:txBody>
      </p:sp>
      <p:sp>
        <p:nvSpPr>
          <p:cNvPr id="10" name="Shape 8"/>
          <p:cNvSpPr/>
          <p:nvPr/>
        </p:nvSpPr>
        <p:spPr>
          <a:xfrm>
            <a:off x="548640" y="2724912"/>
            <a:ext cx="384048" cy="384048"/>
          </a:xfrm>
          <a:prstGeom prst="ellipse">
            <a:avLst/>
          </a:prstGeom>
          <a:solidFill>
            <a:srgbClr val="3AAFA9"/>
          </a:solidFill>
          <a:ln/>
        </p:spPr>
        <p:txBody>
          <a:bodyPr/>
          <a:lstStyle/>
          <a:p>
            <a:endParaRPr lang="en-US"/>
          </a:p>
        </p:txBody>
      </p:sp>
      <p:sp>
        <p:nvSpPr>
          <p:cNvPr id="11" name="Text 9"/>
          <p:cNvSpPr/>
          <p:nvPr/>
        </p:nvSpPr>
        <p:spPr>
          <a:xfrm>
            <a:off x="548640" y="2724912"/>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2</a:t>
            </a:r>
            <a:endParaRPr lang="en-US" sz="1800"/>
          </a:p>
        </p:txBody>
      </p:sp>
      <p:sp>
        <p:nvSpPr>
          <p:cNvPr id="12" name="Text 10"/>
          <p:cNvSpPr/>
          <p:nvPr/>
        </p:nvSpPr>
        <p:spPr>
          <a:xfrm>
            <a:off x="1097280" y="2706624"/>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Copy MemberBenefitsSummary.java</a:t>
            </a:r>
            <a:endParaRPr lang="en-US" sz="1800"/>
          </a:p>
        </p:txBody>
      </p:sp>
      <p:sp>
        <p:nvSpPr>
          <p:cNvPr id="13" name="Text 11"/>
          <p:cNvSpPr/>
          <p:nvPr/>
        </p:nvSpPr>
        <p:spPr>
          <a:xfrm>
            <a:off x="1097280" y="2962656"/>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From Day04\learning into Day05\learning</a:t>
            </a:r>
            <a:endParaRPr lang="en-US" sz="1400"/>
          </a:p>
        </p:txBody>
      </p:sp>
      <p:sp>
        <p:nvSpPr>
          <p:cNvPr id="14" name="Shape 12"/>
          <p:cNvSpPr/>
          <p:nvPr/>
        </p:nvSpPr>
        <p:spPr>
          <a:xfrm>
            <a:off x="548640" y="3346704"/>
            <a:ext cx="384048" cy="384048"/>
          </a:xfrm>
          <a:prstGeom prst="ellipse">
            <a:avLst/>
          </a:prstGeom>
          <a:solidFill>
            <a:srgbClr val="3AAFA9"/>
          </a:solidFill>
          <a:ln/>
        </p:spPr>
        <p:txBody>
          <a:bodyPr/>
          <a:lstStyle/>
          <a:p>
            <a:endParaRPr lang="en-US"/>
          </a:p>
        </p:txBody>
      </p:sp>
      <p:sp>
        <p:nvSpPr>
          <p:cNvPr id="15" name="Text 13"/>
          <p:cNvSpPr/>
          <p:nvPr/>
        </p:nvSpPr>
        <p:spPr>
          <a:xfrm>
            <a:off x="548640" y="3346704"/>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3</a:t>
            </a:r>
            <a:endParaRPr lang="en-US" sz="1800"/>
          </a:p>
        </p:txBody>
      </p:sp>
      <p:sp>
        <p:nvSpPr>
          <p:cNvPr id="16" name="Text 14"/>
          <p:cNvSpPr/>
          <p:nvPr/>
        </p:nvSpPr>
        <p:spPr>
          <a:xfrm>
            <a:off x="1097280" y="3328416"/>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Open Day05\learning in VS Code</a:t>
            </a:r>
            <a:endParaRPr lang="en-US" sz="1800"/>
          </a:p>
        </p:txBody>
      </p:sp>
      <p:sp>
        <p:nvSpPr>
          <p:cNvPr id="17" name="Text 15"/>
          <p:cNvSpPr/>
          <p:nvPr/>
        </p:nvSpPr>
        <p:spPr>
          <a:xfrm>
            <a:off x="1097280" y="3584448"/>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File &gt; Open Folder</a:t>
            </a:r>
            <a:endParaRPr lang="en-US" sz="1400"/>
          </a:p>
        </p:txBody>
      </p:sp>
      <p:sp>
        <p:nvSpPr>
          <p:cNvPr id="18" name="Shape 16"/>
          <p:cNvSpPr/>
          <p:nvPr/>
        </p:nvSpPr>
        <p:spPr>
          <a:xfrm>
            <a:off x="548640" y="3968496"/>
            <a:ext cx="384048" cy="384048"/>
          </a:xfrm>
          <a:prstGeom prst="ellipse">
            <a:avLst/>
          </a:prstGeom>
          <a:solidFill>
            <a:srgbClr val="3AAFA9"/>
          </a:solidFill>
          <a:ln/>
        </p:spPr>
        <p:txBody>
          <a:bodyPr/>
          <a:lstStyle/>
          <a:p>
            <a:endParaRPr lang="en-US"/>
          </a:p>
        </p:txBody>
      </p:sp>
      <p:sp>
        <p:nvSpPr>
          <p:cNvPr id="19" name="Text 17"/>
          <p:cNvSpPr/>
          <p:nvPr/>
        </p:nvSpPr>
        <p:spPr>
          <a:xfrm>
            <a:off x="548640" y="3968496"/>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4</a:t>
            </a:r>
            <a:endParaRPr lang="en-US" sz="1800"/>
          </a:p>
        </p:txBody>
      </p:sp>
      <p:sp>
        <p:nvSpPr>
          <p:cNvPr id="20" name="Text 18"/>
          <p:cNvSpPr/>
          <p:nvPr/>
        </p:nvSpPr>
        <p:spPr>
          <a:xfrm>
            <a:off x="1097280" y="3950208"/>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Confirm the tools still work</a:t>
            </a:r>
            <a:endParaRPr lang="en-US" sz="1800"/>
          </a:p>
        </p:txBody>
      </p:sp>
      <p:sp>
        <p:nvSpPr>
          <p:cNvPr id="21" name="Text 19"/>
          <p:cNvSpPr/>
          <p:nvPr/>
        </p:nvSpPr>
        <p:spPr>
          <a:xfrm>
            <a:off x="1097280" y="4206240"/>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java -version and javac -version</a:t>
            </a:r>
            <a:endParaRPr lang="en-US" sz="1400"/>
          </a:p>
        </p:txBody>
      </p:sp>
      <p:sp>
        <p:nvSpPr>
          <p:cNvPr id="22" name="Shape 20"/>
          <p:cNvSpPr/>
          <p:nvPr/>
        </p:nvSpPr>
        <p:spPr>
          <a:xfrm>
            <a:off x="548640" y="4590288"/>
            <a:ext cx="384048" cy="384048"/>
          </a:xfrm>
          <a:prstGeom prst="ellipse">
            <a:avLst/>
          </a:prstGeom>
          <a:solidFill>
            <a:srgbClr val="3AAFA9"/>
          </a:solidFill>
          <a:ln/>
        </p:spPr>
        <p:txBody>
          <a:bodyPr/>
          <a:lstStyle/>
          <a:p>
            <a:endParaRPr lang="en-US"/>
          </a:p>
        </p:txBody>
      </p:sp>
      <p:sp>
        <p:nvSpPr>
          <p:cNvPr id="23" name="Text 21"/>
          <p:cNvSpPr/>
          <p:nvPr/>
        </p:nvSpPr>
        <p:spPr>
          <a:xfrm>
            <a:off x="548640" y="4590288"/>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5</a:t>
            </a:r>
            <a:endParaRPr lang="en-US" sz="1800"/>
          </a:p>
        </p:txBody>
      </p:sp>
      <p:sp>
        <p:nvSpPr>
          <p:cNvPr id="24" name="Text 22"/>
          <p:cNvSpPr/>
          <p:nvPr/>
        </p:nvSpPr>
        <p:spPr>
          <a:xfrm>
            <a:off x="1097280" y="4572000"/>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Run it once with valid numbers</a:t>
            </a:r>
            <a:endParaRPr lang="en-US" sz="1800"/>
          </a:p>
        </p:txBody>
      </p:sp>
      <p:sp>
        <p:nvSpPr>
          <p:cNvPr id="25" name="Text 23"/>
          <p:cNvSpPr/>
          <p:nvPr/>
        </p:nvSpPr>
        <p:spPr>
          <a:xfrm>
            <a:off x="1097280" y="4828032"/>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Confirm it still runs clean — no crash, since Day 4 fixed that for good</a:t>
            </a:r>
            <a:endParaRPr lang="en-US" sz="1400"/>
          </a:p>
        </p:txBody>
      </p:sp>
      <p:sp>
        <p:nvSpPr>
          <p:cNvPr id="26" name="Shape 24"/>
          <p:cNvSpPr/>
          <p:nvPr/>
        </p:nvSpPr>
        <p:spPr>
          <a:xfrm>
            <a:off x="548640" y="5394960"/>
            <a:ext cx="11094415" cy="640080"/>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27" name="Text 25"/>
          <p:cNvSpPr/>
          <p:nvPr/>
        </p:nvSpPr>
        <p:spPr>
          <a:xfrm>
            <a:off x="804672" y="5504688"/>
            <a:ext cx="10582351" cy="420624"/>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Nothing you wrote yesterday is thrown away — today's folder starts by copying it forward.</a:t>
            </a:r>
            <a:endParaRPr lang="en-US" sz="1800"/>
          </a:p>
        </p:txBody>
      </p:sp>
      <p:sp>
        <p:nvSpPr>
          <p:cNvPr id="28" name="Text 26"/>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Why Classes — The Pile of Variables Problem</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118872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Open your Day 4 MemberBenefitsSummary.java and count the loose variables sitting in main(): memberName, memberId, planName, effectiveDate, groupNumber, planYear, visitsUsed, deductibleDollars, amountPaidThisYear, remainingDeductible, estimatedCoinsuranceOwed, visitUsagePercent — twelve, and climbing every day.</a:t>
            </a:r>
            <a:endParaRPr lang="en-US" sz="1800"/>
          </a:p>
        </p:txBody>
      </p:sp>
      <p:sp>
        <p:nvSpPr>
          <p:cNvPr id="6" name="Shape 4"/>
          <p:cNvSpPr/>
          <p:nvPr/>
        </p:nvSpPr>
        <p:spPr>
          <a:xfrm>
            <a:off x="548640" y="2697480"/>
            <a:ext cx="11094415" cy="1005840"/>
          </a:xfrm>
          <a:prstGeom prst="roundRect">
            <a:avLst>
              <a:gd name="adj" fmla="val 5455"/>
            </a:avLst>
          </a:prstGeom>
          <a:solidFill>
            <a:srgbClr val="FFF3D6"/>
          </a:solidFill>
          <a:ln w="15875">
            <a:solidFill>
              <a:srgbClr val="E3B94C"/>
            </a:solidFill>
            <a:prstDash val="solid"/>
          </a:ln>
        </p:spPr>
        <p:txBody>
          <a:bodyPr/>
          <a:lstStyle/>
          <a:p>
            <a:endParaRPr lang="en-US"/>
          </a:p>
        </p:txBody>
      </p:sp>
      <p:sp>
        <p:nvSpPr>
          <p:cNvPr id="7" name="Text 5"/>
          <p:cNvSpPr/>
          <p:nvPr/>
        </p:nvSpPr>
        <p:spPr>
          <a:xfrm>
            <a:off x="804672" y="2807208"/>
            <a:ext cx="10582351" cy="786384"/>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None of these variables know they belong together. Java doesn't see "this group of numbers is one member's picture" — it just sees twelve separate names in the same method. A class is how you tell Java, and the next reader of your code, that they belong together.</a:t>
            </a:r>
            <a:endParaRPr lang="en-US" sz="1800"/>
          </a:p>
        </p:txBody>
      </p:sp>
      <p:sp>
        <p:nvSpPr>
          <p:cNvPr id="8" name="Text 6"/>
          <p:cNvSpPr/>
          <p:nvPr/>
        </p:nvSpPr>
        <p:spPr>
          <a:xfrm>
            <a:off x="548640" y="397764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WHAT A CLASS BUYS YOU</a:t>
            </a:r>
            <a:endParaRPr lang="en-US" sz="1100" dirty="0"/>
          </a:p>
        </p:txBody>
      </p:sp>
      <p:sp>
        <p:nvSpPr>
          <p:cNvPr id="9" name="Text 7"/>
          <p:cNvSpPr/>
          <p:nvPr/>
        </p:nvSpPr>
        <p:spPr>
          <a:xfrm>
            <a:off x="548640" y="4297680"/>
            <a:ext cx="11094415" cy="10972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Related data and the behavior that acts on it live in one place, not scattered across main()</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You can create more than one — a second member, without renaming everything</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The class can protect its own data from being set to something invalid</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Is an Object?</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64008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An object is a self-contained bundle of data (its state) and the code that operates on that data (its behavior), created while your program runs.</a:t>
            </a:r>
            <a:endParaRPr lang="en-US" sz="1800"/>
          </a:p>
        </p:txBody>
      </p:sp>
      <p:sp>
        <p:nvSpPr>
          <p:cNvPr id="6" name="Text 4"/>
          <p:cNvSpPr/>
          <p:nvPr/>
        </p:nvSpPr>
        <p:spPr>
          <a:xfrm>
            <a:off x="548640" y="233172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IN TERMS YOU ALREADY KNOW</a:t>
            </a:r>
            <a:endParaRPr lang="en-US" sz="1100" dirty="0"/>
          </a:p>
        </p:txBody>
      </p:sp>
      <p:sp>
        <p:nvSpPr>
          <p:cNvPr id="7" name="Text 5"/>
          <p:cNvSpPr/>
          <p:nvPr/>
        </p:nvSpPr>
        <p:spPr>
          <a:xfrm>
            <a:off x="548640" y="2651760"/>
            <a:ext cx="11094415" cy="118872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A String is an object — "Avery Chen" has data (the characters) and behavior (.length(), .equals())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A Scanner is an object — it has state (what it's reading from) and behavior (.nextLine())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You have been using objects since Day 2 without building your own until today</a:t>
            </a:r>
            <a:endParaRPr lang="en-US" sz="1800"/>
          </a:p>
        </p:txBody>
      </p:sp>
      <p:sp>
        <p:nvSpPr>
          <p:cNvPr id="8" name="Shape 6"/>
          <p:cNvSpPr/>
          <p:nvPr/>
        </p:nvSpPr>
        <p:spPr>
          <a:xfrm>
            <a:off x="548640" y="411480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22452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Today's shift: you stop only using objects someone else built, and start defining the blueprint for your own.</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Is a Class?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45720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A class is the blueprint. An object is one specific thing built from that blueprint.</a:t>
            </a:r>
            <a:endParaRPr lang="en-US" sz="1800"/>
          </a:p>
        </p:txBody>
      </p:sp>
      <p:sp>
        <p:nvSpPr>
          <p:cNvPr id="6" name="Shape 4"/>
          <p:cNvSpPr/>
          <p:nvPr/>
        </p:nvSpPr>
        <p:spPr>
          <a:xfrm>
            <a:off x="548640" y="2057400"/>
            <a:ext cx="3515258" cy="2788920"/>
          </a:xfrm>
          <a:prstGeom prst="roundRect">
            <a:avLst>
              <a:gd name="adj" fmla="val 2326"/>
            </a:avLst>
          </a:prstGeom>
          <a:solidFill>
            <a:srgbClr val="FFFFFF"/>
          </a:solidFill>
          <a:ln w="15875">
            <a:solidFill>
              <a:srgbClr val="E4E7F0"/>
            </a:solidFill>
            <a:prstDash val="solid"/>
          </a:ln>
        </p:spPr>
        <p:txBody>
          <a:bodyPr/>
          <a:lstStyle/>
          <a:p>
            <a:endParaRPr lang="en-US"/>
          </a:p>
        </p:txBody>
      </p:sp>
      <p:sp>
        <p:nvSpPr>
          <p:cNvPr id="7" name="Text 5"/>
          <p:cNvSpPr/>
          <p:nvPr/>
        </p:nvSpPr>
        <p:spPr>
          <a:xfrm>
            <a:off x="713232" y="219456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THE BLUEPRINT</a:t>
            </a:r>
            <a:endParaRPr lang="en-US" sz="1000" dirty="0"/>
          </a:p>
        </p:txBody>
      </p:sp>
      <p:sp>
        <p:nvSpPr>
          <p:cNvPr id="8" name="Text 6"/>
          <p:cNvSpPr/>
          <p:nvPr/>
        </p:nvSpPr>
        <p:spPr>
          <a:xfrm>
            <a:off x="713232" y="2441448"/>
            <a:ext cx="3186074" cy="502920"/>
          </a:xfrm>
          <a:prstGeom prst="rect">
            <a:avLst/>
          </a:prstGeom>
          <a:noFill/>
          <a:ln/>
        </p:spPr>
        <p:txBody>
          <a:bodyPr wrap="square" lIns="0" tIns="0" rIns="0" bIns="0" rtlCol="0" anchor="ctr"/>
          <a:lstStyle/>
          <a:p>
            <a:pPr marL="0" indent="0">
              <a:lnSpc>
                <a:spcPct val="100000"/>
              </a:lnSpc>
              <a:buNone/>
            </a:pPr>
            <a:r>
              <a:rPr lang="en-US" sz="1200" b="1" dirty="0">
                <a:solidFill>
                  <a:srgbClr val="1E2761"/>
                </a:solidFill>
                <a:latin typeface="Consolas" pitchFamily="34" charset="0"/>
                <a:ea typeface="Consolas" pitchFamily="34" charset="-122"/>
                <a:cs typeface="Consolas" pitchFamily="34" charset="-120"/>
              </a:rPr>
              <a:t>class Visit</a:t>
            </a:r>
            <a:endParaRPr lang="en-US" sz="1200" dirty="0"/>
          </a:p>
        </p:txBody>
      </p:sp>
      <p:sp>
        <p:nvSpPr>
          <p:cNvPr id="9" name="Text 7"/>
          <p:cNvSpPr/>
          <p:nvPr/>
        </p:nvSpPr>
        <p:spPr>
          <a:xfrm>
            <a:off x="713232" y="2971800"/>
            <a:ext cx="3186074" cy="960120"/>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Declared once. Says every Visit has a date and a cost, and can summarize itself.</a:t>
            </a:r>
            <a:endParaRPr lang="en-US" sz="1100" dirty="0"/>
          </a:p>
        </p:txBody>
      </p:sp>
      <p:sp>
        <p:nvSpPr>
          <p:cNvPr id="10" name="Shape 8"/>
          <p:cNvSpPr/>
          <p:nvPr/>
        </p:nvSpPr>
        <p:spPr>
          <a:xfrm>
            <a:off x="4338218" y="2057400"/>
            <a:ext cx="3515258" cy="2788920"/>
          </a:xfrm>
          <a:prstGeom prst="roundRect">
            <a:avLst>
              <a:gd name="adj" fmla="val 2326"/>
            </a:avLst>
          </a:prstGeom>
          <a:solidFill>
            <a:srgbClr val="FFFFFF"/>
          </a:solidFill>
          <a:ln w="15875">
            <a:solidFill>
              <a:srgbClr val="E4E7F0"/>
            </a:solidFill>
            <a:prstDash val="solid"/>
          </a:ln>
        </p:spPr>
        <p:txBody>
          <a:bodyPr/>
          <a:lstStyle/>
          <a:p>
            <a:endParaRPr lang="en-US"/>
          </a:p>
        </p:txBody>
      </p:sp>
      <p:sp>
        <p:nvSpPr>
          <p:cNvPr id="11" name="Text 9"/>
          <p:cNvSpPr/>
          <p:nvPr/>
        </p:nvSpPr>
        <p:spPr>
          <a:xfrm>
            <a:off x="4502810" y="219456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ONE OBJECT</a:t>
            </a:r>
            <a:endParaRPr lang="en-US" sz="1000" dirty="0"/>
          </a:p>
        </p:txBody>
      </p:sp>
      <p:sp>
        <p:nvSpPr>
          <p:cNvPr id="12" name="Text 10"/>
          <p:cNvSpPr/>
          <p:nvPr/>
        </p:nvSpPr>
        <p:spPr>
          <a:xfrm>
            <a:off x="4502810" y="2441448"/>
            <a:ext cx="3186074" cy="502920"/>
          </a:xfrm>
          <a:prstGeom prst="rect">
            <a:avLst/>
          </a:prstGeom>
          <a:noFill/>
          <a:ln/>
        </p:spPr>
        <p:txBody>
          <a:bodyPr wrap="square" lIns="0" tIns="0" rIns="0" bIns="0" rtlCol="0" anchor="ctr"/>
          <a:lstStyle/>
          <a:p>
            <a:pPr marL="0" indent="0">
              <a:lnSpc>
                <a:spcPct val="100000"/>
              </a:lnSpc>
              <a:buNone/>
            </a:pPr>
            <a:r>
              <a:rPr lang="en-US" sz="1200" b="1" dirty="0">
                <a:solidFill>
                  <a:srgbClr val="1E2761"/>
                </a:solidFill>
                <a:latin typeface="Consolas" pitchFamily="34" charset="0"/>
                <a:ea typeface="Consolas" pitchFamily="34" charset="-122"/>
                <a:cs typeface="Consolas" pitchFamily="34" charset="-120"/>
              </a:rPr>
              <a:t>new Visit("2026-01-15", 125.00)</a:t>
            </a:r>
            <a:endParaRPr lang="en-US" sz="1200" dirty="0"/>
          </a:p>
        </p:txBody>
      </p:sp>
      <p:sp>
        <p:nvSpPr>
          <p:cNvPr id="13" name="Text 11"/>
          <p:cNvSpPr/>
          <p:nvPr/>
        </p:nvSpPr>
        <p:spPr>
          <a:xfrm>
            <a:off x="4502810" y="2971800"/>
            <a:ext cx="3186074" cy="960120"/>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One specific visit, built from the blueprint, with its own values.</a:t>
            </a:r>
            <a:endParaRPr lang="en-US" sz="1100" dirty="0"/>
          </a:p>
        </p:txBody>
      </p:sp>
      <p:sp>
        <p:nvSpPr>
          <p:cNvPr id="14" name="Shape 12"/>
          <p:cNvSpPr/>
          <p:nvPr/>
        </p:nvSpPr>
        <p:spPr>
          <a:xfrm>
            <a:off x="8127797" y="2057400"/>
            <a:ext cx="3515258" cy="2788920"/>
          </a:xfrm>
          <a:prstGeom prst="roundRect">
            <a:avLst>
              <a:gd name="adj" fmla="val 2326"/>
            </a:avLst>
          </a:prstGeom>
          <a:solidFill>
            <a:srgbClr val="FFFFFF"/>
          </a:solidFill>
          <a:ln w="15875">
            <a:solidFill>
              <a:srgbClr val="E4E7F0"/>
            </a:solidFill>
            <a:prstDash val="solid"/>
          </a:ln>
        </p:spPr>
        <p:txBody>
          <a:bodyPr/>
          <a:lstStyle/>
          <a:p>
            <a:endParaRPr lang="en-US"/>
          </a:p>
        </p:txBody>
      </p:sp>
      <p:sp>
        <p:nvSpPr>
          <p:cNvPr id="15" name="Text 13"/>
          <p:cNvSpPr/>
          <p:nvPr/>
        </p:nvSpPr>
        <p:spPr>
          <a:xfrm>
            <a:off x="8292389" y="219456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ANOTHER OBJECT</a:t>
            </a:r>
            <a:endParaRPr lang="en-US" sz="1000" dirty="0"/>
          </a:p>
        </p:txBody>
      </p:sp>
      <p:sp>
        <p:nvSpPr>
          <p:cNvPr id="16" name="Text 14"/>
          <p:cNvSpPr/>
          <p:nvPr/>
        </p:nvSpPr>
        <p:spPr>
          <a:xfrm>
            <a:off x="8292389" y="2441448"/>
            <a:ext cx="3186074" cy="502920"/>
          </a:xfrm>
          <a:prstGeom prst="rect">
            <a:avLst/>
          </a:prstGeom>
          <a:noFill/>
          <a:ln/>
        </p:spPr>
        <p:txBody>
          <a:bodyPr wrap="square" lIns="0" tIns="0" rIns="0" bIns="0" rtlCol="0" anchor="ctr"/>
          <a:lstStyle/>
          <a:p>
            <a:pPr marL="0" indent="0">
              <a:lnSpc>
                <a:spcPct val="100000"/>
              </a:lnSpc>
              <a:buNone/>
            </a:pPr>
            <a:r>
              <a:rPr lang="en-US" sz="1200" b="1" dirty="0">
                <a:solidFill>
                  <a:srgbClr val="1E2761"/>
                </a:solidFill>
                <a:latin typeface="Consolas" pitchFamily="34" charset="0"/>
                <a:ea typeface="Consolas" pitchFamily="34" charset="-122"/>
                <a:cs typeface="Consolas" pitchFamily="34" charset="-120"/>
              </a:rPr>
              <a:t>new Visit("2026-02-03", 89.50)</a:t>
            </a:r>
            <a:endParaRPr lang="en-US" sz="1200" dirty="0"/>
          </a:p>
        </p:txBody>
      </p:sp>
      <p:sp>
        <p:nvSpPr>
          <p:cNvPr id="17" name="Text 15"/>
          <p:cNvSpPr/>
          <p:nvPr/>
        </p:nvSpPr>
        <p:spPr>
          <a:xfrm>
            <a:off x="8292389" y="2971800"/>
            <a:ext cx="3186074" cy="960120"/>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A second, completely separate Visit — same blueprint, different data.</a:t>
            </a:r>
            <a:endParaRPr lang="en-US" sz="1100" dirty="0"/>
          </a:p>
        </p:txBody>
      </p:sp>
      <p:sp>
        <p:nvSpPr>
          <p:cNvPr id="18" name="Shape 16"/>
          <p:cNvSpPr/>
          <p:nvPr/>
        </p:nvSpPr>
        <p:spPr>
          <a:xfrm>
            <a:off x="548640" y="4863400"/>
            <a:ext cx="11094415" cy="777240"/>
          </a:xfrm>
          <a:prstGeom prst="roundRect">
            <a:avLst>
              <a:gd name="adj" fmla="val 7059"/>
            </a:avLst>
          </a:prstGeom>
          <a:solidFill>
            <a:srgbClr val="FFF3D6"/>
          </a:solidFill>
          <a:ln w="15875">
            <a:solidFill>
              <a:srgbClr val="E3B94C"/>
            </a:solidFill>
            <a:prstDash val="solid"/>
          </a:ln>
        </p:spPr>
        <p:txBody>
          <a:bodyPr/>
          <a:lstStyle/>
          <a:p>
            <a:endParaRPr lang="en-US"/>
          </a:p>
        </p:txBody>
      </p:sp>
      <p:sp>
        <p:nvSpPr>
          <p:cNvPr id="19" name="Text 17"/>
          <p:cNvSpPr/>
          <p:nvPr/>
        </p:nvSpPr>
        <p:spPr>
          <a:xfrm>
            <a:off x="804672" y="4973128"/>
            <a:ext cx="10582351" cy="557784"/>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You already know this pattern: public class HelloJava was a blueprint too — you just only ever built exactly one thing from it. Today's blueprints get built more than once.</a:t>
            </a:r>
            <a:endParaRPr lang="en-US" sz="1800"/>
          </a:p>
        </p:txBody>
      </p:sp>
      <p:sp>
        <p:nvSpPr>
          <p:cNvPr id="20" name="Text 1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Anatomy of a Class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371600"/>
            <a:ext cx="11094415" cy="3063240"/>
          </a:xfrm>
          <a:prstGeom prst="roundRect">
            <a:avLst>
              <a:gd name="adj" fmla="val 268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572768"/>
            <a:ext cx="10545775" cy="2660904"/>
          </a:xfrm>
          <a:prstGeom prst="rect">
            <a:avLst/>
          </a:prstGeom>
          <a:noFill/>
          <a:ln/>
        </p:spPr>
        <p:txBody>
          <a:bodyPr wrap="square" lIns="0" tIns="0" rIns="0" bIns="0" rtlCol="0" anchor="t"/>
          <a:lstStyle/>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public class Visit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String visitDate;      // instance variable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double visitCost;      // instance variable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public Visit(String visitDate, double visitCost) {  // constructor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this.visitDate = visitDate;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this.visitCost = visitCost;</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public String getSummary() {   // instance method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return visitDate + ": $" + visitCost;</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a:t>
            </a:r>
            <a:endParaRPr lang="en-US" sz="1250" dirty="0"/>
          </a:p>
        </p:txBody>
      </p:sp>
      <p:sp>
        <p:nvSpPr>
          <p:cNvPr id="7" name="Shape 5"/>
          <p:cNvSpPr/>
          <p:nvPr/>
        </p:nvSpPr>
        <p:spPr>
          <a:xfrm>
            <a:off x="548640" y="4617720"/>
            <a:ext cx="11091672" cy="329184"/>
          </a:xfrm>
          <a:prstGeom prst="rect">
            <a:avLst/>
          </a:prstGeom>
          <a:solidFill>
            <a:srgbClr val="1E2761"/>
          </a:solidFill>
          <a:ln/>
        </p:spPr>
        <p:txBody>
          <a:bodyPr/>
          <a:lstStyle/>
          <a:p>
            <a:endParaRPr lang="en-US"/>
          </a:p>
        </p:txBody>
      </p:sp>
      <p:sp>
        <p:nvSpPr>
          <p:cNvPr id="8" name="Text 6"/>
          <p:cNvSpPr/>
          <p:nvPr/>
        </p:nvSpPr>
        <p:spPr>
          <a:xfrm>
            <a:off x="640080" y="4617720"/>
            <a:ext cx="2231136" cy="329184"/>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Part</a:t>
            </a:r>
            <a:endParaRPr lang="en-US" sz="1400"/>
          </a:p>
        </p:txBody>
      </p:sp>
      <p:sp>
        <p:nvSpPr>
          <p:cNvPr id="9" name="Text 7"/>
          <p:cNvSpPr/>
          <p:nvPr/>
        </p:nvSpPr>
        <p:spPr>
          <a:xfrm>
            <a:off x="3017520" y="4617720"/>
            <a:ext cx="8567928" cy="329184"/>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What it is</a:t>
            </a:r>
            <a:endParaRPr lang="en-US" sz="1400"/>
          </a:p>
        </p:txBody>
      </p:sp>
      <p:sp>
        <p:nvSpPr>
          <p:cNvPr id="10" name="Text 8"/>
          <p:cNvSpPr/>
          <p:nvPr/>
        </p:nvSpPr>
        <p:spPr>
          <a:xfrm>
            <a:off x="640080" y="4946904"/>
            <a:ext cx="2231136" cy="329184"/>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Instance variables</a:t>
            </a:r>
            <a:endParaRPr lang="en-US" sz="1400"/>
          </a:p>
        </p:txBody>
      </p:sp>
      <p:sp>
        <p:nvSpPr>
          <p:cNvPr id="11" name="Text 9"/>
          <p:cNvSpPr/>
          <p:nvPr/>
        </p:nvSpPr>
        <p:spPr>
          <a:xfrm>
            <a:off x="3017520" y="4946904"/>
            <a:ext cx="8567928" cy="329184"/>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The data every object carries — private, so nothing outside can reach in and change it.</a:t>
            </a:r>
            <a:endParaRPr lang="en-US" sz="1400"/>
          </a:p>
        </p:txBody>
      </p:sp>
      <p:sp>
        <p:nvSpPr>
          <p:cNvPr id="12" name="Shape 10"/>
          <p:cNvSpPr/>
          <p:nvPr/>
        </p:nvSpPr>
        <p:spPr>
          <a:xfrm>
            <a:off x="548640" y="5276088"/>
            <a:ext cx="0" cy="329184"/>
          </a:xfrm>
          <a:prstGeom prst="rect">
            <a:avLst/>
          </a:prstGeom>
          <a:solidFill>
            <a:srgbClr val="F3F5FA"/>
          </a:solidFill>
          <a:ln/>
        </p:spPr>
        <p:txBody>
          <a:bodyPr/>
          <a:lstStyle/>
          <a:p>
            <a:endParaRPr lang="en-US"/>
          </a:p>
        </p:txBody>
      </p:sp>
      <p:sp>
        <p:nvSpPr>
          <p:cNvPr id="13" name="Text 11"/>
          <p:cNvSpPr/>
          <p:nvPr/>
        </p:nvSpPr>
        <p:spPr>
          <a:xfrm>
            <a:off x="640080" y="5276088"/>
            <a:ext cx="2231136" cy="329184"/>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Constructor</a:t>
            </a:r>
            <a:endParaRPr lang="en-US" sz="1400"/>
          </a:p>
        </p:txBody>
      </p:sp>
      <p:sp>
        <p:nvSpPr>
          <p:cNvPr id="14" name="Text 12"/>
          <p:cNvSpPr/>
          <p:nvPr/>
        </p:nvSpPr>
        <p:spPr>
          <a:xfrm>
            <a:off x="3017520" y="5276088"/>
            <a:ext cx="8567928" cy="329184"/>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Runs once, when an object is created with new. Sets the starting state.</a:t>
            </a:r>
            <a:endParaRPr lang="en-US" sz="1400"/>
          </a:p>
        </p:txBody>
      </p:sp>
      <p:sp>
        <p:nvSpPr>
          <p:cNvPr id="15" name="Text 13"/>
          <p:cNvSpPr/>
          <p:nvPr/>
        </p:nvSpPr>
        <p:spPr>
          <a:xfrm>
            <a:off x="640080" y="5605272"/>
            <a:ext cx="2231136" cy="329184"/>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Instance methods</a:t>
            </a:r>
            <a:endParaRPr lang="en-US" sz="1400"/>
          </a:p>
        </p:txBody>
      </p:sp>
      <p:sp>
        <p:nvSpPr>
          <p:cNvPr id="16" name="Text 14"/>
          <p:cNvSpPr/>
          <p:nvPr/>
        </p:nvSpPr>
        <p:spPr>
          <a:xfrm>
            <a:off x="3017520" y="5605272"/>
            <a:ext cx="8567928" cy="329184"/>
          </a:xfrm>
          <a:prstGeom prst="rect">
            <a:avLst/>
          </a:prstGeom>
          <a:noFill/>
          <a:ln/>
        </p:spPr>
        <p:txBody>
          <a:bodyPr wrap="square" lIns="0" tIns="0" rIns="0" bIns="0" rtlCol="0" anchor="ctr"/>
          <a:lstStyle/>
          <a:p>
            <a:pPr marL="0" indent="0">
              <a:buNone/>
            </a:pPr>
            <a:r>
              <a:rPr lang="en-US" sz="1400">
                <a:solidFill>
                  <a:srgbClr val="22242E"/>
                </a:solidFill>
                <a:latin typeface="Calibri" pitchFamily="34" charset="0"/>
                <a:ea typeface="Calibri" pitchFamily="34" charset="-122"/>
                <a:cs typeface="Calibri" pitchFamily="34" charset="-120"/>
              </a:rPr>
              <a:t>Behavior that reads or uses the object's own instance variables.</a:t>
            </a:r>
            <a:endParaRPr lang="en-US" sz="1400"/>
          </a:p>
        </p:txBody>
      </p:sp>
      <p:sp>
        <p:nvSpPr>
          <p:cNvPr id="17" name="Text 1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Encapsulation</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64008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Encapsulation means hiding a class's data behind private fields and controlling access to it only through the class's own methods.</a:t>
            </a:r>
            <a:endParaRPr lang="en-US" sz="1800"/>
          </a:p>
        </p:txBody>
      </p:sp>
      <p:sp>
        <p:nvSpPr>
          <p:cNvPr id="6" name="Shape 4"/>
          <p:cNvSpPr/>
          <p:nvPr/>
        </p:nvSpPr>
        <p:spPr>
          <a:xfrm>
            <a:off x="548640" y="2148840"/>
            <a:ext cx="3515258" cy="2971800"/>
          </a:xfrm>
          <a:prstGeom prst="roundRect">
            <a:avLst>
              <a:gd name="adj" fmla="val 2174"/>
            </a:avLst>
          </a:prstGeom>
          <a:solidFill>
            <a:srgbClr val="FFFFFF"/>
          </a:solidFill>
          <a:ln w="15875">
            <a:solidFill>
              <a:srgbClr val="E4E7F0"/>
            </a:solidFill>
            <a:prstDash val="solid"/>
          </a:ln>
        </p:spPr>
        <p:txBody>
          <a:bodyPr/>
          <a:lstStyle/>
          <a:p>
            <a:endParaRPr lang="en-US"/>
          </a:p>
        </p:txBody>
      </p:sp>
      <p:sp>
        <p:nvSpPr>
          <p:cNvPr id="7" name="Text 5"/>
          <p:cNvSpPr/>
          <p:nvPr/>
        </p:nvSpPr>
        <p:spPr>
          <a:xfrm>
            <a:off x="713232" y="228600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WITHOUT IT</a:t>
            </a:r>
            <a:endParaRPr lang="en-US" sz="1000" dirty="0"/>
          </a:p>
        </p:txBody>
      </p:sp>
      <p:sp>
        <p:nvSpPr>
          <p:cNvPr id="8" name="Text 6"/>
          <p:cNvSpPr/>
          <p:nvPr/>
        </p:nvSpPr>
        <p:spPr>
          <a:xfrm>
            <a:off x="713232" y="2532888"/>
            <a:ext cx="3186074" cy="548640"/>
          </a:xfrm>
          <a:prstGeom prst="rect">
            <a:avLst/>
          </a:prstGeom>
          <a:noFill/>
          <a:ln/>
        </p:spPr>
        <p:txBody>
          <a:bodyPr wrap="square" lIns="0" tIns="0" rIns="0" bIns="0" rtlCol="0" anchor="ctr"/>
          <a:lstStyle/>
          <a:p>
            <a:pPr marL="0" indent="0">
              <a:lnSpc>
                <a:spcPct val="100000"/>
              </a:lnSpc>
              <a:buNone/>
            </a:pPr>
            <a:r>
              <a:rPr lang="en-US" sz="1200" b="1" dirty="0">
                <a:solidFill>
                  <a:srgbClr val="1E2761"/>
                </a:solidFill>
                <a:latin typeface="Consolas" pitchFamily="34" charset="0"/>
                <a:ea typeface="Consolas" pitchFamily="34" charset="-122"/>
                <a:cs typeface="Consolas" pitchFamily="34" charset="-120"/>
              </a:rPr>
              <a:t>public double visitCost;</a:t>
            </a:r>
            <a:endParaRPr lang="en-US" sz="1200" dirty="0"/>
          </a:p>
        </p:txBody>
      </p:sp>
      <p:sp>
        <p:nvSpPr>
          <p:cNvPr id="9" name="Text 7"/>
          <p:cNvSpPr/>
          <p:nvPr/>
        </p:nvSpPr>
        <p:spPr>
          <a:xfrm>
            <a:off x="713232" y="3108960"/>
            <a:ext cx="3186074" cy="1051560"/>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Any code anywhere could write visit.visitCost = -500; — a negative cost, and nothing stops it.</a:t>
            </a:r>
            <a:endParaRPr lang="en-US" sz="1100" dirty="0"/>
          </a:p>
        </p:txBody>
      </p:sp>
      <p:sp>
        <p:nvSpPr>
          <p:cNvPr id="10" name="Shape 8"/>
          <p:cNvSpPr/>
          <p:nvPr/>
        </p:nvSpPr>
        <p:spPr>
          <a:xfrm>
            <a:off x="4338218" y="2148840"/>
            <a:ext cx="3515258" cy="2971800"/>
          </a:xfrm>
          <a:prstGeom prst="roundRect">
            <a:avLst>
              <a:gd name="adj" fmla="val 2174"/>
            </a:avLst>
          </a:prstGeom>
          <a:solidFill>
            <a:srgbClr val="FFFFFF"/>
          </a:solidFill>
          <a:ln w="15875">
            <a:solidFill>
              <a:srgbClr val="E4E7F0"/>
            </a:solidFill>
            <a:prstDash val="solid"/>
          </a:ln>
        </p:spPr>
        <p:txBody>
          <a:bodyPr/>
          <a:lstStyle/>
          <a:p>
            <a:endParaRPr lang="en-US"/>
          </a:p>
        </p:txBody>
      </p:sp>
      <p:sp>
        <p:nvSpPr>
          <p:cNvPr id="11" name="Text 9"/>
          <p:cNvSpPr/>
          <p:nvPr/>
        </p:nvSpPr>
        <p:spPr>
          <a:xfrm>
            <a:off x="4502810" y="228600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WITH IT</a:t>
            </a:r>
            <a:endParaRPr lang="en-US" sz="1000" dirty="0"/>
          </a:p>
        </p:txBody>
      </p:sp>
      <p:sp>
        <p:nvSpPr>
          <p:cNvPr id="12" name="Text 10"/>
          <p:cNvSpPr/>
          <p:nvPr/>
        </p:nvSpPr>
        <p:spPr>
          <a:xfrm>
            <a:off x="4502810" y="2532888"/>
            <a:ext cx="3186074" cy="548640"/>
          </a:xfrm>
          <a:prstGeom prst="rect">
            <a:avLst/>
          </a:prstGeom>
          <a:noFill/>
          <a:ln/>
        </p:spPr>
        <p:txBody>
          <a:bodyPr wrap="square" lIns="0" tIns="0" rIns="0" bIns="0" rtlCol="0" anchor="ctr"/>
          <a:lstStyle/>
          <a:p>
            <a:pPr marL="0" indent="0">
              <a:lnSpc>
                <a:spcPct val="100000"/>
              </a:lnSpc>
              <a:buNone/>
            </a:pPr>
            <a:r>
              <a:rPr lang="en-US" sz="1200" b="1" dirty="0">
                <a:solidFill>
                  <a:srgbClr val="1E2761"/>
                </a:solidFill>
                <a:latin typeface="Consolas" pitchFamily="34" charset="0"/>
                <a:ea typeface="Consolas" pitchFamily="34" charset="-122"/>
                <a:cs typeface="Consolas" pitchFamily="34" charset="-120"/>
              </a:rPr>
              <a:t>private double visitCost;</a:t>
            </a:r>
            <a:endParaRPr lang="en-US" sz="1200" dirty="0"/>
          </a:p>
        </p:txBody>
      </p:sp>
      <p:sp>
        <p:nvSpPr>
          <p:cNvPr id="13" name="Text 11"/>
          <p:cNvSpPr/>
          <p:nvPr/>
        </p:nvSpPr>
        <p:spPr>
          <a:xfrm>
            <a:off x="4502810" y="3108960"/>
            <a:ext cx="3186074" cy="1051560"/>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Outside code can't touch the field at all — only through the constructor and exposed methods.</a:t>
            </a:r>
            <a:endParaRPr lang="en-US" sz="1100" dirty="0"/>
          </a:p>
        </p:txBody>
      </p:sp>
      <p:sp>
        <p:nvSpPr>
          <p:cNvPr id="14" name="Shape 12"/>
          <p:cNvSpPr/>
          <p:nvPr/>
        </p:nvSpPr>
        <p:spPr>
          <a:xfrm>
            <a:off x="8127797" y="2148840"/>
            <a:ext cx="3515258" cy="2971800"/>
          </a:xfrm>
          <a:prstGeom prst="roundRect">
            <a:avLst>
              <a:gd name="adj" fmla="val 2174"/>
            </a:avLst>
          </a:prstGeom>
          <a:solidFill>
            <a:srgbClr val="FFFFFF"/>
          </a:solidFill>
          <a:ln w="15875">
            <a:solidFill>
              <a:srgbClr val="E4E7F0"/>
            </a:solidFill>
            <a:prstDash val="solid"/>
          </a:ln>
        </p:spPr>
        <p:txBody>
          <a:bodyPr/>
          <a:lstStyle/>
          <a:p>
            <a:endParaRPr lang="en-US"/>
          </a:p>
        </p:txBody>
      </p:sp>
      <p:sp>
        <p:nvSpPr>
          <p:cNvPr id="15" name="Text 13"/>
          <p:cNvSpPr/>
          <p:nvPr/>
        </p:nvSpPr>
        <p:spPr>
          <a:xfrm>
            <a:off x="8292389" y="228600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WHY IT MATTERS</a:t>
            </a:r>
            <a:endParaRPr lang="en-US" sz="1000" dirty="0"/>
          </a:p>
        </p:txBody>
      </p:sp>
      <p:sp>
        <p:nvSpPr>
          <p:cNvPr id="16" name="Text 14"/>
          <p:cNvSpPr/>
          <p:nvPr/>
        </p:nvSpPr>
        <p:spPr>
          <a:xfrm>
            <a:off x="8292389" y="2532888"/>
            <a:ext cx="3186074" cy="548640"/>
          </a:xfrm>
          <a:prstGeom prst="rect">
            <a:avLst/>
          </a:prstGeom>
          <a:noFill/>
          <a:ln/>
        </p:spPr>
        <p:txBody>
          <a:bodyPr wrap="square" lIns="0" tIns="0" rIns="0" bIns="0" rtlCol="0" anchor="ctr"/>
          <a:lstStyle/>
          <a:p>
            <a:pPr marL="0" indent="0">
              <a:lnSpc>
                <a:spcPct val="100000"/>
              </a:lnSpc>
              <a:buNone/>
            </a:pPr>
            <a:r>
              <a:rPr lang="en-US" sz="1200" b="1" dirty="0">
                <a:solidFill>
                  <a:srgbClr val="1E2761"/>
                </a:solidFill>
                <a:latin typeface="Consolas" pitchFamily="34" charset="0"/>
                <a:ea typeface="Consolas" pitchFamily="34" charset="-122"/>
                <a:cs typeface="Consolas" pitchFamily="34" charset="-120"/>
              </a:rPr>
              <a:t>The class protects itself</a:t>
            </a:r>
            <a:endParaRPr lang="en-US" sz="1200" dirty="0"/>
          </a:p>
        </p:txBody>
      </p:sp>
      <p:sp>
        <p:nvSpPr>
          <p:cNvPr id="17" name="Text 15"/>
          <p:cNvSpPr/>
          <p:nvPr/>
        </p:nvSpPr>
        <p:spPr>
          <a:xfrm>
            <a:off x="8292389" y="3108960"/>
            <a:ext cx="3186074" cy="1051560"/>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The class decides what values are allowed to exist inside it, instead of trusting every caller.</a:t>
            </a:r>
            <a:endParaRPr lang="en-US" sz="1100" dirty="0"/>
          </a:p>
        </p:txBody>
      </p:sp>
      <p:sp>
        <p:nvSpPr>
          <p:cNvPr id="18" name="Text 16"/>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Instance Variables vs. Local Variables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54864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You've been declaring local variables since Day 1. Today's instance variables look almost the same but behave very differently.</a:t>
            </a:r>
            <a:endParaRPr lang="en-US" sz="1800"/>
          </a:p>
        </p:txBody>
      </p:sp>
      <p:sp>
        <p:nvSpPr>
          <p:cNvPr id="6" name="Shape 4"/>
          <p:cNvSpPr/>
          <p:nvPr/>
        </p:nvSpPr>
        <p:spPr>
          <a:xfrm>
            <a:off x="548640" y="2103120"/>
            <a:ext cx="11091672" cy="347472"/>
          </a:xfrm>
          <a:prstGeom prst="rect">
            <a:avLst/>
          </a:prstGeom>
          <a:solidFill>
            <a:srgbClr val="1E2761"/>
          </a:solidFill>
          <a:ln/>
        </p:spPr>
        <p:txBody>
          <a:bodyPr/>
          <a:lstStyle/>
          <a:p>
            <a:endParaRPr lang="en-US"/>
          </a:p>
        </p:txBody>
      </p:sp>
      <p:sp>
        <p:nvSpPr>
          <p:cNvPr id="7" name="Text 5"/>
          <p:cNvSpPr/>
          <p:nvPr/>
        </p:nvSpPr>
        <p:spPr>
          <a:xfrm>
            <a:off x="640080" y="2103120"/>
            <a:ext cx="2505456" cy="347472"/>
          </a:xfrm>
          <a:prstGeom prst="rect">
            <a:avLst/>
          </a:prstGeom>
          <a:noFill/>
          <a:ln/>
        </p:spPr>
        <p:txBody>
          <a:bodyPr wrap="square" lIns="0" tIns="0" rIns="0" bIns="0" rtlCol="0" anchor="ctr"/>
          <a:lstStyle/>
          <a:p>
            <a:pPr marL="0" indent="0">
              <a:buNone/>
            </a:pPr>
            <a:endParaRPr lang="en-US" sz="1400"/>
          </a:p>
        </p:txBody>
      </p:sp>
      <p:sp>
        <p:nvSpPr>
          <p:cNvPr id="8" name="Text 6"/>
          <p:cNvSpPr/>
          <p:nvPr/>
        </p:nvSpPr>
        <p:spPr>
          <a:xfrm>
            <a:off x="3291840" y="2103120"/>
            <a:ext cx="4059936" cy="34747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Local variable</a:t>
            </a:r>
            <a:endParaRPr lang="en-US" sz="1400"/>
          </a:p>
        </p:txBody>
      </p:sp>
      <p:sp>
        <p:nvSpPr>
          <p:cNvPr id="9" name="Text 7"/>
          <p:cNvSpPr/>
          <p:nvPr/>
        </p:nvSpPr>
        <p:spPr>
          <a:xfrm>
            <a:off x="7498080" y="2103120"/>
            <a:ext cx="4087368" cy="34747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Instance variable</a:t>
            </a:r>
            <a:endParaRPr lang="en-US" sz="1400"/>
          </a:p>
        </p:txBody>
      </p:sp>
      <p:sp>
        <p:nvSpPr>
          <p:cNvPr id="10" name="Text 8"/>
          <p:cNvSpPr/>
          <p:nvPr/>
        </p:nvSpPr>
        <p:spPr>
          <a:xfrm>
            <a:off x="640080" y="2450592"/>
            <a:ext cx="250545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Where declared</a:t>
            </a:r>
            <a:endParaRPr lang="en-US" sz="1150" dirty="0"/>
          </a:p>
        </p:txBody>
      </p:sp>
      <p:sp>
        <p:nvSpPr>
          <p:cNvPr id="11" name="Text 9"/>
          <p:cNvSpPr/>
          <p:nvPr/>
        </p:nvSpPr>
        <p:spPr>
          <a:xfrm>
            <a:off x="3291840" y="2450592"/>
            <a:ext cx="405993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Inside a method, between { }</a:t>
            </a:r>
            <a:endParaRPr lang="en-US" sz="1150" dirty="0"/>
          </a:p>
        </p:txBody>
      </p:sp>
      <p:sp>
        <p:nvSpPr>
          <p:cNvPr id="12" name="Text 10"/>
          <p:cNvSpPr/>
          <p:nvPr/>
        </p:nvSpPr>
        <p:spPr>
          <a:xfrm>
            <a:off x="7498080" y="2450592"/>
            <a:ext cx="4087368"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Inside the class, outside any method</a:t>
            </a:r>
            <a:endParaRPr lang="en-US" sz="1150" dirty="0"/>
          </a:p>
        </p:txBody>
      </p:sp>
      <p:sp>
        <p:nvSpPr>
          <p:cNvPr id="13" name="Shape 11"/>
          <p:cNvSpPr/>
          <p:nvPr/>
        </p:nvSpPr>
        <p:spPr>
          <a:xfrm>
            <a:off x="548640" y="2834640"/>
            <a:ext cx="0" cy="384048"/>
          </a:xfrm>
          <a:prstGeom prst="rect">
            <a:avLst/>
          </a:prstGeom>
          <a:solidFill>
            <a:srgbClr val="F3F5FA"/>
          </a:solidFill>
          <a:ln/>
        </p:spPr>
        <p:txBody>
          <a:bodyPr/>
          <a:lstStyle/>
          <a:p>
            <a:endParaRPr lang="en-US"/>
          </a:p>
        </p:txBody>
      </p:sp>
      <p:sp>
        <p:nvSpPr>
          <p:cNvPr id="14" name="Text 12"/>
          <p:cNvSpPr/>
          <p:nvPr/>
        </p:nvSpPr>
        <p:spPr>
          <a:xfrm>
            <a:off x="640080" y="2834640"/>
            <a:ext cx="250545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How long it lives</a:t>
            </a:r>
            <a:endParaRPr lang="en-US" sz="1150" dirty="0"/>
          </a:p>
        </p:txBody>
      </p:sp>
      <p:sp>
        <p:nvSpPr>
          <p:cNvPr id="15" name="Text 13"/>
          <p:cNvSpPr/>
          <p:nvPr/>
        </p:nvSpPr>
        <p:spPr>
          <a:xfrm>
            <a:off x="3291840" y="2834640"/>
            <a:ext cx="405993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Only while that method is running</a:t>
            </a:r>
            <a:endParaRPr lang="en-US" sz="1150" dirty="0"/>
          </a:p>
        </p:txBody>
      </p:sp>
      <p:sp>
        <p:nvSpPr>
          <p:cNvPr id="16" name="Text 14"/>
          <p:cNvSpPr/>
          <p:nvPr/>
        </p:nvSpPr>
        <p:spPr>
          <a:xfrm>
            <a:off x="7498080" y="2834640"/>
            <a:ext cx="4087368"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As long as the object exists</a:t>
            </a:r>
            <a:endParaRPr lang="en-US" sz="1150" dirty="0"/>
          </a:p>
        </p:txBody>
      </p:sp>
      <p:sp>
        <p:nvSpPr>
          <p:cNvPr id="17" name="Text 15"/>
          <p:cNvSpPr/>
          <p:nvPr/>
        </p:nvSpPr>
        <p:spPr>
          <a:xfrm>
            <a:off x="640080" y="3218688"/>
            <a:ext cx="250545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Who can see it</a:t>
            </a:r>
            <a:endParaRPr lang="en-US" sz="1150" dirty="0"/>
          </a:p>
        </p:txBody>
      </p:sp>
      <p:sp>
        <p:nvSpPr>
          <p:cNvPr id="18" name="Text 16"/>
          <p:cNvSpPr/>
          <p:nvPr/>
        </p:nvSpPr>
        <p:spPr>
          <a:xfrm>
            <a:off x="3291840" y="3218688"/>
            <a:ext cx="405993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Only code inside that method</a:t>
            </a:r>
            <a:endParaRPr lang="en-US" sz="1150" dirty="0"/>
          </a:p>
        </p:txBody>
      </p:sp>
      <p:sp>
        <p:nvSpPr>
          <p:cNvPr id="19" name="Text 17"/>
          <p:cNvSpPr/>
          <p:nvPr/>
        </p:nvSpPr>
        <p:spPr>
          <a:xfrm>
            <a:off x="7498080" y="3218688"/>
            <a:ext cx="4087368"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Every method in the class</a:t>
            </a:r>
            <a:endParaRPr lang="en-US" sz="1150" dirty="0"/>
          </a:p>
        </p:txBody>
      </p:sp>
      <p:sp>
        <p:nvSpPr>
          <p:cNvPr id="20" name="Shape 18"/>
          <p:cNvSpPr/>
          <p:nvPr/>
        </p:nvSpPr>
        <p:spPr>
          <a:xfrm>
            <a:off x="548640" y="3602736"/>
            <a:ext cx="0" cy="384048"/>
          </a:xfrm>
          <a:prstGeom prst="rect">
            <a:avLst/>
          </a:prstGeom>
          <a:solidFill>
            <a:srgbClr val="F3F5FA"/>
          </a:solidFill>
          <a:ln/>
        </p:spPr>
        <p:txBody>
          <a:bodyPr/>
          <a:lstStyle/>
          <a:p>
            <a:endParaRPr lang="en-US"/>
          </a:p>
        </p:txBody>
      </p:sp>
      <p:sp>
        <p:nvSpPr>
          <p:cNvPr id="21" name="Text 19"/>
          <p:cNvSpPr/>
          <p:nvPr/>
        </p:nvSpPr>
        <p:spPr>
          <a:xfrm>
            <a:off x="640080" y="3602736"/>
            <a:ext cx="250545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Example</a:t>
            </a:r>
            <a:endParaRPr lang="en-US" sz="1150" dirty="0"/>
          </a:p>
        </p:txBody>
      </p:sp>
      <p:sp>
        <p:nvSpPr>
          <p:cNvPr id="22" name="Text 20"/>
          <p:cNvSpPr/>
          <p:nvPr/>
        </p:nvSpPr>
        <p:spPr>
          <a:xfrm>
            <a:off x="3291840" y="3602736"/>
            <a:ext cx="4059936"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String today = "..."; inside main()</a:t>
            </a:r>
            <a:endParaRPr lang="en-US" sz="1150" dirty="0"/>
          </a:p>
        </p:txBody>
      </p:sp>
      <p:sp>
        <p:nvSpPr>
          <p:cNvPr id="23" name="Text 21"/>
          <p:cNvSpPr/>
          <p:nvPr/>
        </p:nvSpPr>
        <p:spPr>
          <a:xfrm>
            <a:off x="7498080" y="3602736"/>
            <a:ext cx="4087368" cy="384048"/>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private String visitDate; in Visit</a:t>
            </a:r>
            <a:endParaRPr lang="en-US" sz="1150" dirty="0"/>
          </a:p>
        </p:txBody>
      </p:sp>
      <p:sp>
        <p:nvSpPr>
          <p:cNvPr id="24" name="Text 22"/>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Declaring Instance Variables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1737360"/>
          </a:xfrm>
          <a:prstGeom prst="roundRect">
            <a:avLst>
              <a:gd name="adj" fmla="val 473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133502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class Visit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private String visitDate;</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private double visitCost;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 constructor and methods go here</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548640" y="338328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THE RULE TO REMEMBER</a:t>
            </a:r>
            <a:endParaRPr lang="en-US" sz="1100" dirty="0"/>
          </a:p>
        </p:txBody>
      </p:sp>
      <p:sp>
        <p:nvSpPr>
          <p:cNvPr id="8" name="Text 6"/>
          <p:cNvSpPr/>
          <p:nvPr/>
        </p:nvSpPr>
        <p:spPr>
          <a:xfrm>
            <a:off x="548640" y="3703320"/>
            <a:ext cx="11094415" cy="10972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Declared at the top of the class, outside any method — the same place, every time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private is the standard access modifier for instance variables in this course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No value is assigned here for our classes — the constructor sets the real starting value</a:t>
            </a:r>
            <a:endParaRPr lang="en-US" sz="180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Is a Constructor?</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91440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A constructor is a special block of code that runs automatically, exactly once, the moment an object is created with new — its job is to set up the object's starting state.</a:t>
            </a:r>
            <a:endParaRPr lang="en-US" sz="1800"/>
          </a:p>
        </p:txBody>
      </p:sp>
      <p:sp>
        <p:nvSpPr>
          <p:cNvPr id="6" name="Text 4"/>
          <p:cNvSpPr/>
          <p:nvPr/>
        </p:nvSpPr>
        <p:spPr>
          <a:xfrm>
            <a:off x="548640" y="246888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HOW YOU KNOW IT'S A CONSTRUCTOR</a:t>
            </a:r>
            <a:endParaRPr lang="en-US" sz="1100" dirty="0"/>
          </a:p>
        </p:txBody>
      </p:sp>
      <p:sp>
        <p:nvSpPr>
          <p:cNvPr id="7" name="Text 5"/>
          <p:cNvSpPr/>
          <p:nvPr/>
        </p:nvSpPr>
        <p:spPr>
          <a:xfrm>
            <a:off x="548640" y="2788920"/>
            <a:ext cx="11094415" cy="10972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Its name is identical to the class name — Visit's constructor is named Visit</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It has no return type at all — not even void</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It runs when you write new Visit(...) — you never call it any other way</a:t>
            </a:r>
            <a:endParaRPr lang="en-US" sz="1800"/>
          </a:p>
        </p:txBody>
      </p:sp>
      <p:sp>
        <p:nvSpPr>
          <p:cNvPr id="8" name="Shape 6"/>
          <p:cNvSpPr/>
          <p:nvPr/>
        </p:nvSpPr>
        <p:spPr>
          <a:xfrm>
            <a:off x="548640" y="4023360"/>
            <a:ext cx="11094415" cy="1058875"/>
          </a:xfrm>
          <a:prstGeom prst="roundRect">
            <a:avLst>
              <a:gd name="adj" fmla="val 8000"/>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133088"/>
            <a:ext cx="10582351" cy="839419"/>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Every class you write from today forward gets a constructor. If you don't write one, Java silently gives you an empty default — which is rarely what you actually want.</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Coding a Constructor</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1188720"/>
          </a:xfrm>
          <a:prstGeom prst="roundRect">
            <a:avLst>
              <a:gd name="adj" fmla="val 6923"/>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78638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Visit(String visitDate, double visitCost)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this.visitDate = visitDate;</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this.visitCost = visitCost;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p:txBody>
      </p:sp>
      <p:sp>
        <p:nvSpPr>
          <p:cNvPr id="7" name="Shape 5"/>
          <p:cNvSpPr/>
          <p:nvPr/>
        </p:nvSpPr>
        <p:spPr>
          <a:xfrm>
            <a:off x="548640" y="2834640"/>
            <a:ext cx="11091672" cy="329184"/>
          </a:xfrm>
          <a:prstGeom prst="rect">
            <a:avLst/>
          </a:prstGeom>
          <a:solidFill>
            <a:srgbClr val="1E2761"/>
          </a:solidFill>
          <a:ln/>
        </p:spPr>
        <p:txBody>
          <a:bodyPr/>
          <a:lstStyle/>
          <a:p>
            <a:endParaRPr lang="en-US"/>
          </a:p>
        </p:txBody>
      </p:sp>
      <p:sp>
        <p:nvSpPr>
          <p:cNvPr id="8" name="Text 6"/>
          <p:cNvSpPr/>
          <p:nvPr/>
        </p:nvSpPr>
        <p:spPr>
          <a:xfrm>
            <a:off x="640080" y="2834640"/>
            <a:ext cx="3694176" cy="329184"/>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Piece</a:t>
            </a:r>
            <a:endParaRPr lang="en-US" sz="1400"/>
          </a:p>
        </p:txBody>
      </p:sp>
      <p:sp>
        <p:nvSpPr>
          <p:cNvPr id="9" name="Text 7"/>
          <p:cNvSpPr/>
          <p:nvPr/>
        </p:nvSpPr>
        <p:spPr>
          <a:xfrm>
            <a:off x="4480560" y="2834640"/>
            <a:ext cx="7104888" cy="329184"/>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What it means</a:t>
            </a:r>
            <a:endParaRPr lang="en-US" sz="1400"/>
          </a:p>
        </p:txBody>
      </p:sp>
      <p:sp>
        <p:nvSpPr>
          <p:cNvPr id="10" name="Text 8"/>
          <p:cNvSpPr/>
          <p:nvPr/>
        </p:nvSpPr>
        <p:spPr>
          <a:xfrm>
            <a:off x="640080" y="3163824"/>
            <a:ext cx="3694176"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public</a:t>
            </a:r>
            <a:endParaRPr lang="en-US" sz="1100" dirty="0"/>
          </a:p>
        </p:txBody>
      </p:sp>
      <p:sp>
        <p:nvSpPr>
          <p:cNvPr id="11" name="Text 9"/>
          <p:cNvSpPr/>
          <p:nvPr/>
        </p:nvSpPr>
        <p:spPr>
          <a:xfrm>
            <a:off x="4480560" y="3163824"/>
            <a:ext cx="7104888"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Callable from outside the class — same idea as public on main.</a:t>
            </a:r>
            <a:endParaRPr lang="en-US" sz="1100" dirty="0"/>
          </a:p>
        </p:txBody>
      </p:sp>
      <p:sp>
        <p:nvSpPr>
          <p:cNvPr id="12" name="Shape 10"/>
          <p:cNvSpPr/>
          <p:nvPr/>
        </p:nvSpPr>
        <p:spPr>
          <a:xfrm>
            <a:off x="548640" y="3547872"/>
            <a:ext cx="0" cy="384048"/>
          </a:xfrm>
          <a:prstGeom prst="rect">
            <a:avLst/>
          </a:prstGeom>
          <a:solidFill>
            <a:srgbClr val="F3F5FA"/>
          </a:solidFill>
          <a:ln/>
        </p:spPr>
        <p:txBody>
          <a:bodyPr/>
          <a:lstStyle/>
          <a:p>
            <a:endParaRPr lang="en-US"/>
          </a:p>
        </p:txBody>
      </p:sp>
      <p:sp>
        <p:nvSpPr>
          <p:cNvPr id="13" name="Text 11"/>
          <p:cNvSpPr/>
          <p:nvPr/>
        </p:nvSpPr>
        <p:spPr>
          <a:xfrm>
            <a:off x="640080" y="3547872"/>
            <a:ext cx="3694176"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Visit(...)</a:t>
            </a:r>
            <a:endParaRPr lang="en-US" sz="1100" dirty="0"/>
          </a:p>
        </p:txBody>
      </p:sp>
      <p:sp>
        <p:nvSpPr>
          <p:cNvPr id="14" name="Text 12"/>
          <p:cNvSpPr/>
          <p:nvPr/>
        </p:nvSpPr>
        <p:spPr>
          <a:xfrm>
            <a:off x="4480560" y="3547872"/>
            <a:ext cx="7104888"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No return type. The name matches the class exactly.</a:t>
            </a:r>
            <a:endParaRPr lang="en-US" sz="1100" dirty="0"/>
          </a:p>
        </p:txBody>
      </p:sp>
      <p:sp>
        <p:nvSpPr>
          <p:cNvPr id="15" name="Text 13"/>
          <p:cNvSpPr/>
          <p:nvPr/>
        </p:nvSpPr>
        <p:spPr>
          <a:xfrm>
            <a:off x="640080" y="3931920"/>
            <a:ext cx="3694176"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(String visitDate, double visitCost)</a:t>
            </a:r>
            <a:endParaRPr lang="en-US" sz="1100" dirty="0"/>
          </a:p>
        </p:txBody>
      </p:sp>
      <p:sp>
        <p:nvSpPr>
          <p:cNvPr id="16" name="Text 14"/>
          <p:cNvSpPr/>
          <p:nvPr/>
        </p:nvSpPr>
        <p:spPr>
          <a:xfrm>
            <a:off x="4480560" y="3931920"/>
            <a:ext cx="7104888"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Parameters — values a caller must supply to new Visit(...).</a:t>
            </a:r>
            <a:endParaRPr lang="en-US" sz="1100" dirty="0"/>
          </a:p>
        </p:txBody>
      </p:sp>
      <p:sp>
        <p:nvSpPr>
          <p:cNvPr id="17" name="Shape 15"/>
          <p:cNvSpPr/>
          <p:nvPr/>
        </p:nvSpPr>
        <p:spPr>
          <a:xfrm>
            <a:off x="548640" y="4315968"/>
            <a:ext cx="0" cy="384048"/>
          </a:xfrm>
          <a:prstGeom prst="rect">
            <a:avLst/>
          </a:prstGeom>
          <a:solidFill>
            <a:srgbClr val="F3F5FA"/>
          </a:solidFill>
          <a:ln/>
        </p:spPr>
        <p:txBody>
          <a:bodyPr/>
          <a:lstStyle/>
          <a:p>
            <a:endParaRPr lang="en-US"/>
          </a:p>
        </p:txBody>
      </p:sp>
      <p:sp>
        <p:nvSpPr>
          <p:cNvPr id="18" name="Text 16"/>
          <p:cNvSpPr/>
          <p:nvPr/>
        </p:nvSpPr>
        <p:spPr>
          <a:xfrm>
            <a:off x="640080" y="4315968"/>
            <a:ext cx="3694176"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this.visitDate = visitDate;</a:t>
            </a:r>
            <a:endParaRPr lang="en-US" sz="1100" dirty="0"/>
          </a:p>
        </p:txBody>
      </p:sp>
      <p:sp>
        <p:nvSpPr>
          <p:cNvPr id="19" name="Text 17"/>
          <p:cNvSpPr/>
          <p:nvPr/>
        </p:nvSpPr>
        <p:spPr>
          <a:xfrm>
            <a:off x="4480560" y="4315968"/>
            <a:ext cx="7104888" cy="38404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Assigns the parameter's value into the object's own field.</a:t>
            </a:r>
            <a:endParaRPr lang="en-US" sz="1100" dirty="0"/>
          </a:p>
        </p:txBody>
      </p:sp>
      <p:sp>
        <p:nvSpPr>
          <p:cNvPr id="20" name="Text 1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One Class, Many Objects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1554480"/>
          </a:xfrm>
          <a:prstGeom prst="roundRect">
            <a:avLst>
              <a:gd name="adj" fmla="val 5294"/>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115214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Visit first = new Visit("2026-01-15", 125.00);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Visit second = new Visit("2026-02-03", 89.50);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System.out.println(first.getSummary());</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System.out.println(second.getSummary());</a:t>
            </a:r>
            <a:endParaRPr lang="en-US" sz="1400" dirty="0"/>
          </a:p>
        </p:txBody>
      </p:sp>
      <p:sp>
        <p:nvSpPr>
          <p:cNvPr id="7" name="Shape 5"/>
          <p:cNvSpPr/>
          <p:nvPr/>
        </p:nvSpPr>
        <p:spPr>
          <a:xfrm>
            <a:off x="548640" y="3154680"/>
            <a:ext cx="11094415" cy="1119456"/>
          </a:xfrm>
          <a:prstGeom prst="roundRect">
            <a:avLst>
              <a:gd name="adj" fmla="val 5714"/>
            </a:avLst>
          </a:prstGeom>
          <a:solidFill>
            <a:srgbClr val="FFF3D6"/>
          </a:solidFill>
          <a:ln w="15875">
            <a:solidFill>
              <a:srgbClr val="E3B94C"/>
            </a:solidFill>
            <a:prstDash val="solid"/>
          </a:ln>
        </p:spPr>
        <p:txBody>
          <a:bodyPr/>
          <a:lstStyle/>
          <a:p>
            <a:endParaRPr lang="en-US"/>
          </a:p>
        </p:txBody>
      </p:sp>
      <p:sp>
        <p:nvSpPr>
          <p:cNvPr id="8" name="Text 6"/>
          <p:cNvSpPr/>
          <p:nvPr/>
        </p:nvSpPr>
        <p:spPr>
          <a:xfrm>
            <a:off x="804672" y="3264408"/>
            <a:ext cx="10582351" cy="900000"/>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first and second are both Visit objects, built from the exact same blueprint — but they hold completely separate data. Each new call to new Visit(...) creates its own independent copy of the instance variables.</a:t>
            </a:r>
            <a:endParaRPr lang="en-US" sz="1800"/>
          </a:p>
        </p:txBody>
      </p:sp>
      <p:sp>
        <p:nvSpPr>
          <p:cNvPr id="9" name="Text 7"/>
          <p:cNvSpPr/>
          <p:nvPr/>
        </p:nvSpPr>
        <p:spPr>
          <a:xfrm>
            <a:off x="548640" y="434340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WHY THIS MATTERS FOR TODAY'S PROJECT</a:t>
            </a:r>
            <a:endParaRPr lang="en-US" sz="1100" dirty="0"/>
          </a:p>
        </p:txBody>
      </p:sp>
      <p:sp>
        <p:nvSpPr>
          <p:cNvPr id="10" name="Text 8"/>
          <p:cNvSpPr/>
          <p:nvPr/>
        </p:nvSpPr>
        <p:spPr>
          <a:xfrm>
            <a:off x="548640" y="4663440"/>
            <a:ext cx="11094415" cy="36576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This is exactly what would let the calculator eventually handle more than one member</a:t>
            </a:r>
            <a:endParaRPr lang="en-US" sz="1800"/>
          </a:p>
        </p:txBody>
      </p:sp>
      <p:sp>
        <p:nvSpPr>
          <p:cNvPr id="11" name="Text 9"/>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Get Methods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50292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Since instance variables are private, a get method is the standard way to let outside code read one.</a:t>
            </a:r>
            <a:endParaRPr lang="en-US" sz="1800"/>
          </a:p>
        </p:txBody>
      </p:sp>
      <p:sp>
        <p:nvSpPr>
          <p:cNvPr id="6" name="Shape 4"/>
          <p:cNvSpPr/>
          <p:nvPr/>
        </p:nvSpPr>
        <p:spPr>
          <a:xfrm>
            <a:off x="548640" y="1965960"/>
            <a:ext cx="11094415" cy="1874520"/>
          </a:xfrm>
          <a:prstGeom prst="roundRect">
            <a:avLst>
              <a:gd name="adj" fmla="val 4390"/>
            </a:avLst>
          </a:prstGeom>
          <a:solidFill>
            <a:srgbClr val="1B2340"/>
          </a:solidFill>
          <a:ln w="12700">
            <a:solidFill>
              <a:srgbClr val="1B2340"/>
            </a:solidFill>
            <a:prstDash val="solid"/>
          </a:ln>
        </p:spPr>
        <p:txBody>
          <a:bodyPr/>
          <a:lstStyle/>
          <a:p>
            <a:endParaRPr lang="en-US"/>
          </a:p>
        </p:txBody>
      </p:sp>
      <p:sp>
        <p:nvSpPr>
          <p:cNvPr id="7" name="Text 5"/>
          <p:cNvSpPr/>
          <p:nvPr/>
        </p:nvSpPr>
        <p:spPr>
          <a:xfrm>
            <a:off x="822960" y="2167128"/>
            <a:ext cx="10545775" cy="147218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String getVisitDate()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return visitDate;</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double getVisitCost()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return visitCost;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p:txBody>
      </p:sp>
      <p:sp>
        <p:nvSpPr>
          <p:cNvPr id="8" name="Shape 6"/>
          <p:cNvSpPr/>
          <p:nvPr/>
        </p:nvSpPr>
        <p:spPr>
          <a:xfrm>
            <a:off x="548640" y="402336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13308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Naming convention: get + the field name, capitalized. getVisitCost() reads visitCost — Java doesn't enforce this, but every Java programmer expects it.</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Why Member Has No Set Methods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100584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Murach's own Product class in this chapter includes set methods alongside get methods — standard, common practice, and you'll see it in the book. Our Member class today makes a different, deliberate choice: no setters at all.</a:t>
            </a:r>
            <a:endParaRPr lang="en-US" sz="1800"/>
          </a:p>
        </p:txBody>
      </p:sp>
      <p:sp>
        <p:nvSpPr>
          <p:cNvPr id="6" name="Text 4"/>
          <p:cNvSpPr/>
          <p:nvPr/>
        </p:nvSpPr>
        <p:spPr>
          <a:xfrm>
            <a:off x="548640" y="251460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WHY</a:t>
            </a:r>
            <a:endParaRPr lang="en-US" sz="1100" dirty="0"/>
          </a:p>
        </p:txBody>
      </p:sp>
      <p:sp>
        <p:nvSpPr>
          <p:cNvPr id="7" name="Text 5"/>
          <p:cNvSpPr/>
          <p:nvPr/>
        </p:nvSpPr>
        <p:spPr>
          <a:xfrm>
            <a:off x="548640" y="2834640"/>
            <a:ext cx="11094415" cy="128016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Once a Member is built, it describes one person's numbers at one moment — there's no legitimate reason to change deductibleDollars after the fact</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Fewer ways to change an object means fewer places a bug can quietly corrupt it</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This pattern has a name — you'll meet it directly on the next slide</a:t>
            </a:r>
            <a:endParaRPr lang="en-US" sz="1800"/>
          </a:p>
        </p:txBody>
      </p:sp>
      <p:sp>
        <p:nvSpPr>
          <p:cNvPr id="8" name="Shape 6"/>
          <p:cNvSpPr/>
          <p:nvPr/>
        </p:nvSpPr>
        <p:spPr>
          <a:xfrm>
            <a:off x="548640" y="429768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40740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This is a design choice, not a Java rule. Plenty of real classes — including the book's own examples — use setters. Today you're seeing why a professional programmer might choose not to.</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Immutable</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82296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An immutable object is one whose state can never change after construction — every field is set once, in the constructor, and nothing after that can modify it.</a:t>
            </a:r>
            <a:endParaRPr lang="en-US" sz="1800"/>
          </a:p>
        </p:txBody>
      </p:sp>
      <p:sp>
        <p:nvSpPr>
          <p:cNvPr id="6" name="Text 4"/>
          <p:cNvSpPr/>
          <p:nvPr/>
        </p:nvSpPr>
        <p:spPr>
          <a:xfrm>
            <a:off x="548640" y="237744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HOW MEMBER EARNS THAT LABEL</a:t>
            </a:r>
            <a:endParaRPr lang="en-US" sz="1100" dirty="0"/>
          </a:p>
        </p:txBody>
      </p:sp>
      <p:sp>
        <p:nvSpPr>
          <p:cNvPr id="7" name="Text 5"/>
          <p:cNvSpPr/>
          <p:nvPr/>
        </p:nvSpPr>
        <p:spPr>
          <a:xfrm>
            <a:off x="548640" y="2697480"/>
            <a:ext cx="11094415" cy="10972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Every field is set exactly once, inside the constructor</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No set methods exist anywhere in the class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Every get method only reads a field — none of them can be used to change one</a:t>
            </a:r>
            <a:endParaRPr lang="en-US" sz="1800"/>
          </a:p>
        </p:txBody>
      </p:sp>
      <p:sp>
        <p:nvSpPr>
          <p:cNvPr id="8" name="Shape 6"/>
          <p:cNvSpPr/>
          <p:nvPr/>
        </p:nvSpPr>
        <p:spPr>
          <a:xfrm>
            <a:off x="548640" y="402336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13308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You've already met one immutable type: String. "Avery".toUpperCase() doesn't change the original string — it hands back a brand-new one. Member follows the same idea.</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this Keyword — What Problem It Solves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91440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Inside a constructor, the parameter and the field you're assigning it to often share the same name on purpose — it's the clearest possible name for both. That creates a naming collision Java has to let you resolve.</a:t>
            </a:r>
            <a:endParaRPr lang="en-US" sz="1800"/>
          </a:p>
        </p:txBody>
      </p:sp>
      <p:sp>
        <p:nvSpPr>
          <p:cNvPr id="6" name="Shape 4"/>
          <p:cNvSpPr/>
          <p:nvPr/>
        </p:nvSpPr>
        <p:spPr>
          <a:xfrm>
            <a:off x="548640" y="2423160"/>
            <a:ext cx="11094415" cy="1188720"/>
          </a:xfrm>
          <a:prstGeom prst="roundRect">
            <a:avLst>
              <a:gd name="adj" fmla="val 6923"/>
            </a:avLst>
          </a:prstGeom>
          <a:solidFill>
            <a:srgbClr val="1B2340"/>
          </a:solidFill>
          <a:ln w="12700">
            <a:solidFill>
              <a:srgbClr val="1B2340"/>
            </a:solidFill>
            <a:prstDash val="solid"/>
          </a:ln>
        </p:spPr>
        <p:txBody>
          <a:bodyPr/>
          <a:lstStyle/>
          <a:p>
            <a:endParaRPr lang="en-US"/>
          </a:p>
        </p:txBody>
      </p:sp>
      <p:sp>
        <p:nvSpPr>
          <p:cNvPr id="7" name="Text 5"/>
          <p:cNvSpPr/>
          <p:nvPr/>
        </p:nvSpPr>
        <p:spPr>
          <a:xfrm>
            <a:off x="822960" y="2624328"/>
            <a:ext cx="10545775" cy="786384"/>
          </a:xfrm>
          <a:prstGeom prst="rect">
            <a:avLst/>
          </a:prstGeom>
          <a:noFill/>
          <a:ln/>
        </p:spPr>
        <p:txBody>
          <a:bodyPr wrap="square" lIns="0" tIns="0" rIns="0" bIns="0" rtlCol="0" anchor="t"/>
          <a:lstStyle/>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public Visit(String visitDate, double visitCost)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this.visitDate = visitDate;  // field  =  parameter</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this.visitCost = visitCost;</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a:t>
            </a:r>
            <a:endParaRPr lang="en-US" sz="1350" dirty="0"/>
          </a:p>
        </p:txBody>
      </p:sp>
      <p:sp>
        <p:nvSpPr>
          <p:cNvPr id="8" name="Shape 6"/>
          <p:cNvSpPr/>
          <p:nvPr/>
        </p:nvSpPr>
        <p:spPr>
          <a:xfrm>
            <a:off x="548640" y="3794760"/>
            <a:ext cx="11094415" cy="1058875"/>
          </a:xfrm>
          <a:prstGeom prst="roundRect">
            <a:avLst>
              <a:gd name="adj" fmla="val 8000"/>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3904488"/>
            <a:ext cx="10582351" cy="839419"/>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this.visitDate means "the visitDate field that belongs to this object." Without this., the field never gets set. That's this afternoon's planned bug.</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Four Uses of this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1672" cy="384048"/>
          </a:xfrm>
          <a:prstGeom prst="rect">
            <a:avLst/>
          </a:prstGeom>
          <a:solidFill>
            <a:srgbClr val="1E2761"/>
          </a:solidFill>
          <a:ln/>
        </p:spPr>
        <p:txBody>
          <a:bodyPr/>
          <a:lstStyle/>
          <a:p>
            <a:endParaRPr lang="en-US"/>
          </a:p>
        </p:txBody>
      </p:sp>
      <p:sp>
        <p:nvSpPr>
          <p:cNvPr id="6" name="Text 4"/>
          <p:cNvSpPr/>
          <p:nvPr/>
        </p:nvSpPr>
        <p:spPr>
          <a:xfrm>
            <a:off x="640080" y="1417320"/>
            <a:ext cx="3145536"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Use</a:t>
            </a:r>
            <a:endParaRPr lang="en-US" sz="1150" dirty="0"/>
          </a:p>
        </p:txBody>
      </p:sp>
      <p:sp>
        <p:nvSpPr>
          <p:cNvPr id="7" name="Text 5"/>
          <p:cNvSpPr/>
          <p:nvPr/>
        </p:nvSpPr>
        <p:spPr>
          <a:xfrm>
            <a:off x="3931920" y="1417320"/>
            <a:ext cx="3145536"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p>
        </p:txBody>
      </p:sp>
      <p:sp>
        <p:nvSpPr>
          <p:cNvPr id="8" name="Text 6"/>
          <p:cNvSpPr/>
          <p:nvPr/>
        </p:nvSpPr>
        <p:spPr>
          <a:xfrm>
            <a:off x="7223760" y="1417320"/>
            <a:ext cx="4361688"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What it does</a:t>
            </a:r>
            <a:endParaRPr lang="en-US" sz="1150" dirty="0"/>
          </a:p>
        </p:txBody>
      </p:sp>
      <p:sp>
        <p:nvSpPr>
          <p:cNvPr id="9" name="Text 7"/>
          <p:cNvSpPr/>
          <p:nvPr/>
        </p:nvSpPr>
        <p:spPr>
          <a:xfrm>
            <a:off x="640080" y="1801368"/>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Refer to a field</a:t>
            </a:r>
            <a:endParaRPr lang="en-US" sz="1100" dirty="0"/>
          </a:p>
        </p:txBody>
      </p:sp>
      <p:sp>
        <p:nvSpPr>
          <p:cNvPr id="10" name="Text 8"/>
          <p:cNvSpPr/>
          <p:nvPr/>
        </p:nvSpPr>
        <p:spPr>
          <a:xfrm>
            <a:off x="3931920" y="1801368"/>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this.visitCost = visitCost;</a:t>
            </a:r>
            <a:endParaRPr lang="en-US" sz="1100" dirty="0"/>
          </a:p>
        </p:txBody>
      </p:sp>
      <p:sp>
        <p:nvSpPr>
          <p:cNvPr id="11" name="Text 9"/>
          <p:cNvSpPr/>
          <p:nvPr/>
        </p:nvSpPr>
        <p:spPr>
          <a:xfrm>
            <a:off x="7223760" y="1801368"/>
            <a:ext cx="4361688"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Distinguishes the object's field from a same-named parameter.</a:t>
            </a:r>
            <a:endParaRPr lang="en-US" sz="1100" dirty="0"/>
          </a:p>
        </p:txBody>
      </p:sp>
      <p:sp>
        <p:nvSpPr>
          <p:cNvPr id="12" name="Shape 10"/>
          <p:cNvSpPr/>
          <p:nvPr/>
        </p:nvSpPr>
        <p:spPr>
          <a:xfrm>
            <a:off x="548640" y="2368296"/>
            <a:ext cx="0" cy="566928"/>
          </a:xfrm>
          <a:prstGeom prst="rect">
            <a:avLst/>
          </a:prstGeom>
          <a:solidFill>
            <a:srgbClr val="F3F5FA"/>
          </a:solidFill>
          <a:ln/>
        </p:spPr>
        <p:txBody>
          <a:bodyPr/>
          <a:lstStyle/>
          <a:p>
            <a:endParaRPr lang="en-US"/>
          </a:p>
        </p:txBody>
      </p:sp>
      <p:sp>
        <p:nvSpPr>
          <p:cNvPr id="13" name="Text 11"/>
          <p:cNvSpPr/>
          <p:nvPr/>
        </p:nvSpPr>
        <p:spPr>
          <a:xfrm>
            <a:off x="640080" y="2368296"/>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Call another constructor</a:t>
            </a:r>
            <a:endParaRPr lang="en-US" sz="1100" dirty="0"/>
          </a:p>
        </p:txBody>
      </p:sp>
      <p:sp>
        <p:nvSpPr>
          <p:cNvPr id="14" name="Text 12"/>
          <p:cNvSpPr/>
          <p:nvPr/>
        </p:nvSpPr>
        <p:spPr>
          <a:xfrm>
            <a:off x="3931920" y="2368296"/>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this(visitDate, 0.0);</a:t>
            </a:r>
            <a:endParaRPr lang="en-US" sz="1100" dirty="0"/>
          </a:p>
        </p:txBody>
      </p:sp>
      <p:sp>
        <p:nvSpPr>
          <p:cNvPr id="15" name="Text 13"/>
          <p:cNvSpPr/>
          <p:nvPr/>
        </p:nvSpPr>
        <p:spPr>
          <a:xfrm>
            <a:off x="7223760" y="2368296"/>
            <a:ext cx="4361688"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Chains one constructor to another, in the same class.</a:t>
            </a:r>
            <a:endParaRPr lang="en-US" sz="1100" dirty="0"/>
          </a:p>
        </p:txBody>
      </p:sp>
      <p:sp>
        <p:nvSpPr>
          <p:cNvPr id="16" name="Text 14"/>
          <p:cNvSpPr/>
          <p:nvPr/>
        </p:nvSpPr>
        <p:spPr>
          <a:xfrm>
            <a:off x="640080" y="2935224"/>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Call a method on the object</a:t>
            </a:r>
            <a:endParaRPr lang="en-US" sz="1100" dirty="0"/>
          </a:p>
        </p:txBody>
      </p:sp>
      <p:sp>
        <p:nvSpPr>
          <p:cNvPr id="17" name="Text 15"/>
          <p:cNvSpPr/>
          <p:nvPr/>
        </p:nvSpPr>
        <p:spPr>
          <a:xfrm>
            <a:off x="3931920" y="2935224"/>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this.getSummary()</a:t>
            </a:r>
            <a:endParaRPr lang="en-US" sz="1100" dirty="0"/>
          </a:p>
        </p:txBody>
      </p:sp>
      <p:sp>
        <p:nvSpPr>
          <p:cNvPr id="18" name="Text 16"/>
          <p:cNvSpPr/>
          <p:nvPr/>
        </p:nvSpPr>
        <p:spPr>
          <a:xfrm>
            <a:off x="7223760" y="2935224"/>
            <a:ext cx="4361688"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Rarely required, but always valid — same as getSummary() alone.</a:t>
            </a:r>
            <a:endParaRPr lang="en-US" sz="1100" dirty="0"/>
          </a:p>
        </p:txBody>
      </p:sp>
      <p:sp>
        <p:nvSpPr>
          <p:cNvPr id="19" name="Shape 17"/>
          <p:cNvSpPr/>
          <p:nvPr/>
        </p:nvSpPr>
        <p:spPr>
          <a:xfrm>
            <a:off x="548640" y="3502152"/>
            <a:ext cx="0" cy="566928"/>
          </a:xfrm>
          <a:prstGeom prst="rect">
            <a:avLst/>
          </a:prstGeom>
          <a:solidFill>
            <a:srgbClr val="F3F5FA"/>
          </a:solidFill>
          <a:ln/>
        </p:spPr>
        <p:txBody>
          <a:bodyPr/>
          <a:lstStyle/>
          <a:p>
            <a:endParaRPr lang="en-US"/>
          </a:p>
        </p:txBody>
      </p:sp>
      <p:sp>
        <p:nvSpPr>
          <p:cNvPr id="20" name="Text 18"/>
          <p:cNvSpPr/>
          <p:nvPr/>
        </p:nvSpPr>
        <p:spPr>
          <a:xfrm>
            <a:off x="640080" y="3502152"/>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Pass the current object along</a:t>
            </a:r>
            <a:endParaRPr lang="en-US" sz="1100" dirty="0"/>
          </a:p>
        </p:txBody>
      </p:sp>
      <p:sp>
        <p:nvSpPr>
          <p:cNvPr id="21" name="Text 19"/>
          <p:cNvSpPr/>
          <p:nvPr/>
        </p:nvSpPr>
        <p:spPr>
          <a:xfrm>
            <a:off x="3931920" y="3502152"/>
            <a:ext cx="3145536"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someMethod(this);</a:t>
            </a:r>
            <a:endParaRPr lang="en-US" sz="1100" dirty="0"/>
          </a:p>
        </p:txBody>
      </p:sp>
      <p:sp>
        <p:nvSpPr>
          <p:cNvPr id="22" name="Text 20"/>
          <p:cNvSpPr/>
          <p:nvPr/>
        </p:nvSpPr>
        <p:spPr>
          <a:xfrm>
            <a:off x="7223760" y="3502152"/>
            <a:ext cx="4361688" cy="566928"/>
          </a:xfrm>
          <a:prstGeom prst="rect">
            <a:avLst/>
          </a:prstGeom>
          <a:noFill/>
          <a:ln/>
        </p:spPr>
        <p:txBody>
          <a:bodyPr wrap="square" lIns="0" tIns="0" rIns="0" bIns="0" rtlCol="0" anchor="ctr"/>
          <a:lstStyle/>
          <a:p>
            <a:pPr marL="0" indent="0">
              <a:buNone/>
            </a:pPr>
            <a:r>
              <a:rPr lang="en-US" sz="1100" dirty="0">
                <a:solidFill>
                  <a:srgbClr val="22242E"/>
                </a:solidFill>
                <a:latin typeface="Calibri" pitchFamily="34" charset="0"/>
                <a:ea typeface="Calibri" pitchFamily="34" charset="-122"/>
                <a:cs typeface="Calibri" pitchFamily="34" charset="-120"/>
              </a:rPr>
              <a:t>Hands the whole object to another method. Not used today.</a:t>
            </a:r>
            <a:endParaRPr lang="en-US" sz="1100" dirty="0"/>
          </a:p>
        </p:txBody>
      </p:sp>
      <p:sp>
        <p:nvSpPr>
          <p:cNvPr id="23" name="Shape 21"/>
          <p:cNvSpPr/>
          <p:nvPr/>
        </p:nvSpPr>
        <p:spPr>
          <a:xfrm>
            <a:off x="548640" y="429768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24" name="Text 22"/>
          <p:cNvSpPr/>
          <p:nvPr/>
        </p:nvSpPr>
        <p:spPr>
          <a:xfrm>
            <a:off x="804672" y="440740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Today's code only needs the first two — assigning fields, and chaining an overloaded constructor. The other two are here so you recognize them later.</a:t>
            </a:r>
            <a:endParaRPr lang="en-US" sz="1800"/>
          </a:p>
        </p:txBody>
      </p:sp>
      <p:sp>
        <p:nvSpPr>
          <p:cNvPr id="25" name="Text 23"/>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Static vs. Instance</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54864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static means the field or method belongs to the class itself. Without static, it belongs to one specific object.</a:t>
            </a:r>
            <a:endParaRPr lang="en-US" sz="1800"/>
          </a:p>
        </p:txBody>
      </p:sp>
      <p:sp>
        <p:nvSpPr>
          <p:cNvPr id="6" name="Shape 4"/>
          <p:cNvSpPr/>
          <p:nvPr/>
        </p:nvSpPr>
        <p:spPr>
          <a:xfrm>
            <a:off x="548640" y="2103120"/>
            <a:ext cx="11091672" cy="347472"/>
          </a:xfrm>
          <a:prstGeom prst="rect">
            <a:avLst/>
          </a:prstGeom>
          <a:solidFill>
            <a:srgbClr val="1E2761"/>
          </a:solidFill>
          <a:ln/>
        </p:spPr>
        <p:txBody>
          <a:bodyPr/>
          <a:lstStyle/>
          <a:p>
            <a:endParaRPr lang="en-US"/>
          </a:p>
        </p:txBody>
      </p:sp>
      <p:sp>
        <p:nvSpPr>
          <p:cNvPr id="7" name="Text 5"/>
          <p:cNvSpPr/>
          <p:nvPr/>
        </p:nvSpPr>
        <p:spPr>
          <a:xfrm>
            <a:off x="640080" y="2103120"/>
            <a:ext cx="2962656" cy="347472"/>
          </a:xfrm>
          <a:prstGeom prst="rect">
            <a:avLst/>
          </a:prstGeom>
          <a:noFill/>
          <a:ln/>
        </p:spPr>
        <p:txBody>
          <a:bodyPr wrap="square" lIns="0" tIns="0" rIns="0" bIns="0" rtlCol="0" anchor="ctr"/>
          <a:lstStyle/>
          <a:p>
            <a:pPr marL="0" indent="0">
              <a:buNone/>
            </a:pPr>
            <a:endParaRPr lang="en-US" sz="1400"/>
          </a:p>
        </p:txBody>
      </p:sp>
      <p:sp>
        <p:nvSpPr>
          <p:cNvPr id="8" name="Text 6"/>
          <p:cNvSpPr/>
          <p:nvPr/>
        </p:nvSpPr>
        <p:spPr>
          <a:xfrm>
            <a:off x="3749040" y="2103120"/>
            <a:ext cx="3840480" cy="34747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Static</a:t>
            </a:r>
            <a:endParaRPr lang="en-US" sz="1400"/>
          </a:p>
        </p:txBody>
      </p:sp>
      <p:sp>
        <p:nvSpPr>
          <p:cNvPr id="9" name="Text 7"/>
          <p:cNvSpPr/>
          <p:nvPr/>
        </p:nvSpPr>
        <p:spPr>
          <a:xfrm>
            <a:off x="7735824" y="2103120"/>
            <a:ext cx="3849624" cy="34747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Instance</a:t>
            </a:r>
            <a:endParaRPr lang="en-US" sz="1400"/>
          </a:p>
        </p:txBody>
      </p:sp>
      <p:sp>
        <p:nvSpPr>
          <p:cNvPr id="10" name="Text 8"/>
          <p:cNvSpPr/>
          <p:nvPr/>
        </p:nvSpPr>
        <p:spPr>
          <a:xfrm>
            <a:off x="640080" y="2450592"/>
            <a:ext cx="2962656"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Belongs to</a:t>
            </a:r>
            <a:endParaRPr lang="en-US" sz="1050" dirty="0"/>
          </a:p>
        </p:txBody>
      </p:sp>
      <p:sp>
        <p:nvSpPr>
          <p:cNvPr id="11" name="Text 9"/>
          <p:cNvSpPr/>
          <p:nvPr/>
        </p:nvSpPr>
        <p:spPr>
          <a:xfrm>
            <a:off x="3749040" y="2450592"/>
            <a:ext cx="3840480"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The class as a whole</a:t>
            </a:r>
            <a:endParaRPr lang="en-US" sz="1050" dirty="0"/>
          </a:p>
        </p:txBody>
      </p:sp>
      <p:sp>
        <p:nvSpPr>
          <p:cNvPr id="12" name="Text 10"/>
          <p:cNvSpPr/>
          <p:nvPr/>
        </p:nvSpPr>
        <p:spPr>
          <a:xfrm>
            <a:off x="7735824" y="2450592"/>
            <a:ext cx="3849624"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One specific object</a:t>
            </a:r>
            <a:endParaRPr lang="en-US" sz="1050" dirty="0"/>
          </a:p>
        </p:txBody>
      </p:sp>
      <p:sp>
        <p:nvSpPr>
          <p:cNvPr id="13" name="Shape 11"/>
          <p:cNvSpPr/>
          <p:nvPr/>
        </p:nvSpPr>
        <p:spPr>
          <a:xfrm>
            <a:off x="548640" y="2926080"/>
            <a:ext cx="0" cy="475488"/>
          </a:xfrm>
          <a:prstGeom prst="rect">
            <a:avLst/>
          </a:prstGeom>
          <a:solidFill>
            <a:srgbClr val="F3F5FA"/>
          </a:solidFill>
          <a:ln/>
        </p:spPr>
        <p:txBody>
          <a:bodyPr/>
          <a:lstStyle/>
          <a:p>
            <a:endParaRPr lang="en-US"/>
          </a:p>
        </p:txBody>
      </p:sp>
      <p:sp>
        <p:nvSpPr>
          <p:cNvPr id="14" name="Text 12"/>
          <p:cNvSpPr/>
          <p:nvPr/>
        </p:nvSpPr>
        <p:spPr>
          <a:xfrm>
            <a:off x="640080" y="2926080"/>
            <a:ext cx="2962656"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Needs an object to call it?</a:t>
            </a:r>
            <a:endParaRPr lang="en-US" sz="1050" dirty="0"/>
          </a:p>
        </p:txBody>
      </p:sp>
      <p:sp>
        <p:nvSpPr>
          <p:cNvPr id="15" name="Text 13"/>
          <p:cNvSpPr/>
          <p:nvPr/>
        </p:nvSpPr>
        <p:spPr>
          <a:xfrm>
            <a:off x="3749040" y="2926080"/>
            <a:ext cx="3840480"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No</a:t>
            </a:r>
            <a:endParaRPr lang="en-US" sz="1050" dirty="0"/>
          </a:p>
        </p:txBody>
      </p:sp>
      <p:sp>
        <p:nvSpPr>
          <p:cNvPr id="16" name="Text 14"/>
          <p:cNvSpPr/>
          <p:nvPr/>
        </p:nvSpPr>
        <p:spPr>
          <a:xfrm>
            <a:off x="7735824" y="2926080"/>
            <a:ext cx="3849624"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Yes</a:t>
            </a:r>
            <a:endParaRPr lang="en-US" sz="1050" dirty="0"/>
          </a:p>
        </p:txBody>
      </p:sp>
      <p:sp>
        <p:nvSpPr>
          <p:cNvPr id="17" name="Text 15"/>
          <p:cNvSpPr/>
          <p:nvPr/>
        </p:nvSpPr>
        <p:spPr>
          <a:xfrm>
            <a:off x="640080" y="3401568"/>
            <a:ext cx="2962656"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Example already in your code</a:t>
            </a:r>
            <a:endParaRPr lang="en-US" sz="1050" dirty="0"/>
          </a:p>
        </p:txBody>
      </p:sp>
      <p:sp>
        <p:nvSpPr>
          <p:cNvPr id="18" name="Text 16"/>
          <p:cNvSpPr/>
          <p:nvPr/>
        </p:nvSpPr>
        <p:spPr>
          <a:xfrm>
            <a:off x="3749040" y="3401568"/>
            <a:ext cx="3840480"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calculateCoinsuranceOwed() — Day 3</a:t>
            </a:r>
            <a:endParaRPr lang="en-US" sz="1050" dirty="0"/>
          </a:p>
        </p:txBody>
      </p:sp>
      <p:sp>
        <p:nvSpPr>
          <p:cNvPr id="19" name="Text 17"/>
          <p:cNvSpPr/>
          <p:nvPr/>
        </p:nvSpPr>
        <p:spPr>
          <a:xfrm>
            <a:off x="7735824" y="3401568"/>
            <a:ext cx="3849624"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getUsageStatus() — today, on Member</a:t>
            </a:r>
            <a:endParaRPr lang="en-US" sz="1050" dirty="0"/>
          </a:p>
        </p:txBody>
      </p:sp>
      <p:sp>
        <p:nvSpPr>
          <p:cNvPr id="20" name="Shape 18"/>
          <p:cNvSpPr/>
          <p:nvPr/>
        </p:nvSpPr>
        <p:spPr>
          <a:xfrm>
            <a:off x="548640" y="3877056"/>
            <a:ext cx="0" cy="475488"/>
          </a:xfrm>
          <a:prstGeom prst="rect">
            <a:avLst/>
          </a:prstGeom>
          <a:solidFill>
            <a:srgbClr val="F3F5FA"/>
          </a:solidFill>
          <a:ln/>
        </p:spPr>
        <p:txBody>
          <a:bodyPr/>
          <a:lstStyle/>
          <a:p>
            <a:endParaRPr lang="en-US"/>
          </a:p>
        </p:txBody>
      </p:sp>
      <p:sp>
        <p:nvSpPr>
          <p:cNvPr id="21" name="Text 19"/>
          <p:cNvSpPr/>
          <p:nvPr/>
        </p:nvSpPr>
        <p:spPr>
          <a:xfrm>
            <a:off x="640080" y="3877056"/>
            <a:ext cx="2962656"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Why calculateCoinsuranceOwed() stays static</a:t>
            </a:r>
            <a:endParaRPr lang="en-US" sz="1050" dirty="0"/>
          </a:p>
        </p:txBody>
      </p:sp>
      <p:sp>
        <p:nvSpPr>
          <p:cNvPr id="22" name="Text 20"/>
          <p:cNvSpPr/>
          <p:nvPr/>
        </p:nvSpPr>
        <p:spPr>
          <a:xfrm>
            <a:off x="3749040" y="3877056"/>
            <a:ext cx="3840480"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It only uses the values passed in</a:t>
            </a:r>
            <a:endParaRPr lang="en-US" sz="1050" dirty="0"/>
          </a:p>
        </p:txBody>
      </p:sp>
      <p:sp>
        <p:nvSpPr>
          <p:cNvPr id="23" name="Text 21"/>
          <p:cNvSpPr/>
          <p:nvPr/>
        </p:nvSpPr>
        <p:spPr>
          <a:xfrm>
            <a:off x="7735824" y="3877056"/>
            <a:ext cx="3849624" cy="475488"/>
          </a:xfrm>
          <a:prstGeom prst="rect">
            <a:avLst/>
          </a:prstGeom>
          <a:noFill/>
          <a:ln/>
        </p:spPr>
        <p:txBody>
          <a:bodyPr wrap="square" lIns="0" tIns="0" rIns="0" bIns="0" rtlCol="0" anchor="ctr"/>
          <a:lstStyle/>
          <a:p>
            <a:pPr marL="0" indent="0">
              <a:buNone/>
            </a:pPr>
            <a:r>
              <a:rPr lang="en-US" sz="1050" dirty="0">
                <a:solidFill>
                  <a:srgbClr val="22242E"/>
                </a:solidFill>
                <a:latin typeface="Calibri" pitchFamily="34" charset="0"/>
                <a:ea typeface="Calibri" pitchFamily="34" charset="-122"/>
                <a:cs typeface="Calibri" pitchFamily="34" charset="-120"/>
              </a:rPr>
              <a:t>—</a:t>
            </a:r>
            <a:endParaRPr lang="en-US" sz="1050" dirty="0"/>
          </a:p>
        </p:txBody>
      </p:sp>
      <p:sp>
        <p:nvSpPr>
          <p:cNvPr id="24" name="Text 22"/>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It Was Static All Along</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82296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Since Day 3, this method has taken two numbers, done math, and handed one back. It never needed to know which member it was calculating for — that's exactly what makes it a good static method.</a:t>
            </a:r>
            <a:endParaRPr lang="en-US" sz="1800"/>
          </a:p>
        </p:txBody>
      </p:sp>
      <p:sp>
        <p:nvSpPr>
          <p:cNvPr id="6" name="Shape 4"/>
          <p:cNvSpPr/>
          <p:nvPr/>
        </p:nvSpPr>
        <p:spPr>
          <a:xfrm>
            <a:off x="548640" y="2377440"/>
            <a:ext cx="11094415" cy="1645920"/>
          </a:xfrm>
          <a:prstGeom prst="roundRect">
            <a:avLst>
              <a:gd name="adj" fmla="val 5000"/>
            </a:avLst>
          </a:prstGeom>
          <a:solidFill>
            <a:srgbClr val="1B2340"/>
          </a:solidFill>
          <a:ln w="12700">
            <a:solidFill>
              <a:srgbClr val="1B2340"/>
            </a:solidFill>
            <a:prstDash val="solid"/>
          </a:ln>
        </p:spPr>
        <p:txBody>
          <a:bodyPr/>
          <a:lstStyle/>
          <a:p>
            <a:endParaRPr lang="en-US"/>
          </a:p>
        </p:txBody>
      </p:sp>
      <p:sp>
        <p:nvSpPr>
          <p:cNvPr id="7" name="Text 5"/>
          <p:cNvSpPr/>
          <p:nvPr/>
        </p:nvSpPr>
        <p:spPr>
          <a:xfrm>
            <a:off x="822960" y="2578608"/>
            <a:ext cx="10545775" cy="1243584"/>
          </a:xfrm>
          <a:prstGeom prst="rect">
            <a:avLst/>
          </a:prstGeom>
          <a:noFill/>
          <a:ln/>
        </p:spPr>
        <p:txBody>
          <a:bodyPr wrap="square" lIns="0" tIns="0" rIns="0" bIns="0" rtlCol="0" anchor="t"/>
          <a:lstStyle/>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public static double calculateCoinsuranceOwed(</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double remainingDeductible, double rate)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double owed = remainingDeductible * rate;</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owed = (double) Math.round(owed * 100) / 100;</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return owed;</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a:t>
            </a:r>
            <a:endParaRPr lang="en-US" sz="1350" dirty="0"/>
          </a:p>
        </p:txBody>
      </p:sp>
      <p:sp>
        <p:nvSpPr>
          <p:cNvPr id="8" name="Shape 6"/>
          <p:cNvSpPr/>
          <p:nvPr/>
        </p:nvSpPr>
        <p:spPr>
          <a:xfrm>
            <a:off x="548640" y="4206240"/>
            <a:ext cx="11094415" cy="1058875"/>
          </a:xfrm>
          <a:prstGeom prst="roundRect">
            <a:avLst>
              <a:gd name="adj" fmla="val 8000"/>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315968"/>
            <a:ext cx="10582351" cy="839419"/>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Today this method moves inside Member — not because it needs to change, but because it belongs with the class conceptually. It stays static: notice it still never touches this.</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Method Overloading</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91440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Overloading means two or more methods (or constructors) in the same class share a name, but have different parameter lists. Java picks the right one based on what you pass in.</a:t>
            </a:r>
            <a:endParaRPr lang="en-US" sz="1800"/>
          </a:p>
        </p:txBody>
      </p:sp>
      <p:sp>
        <p:nvSpPr>
          <p:cNvPr id="6" name="Shape 4"/>
          <p:cNvSpPr/>
          <p:nvPr/>
        </p:nvSpPr>
        <p:spPr>
          <a:xfrm>
            <a:off x="548640" y="2377440"/>
            <a:ext cx="11094415" cy="1371600"/>
          </a:xfrm>
          <a:prstGeom prst="roundRect">
            <a:avLst>
              <a:gd name="adj" fmla="val 6000"/>
            </a:avLst>
          </a:prstGeom>
          <a:solidFill>
            <a:srgbClr val="1B2340"/>
          </a:solidFill>
          <a:ln w="12700">
            <a:solidFill>
              <a:srgbClr val="1B2340"/>
            </a:solidFill>
            <a:prstDash val="solid"/>
          </a:ln>
        </p:spPr>
        <p:txBody>
          <a:bodyPr/>
          <a:lstStyle/>
          <a:p>
            <a:endParaRPr lang="en-US"/>
          </a:p>
        </p:txBody>
      </p:sp>
      <p:sp>
        <p:nvSpPr>
          <p:cNvPr id="7" name="Text 5"/>
          <p:cNvSpPr/>
          <p:nvPr/>
        </p:nvSpPr>
        <p:spPr>
          <a:xfrm>
            <a:off x="822960" y="2578608"/>
            <a:ext cx="10545775" cy="969264"/>
          </a:xfrm>
          <a:prstGeom prst="rect">
            <a:avLst/>
          </a:prstGeom>
          <a:noFill/>
          <a:ln/>
        </p:spPr>
        <p:txBody>
          <a:bodyPr wrap="square" lIns="0" tIns="0" rIns="0" bIns="0" rtlCol="0" anchor="t"/>
          <a:lstStyle/>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public Visit(String visitDate, double visitCost) { ...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public Visit(String visitDate) {   // overloaded constructor</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this(visitDate, 0.0);          // defaults cost to 0</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a:t>
            </a:r>
            <a:endParaRPr lang="en-US" sz="1350" dirty="0"/>
          </a:p>
        </p:txBody>
      </p:sp>
      <p:sp>
        <p:nvSpPr>
          <p:cNvPr id="8" name="Shape 6"/>
          <p:cNvSpPr/>
          <p:nvPr/>
        </p:nvSpPr>
        <p:spPr>
          <a:xfrm>
            <a:off x="548640" y="3886200"/>
            <a:ext cx="11094415" cy="1058875"/>
          </a:xfrm>
          <a:prstGeom prst="roundRect">
            <a:avLst>
              <a:gd name="adj" fmla="val 8000"/>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3995928"/>
            <a:ext cx="10582351" cy="839419"/>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new Visit("2026-02-03", 89.50) and new Visit("2026-02-03") both compile — Java looks at how many arguments you passed, and which types, to decide which constructor runs.</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toString()</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82296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toString() is a method every class already has, whether you write it or not — Java calls it automatically whenever an object needs to become text, including inside println().</a:t>
            </a:r>
            <a:endParaRPr lang="en-US" sz="1800"/>
          </a:p>
        </p:txBody>
      </p:sp>
      <p:sp>
        <p:nvSpPr>
          <p:cNvPr id="6" name="Shape 4"/>
          <p:cNvSpPr/>
          <p:nvPr/>
        </p:nvSpPr>
        <p:spPr>
          <a:xfrm>
            <a:off x="548640" y="2331720"/>
            <a:ext cx="11094415" cy="1691640"/>
          </a:xfrm>
          <a:prstGeom prst="roundRect">
            <a:avLst>
              <a:gd name="adj" fmla="val 4865"/>
            </a:avLst>
          </a:prstGeom>
          <a:solidFill>
            <a:srgbClr val="1B2340"/>
          </a:solidFill>
          <a:ln w="12700">
            <a:solidFill>
              <a:srgbClr val="1B2340"/>
            </a:solidFill>
            <a:prstDash val="solid"/>
          </a:ln>
        </p:spPr>
        <p:txBody>
          <a:bodyPr/>
          <a:lstStyle/>
          <a:p>
            <a:endParaRPr lang="en-US"/>
          </a:p>
        </p:txBody>
      </p:sp>
      <p:sp>
        <p:nvSpPr>
          <p:cNvPr id="7" name="Text 5"/>
          <p:cNvSpPr/>
          <p:nvPr/>
        </p:nvSpPr>
        <p:spPr>
          <a:xfrm>
            <a:off x="822960" y="2532888"/>
            <a:ext cx="10545775" cy="1289304"/>
          </a:xfrm>
          <a:prstGeom prst="rect">
            <a:avLst/>
          </a:prstGeom>
          <a:noFill/>
          <a:ln/>
        </p:spPr>
        <p:txBody>
          <a:bodyPr wrap="square" lIns="0" tIns="0" rIns="0" bIns="0" rtlCol="0" anchor="t"/>
          <a:lstStyle/>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@Override</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public String toString()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return planName + ": $" + copayAmount;</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System.out.println(card);   // calls toString() automatically</a:t>
            </a:r>
            <a:endParaRPr lang="en-US" sz="1300" dirty="0"/>
          </a:p>
        </p:txBody>
      </p:sp>
      <p:sp>
        <p:nvSpPr>
          <p:cNvPr id="8" name="Shape 6"/>
          <p:cNvSpPr/>
          <p:nvPr/>
        </p:nvSpPr>
        <p:spPr>
          <a:xfrm>
            <a:off x="548640" y="416052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9" name="Text 7"/>
          <p:cNvSpPr/>
          <p:nvPr/>
        </p:nvSpPr>
        <p:spPr>
          <a:xfrm>
            <a:off x="804672" y="427024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Without your own toString(), println(card) prints something like CopayCard@1b6d3586 — not useful to a human. Overriding it makes an object print something meaningful.</a:t>
            </a:r>
            <a:endParaRPr lang="en-US" sz="1800"/>
          </a:p>
        </p:txBody>
      </p:sp>
      <p:sp>
        <p:nvSpPr>
          <p:cNvPr id="10" name="Text 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3AAFA9"/>
                </a:solidFill>
                <a:latin typeface="Calibri" pitchFamily="34" charset="0"/>
                <a:ea typeface="Calibri" pitchFamily="34" charset="-122"/>
                <a:cs typeface="Calibri" pitchFamily="34" charset="-120"/>
              </a:rPr>
              <a:t>LEARN</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Why Today's Programs Use Two Files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914400"/>
          </a:xfrm>
          <a:prstGeom prst="rect">
            <a:avLst/>
          </a:prstGeom>
          <a:noFill/>
          <a:ln/>
        </p:spPr>
        <p:txBody>
          <a:bodyPr wrap="square" lIns="0" tIns="0" rIns="0" bIns="0" rtlCol="0" anchor="t"/>
          <a:lstStyle/>
          <a:p>
            <a:pPr marL="0" indent="0">
              <a:lnSpc>
                <a:spcPct val="118000"/>
              </a:lnSpc>
              <a:buNone/>
            </a:pPr>
            <a:r>
              <a:rPr lang="en-US" sz="1800">
                <a:solidFill>
                  <a:srgbClr val="22242E"/>
                </a:solidFill>
                <a:latin typeface="Calibri" pitchFamily="34" charset="0"/>
                <a:ea typeface="Calibri" pitchFamily="34" charset="-122"/>
                <a:cs typeface="Calibri" pitchFamily="34" charset="-120"/>
              </a:rPr>
              <a:t>Day 1 taught you that a single .java file can technically hold more than one class, as long as only one is public. Today is the day that stops being trivia and starts being how you actually work.</a:t>
            </a:r>
            <a:endParaRPr lang="en-US" sz="1800"/>
          </a:p>
        </p:txBody>
      </p:sp>
      <p:sp>
        <p:nvSpPr>
          <p:cNvPr id="6" name="Shape 4"/>
          <p:cNvSpPr/>
          <p:nvPr/>
        </p:nvSpPr>
        <p:spPr>
          <a:xfrm>
            <a:off x="548640" y="2468880"/>
            <a:ext cx="3515258" cy="2432304"/>
          </a:xfrm>
          <a:prstGeom prst="roundRect">
            <a:avLst>
              <a:gd name="adj" fmla="val 2632"/>
            </a:avLst>
          </a:prstGeom>
          <a:solidFill>
            <a:srgbClr val="FFFFFF"/>
          </a:solidFill>
          <a:ln w="15875">
            <a:solidFill>
              <a:srgbClr val="E4E7F0"/>
            </a:solidFill>
            <a:prstDash val="solid"/>
          </a:ln>
        </p:spPr>
        <p:txBody>
          <a:bodyPr/>
          <a:lstStyle/>
          <a:p>
            <a:endParaRPr lang="en-US"/>
          </a:p>
        </p:txBody>
      </p:sp>
      <p:sp>
        <p:nvSpPr>
          <p:cNvPr id="7" name="Text 5"/>
          <p:cNvSpPr/>
          <p:nvPr/>
        </p:nvSpPr>
        <p:spPr>
          <a:xfrm>
            <a:off x="713232" y="260604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THE CLASS</a:t>
            </a:r>
            <a:endParaRPr lang="en-US" sz="1000" dirty="0"/>
          </a:p>
        </p:txBody>
      </p:sp>
      <p:sp>
        <p:nvSpPr>
          <p:cNvPr id="8" name="Text 6"/>
          <p:cNvSpPr/>
          <p:nvPr/>
        </p:nvSpPr>
        <p:spPr>
          <a:xfrm>
            <a:off x="713232" y="2852928"/>
            <a:ext cx="3186074" cy="365760"/>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Visit.java</a:t>
            </a:r>
            <a:endParaRPr lang="en-US" sz="1300" dirty="0"/>
          </a:p>
        </p:txBody>
      </p:sp>
      <p:sp>
        <p:nvSpPr>
          <p:cNvPr id="9" name="Text 7"/>
          <p:cNvSpPr/>
          <p:nvPr/>
        </p:nvSpPr>
        <p:spPr>
          <a:xfrm>
            <a:off x="713232" y="3255264"/>
            <a:ext cx="3186074" cy="859536"/>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public class Visit. No main. Just the blueprint: fields, constructor, methods.</a:t>
            </a:r>
            <a:endParaRPr lang="en-US" sz="1100" dirty="0"/>
          </a:p>
        </p:txBody>
      </p:sp>
      <p:sp>
        <p:nvSpPr>
          <p:cNvPr id="10" name="Shape 8"/>
          <p:cNvSpPr/>
          <p:nvPr/>
        </p:nvSpPr>
        <p:spPr>
          <a:xfrm>
            <a:off x="4338218" y="2468880"/>
            <a:ext cx="3515258" cy="2432304"/>
          </a:xfrm>
          <a:prstGeom prst="roundRect">
            <a:avLst>
              <a:gd name="adj" fmla="val 2632"/>
            </a:avLst>
          </a:prstGeom>
          <a:solidFill>
            <a:srgbClr val="FFFFFF"/>
          </a:solidFill>
          <a:ln w="15875">
            <a:solidFill>
              <a:srgbClr val="E4E7F0"/>
            </a:solidFill>
            <a:prstDash val="solid"/>
          </a:ln>
        </p:spPr>
        <p:txBody>
          <a:bodyPr/>
          <a:lstStyle/>
          <a:p>
            <a:endParaRPr lang="en-US"/>
          </a:p>
        </p:txBody>
      </p:sp>
      <p:sp>
        <p:nvSpPr>
          <p:cNvPr id="11" name="Text 9"/>
          <p:cNvSpPr/>
          <p:nvPr/>
        </p:nvSpPr>
        <p:spPr>
          <a:xfrm>
            <a:off x="4502810" y="260604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THE APP</a:t>
            </a:r>
            <a:endParaRPr lang="en-US" sz="1000" dirty="0"/>
          </a:p>
        </p:txBody>
      </p:sp>
      <p:sp>
        <p:nvSpPr>
          <p:cNvPr id="12" name="Text 10"/>
          <p:cNvSpPr/>
          <p:nvPr/>
        </p:nvSpPr>
        <p:spPr>
          <a:xfrm>
            <a:off x="4502810" y="2852928"/>
            <a:ext cx="3186074" cy="365760"/>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VisitDemo.java</a:t>
            </a:r>
            <a:endParaRPr lang="en-US" sz="1300" dirty="0"/>
          </a:p>
        </p:txBody>
      </p:sp>
      <p:sp>
        <p:nvSpPr>
          <p:cNvPr id="13" name="Text 11"/>
          <p:cNvSpPr/>
          <p:nvPr/>
        </p:nvSpPr>
        <p:spPr>
          <a:xfrm>
            <a:off x="4502810" y="3255264"/>
            <a:ext cx="3186074" cy="859536"/>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public class VisitDemo. Has main(). Creates Visit objects and uses them.</a:t>
            </a:r>
            <a:endParaRPr lang="en-US" sz="1100" dirty="0"/>
          </a:p>
        </p:txBody>
      </p:sp>
      <p:sp>
        <p:nvSpPr>
          <p:cNvPr id="14" name="Shape 12"/>
          <p:cNvSpPr/>
          <p:nvPr/>
        </p:nvSpPr>
        <p:spPr>
          <a:xfrm>
            <a:off x="8127797" y="2468880"/>
            <a:ext cx="3515258" cy="2432304"/>
          </a:xfrm>
          <a:prstGeom prst="roundRect">
            <a:avLst>
              <a:gd name="adj" fmla="val 2632"/>
            </a:avLst>
          </a:prstGeom>
          <a:solidFill>
            <a:srgbClr val="FFFFFF"/>
          </a:solidFill>
          <a:ln w="15875">
            <a:solidFill>
              <a:srgbClr val="E4E7F0"/>
            </a:solidFill>
            <a:prstDash val="solid"/>
          </a:ln>
        </p:spPr>
        <p:txBody>
          <a:bodyPr/>
          <a:lstStyle/>
          <a:p>
            <a:endParaRPr lang="en-US"/>
          </a:p>
        </p:txBody>
      </p:sp>
      <p:sp>
        <p:nvSpPr>
          <p:cNvPr id="15" name="Text 13"/>
          <p:cNvSpPr/>
          <p:nvPr/>
        </p:nvSpPr>
        <p:spPr>
          <a:xfrm>
            <a:off x="8292389" y="2606040"/>
            <a:ext cx="3186074" cy="219456"/>
          </a:xfrm>
          <a:prstGeom prst="rect">
            <a:avLst/>
          </a:prstGeom>
          <a:noFill/>
          <a:ln/>
        </p:spPr>
        <p:txBody>
          <a:bodyPr wrap="square" lIns="0" tIns="0" rIns="0" bIns="0" rtlCol="0" anchor="ctr"/>
          <a:lstStyle/>
          <a:p>
            <a:pPr marL="0" indent="0">
              <a:buNone/>
            </a:pPr>
            <a:r>
              <a:rPr lang="en-US" sz="1000" b="1" kern="0" spc="50" dirty="0">
                <a:solidFill>
                  <a:srgbClr val="3AAFA9"/>
                </a:solidFill>
                <a:latin typeface="Calibri" pitchFamily="34" charset="0"/>
                <a:ea typeface="Calibri" pitchFamily="34" charset="-122"/>
                <a:cs typeface="Calibri" pitchFamily="34" charset="-120"/>
              </a:rPr>
              <a:t>TO RUN IT</a:t>
            </a:r>
            <a:endParaRPr lang="en-US" sz="1000" dirty="0"/>
          </a:p>
        </p:txBody>
      </p:sp>
      <p:sp>
        <p:nvSpPr>
          <p:cNvPr id="16" name="Text 14"/>
          <p:cNvSpPr/>
          <p:nvPr/>
        </p:nvSpPr>
        <p:spPr>
          <a:xfrm>
            <a:off x="8292389" y="2852928"/>
            <a:ext cx="3186074" cy="365760"/>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javac + java</a:t>
            </a:r>
            <a:endParaRPr lang="en-US" sz="1300" dirty="0"/>
          </a:p>
        </p:txBody>
      </p:sp>
      <p:sp>
        <p:nvSpPr>
          <p:cNvPr id="17" name="Text 15"/>
          <p:cNvSpPr/>
          <p:nvPr/>
        </p:nvSpPr>
        <p:spPr>
          <a:xfrm>
            <a:off x="8292389" y="3255264"/>
            <a:ext cx="3186074" cy="859536"/>
          </a:xfrm>
          <a:prstGeom prst="rect">
            <a:avLst/>
          </a:prstGeom>
          <a:noFill/>
          <a:ln/>
        </p:spPr>
        <p:txBody>
          <a:bodyPr wrap="square" lIns="0" tIns="0" rIns="0" bIns="0" rtlCol="0" anchor="ctr"/>
          <a:lstStyle/>
          <a:p>
            <a:pPr marL="0" indent="0">
              <a:lnSpc>
                <a:spcPct val="110000"/>
              </a:lnSpc>
              <a:buNone/>
            </a:pPr>
            <a:r>
              <a:rPr lang="en-US" sz="1100" dirty="0">
                <a:solidFill>
                  <a:srgbClr val="3A4250"/>
                </a:solidFill>
                <a:latin typeface="Calibri" pitchFamily="34" charset="0"/>
                <a:ea typeface="Calibri" pitchFamily="34" charset="-122"/>
                <a:cs typeface="Calibri" pitchFamily="34" charset="-120"/>
              </a:rPr>
              <a:t>javac VisitDemo.java compiles both files. java VisitDemo runs it.</a:t>
            </a:r>
            <a:endParaRPr lang="en-US" sz="1100" dirty="0"/>
          </a:p>
        </p:txBody>
      </p:sp>
      <p:sp>
        <p:nvSpPr>
          <p:cNvPr id="18" name="Text 16"/>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C77DFF"/>
                </a:solidFill>
                <a:latin typeface="Calibri" pitchFamily="34" charset="0"/>
                <a:ea typeface="Calibri" pitchFamily="34" charset="-122"/>
                <a:cs typeface="Calibri" pitchFamily="34" charset="-120"/>
              </a:rPr>
              <a:t>WATCH</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We Build Visit and VisitDemo Together</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63040"/>
            <a:ext cx="384048" cy="384048"/>
          </a:xfrm>
          <a:prstGeom prst="ellipse">
            <a:avLst/>
          </a:prstGeom>
          <a:solidFill>
            <a:srgbClr val="3AAFA9"/>
          </a:solidFill>
          <a:ln/>
        </p:spPr>
        <p:txBody>
          <a:bodyPr/>
          <a:lstStyle/>
          <a:p>
            <a:endParaRPr lang="en-US"/>
          </a:p>
        </p:txBody>
      </p:sp>
      <p:sp>
        <p:nvSpPr>
          <p:cNvPr id="6" name="Text 4"/>
          <p:cNvSpPr/>
          <p:nvPr/>
        </p:nvSpPr>
        <p:spPr>
          <a:xfrm>
            <a:off x="548640" y="1463040"/>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1</a:t>
            </a:r>
            <a:endParaRPr lang="en-US" sz="1800"/>
          </a:p>
        </p:txBody>
      </p:sp>
      <p:sp>
        <p:nvSpPr>
          <p:cNvPr id="7" name="Text 5"/>
          <p:cNvSpPr/>
          <p:nvPr/>
        </p:nvSpPr>
        <p:spPr>
          <a:xfrm>
            <a:off x="1097280" y="1444752"/>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Create Visit.java</a:t>
            </a:r>
            <a:endParaRPr lang="en-US" sz="1800"/>
          </a:p>
        </p:txBody>
      </p:sp>
      <p:sp>
        <p:nvSpPr>
          <p:cNvPr id="8" name="Text 6"/>
          <p:cNvSpPr/>
          <p:nvPr/>
        </p:nvSpPr>
        <p:spPr>
          <a:xfrm>
            <a:off x="1097280" y="1700784"/>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public class Visit — two private fields, one constructor</a:t>
            </a:r>
            <a:endParaRPr lang="en-US" sz="1400"/>
          </a:p>
        </p:txBody>
      </p:sp>
      <p:sp>
        <p:nvSpPr>
          <p:cNvPr id="9" name="Shape 7"/>
          <p:cNvSpPr/>
          <p:nvPr/>
        </p:nvSpPr>
        <p:spPr>
          <a:xfrm>
            <a:off x="548640" y="2084832"/>
            <a:ext cx="384048" cy="384048"/>
          </a:xfrm>
          <a:prstGeom prst="ellipse">
            <a:avLst/>
          </a:prstGeom>
          <a:solidFill>
            <a:srgbClr val="3AAFA9"/>
          </a:solidFill>
          <a:ln/>
        </p:spPr>
        <p:txBody>
          <a:bodyPr/>
          <a:lstStyle/>
          <a:p>
            <a:endParaRPr lang="en-US"/>
          </a:p>
        </p:txBody>
      </p:sp>
      <p:sp>
        <p:nvSpPr>
          <p:cNvPr id="10" name="Text 8"/>
          <p:cNvSpPr/>
          <p:nvPr/>
        </p:nvSpPr>
        <p:spPr>
          <a:xfrm>
            <a:off x="548640" y="2084832"/>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2</a:t>
            </a:r>
            <a:endParaRPr lang="en-US" sz="1800"/>
          </a:p>
        </p:txBody>
      </p:sp>
      <p:sp>
        <p:nvSpPr>
          <p:cNvPr id="11" name="Text 9"/>
          <p:cNvSpPr/>
          <p:nvPr/>
        </p:nvSpPr>
        <p:spPr>
          <a:xfrm>
            <a:off x="1097280" y="2066544"/>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Add getSummary()</a:t>
            </a:r>
            <a:endParaRPr lang="en-US" sz="1800"/>
          </a:p>
        </p:txBody>
      </p:sp>
      <p:sp>
        <p:nvSpPr>
          <p:cNvPr id="12" name="Text 10"/>
          <p:cNvSpPr/>
          <p:nvPr/>
        </p:nvSpPr>
        <p:spPr>
          <a:xfrm>
            <a:off x="1097280" y="2322576"/>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One instance method that reads both fields, no parameters</a:t>
            </a:r>
            <a:endParaRPr lang="en-US" sz="1400"/>
          </a:p>
        </p:txBody>
      </p:sp>
      <p:sp>
        <p:nvSpPr>
          <p:cNvPr id="13" name="Shape 11"/>
          <p:cNvSpPr/>
          <p:nvPr/>
        </p:nvSpPr>
        <p:spPr>
          <a:xfrm>
            <a:off x="548640" y="2706624"/>
            <a:ext cx="384048" cy="384048"/>
          </a:xfrm>
          <a:prstGeom prst="ellipse">
            <a:avLst/>
          </a:prstGeom>
          <a:solidFill>
            <a:srgbClr val="3AAFA9"/>
          </a:solidFill>
          <a:ln/>
        </p:spPr>
        <p:txBody>
          <a:bodyPr/>
          <a:lstStyle/>
          <a:p>
            <a:endParaRPr lang="en-US"/>
          </a:p>
        </p:txBody>
      </p:sp>
      <p:sp>
        <p:nvSpPr>
          <p:cNvPr id="14" name="Text 12"/>
          <p:cNvSpPr/>
          <p:nvPr/>
        </p:nvSpPr>
        <p:spPr>
          <a:xfrm>
            <a:off x="548640" y="2706624"/>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3</a:t>
            </a:r>
            <a:endParaRPr lang="en-US" sz="1800"/>
          </a:p>
        </p:txBody>
      </p:sp>
      <p:sp>
        <p:nvSpPr>
          <p:cNvPr id="15" name="Text 13"/>
          <p:cNvSpPr/>
          <p:nvPr/>
        </p:nvSpPr>
        <p:spPr>
          <a:xfrm>
            <a:off x="1097280" y="2688336"/>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Create VisitDemo.java</a:t>
            </a:r>
            <a:endParaRPr lang="en-US" sz="1800"/>
          </a:p>
        </p:txBody>
      </p:sp>
      <p:sp>
        <p:nvSpPr>
          <p:cNvPr id="16" name="Text 14"/>
          <p:cNvSpPr/>
          <p:nvPr/>
        </p:nvSpPr>
        <p:spPr>
          <a:xfrm>
            <a:off x="1097280" y="2944368"/>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public class VisitDemo with main()</a:t>
            </a:r>
            <a:endParaRPr lang="en-US" sz="1400"/>
          </a:p>
        </p:txBody>
      </p:sp>
      <p:sp>
        <p:nvSpPr>
          <p:cNvPr id="17" name="Shape 15"/>
          <p:cNvSpPr/>
          <p:nvPr/>
        </p:nvSpPr>
        <p:spPr>
          <a:xfrm>
            <a:off x="548640" y="3328416"/>
            <a:ext cx="384048" cy="384048"/>
          </a:xfrm>
          <a:prstGeom prst="ellipse">
            <a:avLst/>
          </a:prstGeom>
          <a:solidFill>
            <a:srgbClr val="3AAFA9"/>
          </a:solidFill>
          <a:ln/>
        </p:spPr>
        <p:txBody>
          <a:bodyPr/>
          <a:lstStyle/>
          <a:p>
            <a:endParaRPr lang="en-US"/>
          </a:p>
        </p:txBody>
      </p:sp>
      <p:sp>
        <p:nvSpPr>
          <p:cNvPr id="18" name="Text 16"/>
          <p:cNvSpPr/>
          <p:nvPr/>
        </p:nvSpPr>
        <p:spPr>
          <a:xfrm>
            <a:off x="548640" y="3328416"/>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4</a:t>
            </a:r>
            <a:endParaRPr lang="en-US" sz="1800"/>
          </a:p>
        </p:txBody>
      </p:sp>
      <p:sp>
        <p:nvSpPr>
          <p:cNvPr id="19" name="Text 17"/>
          <p:cNvSpPr/>
          <p:nvPr/>
        </p:nvSpPr>
        <p:spPr>
          <a:xfrm>
            <a:off x="1097280" y="3310128"/>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Build two Visit objects</a:t>
            </a:r>
            <a:endParaRPr lang="en-US" sz="1800"/>
          </a:p>
        </p:txBody>
      </p:sp>
      <p:sp>
        <p:nvSpPr>
          <p:cNvPr id="20" name="Text 18"/>
          <p:cNvSpPr/>
          <p:nvPr/>
        </p:nvSpPr>
        <p:spPr>
          <a:xfrm>
            <a:off x="1097280" y="3566160"/>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Different dates and costs — prove they're independent</a:t>
            </a:r>
            <a:endParaRPr lang="en-US" sz="1400"/>
          </a:p>
        </p:txBody>
      </p:sp>
      <p:sp>
        <p:nvSpPr>
          <p:cNvPr id="21" name="Shape 19"/>
          <p:cNvSpPr/>
          <p:nvPr/>
        </p:nvSpPr>
        <p:spPr>
          <a:xfrm>
            <a:off x="548640" y="3950208"/>
            <a:ext cx="384048" cy="384048"/>
          </a:xfrm>
          <a:prstGeom prst="ellipse">
            <a:avLst/>
          </a:prstGeom>
          <a:solidFill>
            <a:srgbClr val="3AAFA9"/>
          </a:solidFill>
          <a:ln/>
        </p:spPr>
        <p:txBody>
          <a:bodyPr/>
          <a:lstStyle/>
          <a:p>
            <a:endParaRPr lang="en-US"/>
          </a:p>
        </p:txBody>
      </p:sp>
      <p:sp>
        <p:nvSpPr>
          <p:cNvPr id="22" name="Text 20"/>
          <p:cNvSpPr/>
          <p:nvPr/>
        </p:nvSpPr>
        <p:spPr>
          <a:xfrm>
            <a:off x="548640" y="3950208"/>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5</a:t>
            </a:r>
            <a:endParaRPr lang="en-US" sz="1800"/>
          </a:p>
        </p:txBody>
      </p:sp>
      <p:sp>
        <p:nvSpPr>
          <p:cNvPr id="23" name="Text 21"/>
          <p:cNvSpPr/>
          <p:nvPr/>
        </p:nvSpPr>
        <p:spPr>
          <a:xfrm>
            <a:off x="1097280" y="3931920"/>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Add the overloaded constructor</a:t>
            </a:r>
            <a:endParaRPr lang="en-US" sz="1800"/>
          </a:p>
        </p:txBody>
      </p:sp>
      <p:sp>
        <p:nvSpPr>
          <p:cNvPr id="24" name="Text 22"/>
          <p:cNvSpPr/>
          <p:nvPr/>
        </p:nvSpPr>
        <p:spPr>
          <a:xfrm>
            <a:off x="1097280" y="4187952"/>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A second Visit(...) that defaults cost to 0.0 via this(...)</a:t>
            </a:r>
            <a:endParaRPr lang="en-US" sz="1400"/>
          </a:p>
        </p:txBody>
      </p:sp>
      <p:sp>
        <p:nvSpPr>
          <p:cNvPr id="25" name="Shape 23"/>
          <p:cNvSpPr/>
          <p:nvPr/>
        </p:nvSpPr>
        <p:spPr>
          <a:xfrm>
            <a:off x="548640" y="4572000"/>
            <a:ext cx="384048" cy="384048"/>
          </a:xfrm>
          <a:prstGeom prst="ellipse">
            <a:avLst/>
          </a:prstGeom>
          <a:solidFill>
            <a:srgbClr val="3AAFA9"/>
          </a:solidFill>
          <a:ln/>
        </p:spPr>
        <p:txBody>
          <a:bodyPr/>
          <a:lstStyle/>
          <a:p>
            <a:endParaRPr lang="en-US"/>
          </a:p>
        </p:txBody>
      </p:sp>
      <p:sp>
        <p:nvSpPr>
          <p:cNvPr id="26" name="Text 24"/>
          <p:cNvSpPr/>
          <p:nvPr/>
        </p:nvSpPr>
        <p:spPr>
          <a:xfrm>
            <a:off x="548640" y="4572000"/>
            <a:ext cx="384048" cy="384048"/>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6</a:t>
            </a:r>
            <a:endParaRPr lang="en-US" sz="1800"/>
          </a:p>
        </p:txBody>
      </p:sp>
      <p:sp>
        <p:nvSpPr>
          <p:cNvPr id="27" name="Text 25"/>
          <p:cNvSpPr/>
          <p:nvPr/>
        </p:nvSpPr>
        <p:spPr>
          <a:xfrm>
            <a:off x="1097280" y="4553712"/>
            <a:ext cx="10545775" cy="274320"/>
          </a:xfrm>
          <a:prstGeom prst="rect">
            <a:avLst/>
          </a:prstGeom>
          <a:noFill/>
          <a:ln/>
        </p:spPr>
        <p:txBody>
          <a:bodyPr wrap="square" lIns="0" tIns="0" rIns="0" bIns="0" rtlCol="0" anchor="ctr"/>
          <a:lstStyle/>
          <a:p>
            <a:pPr marL="0" indent="0">
              <a:buNone/>
            </a:pPr>
            <a:r>
              <a:rPr lang="en-US" sz="1800" b="1">
                <a:solidFill>
                  <a:srgbClr val="1E2761"/>
                </a:solidFill>
                <a:latin typeface="Calibri" pitchFamily="34" charset="0"/>
                <a:ea typeface="Calibri" pitchFamily="34" charset="-122"/>
                <a:cs typeface="Calibri" pitchFamily="34" charset="-120"/>
              </a:rPr>
              <a:t>Break it, fix it</a:t>
            </a:r>
            <a:endParaRPr lang="en-US" sz="1800"/>
          </a:p>
        </p:txBody>
      </p:sp>
      <p:sp>
        <p:nvSpPr>
          <p:cNvPr id="28" name="Text 26"/>
          <p:cNvSpPr/>
          <p:nvPr/>
        </p:nvSpPr>
        <p:spPr>
          <a:xfrm>
            <a:off x="1097280" y="4809744"/>
            <a:ext cx="10545775" cy="365760"/>
          </a:xfrm>
          <a:prstGeom prst="rect">
            <a:avLst/>
          </a:prstGeom>
          <a:noFill/>
          <a:ln/>
        </p:spPr>
        <p:txBody>
          <a:bodyPr wrap="square" lIns="0" tIns="0" rIns="0" bIns="0" rtlCol="0" anchor="ctr"/>
          <a:lstStyle/>
          <a:p>
            <a:pPr marL="0" indent="0">
              <a:lnSpc>
                <a:spcPct val="105000"/>
              </a:lnSpc>
              <a:buNone/>
            </a:pPr>
            <a:r>
              <a:rPr lang="en-US" sz="1400">
                <a:solidFill>
                  <a:srgbClr val="3A4250"/>
                </a:solidFill>
                <a:latin typeface="Calibri" pitchFamily="34" charset="0"/>
                <a:ea typeface="Calibri" pitchFamily="34" charset="-122"/>
                <a:cs typeface="Calibri" pitchFamily="34" charset="-120"/>
              </a:rPr>
              <a:t>Drop this. from one assignment on purpose — watch the field come back null</a:t>
            </a:r>
            <a:endParaRPr lang="en-US" sz="1400"/>
          </a:p>
        </p:txBody>
      </p:sp>
      <p:sp>
        <p:nvSpPr>
          <p:cNvPr id="29" name="Text 2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C77DFF"/>
                </a:solidFill>
                <a:latin typeface="Calibri" pitchFamily="34" charset="0"/>
                <a:ea typeface="Calibri" pitchFamily="34" charset="-122"/>
                <a:cs typeface="Calibri" pitchFamily="34" charset="-120"/>
              </a:rPr>
              <a:t>WATCH</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Reading It Top to Bottom — Visit.java</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480560"/>
          </a:xfrm>
          <a:prstGeom prst="roundRect">
            <a:avLst>
              <a:gd name="adj" fmla="val 183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078224"/>
          </a:xfrm>
          <a:prstGeom prst="rect">
            <a:avLst/>
          </a:prstGeom>
          <a:noFill/>
          <a:ln/>
        </p:spPr>
        <p:txBody>
          <a:bodyPr wrap="square" lIns="0" tIns="0" rIns="0" bIns="0" rtlCol="0" anchor="t"/>
          <a:lstStyle/>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public class Visit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private String visitDate;</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private double visitCost;</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Visit(String visitDate, double visitCost)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this.visitDate = visitDate;</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this.visitCost = visitCost;</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Visit(String visitDate)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this(visitDate, 0.0);</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String getSummary()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return visitDate + ": $" + visitCost;</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a:t>
            </a:r>
            <a:endParaRPr lang="en-US" sz="135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E8590C"/>
                </a:solidFill>
                <a:latin typeface="Calibri" pitchFamily="34" charset="0"/>
                <a:ea typeface="Calibri" pitchFamily="34" charset="-122"/>
                <a:cs typeface="Calibri" pitchFamily="34" charset="-120"/>
              </a:rPr>
              <a:t>CHECK</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Break It on Purpose — Three Planned Errors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63040"/>
            <a:ext cx="11094415" cy="1060704"/>
          </a:xfrm>
          <a:prstGeom prst="roundRect">
            <a:avLst>
              <a:gd name="adj" fmla="val 3478"/>
            </a:avLst>
          </a:prstGeom>
          <a:solidFill>
            <a:srgbClr val="FFFFFF"/>
          </a:solidFill>
          <a:ln w="12700">
            <a:solidFill>
              <a:srgbClr val="E4E7F0"/>
            </a:solidFill>
            <a:prstDash val="solid"/>
          </a:ln>
        </p:spPr>
        <p:txBody>
          <a:bodyPr/>
          <a:lstStyle/>
          <a:p>
            <a:endParaRPr lang="en-US"/>
          </a:p>
        </p:txBody>
      </p:sp>
      <p:sp>
        <p:nvSpPr>
          <p:cNvPr id="6" name="Text 4"/>
          <p:cNvSpPr/>
          <p:nvPr/>
        </p:nvSpPr>
        <p:spPr>
          <a:xfrm>
            <a:off x="685800" y="1536192"/>
            <a:ext cx="365760" cy="274320"/>
          </a:xfrm>
          <a:prstGeom prst="rect">
            <a:avLst/>
          </a:prstGeom>
          <a:noFill/>
          <a:ln/>
        </p:spPr>
        <p:txBody>
          <a:bodyPr wrap="square" lIns="0" tIns="0" rIns="0" bIns="0" rtlCol="0" anchor="ctr"/>
          <a:lstStyle/>
          <a:p>
            <a:pPr marL="0" indent="0">
              <a:buNone/>
            </a:pPr>
            <a:r>
              <a:rPr lang="en-US" sz="1800" b="1">
                <a:solidFill>
                  <a:srgbClr val="E8590C"/>
                </a:solidFill>
                <a:latin typeface="Calibri" pitchFamily="34" charset="0"/>
                <a:ea typeface="Calibri" pitchFamily="34" charset="-122"/>
                <a:cs typeface="Calibri" pitchFamily="34" charset="-120"/>
              </a:rPr>
              <a:t>A</a:t>
            </a:r>
            <a:endParaRPr lang="en-US" sz="1800"/>
          </a:p>
        </p:txBody>
      </p:sp>
      <p:sp>
        <p:nvSpPr>
          <p:cNvPr id="7" name="Text 5"/>
          <p:cNvSpPr/>
          <p:nvPr/>
        </p:nvSpPr>
        <p:spPr>
          <a:xfrm>
            <a:off x="1097280" y="1536192"/>
            <a:ext cx="4389120" cy="914400"/>
          </a:xfrm>
          <a:prstGeom prst="rect">
            <a:avLst/>
          </a:prstGeom>
          <a:noFill/>
          <a:ln/>
        </p:spPr>
        <p:txBody>
          <a:bodyPr wrap="square" lIns="0" tIns="0" rIns="0" bIns="0" rtlCol="0" anchor="ctr"/>
          <a:lstStyle/>
          <a:p>
            <a:pPr marL="0" indent="0">
              <a:lnSpc>
                <a:spcPct val="108000"/>
              </a:lnSpc>
              <a:buNone/>
            </a:pPr>
            <a:r>
              <a:rPr lang="en-US" sz="1050" dirty="0">
                <a:solidFill>
                  <a:srgbClr val="22242E"/>
                </a:solidFill>
                <a:latin typeface="Calibri" pitchFamily="34" charset="0"/>
                <a:ea typeface="Calibri" pitchFamily="34" charset="-122"/>
                <a:cs typeface="Calibri" pitchFamily="34" charset="-120"/>
              </a:rPr>
              <a:t>Write visitDate = visitDate; (no this.), then print a Visit's summary.</a:t>
            </a:r>
            <a:endParaRPr lang="en-US" sz="1050" dirty="0"/>
          </a:p>
        </p:txBody>
      </p:sp>
      <p:sp>
        <p:nvSpPr>
          <p:cNvPr id="8" name="Text 6"/>
          <p:cNvSpPr/>
          <p:nvPr/>
        </p:nvSpPr>
        <p:spPr>
          <a:xfrm>
            <a:off x="5257800" y="1536192"/>
            <a:ext cx="3017520" cy="914400"/>
          </a:xfrm>
          <a:prstGeom prst="rect">
            <a:avLst/>
          </a:prstGeom>
          <a:noFill/>
          <a:ln/>
        </p:spPr>
        <p:txBody>
          <a:bodyPr wrap="square" lIns="0" tIns="0" rIns="0" bIns="0" rtlCol="0" anchor="ctr"/>
          <a:lstStyle/>
          <a:p>
            <a:pPr marL="0" indent="0">
              <a:lnSpc>
                <a:spcPct val="108000"/>
              </a:lnSpc>
              <a:buNone/>
            </a:pPr>
            <a:r>
              <a:rPr lang="en-US" sz="1000" dirty="0">
                <a:solidFill>
                  <a:srgbClr val="1E2761"/>
                </a:solidFill>
                <a:latin typeface="Consolas" pitchFamily="34" charset="0"/>
                <a:ea typeface="Consolas" pitchFamily="34" charset="-122"/>
                <a:cs typeface="Consolas" pitchFamily="34" charset="-120"/>
              </a:rPr>
              <a:t>null: $125.0 — no error at all</a:t>
            </a:r>
            <a:endParaRPr lang="en-US" sz="1000" dirty="0"/>
          </a:p>
        </p:txBody>
      </p:sp>
      <p:sp>
        <p:nvSpPr>
          <p:cNvPr id="9" name="Text 7"/>
          <p:cNvSpPr/>
          <p:nvPr/>
        </p:nvSpPr>
        <p:spPr>
          <a:xfrm>
            <a:off x="8458200" y="1536192"/>
            <a:ext cx="3182112" cy="914400"/>
          </a:xfrm>
          <a:prstGeom prst="rect">
            <a:avLst/>
          </a:prstGeom>
          <a:noFill/>
          <a:ln/>
        </p:spPr>
        <p:txBody>
          <a:bodyPr wrap="square" lIns="0" tIns="0" rIns="0" bIns="0" rtlCol="0" anchor="ctr"/>
          <a:lstStyle/>
          <a:p>
            <a:pPr marL="0" indent="0">
              <a:lnSpc>
                <a:spcPct val="108000"/>
              </a:lnSpc>
              <a:buNone/>
            </a:pPr>
            <a:r>
              <a:rPr lang="en-US" sz="1000" dirty="0">
                <a:solidFill>
                  <a:srgbClr val="3A4250"/>
                </a:solidFill>
                <a:latin typeface="Calibri" pitchFamily="34" charset="0"/>
                <a:ea typeface="Calibri" pitchFamily="34" charset="-122"/>
                <a:cs typeface="Calibri" pitchFamily="34" charset="-120"/>
              </a:rPr>
              <a:t>The field was never touched, so it keeps its default value.</a:t>
            </a:r>
            <a:endParaRPr lang="en-US" sz="1000" dirty="0"/>
          </a:p>
        </p:txBody>
      </p:sp>
      <p:sp>
        <p:nvSpPr>
          <p:cNvPr id="10" name="Shape 8"/>
          <p:cNvSpPr/>
          <p:nvPr/>
        </p:nvSpPr>
        <p:spPr>
          <a:xfrm>
            <a:off x="548640" y="2651760"/>
            <a:ext cx="11094415" cy="1060704"/>
          </a:xfrm>
          <a:prstGeom prst="roundRect">
            <a:avLst>
              <a:gd name="adj" fmla="val 3478"/>
            </a:avLst>
          </a:prstGeom>
          <a:solidFill>
            <a:srgbClr val="FFFFFF"/>
          </a:solidFill>
          <a:ln w="12700">
            <a:solidFill>
              <a:srgbClr val="E4E7F0"/>
            </a:solidFill>
            <a:prstDash val="solid"/>
          </a:ln>
        </p:spPr>
        <p:txBody>
          <a:bodyPr/>
          <a:lstStyle/>
          <a:p>
            <a:endParaRPr lang="en-US"/>
          </a:p>
        </p:txBody>
      </p:sp>
      <p:sp>
        <p:nvSpPr>
          <p:cNvPr id="11" name="Text 9"/>
          <p:cNvSpPr/>
          <p:nvPr/>
        </p:nvSpPr>
        <p:spPr>
          <a:xfrm>
            <a:off x="685800" y="2724912"/>
            <a:ext cx="365760" cy="274320"/>
          </a:xfrm>
          <a:prstGeom prst="rect">
            <a:avLst/>
          </a:prstGeom>
          <a:noFill/>
          <a:ln/>
        </p:spPr>
        <p:txBody>
          <a:bodyPr wrap="square" lIns="0" tIns="0" rIns="0" bIns="0" rtlCol="0" anchor="ctr"/>
          <a:lstStyle/>
          <a:p>
            <a:pPr marL="0" indent="0">
              <a:buNone/>
            </a:pPr>
            <a:r>
              <a:rPr lang="en-US" sz="1800" b="1">
                <a:solidFill>
                  <a:srgbClr val="E8590C"/>
                </a:solidFill>
                <a:latin typeface="Calibri" pitchFamily="34" charset="0"/>
                <a:ea typeface="Calibri" pitchFamily="34" charset="-122"/>
                <a:cs typeface="Calibri" pitchFamily="34" charset="-120"/>
              </a:rPr>
              <a:t>B</a:t>
            </a:r>
            <a:endParaRPr lang="en-US" sz="1800"/>
          </a:p>
        </p:txBody>
      </p:sp>
      <p:sp>
        <p:nvSpPr>
          <p:cNvPr id="12" name="Text 10"/>
          <p:cNvSpPr/>
          <p:nvPr/>
        </p:nvSpPr>
        <p:spPr>
          <a:xfrm>
            <a:off x="1097280" y="2724912"/>
            <a:ext cx="4389120" cy="914400"/>
          </a:xfrm>
          <a:prstGeom prst="rect">
            <a:avLst/>
          </a:prstGeom>
          <a:noFill/>
          <a:ln/>
        </p:spPr>
        <p:txBody>
          <a:bodyPr wrap="square" lIns="0" tIns="0" rIns="0" bIns="0" rtlCol="0" anchor="ctr"/>
          <a:lstStyle/>
          <a:p>
            <a:pPr marL="0" indent="0">
              <a:lnSpc>
                <a:spcPct val="108000"/>
              </a:lnSpc>
              <a:buNone/>
            </a:pPr>
            <a:r>
              <a:rPr lang="en-US" sz="1050" dirty="0">
                <a:solidFill>
                  <a:srgbClr val="22242E"/>
                </a:solidFill>
                <a:latin typeface="Calibri" pitchFamily="34" charset="0"/>
                <a:ea typeface="Calibri" pitchFamily="34" charset="-122"/>
                <a:cs typeface="Calibri" pitchFamily="34" charset="-120"/>
              </a:rPr>
              <a:t>Call new Visit("2026-01-15") before the overloaded constructor exists.</a:t>
            </a:r>
            <a:endParaRPr lang="en-US" sz="1050" dirty="0"/>
          </a:p>
        </p:txBody>
      </p:sp>
      <p:sp>
        <p:nvSpPr>
          <p:cNvPr id="13" name="Text 11"/>
          <p:cNvSpPr/>
          <p:nvPr/>
        </p:nvSpPr>
        <p:spPr>
          <a:xfrm>
            <a:off x="5257800" y="2724912"/>
            <a:ext cx="3017520" cy="914400"/>
          </a:xfrm>
          <a:prstGeom prst="rect">
            <a:avLst/>
          </a:prstGeom>
          <a:noFill/>
          <a:ln/>
        </p:spPr>
        <p:txBody>
          <a:bodyPr wrap="square" lIns="0" tIns="0" rIns="0" bIns="0" rtlCol="0" anchor="ctr"/>
          <a:lstStyle/>
          <a:p>
            <a:pPr marL="0" indent="0">
              <a:lnSpc>
                <a:spcPct val="108000"/>
              </a:lnSpc>
              <a:buNone/>
            </a:pPr>
            <a:r>
              <a:rPr lang="en-US" sz="1000" dirty="0">
                <a:solidFill>
                  <a:srgbClr val="1E2761"/>
                </a:solidFill>
                <a:latin typeface="Consolas" pitchFamily="34" charset="0"/>
                <a:ea typeface="Consolas" pitchFamily="34" charset="-122"/>
                <a:cs typeface="Consolas" pitchFamily="34" charset="-120"/>
              </a:rPr>
              <a:t>cannot be applied to given types</a:t>
            </a:r>
            <a:endParaRPr lang="en-US" sz="1000" dirty="0"/>
          </a:p>
        </p:txBody>
      </p:sp>
      <p:sp>
        <p:nvSpPr>
          <p:cNvPr id="14" name="Text 12"/>
          <p:cNvSpPr/>
          <p:nvPr/>
        </p:nvSpPr>
        <p:spPr>
          <a:xfrm>
            <a:off x="8458200" y="2724912"/>
            <a:ext cx="3182112" cy="914400"/>
          </a:xfrm>
          <a:prstGeom prst="rect">
            <a:avLst/>
          </a:prstGeom>
          <a:noFill/>
          <a:ln/>
        </p:spPr>
        <p:txBody>
          <a:bodyPr wrap="square" lIns="0" tIns="0" rIns="0" bIns="0" rtlCol="0" anchor="ctr"/>
          <a:lstStyle/>
          <a:p>
            <a:pPr marL="0" indent="0">
              <a:lnSpc>
                <a:spcPct val="108000"/>
              </a:lnSpc>
              <a:buNone/>
            </a:pPr>
            <a:r>
              <a:rPr lang="en-US" sz="1000" dirty="0">
                <a:solidFill>
                  <a:srgbClr val="3A4250"/>
                </a:solidFill>
                <a:latin typeface="Calibri" pitchFamily="34" charset="0"/>
                <a:ea typeface="Calibri" pitchFamily="34" charset="-122"/>
                <a:cs typeface="Calibri" pitchFamily="34" charset="-120"/>
              </a:rPr>
              <a:t>Java looked for a one-argument constructor and found none yet.</a:t>
            </a:r>
            <a:endParaRPr lang="en-US" sz="1000" dirty="0"/>
          </a:p>
        </p:txBody>
      </p:sp>
      <p:sp>
        <p:nvSpPr>
          <p:cNvPr id="15" name="Shape 13"/>
          <p:cNvSpPr/>
          <p:nvPr/>
        </p:nvSpPr>
        <p:spPr>
          <a:xfrm>
            <a:off x="548640" y="3840480"/>
            <a:ext cx="11094415" cy="1060704"/>
          </a:xfrm>
          <a:prstGeom prst="roundRect">
            <a:avLst>
              <a:gd name="adj" fmla="val 3478"/>
            </a:avLst>
          </a:prstGeom>
          <a:solidFill>
            <a:srgbClr val="FFFFFF"/>
          </a:solidFill>
          <a:ln w="12700">
            <a:solidFill>
              <a:srgbClr val="E4E7F0"/>
            </a:solidFill>
            <a:prstDash val="solid"/>
          </a:ln>
        </p:spPr>
        <p:txBody>
          <a:bodyPr/>
          <a:lstStyle/>
          <a:p>
            <a:endParaRPr lang="en-US"/>
          </a:p>
        </p:txBody>
      </p:sp>
      <p:sp>
        <p:nvSpPr>
          <p:cNvPr id="16" name="Text 14"/>
          <p:cNvSpPr/>
          <p:nvPr/>
        </p:nvSpPr>
        <p:spPr>
          <a:xfrm>
            <a:off x="685800" y="3913632"/>
            <a:ext cx="365760" cy="274320"/>
          </a:xfrm>
          <a:prstGeom prst="rect">
            <a:avLst/>
          </a:prstGeom>
          <a:noFill/>
          <a:ln/>
        </p:spPr>
        <p:txBody>
          <a:bodyPr wrap="square" lIns="0" tIns="0" rIns="0" bIns="0" rtlCol="0" anchor="ctr"/>
          <a:lstStyle/>
          <a:p>
            <a:pPr marL="0" indent="0">
              <a:buNone/>
            </a:pPr>
            <a:r>
              <a:rPr lang="en-US" sz="1800" b="1">
                <a:solidFill>
                  <a:srgbClr val="E8590C"/>
                </a:solidFill>
                <a:latin typeface="Calibri" pitchFamily="34" charset="0"/>
                <a:ea typeface="Calibri" pitchFamily="34" charset="-122"/>
                <a:cs typeface="Calibri" pitchFamily="34" charset="-120"/>
              </a:rPr>
              <a:t>C</a:t>
            </a:r>
            <a:endParaRPr lang="en-US" sz="1800"/>
          </a:p>
        </p:txBody>
      </p:sp>
      <p:sp>
        <p:nvSpPr>
          <p:cNvPr id="17" name="Text 15"/>
          <p:cNvSpPr/>
          <p:nvPr/>
        </p:nvSpPr>
        <p:spPr>
          <a:xfrm>
            <a:off x="1097280" y="3913632"/>
            <a:ext cx="4389120" cy="914400"/>
          </a:xfrm>
          <a:prstGeom prst="rect">
            <a:avLst/>
          </a:prstGeom>
          <a:noFill/>
          <a:ln/>
        </p:spPr>
        <p:txBody>
          <a:bodyPr wrap="square" lIns="0" tIns="0" rIns="0" bIns="0" rtlCol="0" anchor="ctr"/>
          <a:lstStyle/>
          <a:p>
            <a:pPr marL="0" indent="0">
              <a:lnSpc>
                <a:spcPct val="108000"/>
              </a:lnSpc>
              <a:buNone/>
            </a:pPr>
            <a:r>
              <a:rPr lang="en-US" sz="1050" dirty="0">
                <a:solidFill>
                  <a:srgbClr val="22242E"/>
                </a:solidFill>
                <a:latin typeface="Calibri" pitchFamily="34" charset="0"/>
                <a:ea typeface="Calibri" pitchFamily="34" charset="-122"/>
                <a:cs typeface="Calibri" pitchFamily="34" charset="-120"/>
              </a:rPr>
              <a:t>Call visit.getDate() instead of visit.getSummary().</a:t>
            </a:r>
            <a:endParaRPr lang="en-US" sz="1050" dirty="0"/>
          </a:p>
        </p:txBody>
      </p:sp>
      <p:sp>
        <p:nvSpPr>
          <p:cNvPr id="18" name="Text 16"/>
          <p:cNvSpPr/>
          <p:nvPr/>
        </p:nvSpPr>
        <p:spPr>
          <a:xfrm>
            <a:off x="5257800" y="3913632"/>
            <a:ext cx="3017520" cy="914400"/>
          </a:xfrm>
          <a:prstGeom prst="rect">
            <a:avLst/>
          </a:prstGeom>
          <a:noFill/>
          <a:ln/>
        </p:spPr>
        <p:txBody>
          <a:bodyPr wrap="square" lIns="0" tIns="0" rIns="0" bIns="0" rtlCol="0" anchor="ctr"/>
          <a:lstStyle/>
          <a:p>
            <a:pPr marL="0" indent="0">
              <a:lnSpc>
                <a:spcPct val="108000"/>
              </a:lnSpc>
              <a:buNone/>
            </a:pPr>
            <a:r>
              <a:rPr lang="en-US" sz="1000" dirty="0">
                <a:solidFill>
                  <a:srgbClr val="1E2761"/>
                </a:solidFill>
                <a:latin typeface="Consolas" pitchFamily="34" charset="0"/>
                <a:ea typeface="Consolas" pitchFamily="34" charset="-122"/>
                <a:cs typeface="Consolas" pitchFamily="34" charset="-120"/>
              </a:rPr>
              <a:t>cannot find symbol</a:t>
            </a:r>
            <a:endParaRPr lang="en-US" sz="1000" dirty="0"/>
          </a:p>
        </p:txBody>
      </p:sp>
      <p:sp>
        <p:nvSpPr>
          <p:cNvPr id="19" name="Text 17"/>
          <p:cNvSpPr/>
          <p:nvPr/>
        </p:nvSpPr>
        <p:spPr>
          <a:xfrm>
            <a:off x="8458200" y="3913632"/>
            <a:ext cx="3182112" cy="914400"/>
          </a:xfrm>
          <a:prstGeom prst="rect">
            <a:avLst/>
          </a:prstGeom>
          <a:noFill/>
          <a:ln/>
        </p:spPr>
        <p:txBody>
          <a:bodyPr wrap="square" lIns="0" tIns="0" rIns="0" bIns="0" rtlCol="0" anchor="ctr"/>
          <a:lstStyle/>
          <a:p>
            <a:pPr marL="0" indent="0">
              <a:lnSpc>
                <a:spcPct val="108000"/>
              </a:lnSpc>
              <a:buNone/>
            </a:pPr>
            <a:r>
              <a:rPr lang="en-US" sz="1000" dirty="0">
                <a:solidFill>
                  <a:srgbClr val="3A4250"/>
                </a:solidFill>
                <a:latin typeface="Calibri" pitchFamily="34" charset="0"/>
                <a:ea typeface="Calibri" pitchFamily="34" charset="-122"/>
                <a:cs typeface="Calibri" pitchFamily="34" charset="-120"/>
              </a:rPr>
              <a:t>Same error as Day 1, now on a method call instead of println.</a:t>
            </a:r>
            <a:endParaRPr lang="en-US" sz="1000" dirty="0"/>
          </a:p>
        </p:txBody>
      </p:sp>
      <p:sp>
        <p:nvSpPr>
          <p:cNvPr id="20" name="Text 18"/>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CopayCard, From a Blank File</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REQUIREMENTS</a:t>
            </a:r>
            <a:endParaRPr lang="en-US" sz="1100" dirty="0"/>
          </a:p>
        </p:txBody>
      </p:sp>
      <p:sp>
        <p:nvSpPr>
          <p:cNvPr id="6" name="Text 4"/>
          <p:cNvSpPr/>
          <p:nvPr/>
        </p:nvSpPr>
        <p:spPr>
          <a:xfrm>
            <a:off x="548640" y="1691640"/>
            <a:ext cx="11094415" cy="20116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Create CopayCard.java: public class CopayCard, private fields planName (String) and copayAmount (double)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Write a constructor that takes both values and assigns them with this.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Write getPlanName() and getCopayAmount() — no set methods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Override toString() to return a one-line summary combining both fields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Create CopayCardTest.java: public class CopayCardTest with main(), build two CopayCard objects, print both with println(card) directly</a:t>
            </a:r>
            <a:endParaRPr lang="en-US" sz="1800"/>
          </a:p>
        </p:txBody>
      </p:sp>
      <p:sp>
        <p:nvSpPr>
          <p:cNvPr id="7" name="Shape 5"/>
          <p:cNvSpPr/>
          <p:nvPr/>
        </p:nvSpPr>
        <p:spPr>
          <a:xfrm>
            <a:off x="548640" y="3977640"/>
            <a:ext cx="11094415" cy="811987"/>
          </a:xfrm>
          <a:prstGeom prst="roundRect">
            <a:avLst>
              <a:gd name="adj" fmla="val 10000"/>
            </a:avLst>
          </a:prstGeom>
          <a:solidFill>
            <a:srgbClr val="FFF3D6"/>
          </a:solidFill>
          <a:ln w="15875">
            <a:solidFill>
              <a:srgbClr val="E3B94C"/>
            </a:solidFill>
            <a:prstDash val="solid"/>
          </a:ln>
        </p:spPr>
        <p:txBody>
          <a:bodyPr/>
          <a:lstStyle/>
          <a:p>
            <a:endParaRPr lang="en-US"/>
          </a:p>
        </p:txBody>
      </p:sp>
      <p:sp>
        <p:nvSpPr>
          <p:cNvPr id="8" name="Text 6"/>
          <p:cNvSpPr/>
          <p:nvPr/>
        </p:nvSpPr>
        <p:spPr>
          <a:xfrm>
            <a:off x="804672" y="4087368"/>
            <a:ext cx="10582351" cy="592531"/>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Close the demo code. Build this from memory — the shape is the same as Visit, the field names are your own.</a:t>
            </a:r>
            <a:endParaRPr lang="en-US" sz="180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You Are Done When</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463040"/>
            <a:ext cx="11094415" cy="192024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Both files compile with no errors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java CopayCardTest prints two different, readable summaries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Neither field is public, and no set method exists anywhere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toString() is marked @Override and returns a String, not a println call</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You can point to the line where this. matters and explain why</a:t>
            </a:r>
            <a:endParaRPr lang="en-US" sz="1800"/>
          </a:p>
        </p:txBody>
      </p:sp>
      <p:sp>
        <p:nvSpPr>
          <p:cNvPr id="6" name="Shape 4"/>
          <p:cNvSpPr/>
          <p:nvPr/>
        </p:nvSpPr>
        <p:spPr>
          <a:xfrm>
            <a:off x="548640" y="3657600"/>
            <a:ext cx="11094415" cy="548640"/>
          </a:xfrm>
          <a:prstGeom prst="roundRect">
            <a:avLst>
              <a:gd name="adj" fmla="val 10000"/>
            </a:avLst>
          </a:prstGeom>
          <a:solidFill>
            <a:srgbClr val="FFF3D6"/>
          </a:solidFill>
          <a:ln w="15875">
            <a:solidFill>
              <a:srgbClr val="E3B94C"/>
            </a:solidFill>
            <a:prstDash val="solid"/>
          </a:ln>
        </p:spPr>
        <p:txBody>
          <a:bodyPr/>
          <a:lstStyle/>
          <a:p>
            <a:endParaRPr lang="en-US"/>
          </a:p>
        </p:txBody>
      </p:sp>
      <p:sp>
        <p:nvSpPr>
          <p:cNvPr id="7" name="Text 5"/>
          <p:cNvSpPr/>
          <p:nvPr/>
        </p:nvSpPr>
        <p:spPr>
          <a:xfrm>
            <a:off x="804672" y="3767328"/>
            <a:ext cx="10582351" cy="329184"/>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Stuck? Reread the Visit.java code slide — same shape, different field names.</a:t>
            </a:r>
            <a:endParaRPr lang="en-US" sz="1800"/>
          </a:p>
        </p:txBody>
      </p:sp>
      <p:sp>
        <p:nvSpPr>
          <p:cNvPr id="8" name="Text 6"/>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E8590C"/>
                </a:solidFill>
                <a:latin typeface="Calibri" pitchFamily="34" charset="0"/>
                <a:ea typeface="Calibri" pitchFamily="34" charset="-122"/>
                <a:cs typeface="Calibri" pitchFamily="34" charset="-120"/>
              </a:rPr>
              <a:t>CHECK</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ClaimRecord, on Your Own</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37160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THE PROMPT</a:t>
            </a:r>
            <a:endParaRPr lang="en-US" sz="1100" dirty="0"/>
          </a:p>
        </p:txBody>
      </p:sp>
      <p:sp>
        <p:nvSpPr>
          <p:cNvPr id="6" name="Text 4"/>
          <p:cNvSpPr/>
          <p:nvPr/>
        </p:nvSpPr>
        <p:spPr>
          <a:xfrm>
            <a:off x="548640" y="1691640"/>
            <a:ext cx="11094415" cy="201168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Create ClaimRecord.java: private fields claimNumber (String), daysOpen (int), claimAmount (double)</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Constructor assigns all three with this.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Get methods for all three fields — no set methods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One more instance method: getAgingStatus() — returns "Recently opened" if daysOpen ≤ 7, "In progress" if ≤ 30, otherwise "Long-running"</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Create ClaimRecordTest.java, build one ClaimRecord, print its aging status</a:t>
            </a:r>
            <a:endParaRPr lang="en-US" sz="1800"/>
          </a:p>
        </p:txBody>
      </p:sp>
      <p:sp>
        <p:nvSpPr>
          <p:cNvPr id="7" name="Shape 5"/>
          <p:cNvSpPr/>
          <p:nvPr/>
        </p:nvSpPr>
        <p:spPr>
          <a:xfrm>
            <a:off x="548640" y="3977640"/>
            <a:ext cx="11094415" cy="976579"/>
          </a:xfrm>
          <a:prstGeom prst="roundRect">
            <a:avLst>
              <a:gd name="adj" fmla="val 8571"/>
            </a:avLst>
          </a:prstGeom>
          <a:solidFill>
            <a:srgbClr val="FFF3D6"/>
          </a:solidFill>
          <a:ln w="15875">
            <a:solidFill>
              <a:srgbClr val="E3B94C"/>
            </a:solidFill>
            <a:prstDash val="solid"/>
          </a:ln>
        </p:spPr>
        <p:txBody>
          <a:bodyPr/>
          <a:lstStyle/>
          <a:p>
            <a:endParaRPr lang="en-US"/>
          </a:p>
        </p:txBody>
      </p:sp>
      <p:sp>
        <p:nvSpPr>
          <p:cNvPr id="8" name="Text 6"/>
          <p:cNvSpPr/>
          <p:nvPr/>
        </p:nvSpPr>
        <p:spPr>
          <a:xfrm>
            <a:off x="804672" y="4087368"/>
            <a:ext cx="10582351" cy="757123"/>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getAgingStatus() is your first instance method that computes something from the object's own fields, not just returns one. This is ungraded.</a:t>
            </a:r>
            <a:endParaRPr lang="en-US" sz="180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Script Becomes a Member Class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41732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WHAT YOU ARE BUILDING</a:t>
            </a:r>
            <a:endParaRPr lang="en-US" sz="1100" dirty="0"/>
          </a:p>
        </p:txBody>
      </p:sp>
      <p:sp>
        <p:nvSpPr>
          <p:cNvPr id="6" name="Text 4"/>
          <p:cNvSpPr/>
          <p:nvPr/>
        </p:nvSpPr>
        <p:spPr>
          <a:xfrm>
            <a:off x="548640" y="1737360"/>
            <a:ext cx="11094415" cy="146304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A new class, Member, that holds one member's identity and their benefits numbers together</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MemberBenefitsSummary evolves to build one Member object and print the report through it</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This is the promise from yesterday's close: “MemberBenefitsSummary starts becoming a Member class instead of a script that prints one member's numbers”</a:t>
            </a:r>
            <a:endParaRPr lang="en-US" sz="1800"/>
          </a:p>
        </p:txBody>
      </p:sp>
      <p:sp>
        <p:nvSpPr>
          <p:cNvPr id="7" name="Text 5"/>
          <p:cNvSpPr/>
          <p:nvPr/>
        </p:nvSpPr>
        <p:spPr>
          <a:xfrm>
            <a:off x="548640" y="3383280"/>
            <a:ext cx="11094415"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548640" y="3703320"/>
            <a:ext cx="11094415" cy="73152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Everything from Days 1–4 still has to work — this is a refactor, not a rewrite, including Day 4's validation</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This is completed in class today — no remote work tonight</a:t>
            </a:r>
            <a:endParaRPr lang="en-US" sz="180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What Moves Into Member</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640080" y="1463040"/>
            <a:ext cx="2231136"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Stays in main()</a:t>
            </a:r>
            <a:endParaRPr lang="en-US" sz="1150" dirty="0"/>
          </a:p>
        </p:txBody>
      </p:sp>
      <p:sp>
        <p:nvSpPr>
          <p:cNvPr id="6" name="Text 4"/>
          <p:cNvSpPr/>
          <p:nvPr/>
        </p:nvSpPr>
        <p:spPr>
          <a:xfrm>
            <a:off x="3017520" y="1463040"/>
            <a:ext cx="8567928"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The Scanner, the currency/percent formatters, getDouble() itself, the visit-logging loop</a:t>
            </a:r>
            <a:endParaRPr lang="en-US" sz="1150" dirty="0"/>
          </a:p>
        </p:txBody>
      </p:sp>
      <p:sp>
        <p:nvSpPr>
          <p:cNvPr id="7" name="Shape 5"/>
          <p:cNvSpPr/>
          <p:nvPr/>
        </p:nvSpPr>
        <p:spPr>
          <a:xfrm>
            <a:off x="548640" y="2148840"/>
            <a:ext cx="0" cy="685800"/>
          </a:xfrm>
          <a:prstGeom prst="rect">
            <a:avLst/>
          </a:prstGeom>
          <a:solidFill>
            <a:srgbClr val="F3F5FA"/>
          </a:solidFill>
          <a:ln/>
        </p:spPr>
        <p:txBody>
          <a:bodyPr/>
          <a:lstStyle/>
          <a:p>
            <a:endParaRPr lang="en-US"/>
          </a:p>
        </p:txBody>
      </p:sp>
      <p:sp>
        <p:nvSpPr>
          <p:cNvPr id="8" name="Text 6"/>
          <p:cNvSpPr/>
          <p:nvPr/>
        </p:nvSpPr>
        <p:spPr>
          <a:xfrm>
            <a:off x="640080" y="2148840"/>
            <a:ext cx="2231136"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Moves into the class</a:t>
            </a:r>
            <a:endParaRPr lang="en-US" sz="1150" dirty="0"/>
          </a:p>
        </p:txBody>
      </p:sp>
      <p:sp>
        <p:nvSpPr>
          <p:cNvPr id="9" name="Text 7"/>
          <p:cNvSpPr/>
          <p:nvPr/>
        </p:nvSpPr>
        <p:spPr>
          <a:xfrm>
            <a:off x="3017520" y="2148840"/>
            <a:ext cx="8567928"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memberName, memberId, planName, effectiveDate, groupNumber, planYear, visitsUsed, deductibleDollars, amountPaidThisYear, remainingDeductible, estimatedCoinsuranceOwed, visitUsagePercent</a:t>
            </a:r>
            <a:endParaRPr lang="en-US" sz="1150" dirty="0"/>
          </a:p>
        </p:txBody>
      </p:sp>
      <p:sp>
        <p:nvSpPr>
          <p:cNvPr id="10" name="Text 8"/>
          <p:cNvSpPr/>
          <p:nvPr/>
        </p:nvSpPr>
        <p:spPr>
          <a:xfrm>
            <a:off x="640080" y="2834640"/>
            <a:ext cx="2231136"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Moves in unchanged</a:t>
            </a:r>
            <a:endParaRPr lang="en-US" sz="1150" dirty="0"/>
          </a:p>
        </p:txBody>
      </p:sp>
      <p:sp>
        <p:nvSpPr>
          <p:cNvPr id="11" name="Text 9"/>
          <p:cNvSpPr/>
          <p:nvPr/>
        </p:nvSpPr>
        <p:spPr>
          <a:xfrm>
            <a:off x="3017520" y="2834640"/>
            <a:ext cx="8567928"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calculateCoinsuranceOwed(double, double) — same signature, same math, same static keyword, from Day 3</a:t>
            </a:r>
            <a:endParaRPr lang="en-US" sz="1150" dirty="0"/>
          </a:p>
        </p:txBody>
      </p:sp>
      <p:sp>
        <p:nvSpPr>
          <p:cNvPr id="12" name="Shape 10"/>
          <p:cNvSpPr/>
          <p:nvPr/>
        </p:nvSpPr>
        <p:spPr>
          <a:xfrm>
            <a:off x="548640" y="3520440"/>
            <a:ext cx="0" cy="685800"/>
          </a:xfrm>
          <a:prstGeom prst="rect">
            <a:avLst/>
          </a:prstGeom>
          <a:solidFill>
            <a:srgbClr val="F3F5FA"/>
          </a:solidFill>
          <a:ln/>
        </p:spPr>
        <p:txBody>
          <a:bodyPr/>
          <a:lstStyle/>
          <a:p>
            <a:endParaRPr lang="en-US"/>
          </a:p>
        </p:txBody>
      </p:sp>
      <p:sp>
        <p:nvSpPr>
          <p:cNvPr id="13" name="Text 11"/>
          <p:cNvSpPr/>
          <p:nvPr/>
        </p:nvSpPr>
        <p:spPr>
          <a:xfrm>
            <a:off x="640080" y="3520440"/>
            <a:ext cx="2231136"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New in the class</a:t>
            </a:r>
            <a:endParaRPr lang="en-US" sz="1150" dirty="0"/>
          </a:p>
        </p:txBody>
      </p:sp>
      <p:sp>
        <p:nvSpPr>
          <p:cNvPr id="14" name="Text 12"/>
          <p:cNvSpPr/>
          <p:nvPr/>
        </p:nvSpPr>
        <p:spPr>
          <a:xfrm>
            <a:off x="3017520" y="3520440"/>
            <a:ext cx="8567928" cy="685800"/>
          </a:xfrm>
          <a:prstGeom prst="rect">
            <a:avLst/>
          </a:prstGeom>
          <a:noFill/>
          <a:ln/>
        </p:spPr>
        <p:txBody>
          <a:bodyPr wrap="square" lIns="0" tIns="0" rIns="0" bIns="0" rtlCol="0" anchor="ctr"/>
          <a:lstStyle/>
          <a:p>
            <a:pPr marL="0" indent="0">
              <a:buNone/>
            </a:pPr>
            <a:r>
              <a:rPr lang="en-US" sz="1150" dirty="0">
                <a:solidFill>
                  <a:srgbClr val="22242E"/>
                </a:solidFill>
                <a:latin typeface="Calibri" pitchFamily="34" charset="0"/>
                <a:ea typeface="Calibri" pitchFamily="34" charset="-122"/>
                <a:cs typeface="Calibri" pitchFamily="34" charset="-120"/>
              </a:rPr>
              <a:t>COINSURANCE_RATE and VISITS_ALLOWED become private static final fields of Member, not local constants</a:t>
            </a:r>
            <a:endParaRPr lang="en-US" sz="1150" dirty="0"/>
          </a:p>
        </p:txBody>
      </p:sp>
      <p:sp>
        <p:nvSpPr>
          <p:cNvPr id="15" name="Text 13"/>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Member Requirements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417320"/>
            <a:ext cx="11094415" cy="27432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Constructor takes all nine values: identity (name, ID, plan, date, group, year) plus deductibleDollars, amountPaidThisYear, visitsUsed</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Inside the constructor: compute remainingDeductible, call the existing calculateCoinsuranceOwed() for estimatedCoinsuranceOwed, and compute visitUsagePercent</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Get methods for every field — no set methods</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getUsageStatus() — the real status logic from Day 4: “Limit reached” at 100%+, “Approaching your visit limit” at 75%+, otherwise “On track”</a:t>
            </a:r>
            <a:endParaRPr lang="en-US" sz="1800"/>
          </a:p>
          <a:p>
            <a:pPr marL="203200" indent="-2032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In MemberBenefitsSummary: keep the getDouble() prompts and visit-logging loop exactly as Day 4 left them, then build one Member and print through its getters</a:t>
            </a:r>
            <a:endParaRPr lang="en-US" sz="1800"/>
          </a:p>
        </p:txBody>
      </p:sp>
      <p:sp>
        <p:nvSpPr>
          <p:cNvPr id="6" name="Text 4"/>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Project Milestones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554480"/>
            <a:ext cx="2602154" cy="3246120"/>
          </a:xfrm>
          <a:prstGeom prst="roundRect">
            <a:avLst>
              <a:gd name="adj" fmla="val 1923"/>
            </a:avLst>
          </a:prstGeom>
          <a:solidFill>
            <a:srgbClr val="FFFFFF"/>
          </a:solidFill>
          <a:ln w="15875">
            <a:solidFill>
              <a:srgbClr val="E4E7F0"/>
            </a:solidFill>
            <a:prstDash val="solid"/>
          </a:ln>
        </p:spPr>
        <p:txBody>
          <a:bodyPr/>
          <a:lstStyle/>
          <a:p>
            <a:endParaRPr lang="en-US"/>
          </a:p>
        </p:txBody>
      </p:sp>
      <p:sp>
        <p:nvSpPr>
          <p:cNvPr id="6" name="Text 4"/>
          <p:cNvSpPr/>
          <p:nvPr/>
        </p:nvSpPr>
        <p:spPr>
          <a:xfrm>
            <a:off x="676656" y="1691640"/>
            <a:ext cx="2346122" cy="219456"/>
          </a:xfrm>
          <a:prstGeom prst="rect">
            <a:avLst/>
          </a:prstGeom>
          <a:noFill/>
          <a:ln/>
        </p:spPr>
        <p:txBody>
          <a:bodyPr wrap="square" lIns="0" tIns="0" rIns="0" bIns="0" rtlCol="0" anchor="ctr"/>
          <a:lstStyle/>
          <a:p>
            <a:pPr marL="0" indent="0">
              <a:buNone/>
            </a:pPr>
            <a:r>
              <a:rPr lang="en-US" sz="1050" b="1" dirty="0">
                <a:solidFill>
                  <a:srgbClr val="3AAFA9"/>
                </a:solidFill>
                <a:latin typeface="Calibri" pitchFamily="34" charset="0"/>
                <a:ea typeface="Calibri" pitchFamily="34" charset="-122"/>
                <a:cs typeface="Calibri" pitchFamily="34" charset="-120"/>
              </a:rPr>
              <a:t>2:30 – 2:50</a:t>
            </a:r>
            <a:endParaRPr lang="en-US" sz="1050" dirty="0"/>
          </a:p>
        </p:txBody>
      </p:sp>
      <p:sp>
        <p:nvSpPr>
          <p:cNvPr id="7" name="Text 5"/>
          <p:cNvSpPr/>
          <p:nvPr/>
        </p:nvSpPr>
        <p:spPr>
          <a:xfrm>
            <a:off x="676656" y="1938528"/>
            <a:ext cx="2346122" cy="548640"/>
          </a:xfrm>
          <a:prstGeom prst="rect">
            <a:avLst/>
          </a:prstGeom>
          <a:noFill/>
          <a:ln/>
        </p:spPr>
        <p:txBody>
          <a:bodyPr wrap="square" lIns="0" tIns="0" rIns="0" bIns="0" rtlCol="0" anchor="ctr"/>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Walk the spec together</a:t>
            </a:r>
            <a:endParaRPr lang="en-US" sz="1200" dirty="0"/>
          </a:p>
        </p:txBody>
      </p:sp>
      <p:sp>
        <p:nvSpPr>
          <p:cNvPr id="8" name="Text 6"/>
          <p:cNvSpPr/>
          <p:nvPr/>
        </p:nvSpPr>
        <p:spPr>
          <a:xfrm>
            <a:off x="676656" y="2514600"/>
            <a:ext cx="2346122" cy="1325880"/>
          </a:xfrm>
          <a:prstGeom prst="rect">
            <a:avLst/>
          </a:prstGeom>
          <a:noFill/>
          <a:ln/>
        </p:spPr>
        <p:txBody>
          <a:bodyPr wrap="square" lIns="0" tIns="0" rIns="0" bIns="0" rtlCol="0" anchor="ctr"/>
          <a:lstStyle/>
          <a:p>
            <a:pPr marL="0" indent="0">
              <a:lnSpc>
                <a:spcPct val="110000"/>
              </a:lnSpc>
              <a:buNone/>
            </a:pPr>
            <a:r>
              <a:rPr lang="en-US" sz="1000" dirty="0">
                <a:solidFill>
                  <a:srgbClr val="3A4250"/>
                </a:solidFill>
                <a:latin typeface="Calibri" pitchFamily="34" charset="0"/>
                <a:ea typeface="Calibri" pitchFamily="34" charset="-122"/>
                <a:cs typeface="Calibri" pitchFamily="34" charset="-120"/>
              </a:rPr>
              <a:t>Confirm what moves, and why the Day 3 method doesn't need to change to move.</a:t>
            </a:r>
            <a:endParaRPr lang="en-US" sz="1000" dirty="0"/>
          </a:p>
        </p:txBody>
      </p:sp>
      <p:sp>
        <p:nvSpPr>
          <p:cNvPr id="9" name="Shape 7"/>
          <p:cNvSpPr/>
          <p:nvPr/>
        </p:nvSpPr>
        <p:spPr>
          <a:xfrm>
            <a:off x="3379394" y="1554480"/>
            <a:ext cx="2602154" cy="3246120"/>
          </a:xfrm>
          <a:prstGeom prst="roundRect">
            <a:avLst>
              <a:gd name="adj" fmla="val 1923"/>
            </a:avLst>
          </a:prstGeom>
          <a:solidFill>
            <a:srgbClr val="FFFFFF"/>
          </a:solidFill>
          <a:ln w="15875">
            <a:solidFill>
              <a:srgbClr val="E4E7F0"/>
            </a:solidFill>
            <a:prstDash val="solid"/>
          </a:ln>
        </p:spPr>
        <p:txBody>
          <a:bodyPr/>
          <a:lstStyle/>
          <a:p>
            <a:endParaRPr lang="en-US"/>
          </a:p>
        </p:txBody>
      </p:sp>
      <p:sp>
        <p:nvSpPr>
          <p:cNvPr id="10" name="Text 8"/>
          <p:cNvSpPr/>
          <p:nvPr/>
        </p:nvSpPr>
        <p:spPr>
          <a:xfrm>
            <a:off x="3507410" y="1691640"/>
            <a:ext cx="2346122" cy="219456"/>
          </a:xfrm>
          <a:prstGeom prst="rect">
            <a:avLst/>
          </a:prstGeom>
          <a:noFill/>
          <a:ln/>
        </p:spPr>
        <p:txBody>
          <a:bodyPr wrap="square" lIns="0" tIns="0" rIns="0" bIns="0" rtlCol="0" anchor="ctr"/>
          <a:lstStyle/>
          <a:p>
            <a:pPr marL="0" indent="0">
              <a:buNone/>
            </a:pPr>
            <a:r>
              <a:rPr lang="en-US" sz="1050" b="1" dirty="0">
                <a:solidFill>
                  <a:srgbClr val="3AAFA9"/>
                </a:solidFill>
                <a:latin typeface="Calibri" pitchFamily="34" charset="0"/>
                <a:ea typeface="Calibri" pitchFamily="34" charset="-122"/>
                <a:cs typeface="Calibri" pitchFamily="34" charset="-120"/>
              </a:rPr>
              <a:t>2:50 – 3:10</a:t>
            </a:r>
            <a:endParaRPr lang="en-US" sz="1050" dirty="0"/>
          </a:p>
        </p:txBody>
      </p:sp>
      <p:sp>
        <p:nvSpPr>
          <p:cNvPr id="11" name="Text 9"/>
          <p:cNvSpPr/>
          <p:nvPr/>
        </p:nvSpPr>
        <p:spPr>
          <a:xfrm>
            <a:off x="3507410" y="1938528"/>
            <a:ext cx="2346122" cy="548640"/>
          </a:xfrm>
          <a:prstGeom prst="rect">
            <a:avLst/>
          </a:prstGeom>
          <a:noFill/>
          <a:ln/>
        </p:spPr>
        <p:txBody>
          <a:bodyPr wrap="square" lIns="0" tIns="0" rIns="0" bIns="0" rtlCol="0" anchor="ctr"/>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Build the new class</a:t>
            </a:r>
            <a:endParaRPr lang="en-US" sz="1200" dirty="0"/>
          </a:p>
        </p:txBody>
      </p:sp>
      <p:sp>
        <p:nvSpPr>
          <p:cNvPr id="12" name="Text 10"/>
          <p:cNvSpPr/>
          <p:nvPr/>
        </p:nvSpPr>
        <p:spPr>
          <a:xfrm>
            <a:off x="3507410" y="2514600"/>
            <a:ext cx="2346122" cy="1325880"/>
          </a:xfrm>
          <a:prstGeom prst="rect">
            <a:avLst/>
          </a:prstGeom>
          <a:noFill/>
          <a:ln/>
        </p:spPr>
        <p:txBody>
          <a:bodyPr wrap="square" lIns="0" tIns="0" rIns="0" bIns="0" rtlCol="0" anchor="ctr"/>
          <a:lstStyle/>
          <a:p>
            <a:pPr marL="0" indent="0">
              <a:lnSpc>
                <a:spcPct val="110000"/>
              </a:lnSpc>
              <a:buNone/>
            </a:pPr>
            <a:r>
              <a:rPr lang="en-US" sz="1000" dirty="0">
                <a:solidFill>
                  <a:srgbClr val="3A4250"/>
                </a:solidFill>
                <a:latin typeface="Calibri" pitchFamily="34" charset="0"/>
                <a:ea typeface="Calibri" pitchFamily="34" charset="-122"/>
                <a:cs typeface="Calibri" pitchFamily="34" charset="-120"/>
              </a:rPr>
              <a:t>Member.java: fields, a nine-parameter constructor, get methods, getUsageStatus().</a:t>
            </a:r>
            <a:endParaRPr lang="en-US" sz="1000" dirty="0"/>
          </a:p>
        </p:txBody>
      </p:sp>
      <p:sp>
        <p:nvSpPr>
          <p:cNvPr id="13" name="Shape 11"/>
          <p:cNvSpPr/>
          <p:nvPr/>
        </p:nvSpPr>
        <p:spPr>
          <a:xfrm>
            <a:off x="6210148" y="1554480"/>
            <a:ext cx="2602154" cy="3246120"/>
          </a:xfrm>
          <a:prstGeom prst="roundRect">
            <a:avLst>
              <a:gd name="adj" fmla="val 1923"/>
            </a:avLst>
          </a:prstGeom>
          <a:solidFill>
            <a:srgbClr val="FFFFFF"/>
          </a:solidFill>
          <a:ln w="15875">
            <a:solidFill>
              <a:srgbClr val="E4E7F0"/>
            </a:solidFill>
            <a:prstDash val="solid"/>
          </a:ln>
        </p:spPr>
        <p:txBody>
          <a:bodyPr/>
          <a:lstStyle/>
          <a:p>
            <a:endParaRPr lang="en-US"/>
          </a:p>
        </p:txBody>
      </p:sp>
      <p:sp>
        <p:nvSpPr>
          <p:cNvPr id="14" name="Text 12"/>
          <p:cNvSpPr/>
          <p:nvPr/>
        </p:nvSpPr>
        <p:spPr>
          <a:xfrm>
            <a:off x="6338164" y="1691640"/>
            <a:ext cx="2346122" cy="219456"/>
          </a:xfrm>
          <a:prstGeom prst="rect">
            <a:avLst/>
          </a:prstGeom>
          <a:noFill/>
          <a:ln/>
        </p:spPr>
        <p:txBody>
          <a:bodyPr wrap="square" lIns="0" tIns="0" rIns="0" bIns="0" rtlCol="0" anchor="ctr"/>
          <a:lstStyle/>
          <a:p>
            <a:pPr marL="0" indent="0">
              <a:buNone/>
            </a:pPr>
            <a:r>
              <a:rPr lang="en-US" sz="1050" b="1" dirty="0">
                <a:solidFill>
                  <a:srgbClr val="3AAFA9"/>
                </a:solidFill>
                <a:latin typeface="Calibri" pitchFamily="34" charset="0"/>
                <a:ea typeface="Calibri" pitchFamily="34" charset="-122"/>
                <a:cs typeface="Calibri" pitchFamily="34" charset="-120"/>
              </a:rPr>
              <a:t>3:10 – 3:20</a:t>
            </a:r>
            <a:endParaRPr lang="en-US" sz="1050" dirty="0"/>
          </a:p>
        </p:txBody>
      </p:sp>
      <p:sp>
        <p:nvSpPr>
          <p:cNvPr id="15" name="Text 13"/>
          <p:cNvSpPr/>
          <p:nvPr/>
        </p:nvSpPr>
        <p:spPr>
          <a:xfrm>
            <a:off x="6338164" y="1938528"/>
            <a:ext cx="2346122" cy="548640"/>
          </a:xfrm>
          <a:prstGeom prst="rect">
            <a:avLst/>
          </a:prstGeom>
          <a:noFill/>
          <a:ln/>
        </p:spPr>
        <p:txBody>
          <a:bodyPr wrap="square" lIns="0" tIns="0" rIns="0" bIns="0" rtlCol="0" anchor="ctr"/>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Refactor the main file</a:t>
            </a:r>
            <a:endParaRPr lang="en-US" sz="1200" dirty="0"/>
          </a:p>
        </p:txBody>
      </p:sp>
      <p:sp>
        <p:nvSpPr>
          <p:cNvPr id="16" name="Text 14"/>
          <p:cNvSpPr/>
          <p:nvPr/>
        </p:nvSpPr>
        <p:spPr>
          <a:xfrm>
            <a:off x="6338164" y="2514600"/>
            <a:ext cx="2346122" cy="1325880"/>
          </a:xfrm>
          <a:prstGeom prst="rect">
            <a:avLst/>
          </a:prstGeom>
          <a:noFill/>
          <a:ln/>
        </p:spPr>
        <p:txBody>
          <a:bodyPr wrap="square" lIns="0" tIns="0" rIns="0" bIns="0" rtlCol="0" anchor="ctr"/>
          <a:lstStyle/>
          <a:p>
            <a:pPr marL="0" indent="0">
              <a:lnSpc>
                <a:spcPct val="110000"/>
              </a:lnSpc>
              <a:buNone/>
            </a:pPr>
            <a:r>
              <a:rPr lang="en-US" sz="1000" dirty="0">
                <a:solidFill>
                  <a:srgbClr val="3A4250"/>
                </a:solidFill>
                <a:latin typeface="Calibri" pitchFamily="34" charset="0"/>
                <a:ea typeface="Calibri" pitchFamily="34" charset="-122"/>
                <a:cs typeface="Calibri" pitchFamily="34" charset="-120"/>
              </a:rPr>
              <a:t>MemberBenefitsSummary: construct one Member; replace loose variables with getter calls.</a:t>
            </a:r>
            <a:endParaRPr lang="en-US" sz="1000" dirty="0"/>
          </a:p>
        </p:txBody>
      </p:sp>
      <p:sp>
        <p:nvSpPr>
          <p:cNvPr id="17" name="Shape 15"/>
          <p:cNvSpPr/>
          <p:nvPr/>
        </p:nvSpPr>
        <p:spPr>
          <a:xfrm>
            <a:off x="9040901" y="1554480"/>
            <a:ext cx="2602154" cy="3246120"/>
          </a:xfrm>
          <a:prstGeom prst="roundRect">
            <a:avLst>
              <a:gd name="adj" fmla="val 1923"/>
            </a:avLst>
          </a:prstGeom>
          <a:solidFill>
            <a:srgbClr val="FFFFFF"/>
          </a:solidFill>
          <a:ln w="15875">
            <a:solidFill>
              <a:srgbClr val="E4E7F0"/>
            </a:solidFill>
            <a:prstDash val="solid"/>
          </a:ln>
        </p:spPr>
        <p:txBody>
          <a:bodyPr/>
          <a:lstStyle/>
          <a:p>
            <a:endParaRPr lang="en-US"/>
          </a:p>
        </p:txBody>
      </p:sp>
      <p:sp>
        <p:nvSpPr>
          <p:cNvPr id="18" name="Text 16"/>
          <p:cNvSpPr/>
          <p:nvPr/>
        </p:nvSpPr>
        <p:spPr>
          <a:xfrm>
            <a:off x="9168917" y="1691640"/>
            <a:ext cx="2346122" cy="219456"/>
          </a:xfrm>
          <a:prstGeom prst="rect">
            <a:avLst/>
          </a:prstGeom>
          <a:noFill/>
          <a:ln/>
        </p:spPr>
        <p:txBody>
          <a:bodyPr wrap="square" lIns="0" tIns="0" rIns="0" bIns="0" rtlCol="0" anchor="ctr"/>
          <a:lstStyle/>
          <a:p>
            <a:pPr marL="0" indent="0">
              <a:buNone/>
            </a:pPr>
            <a:r>
              <a:rPr lang="en-US" sz="1050" b="1" dirty="0">
                <a:solidFill>
                  <a:srgbClr val="3AAFA9"/>
                </a:solidFill>
                <a:latin typeface="Calibri" pitchFamily="34" charset="0"/>
                <a:ea typeface="Calibri" pitchFamily="34" charset="-122"/>
                <a:cs typeface="Calibri" pitchFamily="34" charset="-120"/>
              </a:rPr>
              <a:t>3:20 – class end</a:t>
            </a:r>
            <a:endParaRPr lang="en-US" sz="1050" dirty="0"/>
          </a:p>
        </p:txBody>
      </p:sp>
      <p:sp>
        <p:nvSpPr>
          <p:cNvPr id="19" name="Text 17"/>
          <p:cNvSpPr/>
          <p:nvPr/>
        </p:nvSpPr>
        <p:spPr>
          <a:xfrm>
            <a:off x="9168917" y="1938528"/>
            <a:ext cx="2346122" cy="548640"/>
          </a:xfrm>
          <a:prstGeom prst="rect">
            <a:avLst/>
          </a:prstGeom>
          <a:noFill/>
          <a:ln/>
        </p:spPr>
        <p:txBody>
          <a:bodyPr wrap="square" lIns="0" tIns="0" rIns="0" bIns="0" rtlCol="0" anchor="ctr"/>
          <a:lstStyle/>
          <a:p>
            <a:pPr marL="0" indent="0">
              <a:lnSpc>
                <a:spcPct val="105000"/>
              </a:lnSpc>
              <a:buNone/>
            </a:pPr>
            <a:r>
              <a:rPr lang="en-US" sz="1200" b="1" dirty="0">
                <a:solidFill>
                  <a:srgbClr val="1E2761"/>
                </a:solidFill>
                <a:latin typeface="Calibri" pitchFamily="34" charset="0"/>
                <a:ea typeface="Calibri" pitchFamily="34" charset="-122"/>
                <a:cs typeface="Calibri" pitchFamily="34" charset="-120"/>
              </a:rPr>
              <a:t>Run clean and save</a:t>
            </a:r>
            <a:endParaRPr lang="en-US" sz="1200" dirty="0"/>
          </a:p>
        </p:txBody>
      </p:sp>
      <p:sp>
        <p:nvSpPr>
          <p:cNvPr id="20" name="Text 18"/>
          <p:cNvSpPr/>
          <p:nvPr/>
        </p:nvSpPr>
        <p:spPr>
          <a:xfrm>
            <a:off x="9168917" y="2514600"/>
            <a:ext cx="2346122" cy="1325880"/>
          </a:xfrm>
          <a:prstGeom prst="rect">
            <a:avLst/>
          </a:prstGeom>
          <a:noFill/>
          <a:ln/>
        </p:spPr>
        <p:txBody>
          <a:bodyPr wrap="square" lIns="0" tIns="0" rIns="0" bIns="0" rtlCol="0" anchor="ctr"/>
          <a:lstStyle/>
          <a:p>
            <a:pPr marL="0" indent="0">
              <a:lnSpc>
                <a:spcPct val="110000"/>
              </a:lnSpc>
              <a:buNone/>
            </a:pPr>
            <a:r>
              <a:rPr lang="en-US" sz="1000" dirty="0">
                <a:solidFill>
                  <a:srgbClr val="3A4250"/>
                </a:solidFill>
                <a:latin typeface="Calibri" pitchFamily="34" charset="0"/>
                <a:ea typeface="Calibri" pitchFamily="34" charset="-122"/>
                <a:cs typeface="Calibri" pitchFamily="34" charset="-120"/>
              </a:rPr>
              <a:t>Confirm every Day 1–4 line still prints, then save for Day 6.</a:t>
            </a:r>
            <a:endParaRPr lang="en-US" sz="1000" dirty="0"/>
          </a:p>
        </p:txBody>
      </p:sp>
      <p:sp>
        <p:nvSpPr>
          <p:cNvPr id="21" name="Shape 19"/>
          <p:cNvSpPr/>
          <p:nvPr/>
        </p:nvSpPr>
        <p:spPr>
          <a:xfrm>
            <a:off x="548640" y="4800520"/>
            <a:ext cx="11094415" cy="894283"/>
          </a:xfrm>
          <a:prstGeom prst="roundRect">
            <a:avLst>
              <a:gd name="adj" fmla="val 9231"/>
            </a:avLst>
          </a:prstGeom>
          <a:solidFill>
            <a:srgbClr val="FFF3D6"/>
          </a:solidFill>
          <a:ln w="15875">
            <a:solidFill>
              <a:srgbClr val="E3B94C"/>
            </a:solidFill>
            <a:prstDash val="solid"/>
          </a:ln>
        </p:spPr>
        <p:txBody>
          <a:bodyPr/>
          <a:lstStyle/>
          <a:p>
            <a:endParaRPr lang="en-US"/>
          </a:p>
        </p:txBody>
      </p:sp>
      <p:sp>
        <p:nvSpPr>
          <p:cNvPr id="22" name="Text 20"/>
          <p:cNvSpPr/>
          <p:nvPr/>
        </p:nvSpPr>
        <p:spPr>
          <a:xfrm>
            <a:off x="804672" y="4910248"/>
            <a:ext cx="10582351" cy="674827"/>
          </a:xfrm>
          <a:prstGeom prst="rect">
            <a:avLst/>
          </a:prstGeom>
          <a:noFill/>
          <a:ln/>
        </p:spPr>
        <p:txBody>
          <a:bodyPr wrap="square" lIns="0" tIns="0" rIns="0" bIns="0" rtlCol="0" anchor="ctr"/>
          <a:lstStyle/>
          <a:p>
            <a:pPr marL="0" indent="0">
              <a:lnSpc>
                <a:spcPct val="115000"/>
              </a:lnSpc>
              <a:buNone/>
            </a:pPr>
            <a:r>
              <a:rPr lang="en-US" sz="1800">
                <a:solidFill>
                  <a:srgbClr val="22242E"/>
                </a:solidFill>
                <a:latin typeface="Calibri" pitchFamily="34" charset="0"/>
                <a:ea typeface="Calibri" pitchFamily="34" charset="-122"/>
                <a:cs typeface="Calibri" pitchFamily="34" charset="-120"/>
              </a:rPr>
              <a:t>Everything today is completed in class — nothing carries home tonight. Flag me early if you're stuck.</a:t>
            </a:r>
            <a:endParaRPr lang="en-US" sz="1800"/>
          </a:p>
        </p:txBody>
      </p:sp>
      <p:sp>
        <p:nvSpPr>
          <p:cNvPr id="23" name="Text 21"/>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2F9E44"/>
                </a:solidFill>
                <a:latin typeface="Calibri" pitchFamily="34" charset="0"/>
                <a:ea typeface="Calibri" pitchFamily="34" charset="-122"/>
                <a:cs typeface="Calibri" pitchFamily="34" charset="-120"/>
              </a:rPr>
              <a:t>BUILD</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Acceptance Check and Stretch Goals</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417320"/>
            <a:ext cx="5349240"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ACCEPTANCE CHECK</a:t>
            </a:r>
            <a:endParaRPr lang="en-US" sz="1100" dirty="0"/>
          </a:p>
        </p:txBody>
      </p:sp>
      <p:sp>
        <p:nvSpPr>
          <p:cNvPr id="6" name="Text 4"/>
          <p:cNvSpPr/>
          <p:nvPr/>
        </p:nvSpPr>
        <p:spPr>
          <a:xfrm>
            <a:off x="548640" y="1737360"/>
            <a:ext cx="5349240" cy="41148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Member has no set methods anywhere</a:t>
            </a:r>
            <a:endParaRPr lang="en-US" sz="1200" dirty="0"/>
          </a:p>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COINSURANCE_RATE and VISITS_ALLOWED are static final fields of the class</a:t>
            </a:r>
            <a:endParaRPr lang="en-US" sz="1200" dirty="0"/>
          </a:p>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calculateCoinsuranceOwed() still takes two doubles and returns one</a:t>
            </a:r>
            <a:endParaRPr lang="en-US" sz="1200" dirty="0"/>
          </a:p>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The amount-paid prompt still rejects a value greater than the deductible</a:t>
            </a:r>
            <a:endParaRPr lang="en-US" sz="1200" dirty="0"/>
          </a:p>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MemberBenefitsSummary compiles, runs, and every Day 1–4 line still appears</a:t>
            </a:r>
            <a:endParaRPr lang="en-US" sz="1200" dirty="0"/>
          </a:p>
        </p:txBody>
      </p:sp>
      <p:sp>
        <p:nvSpPr>
          <p:cNvPr id="7" name="Text 5"/>
          <p:cNvSpPr/>
          <p:nvPr/>
        </p:nvSpPr>
        <p:spPr>
          <a:xfrm>
            <a:off x="6263640" y="1417320"/>
            <a:ext cx="5349240"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FINISHED EARLY? STRETCH</a:t>
            </a:r>
            <a:endParaRPr lang="en-US" sz="1100" dirty="0"/>
          </a:p>
        </p:txBody>
      </p:sp>
      <p:sp>
        <p:nvSpPr>
          <p:cNvPr id="8" name="Text 6"/>
          <p:cNvSpPr/>
          <p:nvPr/>
        </p:nvSpPr>
        <p:spPr>
          <a:xfrm>
            <a:off x="6263640" y="1737360"/>
            <a:ext cx="5349240" cy="41148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Add a toString() to Member for quick debug printing</a:t>
            </a:r>
            <a:endParaRPr lang="en-US" sz="1200" dirty="0"/>
          </a:p>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Add a second Member for a second person and print both</a:t>
            </a:r>
            <a:endParaRPr lang="en-US" sz="1200" dirty="0"/>
          </a:p>
          <a:p>
            <a:pPr marL="203200" indent="-203200">
              <a:lnSpc>
                <a:spcPct val="112000"/>
              </a:lnSpc>
              <a:spcAft>
                <a:spcPts val="900"/>
              </a:spcAft>
              <a:buSzPct val="100000"/>
              <a:buChar char="•"/>
            </a:pPr>
            <a:r>
              <a:rPr lang="en-US" sz="1200" dirty="0">
                <a:solidFill>
                  <a:srgbClr val="22242E"/>
                </a:solidFill>
                <a:latin typeface="Calibri" pitchFamily="34" charset="0"/>
                <a:ea typeface="Calibri" pitchFamily="34" charset="-122"/>
                <a:cs typeface="Calibri" pitchFamily="34" charset="-120"/>
              </a:rPr>
              <a:t>Add a getRemainingVisits() method (VISITS_ALLOWED minus visitsUsed)</a:t>
            </a:r>
            <a:endParaRPr lang="en-US" sz="1200" dirty="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E8590C"/>
                </a:solidFill>
                <a:latin typeface="Calibri" pitchFamily="34" charset="0"/>
                <a:ea typeface="Calibri" pitchFamily="34" charset="-122"/>
                <a:cs typeface="Calibri" pitchFamily="34" charset="-120"/>
              </a:rPr>
              <a:t>CHECK</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Where You Are, and Where We Go Next</a:t>
            </a:r>
            <a:endParaRPr lang="en-US" sz="26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Text 3"/>
          <p:cNvSpPr/>
          <p:nvPr/>
        </p:nvSpPr>
        <p:spPr>
          <a:xfrm>
            <a:off x="548640" y="1417320"/>
            <a:ext cx="5943600" cy="256032"/>
          </a:xfrm>
          <a:prstGeom prst="rect">
            <a:avLst/>
          </a:prstGeom>
          <a:noFill/>
          <a:ln/>
        </p:spPr>
        <p:txBody>
          <a:bodyPr wrap="square" lIns="0" tIns="0" rIns="0" bIns="0" rtlCol="0" anchor="ctr"/>
          <a:lstStyle/>
          <a:p>
            <a:pPr marL="0" indent="0">
              <a:buNone/>
            </a:pPr>
            <a:r>
              <a:rPr lang="en-US" sz="1100" b="1" kern="0" spc="80" dirty="0">
                <a:solidFill>
                  <a:srgbClr val="3AAFA9"/>
                </a:solidFill>
                <a:latin typeface="Calibri" pitchFamily="34" charset="0"/>
                <a:ea typeface="Calibri" pitchFamily="34" charset="-122"/>
                <a:cs typeface="Calibri" pitchFamily="34" charset="-120"/>
              </a:rPr>
              <a:t>BEFORE YOU LEAVE</a:t>
            </a:r>
            <a:endParaRPr lang="en-US" sz="1100" dirty="0"/>
          </a:p>
        </p:txBody>
      </p:sp>
      <p:sp>
        <p:nvSpPr>
          <p:cNvPr id="6" name="Text 4"/>
          <p:cNvSpPr/>
          <p:nvPr/>
        </p:nvSpPr>
        <p:spPr>
          <a:xfrm>
            <a:off x="548640" y="1737360"/>
            <a:ext cx="5943600" cy="18288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Your Day 5 folder holds Visit.java, VisitDemo.java, CopayCard.java, CopayCardTest.java, ClaimRecord.java, and ClaimRecordTest.java</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MemberBenefitsSummary now builds and uses a real object instead of a pile of loose variables</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You can explain encapsulation, constructors, this, and static vs. instance out loud</a:t>
            </a:r>
            <a:endParaRPr lang="en-US" sz="1250" dirty="0"/>
          </a:p>
        </p:txBody>
      </p:sp>
      <p:sp>
        <p:nvSpPr>
          <p:cNvPr id="7" name="Text 5"/>
          <p:cNvSpPr/>
          <p:nvPr/>
        </p:nvSpPr>
        <p:spPr>
          <a:xfrm>
            <a:off x="6858000" y="1417320"/>
            <a:ext cx="4937760" cy="256032"/>
          </a:xfrm>
          <a:prstGeom prst="rect">
            <a:avLst/>
          </a:prstGeom>
          <a:noFill/>
          <a:ln/>
        </p:spPr>
        <p:txBody>
          <a:bodyPr wrap="square" lIns="0" tIns="0" rIns="0" bIns="0" rtlCol="0" anchor="ctr"/>
          <a:lstStyle/>
          <a:p>
            <a:pPr marL="0" indent="0">
              <a:buNone/>
            </a:pPr>
            <a:r>
              <a:rPr lang="en-US" sz="1100" b="1" kern="0" spc="80" dirty="0">
                <a:solidFill>
                  <a:srgbClr val="E8590C"/>
                </a:solidFill>
                <a:latin typeface="Calibri" pitchFamily="34" charset="0"/>
                <a:ea typeface="Calibri" pitchFamily="34" charset="-122"/>
                <a:cs typeface="Calibri" pitchFamily="34" charset="-120"/>
              </a:rPr>
              <a:t>TOMORROW — DAY 6: ARRAYS, ARRAYLISTS, FILE I/O</a:t>
            </a:r>
            <a:endParaRPr lang="en-US" sz="1100" dirty="0"/>
          </a:p>
        </p:txBody>
      </p:sp>
      <p:sp>
        <p:nvSpPr>
          <p:cNvPr id="8" name="Text 6"/>
          <p:cNvSpPr/>
          <p:nvPr/>
        </p:nvSpPr>
        <p:spPr>
          <a:xfrm>
            <a:off x="6858000" y="1737360"/>
            <a:ext cx="4937760" cy="1828800"/>
          </a:xfrm>
          <a:prstGeom prst="rect">
            <a:avLst/>
          </a:prstGeom>
          <a:noFill/>
          <a:ln/>
        </p:spPr>
        <p:txBody>
          <a:bodyPr wrap="square" lIns="0" tIns="0" rIns="0" bIns="0" rtlCol="0" anchor="t"/>
          <a:lstStyle/>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Store many objects in one list instead of one variable per object</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Loop through, sort, and search a list of Member-style objects</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Read and write plain text files</a:t>
            </a:r>
            <a:endParaRPr lang="en-US" sz="1250" dirty="0"/>
          </a:p>
          <a:p>
            <a:pPr marL="203200" indent="-203200">
              <a:lnSpc>
                <a:spcPct val="112000"/>
              </a:lnSpc>
              <a:spcAft>
                <a:spcPts val="900"/>
              </a:spcAft>
              <a:buSzPct val="100000"/>
              <a:buChar char="•"/>
            </a:pPr>
            <a:r>
              <a:rPr lang="en-US" sz="1250" dirty="0">
                <a:solidFill>
                  <a:srgbClr val="22242E"/>
                </a:solidFill>
                <a:latin typeface="Calibri" pitchFamily="34" charset="0"/>
                <a:ea typeface="Calibri" pitchFamily="34" charset="-122"/>
                <a:cs typeface="Calibri" pitchFamily="34" charset="-120"/>
              </a:rPr>
              <a:t>Member keeps growing — keep every file from today</a:t>
            </a:r>
            <a:endParaRPr lang="en-US" sz="1250" dirty="0"/>
          </a:p>
        </p:txBody>
      </p:sp>
      <p:sp>
        <p:nvSpPr>
          <p:cNvPr id="9" name="Text 7"/>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645920"/>
            <a:ext cx="3657600" cy="3657600"/>
          </a:xfrm>
          <a:prstGeom prst="ellipse">
            <a:avLst/>
          </a:prstGeom>
          <a:solidFill>
            <a:srgbClr val="232C6B"/>
          </a:solidFill>
          <a:ln/>
        </p:spPr>
        <p:txBody>
          <a:bodyPr/>
          <a:lstStyle/>
          <a:p>
            <a:endParaRPr lang="en-US"/>
          </a:p>
        </p:txBody>
      </p:sp>
      <p:sp>
        <p:nvSpPr>
          <p:cNvPr id="3" name="Text 1"/>
          <p:cNvSpPr/>
          <p:nvPr/>
        </p:nvSpPr>
        <p:spPr>
          <a:xfrm>
            <a:off x="548640" y="2743200"/>
            <a:ext cx="9144000" cy="320040"/>
          </a:xfrm>
          <a:prstGeom prst="rect">
            <a:avLst/>
          </a:prstGeom>
          <a:noFill/>
          <a:ln/>
        </p:spPr>
        <p:txBody>
          <a:bodyPr wrap="square" lIns="0" tIns="0" rIns="0" bIns="0" rtlCol="0" anchor="ctr"/>
          <a:lstStyle/>
          <a:p>
            <a:pPr marL="0" indent="0">
              <a:buNone/>
            </a:pPr>
            <a:r>
              <a:rPr lang="en-US" sz="1800" b="1" kern="0" spc="100">
                <a:solidFill>
                  <a:srgbClr val="3AAFA9"/>
                </a:solidFill>
                <a:latin typeface="Calibri" pitchFamily="34" charset="0"/>
                <a:ea typeface="Calibri" pitchFamily="34" charset="-122"/>
                <a:cs typeface="Calibri" pitchFamily="34" charset="-120"/>
              </a:rPr>
              <a:t>INSTRUCTOR REFERENCE — NOT FOR DISTRIBUTION</a:t>
            </a:r>
            <a:endParaRPr lang="en-US" sz="1800"/>
          </a:p>
        </p:txBody>
      </p:sp>
      <p:sp>
        <p:nvSpPr>
          <p:cNvPr id="4" name="Text 2"/>
          <p:cNvSpPr/>
          <p:nvPr/>
        </p:nvSpPr>
        <p:spPr>
          <a:xfrm>
            <a:off x="548640" y="3108960"/>
            <a:ext cx="8229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 Keys</a:t>
            </a:r>
            <a:endParaRPr lang="en-US" sz="3200" dirty="0"/>
          </a:p>
        </p:txBody>
      </p:sp>
      <p:sp>
        <p:nvSpPr>
          <p:cNvPr id="5" name="Text 3"/>
          <p:cNvSpPr/>
          <p:nvPr/>
        </p:nvSpPr>
        <p:spPr>
          <a:xfrm>
            <a:off x="548640" y="3794760"/>
            <a:ext cx="7315200" cy="822960"/>
          </a:xfrm>
          <a:prstGeom prst="rect">
            <a:avLst/>
          </a:prstGeom>
          <a:noFill/>
          <a:ln/>
        </p:spPr>
        <p:txBody>
          <a:bodyPr wrap="square" lIns="0" tIns="0" rIns="0" bIns="0" rtlCol="0" anchor="ctr"/>
          <a:lstStyle/>
          <a:p>
            <a:pPr marL="0" indent="0">
              <a:buNone/>
            </a:pPr>
            <a:r>
              <a:rPr lang="en-US" sz="1800">
                <a:solidFill>
                  <a:srgbClr val="CADCFC"/>
                </a:solidFill>
                <a:latin typeface="Calibri" pitchFamily="34" charset="0"/>
                <a:ea typeface="Calibri" pitchFamily="34" charset="-122"/>
                <a:cs typeface="Calibri" pitchFamily="34" charset="-120"/>
              </a:rPr>
              <a:t>Known-good versions of every Day 5 exercise and the afternoon project. Keep hidden until students have tried.</a:t>
            </a:r>
            <a:endParaRPr 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Visit.java</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public class Visit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private String visitDate;</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private double visitCost;</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Visit(String visitDate, double visitCost)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this.visitDate = visitDate;</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this.visitCost = visitCost;</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Visit(String visitDate)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this(visitDate, 0.0);</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String getSummary()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return visitDate + ": $" + visitCost;</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a:t>
            </a:r>
            <a:endParaRPr lang="en-US" sz="13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VisitDemo.java</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class VisitDemo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public static void main(String[] args)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Visit first = new Visit("2026-01-15", 125.00);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Visit second = new Visit("2026-02-03");</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System.out.println(first.getSummary());</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System.out.println(second.getSummary());</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Output: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2026-01-15: $125.0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2026-02-03: $0.0</a:t>
            </a:r>
            <a:endParaRPr lang="en-US" sz="14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CopayCard.java</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public class CopayCard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private String planName;</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private double copayAmount;</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CopayCard(String planName, double copayAmount)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this.planName = planName;</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this.copayAmount = copayAmount;</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String getPlanName() { return planName;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double getCopayAmount() { return copayAmount;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@Override</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public String toString()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return planName + ": $" + copayAmount + " copay";</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    }</a:t>
            </a:r>
            <a:endParaRPr lang="en-US" sz="1350" dirty="0"/>
          </a:p>
          <a:p>
            <a:pPr marL="0" indent="0">
              <a:lnSpc>
                <a:spcPct val="108000"/>
              </a:lnSpc>
              <a:buNone/>
            </a:pPr>
            <a:r>
              <a:rPr lang="en-US" sz="1350" dirty="0">
                <a:solidFill>
                  <a:srgbClr val="E8ECFB"/>
                </a:solidFill>
                <a:latin typeface="Consolas" pitchFamily="34" charset="0"/>
                <a:ea typeface="Consolas" pitchFamily="34" charset="-122"/>
                <a:cs typeface="Consolas" pitchFamily="34" charset="-120"/>
              </a:rPr>
              <a:t>}</a:t>
            </a:r>
            <a:endParaRPr lang="en-US" sz="135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CopayCardTest.java</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class CopayCardTest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public static void main(String[] args)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CopayCard first = new CopayCard("Blue Choice Training Plan", 25.00);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CopayCard second = new CopayCard("Blue Choice Premier Plan", 40.00);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System.out.println(first);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System.out.println(second);</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Output: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Blue Choice Training Plan: $25.0 copay</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Blue Choice Premier Plan: $40.0 copay</a:t>
            </a:r>
            <a:endParaRPr lang="en-US" sz="14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ClaimRecord.java</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public class ClaimRecord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private String claimNumber;</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private int daysOpen;</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private double claimAmount;</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public ClaimRecord(String claimNumber, int daysOpen, double claimAmount)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this.claimNumber = claimNumber;</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this.daysOpen = daysOpen;</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this.claimAmount = claimAmount;</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public String getClaimNumber() { return claimNumber;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public int getDaysOpen() { return daysOpen;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public double getClaimAmount() { return claimAmount;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public String getAgingStatus()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if (daysOpen &lt;= 7) return "Recently opened";</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else if (daysOpen &lt;= 30) return "In progress";</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else return "Long-running";</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    }</a:t>
            </a:r>
            <a:endParaRPr lang="en-US" sz="1200" dirty="0"/>
          </a:p>
          <a:p>
            <a:pPr marL="0" indent="0">
              <a:lnSpc>
                <a:spcPct val="108000"/>
              </a:lnSpc>
              <a:buNone/>
            </a:pPr>
            <a:r>
              <a:rPr lang="en-US" sz="1200" dirty="0">
                <a:solidFill>
                  <a:srgbClr val="E8ECFB"/>
                </a:solidFill>
                <a:latin typeface="Consolas" pitchFamily="34" charset="0"/>
                <a:ea typeface="Consolas" pitchFamily="34" charset="-122"/>
                <a:cs typeface="Consolas" pitchFamily="34" charset="-120"/>
              </a:rPr>
              <a:t>}</a:t>
            </a:r>
            <a:endParaRPr lang="en-US" sz="12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ClaimRecordTest.java</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public class ClaimRecordTest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public static void main(String[] args)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ClaimRecord record = new ClaimRecord("CLM-TRAIN-1042", 12, 842.75);</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System.out.println("Claim " + record.getClaimNumber());</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System.out.println("Status: " + record.getAgingStatus());</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Output: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Claim CLM-TRAIN-1042</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Status: In progress</a:t>
            </a:r>
            <a:endParaRPr lang="en-US" sz="14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Member.java, Part 1</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public class Member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static final double COINSURANCE_RATE = 0.20;</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static final int VISITS_ALLOWED = 12;</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String memberName;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String memberId;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String planName;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String effectiveDate;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int groupNumber;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int planYear;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double deductibleDollars;</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double amountPaidThisYear;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double remainingDeductible;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double estimatedCoinsuranceOwed;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int visitsUsed;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private double visitUsagePercent;</a:t>
            </a:r>
            <a:endParaRPr lang="en-US" sz="125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Member.java, Part 2: The Constructor</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public Member(String memberName, String memberId, String planName,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String effectiveDate, int groupNumber, int planYear,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double deductibleDollars, double amountPaidThisYear, int visitsUsed)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this.memberName = memberName;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this.memberId = memberId;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this.planName = planName;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this.effectiveDate = effectiveDate;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this.groupNumber = groupNumber;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this.planYear = planYear;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this.deductibleDollars = deductibleDollars;</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this.amountPaidThisYear = amountPaidThisYear;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this.visitsUsed = visitsUsed;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this.remainingDeductible = deductibleDollars - amountPaidThisYear;</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this.estimatedCoinsuranceOwed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calculateCoinsuranceOwed(remainingDeductible, COINSURANCE_RATE);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this.visitUsagePercent = (double) visitsUsed / VISITS_ALLOWED;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Member.java, Part 3: The Day 3 Method</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 Unchanged from Day 3 -- still static, still just does math</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static double calculateCoinsuranceOwed(</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double remainingDeductible, double rate)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double owed = remainingDeductible * rate;</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owed = (double) Math.round(owed * 100) / 100;</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return owed;</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String getMemberName() { return memberName;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String getMemberId() { return memberId;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String getPlanName() { return planName;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String getEffectiveDate() { return effectiveDate;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int getGroupNumber() { return groupNumber; }</a:t>
            </a:r>
            <a:endParaRPr lang="en-US" sz="1300" dirty="0"/>
          </a:p>
          <a:p>
            <a:pPr marL="0" indent="0">
              <a:lnSpc>
                <a:spcPct val="108000"/>
              </a:lnSpc>
              <a:buNone/>
            </a:pPr>
            <a:r>
              <a:rPr lang="en-US" sz="1300" dirty="0">
                <a:solidFill>
                  <a:srgbClr val="E8ECFB"/>
                </a:solidFill>
                <a:latin typeface="Consolas" pitchFamily="34" charset="0"/>
                <a:ea typeface="Consolas" pitchFamily="34" charset="-122"/>
                <a:cs typeface="Consolas" pitchFamily="34" charset="-120"/>
              </a:rPr>
              <a:t>    public int getPlanYear() { return planYear; }</a:t>
            </a:r>
            <a:endParaRPr lang="en-US" sz="13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Member.java, Part 4: Remaining Getters</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double getDeductibleDollars() { return deductibleDollars;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double getAmountPaidThisYear() { return amountPaidThisYear;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double getRemainingDeductible() { return remainingDeductible;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double getEstimatedCoinsuranceOwed()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return estimatedCoinsuranceOwed;</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int getVisitsUsed() { return visitsUsed;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double getVisitUsagePercent() { return visitUsagePercent;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public String getUsageStatus()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if (visitUsagePercent &gt;= 1.0)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return "Limit reached -- additional visits may not be covered";</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 else if (visitUsagePercent &gt;= 0.75)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return "Approaching your visit limit";</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 else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return "On track";</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    }</a:t>
            </a:r>
            <a:endParaRPr lang="en-US" sz="1150" dirty="0"/>
          </a:p>
          <a:p>
            <a:pPr marL="0" indent="0">
              <a:lnSpc>
                <a:spcPct val="108000"/>
              </a:lnSpc>
              <a:buNone/>
            </a:pPr>
            <a:r>
              <a:rPr lang="en-US" sz="1150" dirty="0">
                <a:solidFill>
                  <a:srgbClr val="E8ECFB"/>
                </a:solidFill>
                <a:latin typeface="Consolas" pitchFamily="34" charset="0"/>
                <a:ea typeface="Consolas" pitchFamily="34" charset="-122"/>
                <a:cs typeface="Consolas" pitchFamily="34" charset="-120"/>
              </a:rPr>
              <a:t>}</a:t>
            </a:r>
            <a:endParaRPr lang="en-US" sz="115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MemberBenefitsSummary.java, Part 1</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Unchanged from Day 4: same getDouble() calls, same bounds, and the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same visit-logging loop, all before this point -- visitsUsed already</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reflects any logged visits here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New for Day 5: one object instead of twelve loose variables</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Member member = new Member(memberName, memberId, planName, effectiveDate,</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groupNumber, planYear, deductibleDollars, amountPaidThisYear, visitsUsed);</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System.out.println("MEMBER BENEFITS SUMMARY");</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System.out.println("-----------------------");</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System.out.println("Deductible: "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currency.format(member.getDeductibleDollars()));</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System.out.println("Paid so far: " +</a:t>
            </a:r>
            <a:endParaRPr lang="en-US" sz="1250" dirty="0"/>
          </a:p>
          <a:p>
            <a:pPr marL="0" indent="0">
              <a:lnSpc>
                <a:spcPct val="108000"/>
              </a:lnSpc>
              <a:buNone/>
            </a:pPr>
            <a:r>
              <a:rPr lang="en-US" sz="1250" dirty="0">
                <a:solidFill>
                  <a:srgbClr val="E8ECFB"/>
                </a:solidFill>
                <a:latin typeface="Consolas" pitchFamily="34" charset="0"/>
                <a:ea typeface="Consolas" pitchFamily="34" charset="-122"/>
                <a:cs typeface="Consolas" pitchFamily="34" charset="-120"/>
              </a:rPr>
              <a:t>    currency.format(member.getAmountPaidThisYear()));</a:t>
            </a:r>
            <a:endParaRPr lang="en-US" sz="125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buNone/>
            </a:pPr>
            <a:r>
              <a:rPr lang="en-US" sz="1200" b="1" kern="0" spc="120" dirty="0">
                <a:solidFill>
                  <a:srgbClr val="868E9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Answer Key — MemberBenefitsSummary.java, Part 2</a:t>
            </a:r>
            <a:endParaRPr lang="en-US" sz="2200" dirty="0"/>
          </a:p>
        </p:txBody>
      </p:sp>
      <p:sp>
        <p:nvSpPr>
          <p:cNvPr id="4" name="Shape 2"/>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Shape 3"/>
          <p:cNvSpPr/>
          <p:nvPr/>
        </p:nvSpPr>
        <p:spPr>
          <a:xfrm>
            <a:off x="548640" y="1417320"/>
            <a:ext cx="11094415" cy="4937760"/>
          </a:xfrm>
          <a:prstGeom prst="roundRect">
            <a:avLst>
              <a:gd name="adj" fmla="val 1667"/>
            </a:avLst>
          </a:prstGeom>
          <a:solidFill>
            <a:srgbClr val="1B2340"/>
          </a:solidFill>
          <a:ln w="12700">
            <a:solidFill>
              <a:srgbClr val="1B2340"/>
            </a:solidFill>
            <a:prstDash val="solid"/>
          </a:ln>
        </p:spPr>
        <p:txBody>
          <a:bodyPr/>
          <a:lstStyle/>
          <a:p>
            <a:endParaRPr lang="en-US"/>
          </a:p>
        </p:txBody>
      </p:sp>
      <p:sp>
        <p:nvSpPr>
          <p:cNvPr id="6" name="Text 4"/>
          <p:cNvSpPr/>
          <p:nvPr/>
        </p:nvSpPr>
        <p:spPr>
          <a:xfrm>
            <a:off x="822960" y="1618488"/>
            <a:ext cx="10545775" cy="4535424"/>
          </a:xfrm>
          <a:prstGeom prst="rect">
            <a:avLst/>
          </a:prstGeom>
          <a:noFill/>
          <a:ln/>
        </p:spPr>
        <p:txBody>
          <a:bodyPr wrap="square" lIns="0" tIns="0" rIns="0" bIns="0" rtlCol="0" anchor="t"/>
          <a:lstStyle/>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System.out.println("Remaining: "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currency.format(member.getRemainingDeductible()));</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System.out.println("Estimated coinsurance owed: "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currency.format(member.getEstimatedCoinsuranceOwed()));</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System.out.println("Visit usage: "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percent.format(member.getVisitUsagePercent()));</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System.out.println("Status: " + member.getUsageStatus());</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System.out.println(member.getMemberName() + " is enrolled for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 member.getPlanYear() +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Expected: Remaining $1,124.50 · Coinsurance owed $224.90</a:t>
            </a:r>
            <a:endParaRPr lang="en-US" sz="1400" dirty="0"/>
          </a:p>
          <a:p>
            <a:pPr marL="0" indent="0">
              <a:lnSpc>
                <a:spcPct val="108000"/>
              </a:lnSpc>
              <a:buNone/>
            </a:pPr>
            <a:r>
              <a:rPr lang="en-US" sz="1400" dirty="0">
                <a:solidFill>
                  <a:srgbClr val="E8ECFB"/>
                </a:solidFill>
                <a:latin typeface="Consolas" pitchFamily="34" charset="0"/>
                <a:ea typeface="Consolas" pitchFamily="34" charset="-122"/>
                <a:cs typeface="Consolas" pitchFamily="34" charset="-120"/>
              </a:rPr>
              <a:t>// Visit usage 75% · Status: Approaching your visit limit</a:t>
            </a:r>
            <a:endParaRPr lang="en-US" sz="1400" dirty="0"/>
          </a:p>
        </p:txBody>
      </p:sp>
      <p:sp>
        <p:nvSpPr>
          <p:cNvPr id="7" name="Text 5"/>
          <p:cNvSpPr/>
          <p:nvPr/>
        </p:nvSpPr>
        <p:spPr>
          <a:xfrm>
            <a:off x="11505895" y="6473952"/>
            <a:ext cx="457200" cy="274320"/>
          </a:xfrm>
          <a:prstGeom prst="rect">
            <a:avLst/>
          </a:prstGeom>
          <a:noFill/>
          <a:ln/>
        </p:spPr>
        <p:txBody>
          <a:bodyPr wrap="square" lIns="0" tIns="0" rIns="0" bIns="0" rtlCol="0" anchor="ctr"/>
          <a:lstStyle/>
          <a:p>
            <a:pPr marL="0" indent="0" algn="r">
              <a:buNone/>
            </a:pPr>
            <a:r>
              <a:rPr lang="en-US" sz="1000" dirty="0">
                <a:solidFill>
                  <a:srgbClr val="868E96"/>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ummary">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92608"/>
          </a:xfrm>
          <a:prstGeom prst="rect">
            <a:avLst/>
          </a:prstGeom>
          <a:noFill/>
          <a:ln/>
        </p:spPr>
        <p:txBody>
          <a:bodyPr wrap="square" lIns="0" tIns="0" rIns="0" bIns="0" rtlCol="0" anchor="ctr"/>
          <a:lstStyle/>
          <a:p>
            <a:pPr marL="0" indent="0">
              <a:lnSpc>
                <a:spcPct val="112000"/>
              </a:lnSpc>
              <a:spcAft>
                <a:spcPts val="0"/>
              </a:spcAft>
              <a:buNone/>
            </a:pPr>
            <a:r>
              <a:rPr lang="en-US" sz="1200" b="1" kern="0" spc="120">
                <a:solidFill>
                  <a:srgbClr val="868E96"/>
                </a:solidFill>
                <a:latin typeface="Calibri" pitchFamily="34" charset="0"/>
                <a:ea typeface="Calibri" pitchFamily="34" charset="-122"/>
                <a:cs typeface="Calibri" pitchFamily="34" charset="-120"/>
              </a:rPr>
              <a:t>WRAP-UP</a:t>
            </a:r>
            <a:endParaRPr lang="en-US" sz="1200"/>
          </a:p>
        </p:txBody>
      </p:sp>
      <p:sp>
        <p:nvSpPr>
          <p:cNvPr id="3" name="Text 1"/>
          <p:cNvSpPr/>
          <p:nvPr/>
        </p:nvSpPr>
        <p:spPr>
          <a:xfrm>
            <a:off x="548640" y="566928"/>
            <a:ext cx="11094415" cy="566928"/>
          </a:xfrm>
          <a:prstGeom prst="rect">
            <a:avLst/>
          </a:prstGeom>
          <a:noFill/>
          <a:ln/>
        </p:spPr>
        <p:txBody>
          <a:bodyPr wrap="square" lIns="0" tIns="0" rIns="0" bIns="0" rtlCol="0" anchor="ctr"/>
          <a:lstStyle/>
          <a:p>
            <a:pPr marL="0" indent="0">
              <a:lnSpc>
                <a:spcPct val="112000"/>
              </a:lnSpc>
              <a:spcAft>
                <a:spcPts val="0"/>
              </a:spcAft>
              <a:buNone/>
            </a:pPr>
            <a:r>
              <a:rPr lang="en-US" sz="2600" b="1">
                <a:solidFill>
                  <a:srgbClr val="1E2761"/>
                </a:solidFill>
                <a:latin typeface="Cambria" pitchFamily="34" charset="0"/>
                <a:ea typeface="Cambria" pitchFamily="34" charset="-122"/>
                <a:cs typeface="Cambria" pitchFamily="34" charset="-120"/>
              </a:rPr>
              <a:t>Day 5 in One Slide</a:t>
            </a:r>
            <a:endParaRPr lang="en-US" sz="2600"/>
          </a:p>
        </p:txBody>
      </p:sp>
      <p:sp>
        <p:nvSpPr>
          <p:cNvPr id="4" name="Rule"/>
          <p:cNvSpPr/>
          <p:nvPr/>
        </p:nvSpPr>
        <p:spPr>
          <a:xfrm>
            <a:off x="548640" y="1170432"/>
            <a:ext cx="11094415" cy="0"/>
          </a:xfrm>
          <a:prstGeom prst="line">
            <a:avLst/>
          </a:prstGeom>
          <a:noFill/>
          <a:ln w="12700">
            <a:solidFill>
              <a:srgbClr val="E4E7F0"/>
            </a:solidFill>
            <a:prstDash val="solid"/>
          </a:ln>
        </p:spPr>
        <p:txBody>
          <a:bodyPr/>
          <a:lstStyle/>
          <a:p>
            <a:endParaRPr lang="en-US"/>
          </a:p>
        </p:txBody>
      </p:sp>
      <p:sp>
        <p:nvSpPr>
          <p:cNvPr id="5" name="Lede"/>
          <p:cNvSpPr/>
          <p:nvPr/>
        </p:nvSpPr>
        <p:spPr>
          <a:xfrm>
            <a:off x="548640" y="1417320"/>
            <a:ext cx="11094415" cy="500000"/>
          </a:xfrm>
          <a:prstGeom prst="rect">
            <a:avLst/>
          </a:prstGeom>
          <a:noFill/>
          <a:ln/>
        </p:spPr>
        <p:txBody>
          <a:bodyPr wrap="square" lIns="0" tIns="0" rIns="0" bIns="0" rtlCol="0" anchor="ctr"/>
          <a:lstStyle/>
          <a:p>
            <a:pPr marL="0" indent="0">
              <a:lnSpc>
                <a:spcPct val="112000"/>
              </a:lnSpc>
              <a:spcAft>
                <a:spcPts val="0"/>
              </a:spcAft>
              <a:buNone/>
            </a:pPr>
            <a:r>
              <a:rPr lang="en-US" sz="1800">
                <a:solidFill>
                  <a:srgbClr val="1E2761"/>
                </a:solidFill>
                <a:latin typeface="Cambria" pitchFamily="34" charset="0"/>
                <a:ea typeface="Cambria" pitchFamily="34" charset="-122"/>
                <a:cs typeface="Cambria" pitchFamily="34" charset="-120"/>
              </a:rPr>
              <a:t>You turned a script into a class — here is what that gave you.</a:t>
            </a:r>
            <a:endParaRPr lang="en-US" sz="1800"/>
          </a:p>
        </p:txBody>
      </p:sp>
      <p:sp>
        <p:nvSpPr>
          <p:cNvPr id="6" name="LabelA"/>
          <p:cNvSpPr/>
          <p:nvPr/>
        </p:nvSpPr>
        <p:spPr>
          <a:xfrm>
            <a:off x="548640" y="2103120"/>
            <a:ext cx="5349240" cy="300000"/>
          </a:xfrm>
          <a:prstGeom prst="rect">
            <a:avLst/>
          </a:prstGeom>
          <a:noFill/>
          <a:ln/>
        </p:spPr>
        <p:txBody>
          <a:bodyPr wrap="square" lIns="0" tIns="0" rIns="0" bIns="0" rtlCol="0" anchor="ctr"/>
          <a:lstStyle/>
          <a:p>
            <a:pPr marL="0" indent="0">
              <a:lnSpc>
                <a:spcPct val="112000"/>
              </a:lnSpc>
              <a:spcAft>
                <a:spcPts val="0"/>
              </a:spcAft>
              <a:buNone/>
            </a:pPr>
            <a:r>
              <a:rPr lang="en-US" sz="1300" b="1" kern="0" spc="80">
                <a:solidFill>
                  <a:srgbClr val="868E96"/>
                </a:solidFill>
                <a:latin typeface="Calibri" pitchFamily="34" charset="0"/>
                <a:ea typeface="Calibri" pitchFamily="34" charset="-122"/>
                <a:cs typeface="Calibri" pitchFamily="34" charset="-120"/>
              </a:rPr>
              <a:t>WHAT YOU CAN DO NOW</a:t>
            </a:r>
            <a:endParaRPr lang="en-US" sz="1300"/>
          </a:p>
        </p:txBody>
      </p:sp>
      <p:sp>
        <p:nvSpPr>
          <p:cNvPr id="7" name="ColA"/>
          <p:cNvSpPr/>
          <p:nvPr/>
        </p:nvSpPr>
        <p:spPr>
          <a:xfrm>
            <a:off x="548640" y="2529840"/>
            <a:ext cx="5349240" cy="2900000"/>
          </a:xfrm>
          <a:prstGeom prst="rect">
            <a:avLst/>
          </a:prstGeom>
          <a:noFill/>
          <a:ln/>
        </p:spPr>
        <p:txBody>
          <a:bodyPr wrap="square" lIns="0" tIns="0" rIns="0" bIns="0" rtlCol="0" anchor="t"/>
          <a:lstStyle/>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Write a class with instance variables, a constructor, and methods.</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Create many objects from one class definition.</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Use this to tell a field from a parameter, and to chain constructors.</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Tell static members from instance members, and say why.</a:t>
            </a:r>
            <a:endParaRPr lang="en-US" sz="1800"/>
          </a:p>
        </p:txBody>
      </p:sp>
      <p:sp>
        <p:nvSpPr>
          <p:cNvPr id="8" name="LabelB"/>
          <p:cNvSpPr/>
          <p:nvPr/>
        </p:nvSpPr>
        <p:spPr>
          <a:xfrm>
            <a:off x="6263640" y="2103120"/>
            <a:ext cx="5349240" cy="300000"/>
          </a:xfrm>
          <a:prstGeom prst="rect">
            <a:avLst/>
          </a:prstGeom>
          <a:noFill/>
          <a:ln/>
        </p:spPr>
        <p:txBody>
          <a:bodyPr wrap="square" lIns="0" tIns="0" rIns="0" bIns="0" rtlCol="0" anchor="ctr"/>
          <a:lstStyle/>
          <a:p>
            <a:pPr marL="0" indent="0">
              <a:lnSpc>
                <a:spcPct val="112000"/>
              </a:lnSpc>
              <a:spcAft>
                <a:spcPts val="0"/>
              </a:spcAft>
              <a:buNone/>
            </a:pPr>
            <a:r>
              <a:rPr lang="en-US" sz="1300" b="1" kern="0" spc="80">
                <a:solidFill>
                  <a:srgbClr val="868E96"/>
                </a:solidFill>
                <a:latin typeface="Calibri" pitchFamily="34" charset="0"/>
                <a:ea typeface="Calibri" pitchFamily="34" charset="-122"/>
                <a:cs typeface="Calibri" pitchFamily="34" charset="-120"/>
              </a:rPr>
              <a:t>WHAT TO CARRY FORWARD</a:t>
            </a:r>
            <a:endParaRPr lang="en-US" sz="1300"/>
          </a:p>
        </p:txBody>
      </p:sp>
      <p:sp>
        <p:nvSpPr>
          <p:cNvPr id="9" name="ColB"/>
          <p:cNvSpPr/>
          <p:nvPr/>
        </p:nvSpPr>
        <p:spPr>
          <a:xfrm>
            <a:off x="6263640" y="2529840"/>
            <a:ext cx="5349240" cy="2900000"/>
          </a:xfrm>
          <a:prstGeom prst="rect">
            <a:avLst/>
          </a:prstGeom>
          <a:noFill/>
          <a:ln/>
        </p:spPr>
        <p:txBody>
          <a:bodyPr wrap="square" lIns="0" tIns="0" rIns="0" bIns="0" rtlCol="0" anchor="t"/>
          <a:lstStyle/>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A class is the blueprint; an object is the thing built from it.</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Fields stay private — encapsulation protects the object's state.</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Member is immutable on purpose: no set methods, by design.</a:t>
            </a:r>
            <a:endParaRPr lang="en-US" sz="1800"/>
          </a:p>
          <a:p>
            <a:pPr marL="228600" indent="-228600">
              <a:lnSpc>
                <a:spcPct val="112000"/>
              </a:lnSpc>
              <a:spcAft>
                <a:spcPts val="900"/>
              </a:spcAft>
              <a:buSzPct val="100000"/>
              <a:buChar char="•"/>
            </a:pPr>
            <a:r>
              <a:rPr lang="en-US" sz="1800">
                <a:solidFill>
                  <a:srgbClr val="22242E"/>
                </a:solidFill>
                <a:latin typeface="Calibri" pitchFamily="34" charset="0"/>
                <a:ea typeface="Calibri" pitchFamily="34" charset="-122"/>
                <a:cs typeface="Calibri" pitchFamily="34" charset="-120"/>
              </a:rPr>
              <a:t>Inheritance is Day 7 — today built the foundation it needs.</a:t>
            </a:r>
            <a:endParaRPr lang="en-US" sz="1800"/>
          </a:p>
        </p:txBody>
      </p:sp>
      <p:sp>
        <p:nvSpPr>
          <p:cNvPr id="10" name="Rule"/>
          <p:cNvSpPr/>
          <p:nvPr/>
        </p:nvSpPr>
        <p:spPr>
          <a:xfrm>
            <a:off x="548640" y="5760720"/>
            <a:ext cx="11094415" cy="0"/>
          </a:xfrm>
          <a:prstGeom prst="line">
            <a:avLst/>
          </a:prstGeom>
          <a:noFill/>
          <a:ln w="12700">
            <a:solidFill>
              <a:srgbClr val="E4E7F0"/>
            </a:solidFill>
            <a:prstDash val="solid"/>
          </a:ln>
        </p:spPr>
        <p:txBody>
          <a:bodyPr/>
          <a:lstStyle/>
          <a:p>
            <a:endParaRPr lang="en-US"/>
          </a:p>
        </p:txBody>
      </p:sp>
      <p:sp>
        <p:nvSpPr>
          <p:cNvPr id="11" name="Close"/>
          <p:cNvSpPr/>
          <p:nvPr/>
        </p:nvSpPr>
        <p:spPr>
          <a:xfrm>
            <a:off x="548640" y="5943600"/>
            <a:ext cx="11094415" cy="500000"/>
          </a:xfrm>
          <a:prstGeom prst="rect">
            <a:avLst/>
          </a:prstGeom>
          <a:noFill/>
          <a:ln/>
        </p:spPr>
        <p:txBody>
          <a:bodyPr wrap="square" lIns="0" tIns="0" rIns="0" bIns="0" rtlCol="0" anchor="ctr"/>
          <a:lstStyle/>
          <a:p>
            <a:pPr marL="0" indent="0">
              <a:lnSpc>
                <a:spcPct val="112000"/>
              </a:lnSpc>
              <a:spcAft>
                <a:spcPts val="0"/>
              </a:spcAft>
              <a:buNone/>
            </a:pPr>
            <a:r>
              <a:rPr lang="en-US" sz="1600" b="1">
                <a:solidFill>
                  <a:srgbClr val="1E2761"/>
                </a:solidFill>
                <a:latin typeface="Cambria" pitchFamily="34" charset="0"/>
                <a:ea typeface="Cambria" pitchFamily="34" charset="-122"/>
                <a:cs typeface="Cambria" pitchFamily="34" charset="-120"/>
              </a:rPr>
              <a:t>MemberBenefitsSummary is now a Member class — same numbers, better structure.</a:t>
            </a:r>
            <a:endParaRPr lang="en-US" sz="1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5824</Words>
  <Application>Microsoft Macintosh PowerPoint</Application>
  <PresentationFormat>Widescreen</PresentationFormat>
  <Paragraphs>801</Paragraphs>
  <Slides>52</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Jeff Salter</cp:lastModifiedBy>
  <cp:revision>2</cp:revision>
  <dcterms:created xsi:type="dcterms:W3CDTF">2026-08-21T01:11:23Z</dcterms:created>
  <dcterms:modified xsi:type="dcterms:W3CDTF">2026-08-21T02:17:44Z</dcterms:modified>
</cp:coreProperties>
</file>